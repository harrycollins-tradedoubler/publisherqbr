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792" y="621792"/>
            <a:ext cx="10561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Performance Review</a:t>
            </a:r>
            <a:endParaRPr lang="en-US" sz="2900" dirty="0"/>
          </a:p>
        </p:txBody>
      </p:sp>
      <p:sp>
        <p:nvSpPr>
          <p:cNvPr id="4" name="Text 1"/>
          <p:cNvSpPr/>
          <p:nvPr/>
        </p:nvSpPr>
        <p:spPr>
          <a:xfrm>
            <a:off x="621792" y="1828800"/>
            <a:ext cx="10378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focused year-over-year review of mvcaccount publisher performance, conversion dynamics, earnings and strategic priorities to drive growth and optimise outcomes.</a:t>
            </a:r>
            <a:endParaRPr lang="en-US" sz="1220" dirty="0"/>
          </a:p>
        </p:txBody>
      </p:sp>
      <p:pic>
        <p:nvPicPr>
          <p:cNvPr id="5" name="Image 1" descr="C:\Users\harcol\Workflows\Publisher QBR\ai-agent-agenthub\qbr-pptx-service\assets\td-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58768"/>
            <a:ext cx="1965960" cy="1591056"/>
          </a:xfrm>
          <a:prstGeom prst="rect">
            <a:avLst/>
          </a:prstGeom>
        </p:spPr>
      </p:pic>
      <p:pic>
        <p:nvPicPr>
          <p:cNvPr id="6" name="Image 2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2542032"/>
            <a:ext cx="4023360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261872"/>
            <a:ext cx="10332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and YoY comparison windows</a:t>
            </a:r>
            <a:endParaRPr lang="en-US" sz="1020" dirty="0"/>
          </a:p>
        </p:txBody>
      </p:sp>
      <p:sp>
        <p:nvSpPr>
          <p:cNvPr id="5" name="Text 2"/>
          <p:cNvSpPr/>
          <p:nvPr/>
        </p:nvSpPr>
        <p:spPr>
          <a:xfrm>
            <a:off x="658368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Period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658368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Reporting Period: 1 January 2026 – 31 March 2026</a:t>
            </a:r>
            <a:endParaRPr lang="en-US" sz="980" dirty="0"/>
          </a:p>
        </p:txBody>
      </p:sp>
      <p:sp>
        <p:nvSpPr>
          <p:cNvPr id="7" name="Text 4"/>
          <p:cNvSpPr/>
          <p:nvPr/>
        </p:nvSpPr>
        <p:spPr>
          <a:xfrm>
            <a:off x="658368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as of: 31 March 2026</a:t>
            </a:r>
            <a:endParaRPr lang="en-US" sz="980" dirty="0"/>
          </a:p>
        </p:txBody>
      </p:sp>
      <p:sp>
        <p:nvSpPr>
          <p:cNvPr id="8" name="Text 5"/>
          <p:cNvSpPr/>
          <p:nvPr/>
        </p:nvSpPr>
        <p:spPr>
          <a:xfrm>
            <a:off x="5989320" y="1755648"/>
            <a:ext cx="4572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 (YoY)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989320" y="2286000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Comparison Period: 1 January 2025 – 31 March 2025</a:t>
            </a:r>
            <a:endParaRPr lang="en-US" sz="980" dirty="0"/>
          </a:p>
        </p:txBody>
      </p:sp>
      <p:sp>
        <p:nvSpPr>
          <p:cNvPr id="10" name="Text 7"/>
          <p:cNvSpPr/>
          <p:nvPr/>
        </p:nvSpPr>
        <p:spPr>
          <a:xfrm>
            <a:off x="5989320" y="2596896"/>
            <a:ext cx="4800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Basis: Year-over-Year (YoY)</a:t>
            </a:r>
            <a:endParaRPr lang="en-US" sz="980" dirty="0"/>
          </a:p>
        </p:txBody>
      </p:sp>
      <p:sp>
        <p:nvSpPr>
          <p:cNvPr id="11" name="Shape 8"/>
          <p:cNvSpPr/>
          <p:nvPr/>
        </p:nvSpPr>
        <p:spPr>
          <a:xfrm>
            <a:off x="658368" y="3273552"/>
            <a:ext cx="10927080" cy="804672"/>
          </a:xfrm>
          <a:prstGeom prst="roundRect">
            <a:avLst/>
          </a:prstGeom>
          <a:solidFill>
            <a:srgbClr val="AFC4F5">
              <a:alpha val="90000"/>
            </a:srgbClr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96112" y="3557016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figures are reported in GBP unless otherwise stated. YoY variance is calculated as Current Period vs Comparison Period.</a:t>
            </a:r>
            <a:endParaRPr lang="en-US" sz="9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Performance: Executive Summary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40080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2139696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267712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☰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41248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Conversions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841248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3,718 vs 4,502 PY</a:t>
            </a:r>
            <a:endParaRPr lang="en-US" sz="1020" dirty="0"/>
          </a:p>
        </p:txBody>
      </p:sp>
      <p:sp>
        <p:nvSpPr>
          <p:cNvPr id="10" name="Text 7"/>
          <p:cNvSpPr/>
          <p:nvPr/>
        </p:nvSpPr>
        <p:spPr>
          <a:xfrm>
            <a:off x="3163824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-17.4%</a:t>
            </a:r>
            <a:endParaRPr lang="en-US" sz="1020" dirty="0"/>
          </a:p>
        </p:txBody>
      </p:sp>
      <p:sp>
        <p:nvSpPr>
          <p:cNvPr id="11" name="Shape 8"/>
          <p:cNvSpPr/>
          <p:nvPr/>
        </p:nvSpPr>
        <p:spPr>
          <a:xfrm>
            <a:off x="4352544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52544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852160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980176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▤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553712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53712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£959,252 vs £1,596,526 PY</a:t>
            </a:r>
            <a:endParaRPr lang="en-US" sz="1020" dirty="0"/>
          </a:p>
        </p:txBody>
      </p:sp>
      <p:sp>
        <p:nvSpPr>
          <p:cNvPr id="17" name="Text 14"/>
          <p:cNvSpPr/>
          <p:nvPr/>
        </p:nvSpPr>
        <p:spPr>
          <a:xfrm>
            <a:off x="6876288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-39.9%</a:t>
            </a:r>
            <a:endParaRPr lang="en-US" sz="1020" dirty="0"/>
          </a:p>
        </p:txBody>
      </p:sp>
      <p:sp>
        <p:nvSpPr>
          <p:cNvPr id="18" name="Shape 15"/>
          <p:cNvSpPr/>
          <p:nvPr/>
        </p:nvSpPr>
        <p:spPr>
          <a:xfrm>
            <a:off x="8065008" y="1965960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065008" y="1965960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564624" y="1719072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92640" y="18470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8266176" y="2423160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8266176" y="2752344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£44,500 vs £55,923 PY</a:t>
            </a:r>
            <a:endParaRPr lang="en-US" sz="1020" dirty="0"/>
          </a:p>
        </p:txBody>
      </p:sp>
      <p:sp>
        <p:nvSpPr>
          <p:cNvPr id="24" name="Text 21"/>
          <p:cNvSpPr/>
          <p:nvPr/>
        </p:nvSpPr>
        <p:spPr>
          <a:xfrm>
            <a:off x="10588752" y="2752344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-20.4%</a:t>
            </a:r>
            <a:endParaRPr lang="en-US" sz="1020" dirty="0"/>
          </a:p>
        </p:txBody>
      </p:sp>
      <p:sp>
        <p:nvSpPr>
          <p:cNvPr id="25" name="Shape 22"/>
          <p:cNvSpPr/>
          <p:nvPr/>
        </p:nvSpPr>
        <p:spPr>
          <a:xfrm>
            <a:off x="640080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40080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2139696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2267712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841248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Wallet</a:t>
            </a:r>
            <a:endParaRPr lang="en-US" sz="1050" dirty="0"/>
          </a:p>
        </p:txBody>
      </p:sp>
      <p:sp>
        <p:nvSpPr>
          <p:cNvPr id="30" name="Text 27"/>
          <p:cNvSpPr/>
          <p:nvPr/>
        </p:nvSpPr>
        <p:spPr>
          <a:xfrm>
            <a:off x="841248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£10,033 vs £15,000 PY</a:t>
            </a:r>
            <a:endParaRPr lang="en-US" sz="1020" dirty="0"/>
          </a:p>
        </p:txBody>
      </p:sp>
      <p:sp>
        <p:nvSpPr>
          <p:cNvPr id="31" name="Text 28"/>
          <p:cNvSpPr/>
          <p:nvPr/>
        </p:nvSpPr>
        <p:spPr>
          <a:xfrm>
            <a:off x="3163824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-33.1%</a:t>
            </a:r>
            <a:endParaRPr lang="en-US" sz="1020" dirty="0"/>
          </a:p>
        </p:txBody>
      </p:sp>
      <p:sp>
        <p:nvSpPr>
          <p:cNvPr id="32" name="Shape 29"/>
          <p:cNvSpPr/>
          <p:nvPr/>
        </p:nvSpPr>
        <p:spPr>
          <a:xfrm>
            <a:off x="4352544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352544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852160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5980176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£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553712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4553712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£54,533 vs £70,923 PY</a:t>
            </a:r>
            <a:endParaRPr lang="en-US" sz="1020" dirty="0"/>
          </a:p>
        </p:txBody>
      </p:sp>
      <p:sp>
        <p:nvSpPr>
          <p:cNvPr id="38" name="Text 35"/>
          <p:cNvSpPr/>
          <p:nvPr/>
        </p:nvSpPr>
        <p:spPr>
          <a:xfrm>
            <a:off x="6876288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EB57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-23.1%</a:t>
            </a:r>
            <a:endParaRPr lang="en-US" sz="1020" dirty="0"/>
          </a:p>
        </p:txBody>
      </p:sp>
      <p:sp>
        <p:nvSpPr>
          <p:cNvPr id="39" name="Shape 36"/>
          <p:cNvSpPr/>
          <p:nvPr/>
        </p:nvSpPr>
        <p:spPr>
          <a:xfrm>
            <a:off x="8065008" y="3758184"/>
            <a:ext cx="3493008" cy="1353312"/>
          </a:xfrm>
          <a:prstGeom prst="rect">
            <a:avLst/>
          </a:prstGeom>
          <a:solidFill>
            <a:srgbClr val="F3F4F6"/>
          </a:solidFill>
          <a:ln w="12700">
            <a:solidFill>
              <a:srgbClr val="D8DCE5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065008" y="3758184"/>
            <a:ext cx="3493008" cy="73152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564624" y="3511296"/>
            <a:ext cx="493776" cy="493776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692640" y="363931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F4F6"/>
                </a:solidFill>
                <a:latin typeface="Segoe UI Symbol" pitchFamily="34" charset="0"/>
                <a:ea typeface="Segoe UI Symbol" pitchFamily="34" charset="-122"/>
                <a:cs typeface="Segoe UI Symbol" pitchFamily="34" charset="-120"/>
              </a:rPr>
              <a:t>⚡</a:t>
            </a:r>
            <a:endParaRPr lang="en-US" sz="1200" dirty="0"/>
          </a:p>
        </p:txBody>
      </p:sp>
      <p:sp>
        <p:nvSpPr>
          <p:cNvPr id="43" name="Text 40"/>
          <p:cNvSpPr/>
          <p:nvPr/>
        </p:nvSpPr>
        <p:spPr>
          <a:xfrm>
            <a:off x="8266176" y="4215384"/>
            <a:ext cx="3218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8266176" y="4544568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5.1% vs 4.8% PY</a:t>
            </a:r>
            <a:endParaRPr lang="en-US" sz="1020" dirty="0"/>
          </a:p>
        </p:txBody>
      </p:sp>
      <p:sp>
        <p:nvSpPr>
          <p:cNvPr id="45" name="Text 42"/>
          <p:cNvSpPr/>
          <p:nvPr/>
        </p:nvSpPr>
        <p:spPr>
          <a:xfrm>
            <a:off x="10588752" y="4544568"/>
            <a:ext cx="80467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+7.7%</a:t>
            </a:r>
            <a:endParaRPr lang="en-US" sz="1020" dirty="0"/>
          </a:p>
        </p:txBody>
      </p:sp>
      <p:sp>
        <p:nvSpPr>
          <p:cNvPr id="46" name="Text 43"/>
          <p:cNvSpPr/>
          <p:nvPr/>
        </p:nvSpPr>
        <p:spPr>
          <a:xfrm>
            <a:off x="749808" y="5367528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3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Across all programs connected to mvcaccount, performance was mixed in Jan 2026 – Mar 2026. Conversions moved -17.4% to 3,718 and conversion rate moved +7.7% to 5.1%. Publisher commission decreased -20.4% to £44,500, while digital wallet earnings decreased -33.1% to £10,033. Total earnings ended at £54,533 (-23.1%) and total order value decreased -39.9% to £959,252.</a:t>
            </a:r>
            <a:endParaRPr lang="en-US" sz="113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Summary Table: Conversions &amp; Earnings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KPI breakdown vs prior year.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458480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438498"/>
        </p:xfrm>
        <a:graphic>
          <a:graphicData uri="http://schemas.openxmlformats.org/drawingml/2006/table">
            <a:tbl>
              <a:tblPr/>
              <a:tblGrid>
                <a:gridCol w="2242109"/>
                <a:gridCol w="2242109"/>
                <a:gridCol w="2242109"/>
                <a:gridCol w="2242109"/>
                <a:gridCol w="2242109"/>
              </a:tblGrid>
              <a:tr h="46085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Metric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Recent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Previous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Difference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% Variance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3,718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4,502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-784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-17.4%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 Rate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+7.7%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Clicks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94,760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-22,115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Click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£0.75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£0.00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+0.3%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per Conversion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£11.97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£12.42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-£0.45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Order Value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£959,252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£1,596,526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-£637,274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£44,500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£55,923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-£11,423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£10,033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-£4,967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£54,533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£70,923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-£16,390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-23.1%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977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Active Programs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+8.1%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75488" y="6267298"/>
            <a:ext cx="11155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= Publisher Commission + Digital Wallet. Conversion rate uses the source API's conversion-rate basis.</a:t>
            </a:r>
            <a:endParaRPr lang="en-US" sz="10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58368" y="292608"/>
            <a:ext cx="4937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Activation Status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6089904" y="1298448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089904" y="3794760"/>
            <a:ext cx="0" cy="187452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10424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528816" y="3483864"/>
            <a:ext cx="4608576" cy="0"/>
          </a:xfrm>
          <a:prstGeom prst="line">
            <a:avLst/>
          </a:prstGeom>
          <a:noFill/>
          <a:ln w="12700">
            <a:solidFill>
              <a:srgbClr val="FFFFF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47088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1847088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Joined programs</a:t>
            </a:r>
            <a:endParaRPr lang="en-US" sz="1360" dirty="0"/>
          </a:p>
        </p:txBody>
      </p:sp>
      <p:sp>
        <p:nvSpPr>
          <p:cNvPr id="10" name="Text 7"/>
          <p:cNvSpPr/>
          <p:nvPr/>
        </p:nvSpPr>
        <p:spPr>
          <a:xfrm>
            <a:off x="1847088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1" name="Text 8"/>
          <p:cNvSpPr/>
          <p:nvPr/>
        </p:nvSpPr>
        <p:spPr>
          <a:xfrm>
            <a:off x="1847088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2" name="Text 9"/>
          <p:cNvSpPr/>
          <p:nvPr/>
        </p:nvSpPr>
        <p:spPr>
          <a:xfrm>
            <a:off x="3566160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3" name="Text 10"/>
          <p:cNvSpPr/>
          <p:nvPr/>
        </p:nvSpPr>
        <p:spPr>
          <a:xfrm>
            <a:off x="3566160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14" name="Text 11"/>
          <p:cNvSpPr/>
          <p:nvPr/>
        </p:nvSpPr>
        <p:spPr>
          <a:xfrm>
            <a:off x="7278624" y="1243584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3800" dirty="0"/>
          </a:p>
        </p:txBody>
      </p:sp>
      <p:sp>
        <p:nvSpPr>
          <p:cNvPr id="15" name="Text 12"/>
          <p:cNvSpPr/>
          <p:nvPr/>
        </p:nvSpPr>
        <p:spPr>
          <a:xfrm>
            <a:off x="7278624" y="186537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 clicks</a:t>
            </a:r>
            <a:endParaRPr lang="en-US" sz="1360" dirty="0"/>
          </a:p>
        </p:txBody>
      </p:sp>
      <p:sp>
        <p:nvSpPr>
          <p:cNvPr id="16" name="Text 13"/>
          <p:cNvSpPr/>
          <p:nvPr/>
        </p:nvSpPr>
        <p:spPr>
          <a:xfrm>
            <a:off x="7278624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17" name="Text 14"/>
          <p:cNvSpPr/>
          <p:nvPr/>
        </p:nvSpPr>
        <p:spPr>
          <a:xfrm>
            <a:off x="7278624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420" dirty="0"/>
          </a:p>
        </p:txBody>
      </p:sp>
      <p:sp>
        <p:nvSpPr>
          <p:cNvPr id="18" name="Text 15"/>
          <p:cNvSpPr/>
          <p:nvPr/>
        </p:nvSpPr>
        <p:spPr>
          <a:xfrm>
            <a:off x="8997696" y="2377440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19" name="Text 16"/>
          <p:cNvSpPr/>
          <p:nvPr/>
        </p:nvSpPr>
        <p:spPr>
          <a:xfrm>
            <a:off x="8997696" y="2596896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420" dirty="0"/>
          </a:p>
        </p:txBody>
      </p:sp>
      <p:sp>
        <p:nvSpPr>
          <p:cNvPr id="20" name="Text 17"/>
          <p:cNvSpPr/>
          <p:nvPr/>
        </p:nvSpPr>
        <p:spPr>
          <a:xfrm>
            <a:off x="1847088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3800" dirty="0"/>
          </a:p>
        </p:txBody>
      </p:sp>
      <p:sp>
        <p:nvSpPr>
          <p:cNvPr id="21" name="Text 18"/>
          <p:cNvSpPr/>
          <p:nvPr/>
        </p:nvSpPr>
        <p:spPr>
          <a:xfrm>
            <a:off x="1847088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 commission</a:t>
            </a:r>
            <a:endParaRPr lang="en-US" sz="1360" dirty="0"/>
          </a:p>
        </p:txBody>
      </p:sp>
      <p:sp>
        <p:nvSpPr>
          <p:cNvPr id="22" name="Text 19"/>
          <p:cNvSpPr/>
          <p:nvPr/>
        </p:nvSpPr>
        <p:spPr>
          <a:xfrm>
            <a:off x="1847088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3" name="Text 20"/>
          <p:cNvSpPr/>
          <p:nvPr/>
        </p:nvSpPr>
        <p:spPr>
          <a:xfrm>
            <a:off x="1847088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420" dirty="0"/>
          </a:p>
        </p:txBody>
      </p:sp>
      <p:sp>
        <p:nvSpPr>
          <p:cNvPr id="24" name="Text 21"/>
          <p:cNvSpPr/>
          <p:nvPr/>
        </p:nvSpPr>
        <p:spPr>
          <a:xfrm>
            <a:off x="3566160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25" name="Text 22"/>
          <p:cNvSpPr/>
          <p:nvPr/>
        </p:nvSpPr>
        <p:spPr>
          <a:xfrm>
            <a:off x="3566160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22%</a:t>
            </a:r>
            <a:endParaRPr lang="en-US" sz="1420" dirty="0"/>
          </a:p>
        </p:txBody>
      </p:sp>
      <p:sp>
        <p:nvSpPr>
          <p:cNvPr id="26" name="Text 23"/>
          <p:cNvSpPr/>
          <p:nvPr/>
        </p:nvSpPr>
        <p:spPr>
          <a:xfrm>
            <a:off x="7278624" y="3794760"/>
            <a:ext cx="3054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3800" dirty="0"/>
          </a:p>
        </p:txBody>
      </p:sp>
      <p:sp>
        <p:nvSpPr>
          <p:cNvPr id="27" name="Text 24"/>
          <p:cNvSpPr/>
          <p:nvPr/>
        </p:nvSpPr>
        <p:spPr>
          <a:xfrm>
            <a:off x="7278624" y="4416552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6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Inactive</a:t>
            </a:r>
            <a:endParaRPr lang="en-US" sz="1360" dirty="0"/>
          </a:p>
        </p:txBody>
      </p:sp>
      <p:sp>
        <p:nvSpPr>
          <p:cNvPr id="28" name="Text 25"/>
          <p:cNvSpPr/>
          <p:nvPr/>
        </p:nvSpPr>
        <p:spPr>
          <a:xfrm>
            <a:off x="7278624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</a:t>
            </a:r>
            <a:endParaRPr lang="en-US" sz="820" dirty="0"/>
          </a:p>
        </p:txBody>
      </p:sp>
      <p:sp>
        <p:nvSpPr>
          <p:cNvPr id="29" name="Text 26"/>
          <p:cNvSpPr/>
          <p:nvPr/>
        </p:nvSpPr>
        <p:spPr>
          <a:xfrm>
            <a:off x="7278624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20" dirty="0"/>
          </a:p>
        </p:txBody>
      </p:sp>
      <p:sp>
        <p:nvSpPr>
          <p:cNvPr id="30" name="Text 27"/>
          <p:cNvSpPr/>
          <p:nvPr/>
        </p:nvSpPr>
        <p:spPr>
          <a:xfrm>
            <a:off x="8997696" y="4928616"/>
            <a:ext cx="13350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%</a:t>
            </a:r>
            <a:endParaRPr lang="en-US" sz="820" dirty="0"/>
          </a:p>
        </p:txBody>
      </p:sp>
      <p:sp>
        <p:nvSpPr>
          <p:cNvPr id="31" name="Text 28"/>
          <p:cNvSpPr/>
          <p:nvPr/>
        </p:nvSpPr>
        <p:spPr>
          <a:xfrm>
            <a:off x="8997696" y="5148072"/>
            <a:ext cx="1335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20" dirty="0">
                <a:solidFill>
                  <a:srgbClr val="BCEB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14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Program-Level Analysis: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Per-program view ordered by publisher commission.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27632"/>
            <a:ext cx="11430000" cy="5042916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19072"/>
          <a:ext cx="11210544" cy="4896612"/>
        </p:xfrm>
        <a:graphic>
          <a:graphicData uri="http://schemas.openxmlformats.org/drawingml/2006/table">
            <a:tbl>
              <a:tblPr/>
              <a:tblGrid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  <a:gridCol w="1121054"/>
              </a:tblGrid>
              <a:tr h="43068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Earnings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 YoY %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122083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£13,877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£277,539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-35.6%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-40.0%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346429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£2,000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£14,062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£258,645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+642.9%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+436.0%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+528.6%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330561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£3,720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£5,220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£58,520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+115.8%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+10.5%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+135.5%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306840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£3,341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£500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£3,841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1,262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£71,662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+53.9%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+32.4%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329522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£1,966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£32,774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+69.8%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-26.0%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+81.8%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359223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£1,504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£12,531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+21.9%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-25.4%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2C94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321853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£24,549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+8.0%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-60.4%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-39.0%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274133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£1,022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£51,082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-68.8%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-67.0%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277729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£985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£35,166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+189.8%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-4.0%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248069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Wightlink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146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£22,766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+33.3%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7A66C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+1.4%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7216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324839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Irish Ferries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£486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£9,676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-30.8%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B5757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-74.7%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Movers &amp; Shakers: Publisher Commission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positive and top 10 negative period-on-period publisher commission changes.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30352" y="12984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Partners with most change in publisher commission period-on-period</a:t>
            </a:r>
            <a:endParaRPr lang="en-US" sz="880" dirty="0"/>
          </a:p>
        </p:txBody>
      </p:sp>
      <p:sp>
        <p:nvSpPr>
          <p:cNvPr id="6" name="Shape 3"/>
          <p:cNvSpPr/>
          <p:nvPr/>
        </p:nvSpPr>
        <p:spPr>
          <a:xfrm>
            <a:off x="4050792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721858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392924" y="1591056"/>
            <a:ext cx="0" cy="4846320"/>
          </a:xfrm>
          <a:prstGeom prst="line">
            <a:avLst/>
          </a:prstGeom>
          <a:noFill/>
          <a:ln w="12700">
            <a:solidFill>
              <a:srgbClr val="7B819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9063990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735056" y="1591056"/>
            <a:ext cx="0" cy="4846320"/>
          </a:xfrm>
          <a:prstGeom prst="line">
            <a:avLst/>
          </a:prstGeom>
          <a:noFill/>
          <a:ln w="12700">
            <a:solidFill>
              <a:srgbClr val="E0E4EC">
                <a:alpha val="8800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0352" y="162205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Furniture Village (+642.9%)</a:t>
            </a:r>
            <a:endParaRPr lang="en-US" sz="580" dirty="0"/>
          </a:p>
        </p:txBody>
      </p:sp>
      <p:sp>
        <p:nvSpPr>
          <p:cNvPr id="12" name="Shape 9"/>
          <p:cNvSpPr/>
          <p:nvPr/>
        </p:nvSpPr>
        <p:spPr>
          <a:xfrm>
            <a:off x="7392924" y="1654058"/>
            <a:ext cx="3342132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985248" y="164034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£10,439</a:t>
            </a:r>
            <a:endParaRPr lang="en-US" sz="570" dirty="0"/>
          </a:p>
        </p:txBody>
      </p:sp>
      <p:sp>
        <p:nvSpPr>
          <p:cNvPr id="14" name="Text 11"/>
          <p:cNvSpPr/>
          <p:nvPr/>
        </p:nvSpPr>
        <p:spPr>
          <a:xfrm>
            <a:off x="530352" y="186437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Feather &amp; Black (+115.8%)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7392924" y="1896374"/>
            <a:ext cx="639108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077752" y="188265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£1,996</a:t>
            </a:r>
            <a:endParaRPr lang="en-US" sz="570" dirty="0"/>
          </a:p>
        </p:txBody>
      </p:sp>
      <p:sp>
        <p:nvSpPr>
          <p:cNvPr id="17" name="Text 14"/>
          <p:cNvSpPr/>
          <p:nvPr/>
        </p:nvSpPr>
        <p:spPr>
          <a:xfrm>
            <a:off x="530352" y="210668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Luton (N/A)</a:t>
            </a:r>
            <a:endParaRPr lang="en-US" sz="580" dirty="0"/>
          </a:p>
        </p:txBody>
      </p:sp>
      <p:sp>
        <p:nvSpPr>
          <p:cNvPr id="18" name="Shape 15"/>
          <p:cNvSpPr/>
          <p:nvPr/>
        </p:nvSpPr>
        <p:spPr>
          <a:xfrm>
            <a:off x="7392924" y="2138690"/>
            <a:ext cx="40521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43858" y="212497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£1,266</a:t>
            </a:r>
            <a:endParaRPr lang="en-US" sz="570" dirty="0"/>
          </a:p>
        </p:txBody>
      </p:sp>
      <p:sp>
        <p:nvSpPr>
          <p:cNvPr id="20" name="Text 17"/>
          <p:cNvSpPr/>
          <p:nvPr/>
        </p:nvSpPr>
        <p:spPr>
          <a:xfrm>
            <a:off x="530352" y="234900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Lenstore UK Contact Lenses (+33.9%)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7392924" y="2381006"/>
            <a:ext cx="270797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09441" y="236729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£846</a:t>
            </a:r>
            <a:endParaRPr lang="en-US" sz="570" dirty="0"/>
          </a:p>
        </p:txBody>
      </p:sp>
      <p:sp>
        <p:nvSpPr>
          <p:cNvPr id="23" name="Text 20"/>
          <p:cNvSpPr/>
          <p:nvPr/>
        </p:nvSpPr>
        <p:spPr>
          <a:xfrm>
            <a:off x="530352" y="259131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Caledonian Travel (+69.8%)</a:t>
            </a:r>
            <a:endParaRPr lang="en-US" sz="580" dirty="0"/>
          </a:p>
        </p:txBody>
      </p:sp>
      <p:sp>
        <p:nvSpPr>
          <p:cNvPr id="24" name="Shape 21"/>
          <p:cNvSpPr/>
          <p:nvPr/>
        </p:nvSpPr>
        <p:spPr>
          <a:xfrm>
            <a:off x="7392924" y="2623322"/>
            <a:ext cx="25874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697393" y="260960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£808</a:t>
            </a:r>
            <a:endParaRPr lang="en-US" sz="570" dirty="0"/>
          </a:p>
        </p:txBody>
      </p:sp>
      <p:sp>
        <p:nvSpPr>
          <p:cNvPr id="26" name="Text 23"/>
          <p:cNvSpPr/>
          <p:nvPr/>
        </p:nvSpPr>
        <p:spPr>
          <a:xfrm>
            <a:off x="530352" y="283363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KRCS Apple Premium Reseller (+189.8%)</a:t>
            </a:r>
            <a:endParaRPr lang="en-US" sz="580" dirty="0"/>
          </a:p>
        </p:txBody>
      </p:sp>
      <p:sp>
        <p:nvSpPr>
          <p:cNvPr id="27" name="Shape 24"/>
          <p:cNvSpPr/>
          <p:nvPr/>
        </p:nvSpPr>
        <p:spPr>
          <a:xfrm>
            <a:off x="7392924" y="2865638"/>
            <a:ext cx="206619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7645263" y="285192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£645</a:t>
            </a:r>
            <a:endParaRPr lang="en-US" sz="570" dirty="0"/>
          </a:p>
        </p:txBody>
      </p:sp>
      <p:sp>
        <p:nvSpPr>
          <p:cNvPr id="29" name="Text 26"/>
          <p:cNvSpPr/>
          <p:nvPr/>
        </p:nvSpPr>
        <p:spPr>
          <a:xfrm>
            <a:off x="530352" y="307595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getyourguide.co.uk (N/A)</a:t>
            </a:r>
            <a:endParaRPr lang="en-US" sz="580" dirty="0"/>
          </a:p>
        </p:txBody>
      </p:sp>
      <p:sp>
        <p:nvSpPr>
          <p:cNvPr id="30" name="Shape 27"/>
          <p:cNvSpPr/>
          <p:nvPr/>
        </p:nvSpPr>
        <p:spPr>
          <a:xfrm>
            <a:off x="7392924" y="3107954"/>
            <a:ext cx="14675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585394" y="309423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£458</a:t>
            </a:r>
            <a:endParaRPr lang="en-US" sz="570" dirty="0"/>
          </a:p>
        </p:txBody>
      </p:sp>
      <p:sp>
        <p:nvSpPr>
          <p:cNvPr id="32" name="Text 29"/>
          <p:cNvSpPr/>
          <p:nvPr/>
        </p:nvSpPr>
        <p:spPr>
          <a:xfrm>
            <a:off x="530352" y="331826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Avanti Travel Insurance (+21.9%)</a:t>
            </a:r>
            <a:endParaRPr lang="en-US" sz="580" dirty="0"/>
          </a:p>
        </p:txBody>
      </p:sp>
      <p:sp>
        <p:nvSpPr>
          <p:cNvPr id="33" name="Shape 30"/>
          <p:cNvSpPr/>
          <p:nvPr/>
        </p:nvSpPr>
        <p:spPr>
          <a:xfrm>
            <a:off x="7392924" y="3350270"/>
            <a:ext cx="86526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525170" y="333655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£270</a:t>
            </a:r>
            <a:endParaRPr lang="en-US" sz="570" dirty="0"/>
          </a:p>
        </p:txBody>
      </p:sp>
      <p:sp>
        <p:nvSpPr>
          <p:cNvPr id="35" name="Text 32"/>
          <p:cNvSpPr/>
          <p:nvPr/>
        </p:nvSpPr>
        <p:spPr>
          <a:xfrm>
            <a:off x="530352" y="356058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Airport Parking With Us (+63.2%)</a:t>
            </a:r>
            <a:endParaRPr lang="en-US" sz="580" dirty="0"/>
          </a:p>
        </p:txBody>
      </p:sp>
      <p:sp>
        <p:nvSpPr>
          <p:cNvPr id="36" name="Shape 33"/>
          <p:cNvSpPr/>
          <p:nvPr/>
        </p:nvSpPr>
        <p:spPr>
          <a:xfrm>
            <a:off x="7392924" y="3592586"/>
            <a:ext cx="51090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7489734" y="357887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£160</a:t>
            </a:r>
            <a:endParaRPr lang="en-US" sz="570" dirty="0"/>
          </a:p>
        </p:txBody>
      </p:sp>
      <p:sp>
        <p:nvSpPr>
          <p:cNvPr id="38" name="Text 35"/>
          <p:cNvSpPr/>
          <p:nvPr/>
        </p:nvSpPr>
        <p:spPr>
          <a:xfrm>
            <a:off x="530352" y="380289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Sixt Rent a Car UK (N/A)</a:t>
            </a:r>
            <a:endParaRPr lang="en-US" sz="580" dirty="0"/>
          </a:p>
        </p:txBody>
      </p:sp>
      <p:sp>
        <p:nvSpPr>
          <p:cNvPr id="39" name="Shape 36"/>
          <p:cNvSpPr/>
          <p:nvPr/>
        </p:nvSpPr>
        <p:spPr>
          <a:xfrm>
            <a:off x="7392924" y="3834902"/>
            <a:ext cx="47254" cy="116312"/>
          </a:xfrm>
          <a:prstGeom prst="rect">
            <a:avLst/>
          </a:prstGeom>
          <a:solidFill>
            <a:srgbClr val="2F6FF2">
              <a:alpha val="96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485898" y="382118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£148</a:t>
            </a:r>
            <a:endParaRPr lang="en-US" sz="570" dirty="0"/>
          </a:p>
        </p:txBody>
      </p:sp>
      <p:sp>
        <p:nvSpPr>
          <p:cNvPr id="41" name="Text 38"/>
          <p:cNvSpPr/>
          <p:nvPr/>
        </p:nvSpPr>
        <p:spPr>
          <a:xfrm>
            <a:off x="530352" y="404521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Shoes UK (-84.8%)</a:t>
            </a:r>
            <a:endParaRPr lang="en-US" sz="580" dirty="0"/>
          </a:p>
        </p:txBody>
      </p:sp>
      <p:sp>
        <p:nvSpPr>
          <p:cNvPr id="42" name="Shape 39"/>
          <p:cNvSpPr/>
          <p:nvPr/>
        </p:nvSpPr>
        <p:spPr>
          <a:xfrm>
            <a:off x="7372683" y="4077218"/>
            <a:ext cx="20241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485715" y="406350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-£63</a:t>
            </a:r>
            <a:endParaRPr lang="en-US" sz="570" dirty="0"/>
          </a:p>
        </p:txBody>
      </p:sp>
      <p:sp>
        <p:nvSpPr>
          <p:cNvPr id="44" name="Text 41"/>
          <p:cNvSpPr/>
          <p:nvPr/>
        </p:nvSpPr>
        <p:spPr>
          <a:xfrm>
            <a:off x="530352" y="428753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Staysure (-82.5%)</a:t>
            </a:r>
            <a:endParaRPr lang="en-US" sz="580" dirty="0"/>
          </a:p>
        </p:txBody>
      </p:sp>
      <p:sp>
        <p:nvSpPr>
          <p:cNvPr id="45" name="Shape 42"/>
          <p:cNvSpPr/>
          <p:nvPr/>
        </p:nvSpPr>
        <p:spPr>
          <a:xfrm>
            <a:off x="7368479" y="4319534"/>
            <a:ext cx="2444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6481511" y="430581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-£76</a:t>
            </a:r>
            <a:endParaRPr lang="en-US" sz="570" dirty="0"/>
          </a:p>
        </p:txBody>
      </p:sp>
      <p:sp>
        <p:nvSpPr>
          <p:cNvPr id="47" name="Text 44"/>
          <p:cNvSpPr/>
          <p:nvPr/>
        </p:nvSpPr>
        <p:spPr>
          <a:xfrm>
            <a:off x="530352" y="452984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ATS Euromaster (-89.6%)</a:t>
            </a:r>
            <a:endParaRPr lang="en-US" sz="580" dirty="0"/>
          </a:p>
        </p:txBody>
      </p:sp>
      <p:sp>
        <p:nvSpPr>
          <p:cNvPr id="48" name="Shape 45"/>
          <p:cNvSpPr/>
          <p:nvPr/>
        </p:nvSpPr>
        <p:spPr>
          <a:xfrm>
            <a:off x="7345286" y="4561850"/>
            <a:ext cx="47638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6458318" y="454813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-£149</a:t>
            </a:r>
            <a:endParaRPr lang="en-US" sz="570" dirty="0"/>
          </a:p>
        </p:txBody>
      </p:sp>
      <p:sp>
        <p:nvSpPr>
          <p:cNvPr id="50" name="Text 47"/>
          <p:cNvSpPr/>
          <p:nvPr/>
        </p:nvSpPr>
        <p:spPr>
          <a:xfrm>
            <a:off x="530352" y="477216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Club Med (-34.2%)</a:t>
            </a:r>
            <a:endParaRPr lang="en-US" sz="580" dirty="0"/>
          </a:p>
        </p:txBody>
      </p:sp>
      <p:sp>
        <p:nvSpPr>
          <p:cNvPr id="51" name="Shape 48"/>
          <p:cNvSpPr/>
          <p:nvPr/>
        </p:nvSpPr>
        <p:spPr>
          <a:xfrm>
            <a:off x="7340784" y="4804166"/>
            <a:ext cx="52140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6453816" y="479045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-£163</a:t>
            </a:r>
            <a:endParaRPr lang="en-US" sz="570" dirty="0"/>
          </a:p>
        </p:txBody>
      </p:sp>
      <p:sp>
        <p:nvSpPr>
          <p:cNvPr id="53" name="Text 50"/>
          <p:cNvSpPr/>
          <p:nvPr/>
        </p:nvSpPr>
        <p:spPr>
          <a:xfrm>
            <a:off x="530352" y="501447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Irish Ferries UK (-30.8%)</a:t>
            </a:r>
            <a:endParaRPr lang="en-US" sz="580" dirty="0"/>
          </a:p>
        </p:txBody>
      </p:sp>
      <p:sp>
        <p:nvSpPr>
          <p:cNvPr id="54" name="Shape 51"/>
          <p:cNvSpPr/>
          <p:nvPr/>
        </p:nvSpPr>
        <p:spPr>
          <a:xfrm>
            <a:off x="7323790" y="5046482"/>
            <a:ext cx="6913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6436822" y="503276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-£216</a:t>
            </a:r>
            <a:endParaRPr lang="en-US" sz="570" dirty="0"/>
          </a:p>
        </p:txBody>
      </p:sp>
      <p:sp>
        <p:nvSpPr>
          <p:cNvPr id="56" name="Text 53"/>
          <p:cNvSpPr/>
          <p:nvPr/>
        </p:nvSpPr>
        <p:spPr>
          <a:xfrm>
            <a:off x="530352" y="5256794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Morrisons Grocery (-77.3%)</a:t>
            </a:r>
            <a:endParaRPr lang="en-US" sz="580" dirty="0"/>
          </a:p>
        </p:txBody>
      </p:sp>
      <p:sp>
        <p:nvSpPr>
          <p:cNvPr id="57" name="Shape 54"/>
          <p:cNvSpPr/>
          <p:nvPr/>
        </p:nvSpPr>
        <p:spPr>
          <a:xfrm>
            <a:off x="7275422" y="5288798"/>
            <a:ext cx="117502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6388454" y="5275082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-£367</a:t>
            </a:r>
            <a:endParaRPr lang="en-US" sz="570" dirty="0"/>
          </a:p>
        </p:txBody>
      </p:sp>
      <p:sp>
        <p:nvSpPr>
          <p:cNvPr id="59" name="Text 56"/>
          <p:cNvSpPr/>
          <p:nvPr/>
        </p:nvSpPr>
        <p:spPr>
          <a:xfrm>
            <a:off x="530352" y="5499110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(-100.0%)</a:t>
            </a:r>
            <a:endParaRPr lang="en-US" sz="580" dirty="0"/>
          </a:p>
        </p:txBody>
      </p:sp>
      <p:sp>
        <p:nvSpPr>
          <p:cNvPr id="60" name="Shape 57"/>
          <p:cNvSpPr/>
          <p:nvPr/>
        </p:nvSpPr>
        <p:spPr>
          <a:xfrm>
            <a:off x="6923817" y="5531114"/>
            <a:ext cx="469107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1" name="Text 58"/>
          <p:cNvSpPr/>
          <p:nvPr/>
        </p:nvSpPr>
        <p:spPr>
          <a:xfrm>
            <a:off x="6036849" y="5517398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-£1,465</a:t>
            </a:r>
            <a:endParaRPr lang="en-US" sz="570" dirty="0"/>
          </a:p>
        </p:txBody>
      </p:sp>
      <p:sp>
        <p:nvSpPr>
          <p:cNvPr id="62" name="Text 59"/>
          <p:cNvSpPr/>
          <p:nvPr/>
        </p:nvSpPr>
        <p:spPr>
          <a:xfrm>
            <a:off x="530352" y="5741426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(-68.8%)</a:t>
            </a:r>
            <a:endParaRPr lang="en-US" sz="580" dirty="0"/>
          </a:p>
        </p:txBody>
      </p:sp>
      <p:sp>
        <p:nvSpPr>
          <p:cNvPr id="63" name="Shape 60"/>
          <p:cNvSpPr/>
          <p:nvPr/>
        </p:nvSpPr>
        <p:spPr>
          <a:xfrm>
            <a:off x="6671289" y="5773430"/>
            <a:ext cx="721635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5784321" y="5759714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-£2,254</a:t>
            </a:r>
            <a:endParaRPr lang="en-US" sz="570" dirty="0"/>
          </a:p>
        </p:txBody>
      </p:sp>
      <p:sp>
        <p:nvSpPr>
          <p:cNvPr id="65" name="Text 62"/>
          <p:cNvSpPr/>
          <p:nvPr/>
        </p:nvSpPr>
        <p:spPr>
          <a:xfrm>
            <a:off x="530352" y="5983742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Marks Electrical (-97.9%)</a:t>
            </a:r>
            <a:endParaRPr lang="en-US" sz="580" dirty="0"/>
          </a:p>
        </p:txBody>
      </p:sp>
      <p:sp>
        <p:nvSpPr>
          <p:cNvPr id="66" name="Shape 63"/>
          <p:cNvSpPr/>
          <p:nvPr/>
        </p:nvSpPr>
        <p:spPr>
          <a:xfrm>
            <a:off x="5395978" y="6015746"/>
            <a:ext cx="1996946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4509010" y="6002030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-£6,237</a:t>
            </a:r>
            <a:endParaRPr lang="en-US" sz="570" dirty="0"/>
          </a:p>
        </p:txBody>
      </p:sp>
      <p:sp>
        <p:nvSpPr>
          <p:cNvPr id="68" name="Text 65"/>
          <p:cNvSpPr/>
          <p:nvPr/>
        </p:nvSpPr>
        <p:spPr>
          <a:xfrm>
            <a:off x="530352" y="6226058"/>
            <a:ext cx="3264408" cy="2423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(-35.6%)</a:t>
            </a:r>
            <a:endParaRPr lang="en-US" sz="580" dirty="0"/>
          </a:p>
        </p:txBody>
      </p:sp>
      <p:sp>
        <p:nvSpPr>
          <p:cNvPr id="69" name="Shape 66"/>
          <p:cNvSpPr/>
          <p:nvPr/>
        </p:nvSpPr>
        <p:spPr>
          <a:xfrm>
            <a:off x="4938070" y="6258062"/>
            <a:ext cx="2454854" cy="116312"/>
          </a:xfrm>
          <a:prstGeom prst="rect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051102" y="6244346"/>
            <a:ext cx="841248" cy="152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5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-£7,667</a:t>
            </a:r>
            <a:endParaRPr lang="en-US" sz="57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10 New Programs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Programs joined or first active for the primary publisher in the current period.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83080"/>
            <a:ext cx="11430000" cy="4401922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874520"/>
          <a:ext cx="11210544" cy="4255618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44257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ID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Conversions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Order Value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Commission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Digital Wallet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Total Earnings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343105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£15,821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£1,266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300817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getyourguide.co.uk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£9,167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£458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254701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Sixt Rent a Car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£1,845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£181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361169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The View from The Shard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300010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 (Parts &amp; Accessories)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£239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£24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343201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Manchester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£153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357041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O'Neill UK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£145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382610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Royal Mail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Virgin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381305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365127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Warehouse Wines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(1/2)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1/2 | Not Connected: 56 | Accepted: 10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64531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401924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Bike Club</a:t>
            </a:r>
            <a:endParaRPr lang="en-US" sz="64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11330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392847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DIY UK</a:t>
            </a:r>
            <a:endParaRPr lang="en-US" sz="640" dirty="0"/>
          </a:p>
        </p:txBody>
      </p:sp>
      <p:sp>
        <p:nvSpPr>
          <p:cNvPr id="34" name="Text 31"/>
          <p:cNvSpPr/>
          <p:nvPr/>
        </p:nvSpPr>
        <p:spPr>
          <a:xfrm>
            <a:off x="243573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46208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392853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Bosch Professional UK</a:t>
            </a:r>
            <a:endParaRPr lang="en-US" sz="600" dirty="0"/>
          </a:p>
        </p:txBody>
      </p:sp>
      <p:sp>
        <p:nvSpPr>
          <p:cNvPr id="39" name="Text 36"/>
          <p:cNvSpPr/>
          <p:nvPr/>
        </p:nvSpPr>
        <p:spPr>
          <a:xfrm>
            <a:off x="243573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2810866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398141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Devon Duvets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159644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396847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Merach</a:t>
            </a:r>
            <a:endParaRPr lang="en-US" sz="640" dirty="0"/>
          </a:p>
        </p:txBody>
      </p:sp>
      <p:sp>
        <p:nvSpPr>
          <p:cNvPr id="49" name="Text 46"/>
          <p:cNvSpPr/>
          <p:nvPr/>
        </p:nvSpPr>
        <p:spPr>
          <a:xfrm>
            <a:off x="243573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508422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401526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Parking Up</a:t>
            </a:r>
            <a:endParaRPr lang="en-US" sz="640" dirty="0"/>
          </a:p>
        </p:txBody>
      </p:sp>
      <p:sp>
        <p:nvSpPr>
          <p:cNvPr id="54" name="Text 51"/>
          <p:cNvSpPr/>
          <p:nvPr/>
        </p:nvSpPr>
        <p:spPr>
          <a:xfrm>
            <a:off x="243573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3857200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402082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Philips Home Appliances UK</a:t>
            </a:r>
            <a:endParaRPr lang="en-US" sz="600" dirty="0"/>
          </a:p>
        </p:txBody>
      </p:sp>
      <p:sp>
        <p:nvSpPr>
          <p:cNvPr id="59" name="Text 56"/>
          <p:cNvSpPr/>
          <p:nvPr/>
        </p:nvSpPr>
        <p:spPr>
          <a:xfrm>
            <a:off x="243573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205979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395381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Tidy Holidays</a:t>
            </a:r>
            <a:endParaRPr lang="en-US" sz="640" dirty="0"/>
          </a:p>
        </p:txBody>
      </p:sp>
      <p:sp>
        <p:nvSpPr>
          <p:cNvPr id="64" name="Text 61"/>
          <p:cNvSpPr/>
          <p:nvPr/>
        </p:nvSpPr>
        <p:spPr>
          <a:xfrm>
            <a:off x="243573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4554757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397509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Wash Doctors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4903535"/>
            <a:ext cx="65837" cy="65837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394373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Woodfire Limited</a:t>
            </a:r>
            <a:endParaRPr lang="en-US" sz="640" dirty="0"/>
          </a:p>
        </p:txBody>
      </p:sp>
      <p:sp>
        <p:nvSpPr>
          <p:cNvPr id="74" name="Text 71"/>
          <p:cNvSpPr/>
          <p:nvPr/>
        </p:nvSpPr>
        <p:spPr>
          <a:xfrm>
            <a:off x="243573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57A66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8404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43159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7" name="Text 74"/>
          <p:cNvSpPr/>
          <p:nvPr/>
        </p:nvSpPr>
        <p:spPr>
          <a:xfrm>
            <a:off x="53035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401570</a:t>
            </a:r>
            <a:endParaRPr lang="en-US" sz="640" dirty="0"/>
          </a:p>
        </p:txBody>
      </p:sp>
      <p:sp>
        <p:nvSpPr>
          <p:cNvPr id="78" name="Text 75"/>
          <p:cNvSpPr/>
          <p:nvPr/>
        </p:nvSpPr>
        <p:spPr>
          <a:xfrm>
            <a:off x="98755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58th Street immersive New York Jazz experience tickets by The Lost Estate | London</a:t>
            </a:r>
            <a:endParaRPr lang="en-US" sz="550" dirty="0"/>
          </a:p>
        </p:txBody>
      </p:sp>
      <p:sp>
        <p:nvSpPr>
          <p:cNvPr id="79" name="Text 76"/>
          <p:cNvSpPr/>
          <p:nvPr/>
        </p:nvSpPr>
        <p:spPr>
          <a:xfrm>
            <a:off x="243573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0" name="Shape 77"/>
          <p:cNvSpPr/>
          <p:nvPr/>
        </p:nvSpPr>
        <p:spPr>
          <a:xfrm>
            <a:off x="38404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43159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2" name="Text 79"/>
          <p:cNvSpPr/>
          <p:nvPr/>
        </p:nvSpPr>
        <p:spPr>
          <a:xfrm>
            <a:off x="53035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398214</a:t>
            </a:r>
            <a:endParaRPr lang="en-US" sz="640" dirty="0"/>
          </a:p>
        </p:txBody>
      </p:sp>
      <p:sp>
        <p:nvSpPr>
          <p:cNvPr id="83" name="Text 80"/>
          <p:cNvSpPr/>
          <p:nvPr/>
        </p:nvSpPr>
        <p:spPr>
          <a:xfrm>
            <a:off x="98755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Abertay - MSc Engineering</a:t>
            </a:r>
            <a:endParaRPr lang="en-US" sz="600" dirty="0"/>
          </a:p>
        </p:txBody>
      </p:sp>
      <p:sp>
        <p:nvSpPr>
          <p:cNvPr id="84" name="Text 81"/>
          <p:cNvSpPr/>
          <p:nvPr/>
        </p:nvSpPr>
        <p:spPr>
          <a:xfrm>
            <a:off x="243573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85" name="Shape 82"/>
          <p:cNvSpPr/>
          <p:nvPr/>
        </p:nvSpPr>
        <p:spPr>
          <a:xfrm>
            <a:off x="38404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43159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53035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397596</a:t>
            </a:r>
            <a:endParaRPr lang="en-US" sz="640" dirty="0"/>
          </a:p>
        </p:txBody>
      </p:sp>
      <p:sp>
        <p:nvSpPr>
          <p:cNvPr id="88" name="Text 85"/>
          <p:cNvSpPr/>
          <p:nvPr/>
        </p:nvSpPr>
        <p:spPr>
          <a:xfrm>
            <a:off x="98755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Albert UK</a:t>
            </a:r>
            <a:endParaRPr lang="en-US" sz="640" dirty="0"/>
          </a:p>
        </p:txBody>
      </p:sp>
      <p:sp>
        <p:nvSpPr>
          <p:cNvPr id="89" name="Text 86"/>
          <p:cNvSpPr/>
          <p:nvPr/>
        </p:nvSpPr>
        <p:spPr>
          <a:xfrm>
            <a:off x="243573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0" name="Shape 87"/>
          <p:cNvSpPr/>
          <p:nvPr/>
        </p:nvSpPr>
        <p:spPr>
          <a:xfrm>
            <a:off x="38404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43159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2" name="Text 89"/>
          <p:cNvSpPr/>
          <p:nvPr/>
        </p:nvSpPr>
        <p:spPr>
          <a:xfrm>
            <a:off x="53035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402431</a:t>
            </a:r>
            <a:endParaRPr lang="en-US" sz="640" dirty="0"/>
          </a:p>
        </p:txBody>
      </p:sp>
      <p:sp>
        <p:nvSpPr>
          <p:cNvPr id="93" name="Text 90"/>
          <p:cNvSpPr/>
          <p:nvPr/>
        </p:nvSpPr>
        <p:spPr>
          <a:xfrm>
            <a:off x="98755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Apex Virtual Education</a:t>
            </a:r>
            <a:endParaRPr lang="en-US" sz="600" dirty="0"/>
          </a:p>
        </p:txBody>
      </p:sp>
      <p:sp>
        <p:nvSpPr>
          <p:cNvPr id="94" name="Text 91"/>
          <p:cNvSpPr/>
          <p:nvPr/>
        </p:nvSpPr>
        <p:spPr>
          <a:xfrm>
            <a:off x="243573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95" name="Shape 9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96" name="Text 9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97" name="Shape 94"/>
          <p:cNvSpPr/>
          <p:nvPr/>
        </p:nvSpPr>
        <p:spPr>
          <a:xfrm>
            <a:off x="300723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305478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99" name="Text 96"/>
          <p:cNvSpPr/>
          <p:nvPr/>
        </p:nvSpPr>
        <p:spPr>
          <a:xfrm>
            <a:off x="315353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392482</a:t>
            </a:r>
            <a:endParaRPr lang="en-US" sz="640" dirty="0"/>
          </a:p>
        </p:txBody>
      </p:sp>
      <p:sp>
        <p:nvSpPr>
          <p:cNvPr id="100" name="Text 97"/>
          <p:cNvSpPr/>
          <p:nvPr/>
        </p:nvSpPr>
        <p:spPr>
          <a:xfrm>
            <a:off x="361073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Aqron UK</a:t>
            </a:r>
            <a:endParaRPr lang="en-US" sz="640" dirty="0"/>
          </a:p>
        </p:txBody>
      </p:sp>
      <p:sp>
        <p:nvSpPr>
          <p:cNvPr id="101" name="Text 98"/>
          <p:cNvSpPr/>
          <p:nvPr/>
        </p:nvSpPr>
        <p:spPr>
          <a:xfrm>
            <a:off x="505891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2" name="Shape 99"/>
          <p:cNvSpPr/>
          <p:nvPr/>
        </p:nvSpPr>
        <p:spPr>
          <a:xfrm>
            <a:off x="300723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305478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4" name="Text 101"/>
          <p:cNvSpPr/>
          <p:nvPr/>
        </p:nvSpPr>
        <p:spPr>
          <a:xfrm>
            <a:off x="315353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401986</a:t>
            </a:r>
            <a:endParaRPr lang="en-US" sz="640" dirty="0"/>
          </a:p>
        </p:txBody>
      </p:sp>
      <p:sp>
        <p:nvSpPr>
          <p:cNvPr id="105" name="Text 102"/>
          <p:cNvSpPr/>
          <p:nvPr/>
        </p:nvSpPr>
        <p:spPr>
          <a:xfrm>
            <a:off x="361073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Araco Interiors</a:t>
            </a:r>
            <a:endParaRPr lang="en-US" sz="640" dirty="0"/>
          </a:p>
        </p:txBody>
      </p:sp>
      <p:sp>
        <p:nvSpPr>
          <p:cNvPr id="106" name="Text 103"/>
          <p:cNvSpPr/>
          <p:nvPr/>
        </p:nvSpPr>
        <p:spPr>
          <a:xfrm>
            <a:off x="505891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07" name="Shape 104"/>
          <p:cNvSpPr/>
          <p:nvPr/>
        </p:nvSpPr>
        <p:spPr>
          <a:xfrm>
            <a:off x="300723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305478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09" name="Text 106"/>
          <p:cNvSpPr/>
          <p:nvPr/>
        </p:nvSpPr>
        <p:spPr>
          <a:xfrm>
            <a:off x="315353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392637</a:t>
            </a:r>
            <a:endParaRPr lang="en-US" sz="640" dirty="0"/>
          </a:p>
        </p:txBody>
      </p:sp>
      <p:sp>
        <p:nvSpPr>
          <p:cNvPr id="110" name="Text 107"/>
          <p:cNvSpPr/>
          <p:nvPr/>
        </p:nvSpPr>
        <p:spPr>
          <a:xfrm>
            <a:off x="361073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Atlanta Braves</a:t>
            </a:r>
            <a:endParaRPr lang="en-US" sz="640" dirty="0"/>
          </a:p>
        </p:txBody>
      </p:sp>
      <p:sp>
        <p:nvSpPr>
          <p:cNvPr id="111" name="Text 108"/>
          <p:cNvSpPr/>
          <p:nvPr/>
        </p:nvSpPr>
        <p:spPr>
          <a:xfrm>
            <a:off x="505891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2" name="Shape 109"/>
          <p:cNvSpPr/>
          <p:nvPr/>
        </p:nvSpPr>
        <p:spPr>
          <a:xfrm>
            <a:off x="300723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3" name="Shape 110"/>
          <p:cNvSpPr/>
          <p:nvPr/>
        </p:nvSpPr>
        <p:spPr>
          <a:xfrm>
            <a:off x="305478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4" name="Text 111"/>
          <p:cNvSpPr/>
          <p:nvPr/>
        </p:nvSpPr>
        <p:spPr>
          <a:xfrm>
            <a:off x="315353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393448</a:t>
            </a:r>
            <a:endParaRPr lang="en-US" sz="640" dirty="0"/>
          </a:p>
        </p:txBody>
      </p:sp>
      <p:sp>
        <p:nvSpPr>
          <p:cNvPr id="115" name="Text 112"/>
          <p:cNvSpPr/>
          <p:nvPr/>
        </p:nvSpPr>
        <p:spPr>
          <a:xfrm>
            <a:off x="361073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Bargain Hardware UK</a:t>
            </a:r>
            <a:endParaRPr lang="en-US" sz="600" dirty="0"/>
          </a:p>
        </p:txBody>
      </p:sp>
      <p:sp>
        <p:nvSpPr>
          <p:cNvPr id="116" name="Text 113"/>
          <p:cNvSpPr/>
          <p:nvPr/>
        </p:nvSpPr>
        <p:spPr>
          <a:xfrm>
            <a:off x="505891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17" name="Shape 114"/>
          <p:cNvSpPr/>
          <p:nvPr/>
        </p:nvSpPr>
        <p:spPr>
          <a:xfrm>
            <a:off x="300723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305478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19" name="Text 116"/>
          <p:cNvSpPr/>
          <p:nvPr/>
        </p:nvSpPr>
        <p:spPr>
          <a:xfrm>
            <a:off x="315353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392903</a:t>
            </a:r>
            <a:endParaRPr lang="en-US" sz="640" dirty="0"/>
          </a:p>
        </p:txBody>
      </p:sp>
      <p:sp>
        <p:nvSpPr>
          <p:cNvPr id="120" name="Text 117"/>
          <p:cNvSpPr/>
          <p:nvPr/>
        </p:nvSpPr>
        <p:spPr>
          <a:xfrm>
            <a:off x="361073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Bio Velvet</a:t>
            </a:r>
            <a:endParaRPr lang="en-US" sz="640" dirty="0"/>
          </a:p>
        </p:txBody>
      </p:sp>
      <p:sp>
        <p:nvSpPr>
          <p:cNvPr id="121" name="Text 118"/>
          <p:cNvSpPr/>
          <p:nvPr/>
        </p:nvSpPr>
        <p:spPr>
          <a:xfrm>
            <a:off x="505891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2" name="Shape 119"/>
          <p:cNvSpPr/>
          <p:nvPr/>
        </p:nvSpPr>
        <p:spPr>
          <a:xfrm>
            <a:off x="300723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305478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4" name="Text 121"/>
          <p:cNvSpPr/>
          <p:nvPr/>
        </p:nvSpPr>
        <p:spPr>
          <a:xfrm>
            <a:off x="315353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396610</a:t>
            </a:r>
            <a:endParaRPr lang="en-US" sz="640" dirty="0"/>
          </a:p>
        </p:txBody>
      </p:sp>
      <p:sp>
        <p:nvSpPr>
          <p:cNvPr id="125" name="Text 122"/>
          <p:cNvSpPr/>
          <p:nvPr/>
        </p:nvSpPr>
        <p:spPr>
          <a:xfrm>
            <a:off x="361073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Book of Mormon London (UK)</a:t>
            </a:r>
            <a:endParaRPr lang="en-US" sz="600" dirty="0"/>
          </a:p>
        </p:txBody>
      </p:sp>
      <p:sp>
        <p:nvSpPr>
          <p:cNvPr id="126" name="Text 123"/>
          <p:cNvSpPr/>
          <p:nvPr/>
        </p:nvSpPr>
        <p:spPr>
          <a:xfrm>
            <a:off x="505891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27" name="Shape 124"/>
          <p:cNvSpPr/>
          <p:nvPr/>
        </p:nvSpPr>
        <p:spPr>
          <a:xfrm>
            <a:off x="300723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305478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29" name="Text 126"/>
          <p:cNvSpPr/>
          <p:nvPr/>
        </p:nvSpPr>
        <p:spPr>
          <a:xfrm>
            <a:off x="315353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402147</a:t>
            </a:r>
            <a:endParaRPr lang="en-US" sz="640" dirty="0"/>
          </a:p>
        </p:txBody>
      </p:sp>
      <p:sp>
        <p:nvSpPr>
          <p:cNvPr id="130" name="Text 127"/>
          <p:cNvSpPr/>
          <p:nvPr/>
        </p:nvSpPr>
        <p:spPr>
          <a:xfrm>
            <a:off x="361073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Brightech Commerce</a:t>
            </a:r>
            <a:endParaRPr lang="en-US" sz="600" dirty="0"/>
          </a:p>
        </p:txBody>
      </p:sp>
      <p:sp>
        <p:nvSpPr>
          <p:cNvPr id="131" name="Text 128"/>
          <p:cNvSpPr/>
          <p:nvPr/>
        </p:nvSpPr>
        <p:spPr>
          <a:xfrm>
            <a:off x="505891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2" name="Shape 129"/>
          <p:cNvSpPr/>
          <p:nvPr/>
        </p:nvSpPr>
        <p:spPr>
          <a:xfrm>
            <a:off x="300723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305478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4" name="Text 131"/>
          <p:cNvSpPr/>
          <p:nvPr/>
        </p:nvSpPr>
        <p:spPr>
          <a:xfrm>
            <a:off x="315353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392927</a:t>
            </a:r>
            <a:endParaRPr lang="en-US" sz="640" dirty="0"/>
          </a:p>
        </p:txBody>
      </p:sp>
      <p:sp>
        <p:nvSpPr>
          <p:cNvPr id="135" name="Text 132"/>
          <p:cNvSpPr/>
          <p:nvPr/>
        </p:nvSpPr>
        <p:spPr>
          <a:xfrm>
            <a:off x="361073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C2C_Joybuy UK</a:t>
            </a:r>
            <a:endParaRPr lang="en-US" sz="640" dirty="0"/>
          </a:p>
        </p:txBody>
      </p:sp>
      <p:sp>
        <p:nvSpPr>
          <p:cNvPr id="136" name="Text 133"/>
          <p:cNvSpPr/>
          <p:nvPr/>
        </p:nvSpPr>
        <p:spPr>
          <a:xfrm>
            <a:off x="505891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37" name="Shape 134"/>
          <p:cNvSpPr/>
          <p:nvPr/>
        </p:nvSpPr>
        <p:spPr>
          <a:xfrm>
            <a:off x="300723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38" name="Shape 135"/>
          <p:cNvSpPr/>
          <p:nvPr/>
        </p:nvSpPr>
        <p:spPr>
          <a:xfrm>
            <a:off x="305478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39" name="Text 136"/>
          <p:cNvSpPr/>
          <p:nvPr/>
        </p:nvSpPr>
        <p:spPr>
          <a:xfrm>
            <a:off x="315353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392876</a:t>
            </a:r>
            <a:endParaRPr lang="en-US" sz="640" dirty="0"/>
          </a:p>
        </p:txBody>
      </p:sp>
      <p:sp>
        <p:nvSpPr>
          <p:cNvPr id="140" name="Text 137"/>
          <p:cNvSpPr/>
          <p:nvPr/>
        </p:nvSpPr>
        <p:spPr>
          <a:xfrm>
            <a:off x="361073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Canary Shuttle EUR</a:t>
            </a:r>
            <a:endParaRPr lang="en-US" sz="600" dirty="0"/>
          </a:p>
        </p:txBody>
      </p:sp>
      <p:sp>
        <p:nvSpPr>
          <p:cNvPr id="141" name="Text 138"/>
          <p:cNvSpPr/>
          <p:nvPr/>
        </p:nvSpPr>
        <p:spPr>
          <a:xfrm>
            <a:off x="505891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2" name="Shape 139"/>
          <p:cNvSpPr/>
          <p:nvPr/>
        </p:nvSpPr>
        <p:spPr>
          <a:xfrm>
            <a:off x="300723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305478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4" name="Text 141"/>
          <p:cNvSpPr/>
          <p:nvPr/>
        </p:nvSpPr>
        <p:spPr>
          <a:xfrm>
            <a:off x="315353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401863</a:t>
            </a:r>
            <a:endParaRPr lang="en-US" sz="640" dirty="0"/>
          </a:p>
        </p:txBody>
      </p:sp>
      <p:sp>
        <p:nvSpPr>
          <p:cNvPr id="145" name="Text 142"/>
          <p:cNvSpPr/>
          <p:nvPr/>
        </p:nvSpPr>
        <p:spPr>
          <a:xfrm>
            <a:off x="361073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Chat noir immersive Paris Cabaret experience tickets by The Lost Estate | London</a:t>
            </a:r>
            <a:endParaRPr lang="en-US" sz="550" dirty="0"/>
          </a:p>
        </p:txBody>
      </p:sp>
      <p:sp>
        <p:nvSpPr>
          <p:cNvPr id="146" name="Text 143"/>
          <p:cNvSpPr/>
          <p:nvPr/>
        </p:nvSpPr>
        <p:spPr>
          <a:xfrm>
            <a:off x="505891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47" name="Shape 144"/>
          <p:cNvSpPr/>
          <p:nvPr/>
        </p:nvSpPr>
        <p:spPr>
          <a:xfrm>
            <a:off x="300723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305478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9" name="Text 146"/>
          <p:cNvSpPr/>
          <p:nvPr/>
        </p:nvSpPr>
        <p:spPr>
          <a:xfrm>
            <a:off x="315353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398489</a:t>
            </a:r>
            <a:endParaRPr lang="en-US" sz="640" dirty="0"/>
          </a:p>
        </p:txBody>
      </p:sp>
      <p:sp>
        <p:nvSpPr>
          <p:cNvPr id="150" name="Text 147"/>
          <p:cNvSpPr/>
          <p:nvPr/>
        </p:nvSpPr>
        <p:spPr>
          <a:xfrm>
            <a:off x="361073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Deal for any occasion</a:t>
            </a:r>
            <a:endParaRPr lang="en-US" sz="600" dirty="0"/>
          </a:p>
        </p:txBody>
      </p:sp>
      <p:sp>
        <p:nvSpPr>
          <p:cNvPr id="151" name="Text 148"/>
          <p:cNvSpPr/>
          <p:nvPr/>
        </p:nvSpPr>
        <p:spPr>
          <a:xfrm>
            <a:off x="505891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2" name="Shape 149"/>
          <p:cNvSpPr/>
          <p:nvPr/>
        </p:nvSpPr>
        <p:spPr>
          <a:xfrm>
            <a:off x="300723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305478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4" name="Text 151"/>
          <p:cNvSpPr/>
          <p:nvPr/>
        </p:nvSpPr>
        <p:spPr>
          <a:xfrm>
            <a:off x="315353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396971</a:t>
            </a:r>
            <a:endParaRPr lang="en-US" sz="640" dirty="0"/>
          </a:p>
        </p:txBody>
      </p:sp>
      <p:sp>
        <p:nvSpPr>
          <p:cNvPr id="155" name="Text 152"/>
          <p:cNvSpPr/>
          <p:nvPr/>
        </p:nvSpPr>
        <p:spPr>
          <a:xfrm>
            <a:off x="361073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Don't buy her flowers</a:t>
            </a:r>
            <a:endParaRPr lang="en-US" sz="600" dirty="0"/>
          </a:p>
        </p:txBody>
      </p:sp>
      <p:sp>
        <p:nvSpPr>
          <p:cNvPr id="156" name="Text 153"/>
          <p:cNvSpPr/>
          <p:nvPr/>
        </p:nvSpPr>
        <p:spPr>
          <a:xfrm>
            <a:off x="505891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57" name="Shape 154"/>
          <p:cNvSpPr/>
          <p:nvPr/>
        </p:nvSpPr>
        <p:spPr>
          <a:xfrm>
            <a:off x="300723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305478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59" name="Text 156"/>
          <p:cNvSpPr/>
          <p:nvPr/>
        </p:nvSpPr>
        <p:spPr>
          <a:xfrm>
            <a:off x="315353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396514</a:t>
            </a:r>
            <a:endParaRPr lang="en-US" sz="640" dirty="0"/>
          </a:p>
        </p:txBody>
      </p:sp>
      <p:sp>
        <p:nvSpPr>
          <p:cNvPr id="160" name="Text 157"/>
          <p:cNvSpPr/>
          <p:nvPr/>
        </p:nvSpPr>
        <p:spPr>
          <a:xfrm>
            <a:off x="361073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Downtown</a:t>
            </a:r>
            <a:endParaRPr lang="en-US" sz="640" dirty="0"/>
          </a:p>
        </p:txBody>
      </p:sp>
      <p:sp>
        <p:nvSpPr>
          <p:cNvPr id="161" name="Text 158"/>
          <p:cNvSpPr/>
          <p:nvPr/>
        </p:nvSpPr>
        <p:spPr>
          <a:xfrm>
            <a:off x="505891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2" name="Shape 159"/>
          <p:cNvSpPr/>
          <p:nvPr/>
        </p:nvSpPr>
        <p:spPr>
          <a:xfrm>
            <a:off x="300723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63" name="Shape 160"/>
          <p:cNvSpPr/>
          <p:nvPr/>
        </p:nvSpPr>
        <p:spPr>
          <a:xfrm>
            <a:off x="305478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64" name="Text 161"/>
          <p:cNvSpPr/>
          <p:nvPr/>
        </p:nvSpPr>
        <p:spPr>
          <a:xfrm>
            <a:off x="315353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392673</a:t>
            </a:r>
            <a:endParaRPr lang="en-US" sz="640" dirty="0"/>
          </a:p>
        </p:txBody>
      </p:sp>
      <p:sp>
        <p:nvSpPr>
          <p:cNvPr id="165" name="Text 162"/>
          <p:cNvSpPr/>
          <p:nvPr/>
        </p:nvSpPr>
        <p:spPr>
          <a:xfrm>
            <a:off x="361073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eSIMCrew</a:t>
            </a:r>
            <a:endParaRPr lang="en-US" sz="640" dirty="0"/>
          </a:p>
        </p:txBody>
      </p:sp>
      <p:sp>
        <p:nvSpPr>
          <p:cNvPr id="166" name="Text 163"/>
          <p:cNvSpPr/>
          <p:nvPr/>
        </p:nvSpPr>
        <p:spPr>
          <a:xfrm>
            <a:off x="505891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67" name="Shape 16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168" name="Text 16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169" name="Shape 166"/>
          <p:cNvSpPr/>
          <p:nvPr/>
        </p:nvSpPr>
        <p:spPr>
          <a:xfrm>
            <a:off x="5630418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677967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1" name="Text 168"/>
          <p:cNvSpPr/>
          <p:nvPr/>
        </p:nvSpPr>
        <p:spPr>
          <a:xfrm>
            <a:off x="5776722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394325</a:t>
            </a:r>
            <a:endParaRPr lang="en-US" sz="640" dirty="0"/>
          </a:p>
        </p:txBody>
      </p:sp>
      <p:sp>
        <p:nvSpPr>
          <p:cNvPr id="172" name="Text 169"/>
          <p:cNvSpPr/>
          <p:nvPr/>
        </p:nvSpPr>
        <p:spPr>
          <a:xfrm>
            <a:off x="6233922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Ethiopian Airlines UK</a:t>
            </a:r>
            <a:endParaRPr lang="en-US" sz="600" dirty="0"/>
          </a:p>
        </p:txBody>
      </p:sp>
      <p:sp>
        <p:nvSpPr>
          <p:cNvPr id="173" name="Text 170"/>
          <p:cNvSpPr/>
          <p:nvPr/>
        </p:nvSpPr>
        <p:spPr>
          <a:xfrm>
            <a:off x="7682103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4" name="Shape 171"/>
          <p:cNvSpPr/>
          <p:nvPr/>
        </p:nvSpPr>
        <p:spPr>
          <a:xfrm>
            <a:off x="5630418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5677967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76" name="Text 173"/>
          <p:cNvSpPr/>
          <p:nvPr/>
        </p:nvSpPr>
        <p:spPr>
          <a:xfrm>
            <a:off x="5776722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398471</a:t>
            </a:r>
            <a:endParaRPr lang="en-US" sz="640" dirty="0"/>
          </a:p>
        </p:txBody>
      </p:sp>
      <p:sp>
        <p:nvSpPr>
          <p:cNvPr id="177" name="Text 174"/>
          <p:cNvSpPr/>
          <p:nvPr/>
        </p:nvSpPr>
        <p:spPr>
          <a:xfrm>
            <a:off x="6233922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Evelop Keys</a:t>
            </a:r>
            <a:endParaRPr lang="en-US" sz="640" dirty="0"/>
          </a:p>
        </p:txBody>
      </p:sp>
      <p:sp>
        <p:nvSpPr>
          <p:cNvPr id="178" name="Text 175"/>
          <p:cNvSpPr/>
          <p:nvPr/>
        </p:nvSpPr>
        <p:spPr>
          <a:xfrm>
            <a:off x="7682103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79" name="Shape 176"/>
          <p:cNvSpPr/>
          <p:nvPr/>
        </p:nvSpPr>
        <p:spPr>
          <a:xfrm>
            <a:off x="5630418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5677967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1" name="Text 178"/>
          <p:cNvSpPr/>
          <p:nvPr/>
        </p:nvSpPr>
        <p:spPr>
          <a:xfrm>
            <a:off x="5776722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392254</a:t>
            </a:r>
            <a:endParaRPr lang="en-US" sz="640" dirty="0"/>
          </a:p>
        </p:txBody>
      </p:sp>
      <p:sp>
        <p:nvSpPr>
          <p:cNvPr id="182" name="Text 179"/>
          <p:cNvSpPr/>
          <p:nvPr/>
        </p:nvSpPr>
        <p:spPr>
          <a:xfrm>
            <a:off x="6233922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Everpress</a:t>
            </a:r>
            <a:endParaRPr lang="en-US" sz="640" dirty="0"/>
          </a:p>
        </p:txBody>
      </p:sp>
      <p:sp>
        <p:nvSpPr>
          <p:cNvPr id="183" name="Text 180"/>
          <p:cNvSpPr/>
          <p:nvPr/>
        </p:nvSpPr>
        <p:spPr>
          <a:xfrm>
            <a:off x="7682103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4" name="Shape 181"/>
          <p:cNvSpPr/>
          <p:nvPr/>
        </p:nvSpPr>
        <p:spPr>
          <a:xfrm>
            <a:off x="5630418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5677967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86" name="Text 183"/>
          <p:cNvSpPr/>
          <p:nvPr/>
        </p:nvSpPr>
        <p:spPr>
          <a:xfrm>
            <a:off x="5776722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396252</a:t>
            </a:r>
            <a:endParaRPr lang="en-US" sz="640" dirty="0"/>
          </a:p>
        </p:txBody>
      </p:sp>
      <p:sp>
        <p:nvSpPr>
          <p:cNvPr id="187" name="Text 184"/>
          <p:cNvSpPr/>
          <p:nvPr/>
        </p:nvSpPr>
        <p:spPr>
          <a:xfrm>
            <a:off x="6233922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Getaways</a:t>
            </a:r>
            <a:endParaRPr lang="en-US" sz="640" dirty="0"/>
          </a:p>
        </p:txBody>
      </p:sp>
      <p:sp>
        <p:nvSpPr>
          <p:cNvPr id="188" name="Text 185"/>
          <p:cNvSpPr/>
          <p:nvPr/>
        </p:nvSpPr>
        <p:spPr>
          <a:xfrm>
            <a:off x="7682103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89" name="Shape 186"/>
          <p:cNvSpPr/>
          <p:nvPr/>
        </p:nvSpPr>
        <p:spPr>
          <a:xfrm>
            <a:off x="5630418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0" name="Shape 187"/>
          <p:cNvSpPr/>
          <p:nvPr/>
        </p:nvSpPr>
        <p:spPr>
          <a:xfrm>
            <a:off x="5677967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1" name="Text 188"/>
          <p:cNvSpPr/>
          <p:nvPr/>
        </p:nvSpPr>
        <p:spPr>
          <a:xfrm>
            <a:off x="5776722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394026</a:t>
            </a:r>
            <a:endParaRPr lang="en-US" sz="640" dirty="0"/>
          </a:p>
        </p:txBody>
      </p:sp>
      <p:sp>
        <p:nvSpPr>
          <p:cNvPr id="192" name="Text 189"/>
          <p:cNvSpPr/>
          <p:nvPr/>
        </p:nvSpPr>
        <p:spPr>
          <a:xfrm>
            <a:off x="6233922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3" name="Text 190"/>
          <p:cNvSpPr/>
          <p:nvPr/>
        </p:nvSpPr>
        <p:spPr>
          <a:xfrm>
            <a:off x="7682103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4" name="Shape 191"/>
          <p:cNvSpPr/>
          <p:nvPr/>
        </p:nvSpPr>
        <p:spPr>
          <a:xfrm>
            <a:off x="5630418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195" name="Shape 192"/>
          <p:cNvSpPr/>
          <p:nvPr/>
        </p:nvSpPr>
        <p:spPr>
          <a:xfrm>
            <a:off x="5677967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96" name="Text 193"/>
          <p:cNvSpPr/>
          <p:nvPr/>
        </p:nvSpPr>
        <p:spPr>
          <a:xfrm>
            <a:off x="5776722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401511</a:t>
            </a:r>
            <a:endParaRPr lang="en-US" sz="640" dirty="0"/>
          </a:p>
        </p:txBody>
      </p:sp>
      <p:sp>
        <p:nvSpPr>
          <p:cNvPr id="197" name="Text 194"/>
          <p:cNvSpPr/>
          <p:nvPr/>
        </p:nvSpPr>
        <p:spPr>
          <a:xfrm>
            <a:off x="6233922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Grow - Subscription</a:t>
            </a:r>
            <a:endParaRPr lang="en-US" sz="600" dirty="0"/>
          </a:p>
        </p:txBody>
      </p:sp>
      <p:sp>
        <p:nvSpPr>
          <p:cNvPr id="198" name="Text 195"/>
          <p:cNvSpPr/>
          <p:nvPr/>
        </p:nvSpPr>
        <p:spPr>
          <a:xfrm>
            <a:off x="7682103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199" name="Shape 196"/>
          <p:cNvSpPr/>
          <p:nvPr/>
        </p:nvSpPr>
        <p:spPr>
          <a:xfrm>
            <a:off x="5630418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0" name="Shape 197"/>
          <p:cNvSpPr/>
          <p:nvPr/>
        </p:nvSpPr>
        <p:spPr>
          <a:xfrm>
            <a:off x="5677967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1" name="Text 198"/>
          <p:cNvSpPr/>
          <p:nvPr/>
        </p:nvSpPr>
        <p:spPr>
          <a:xfrm>
            <a:off x="5776722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398205</a:t>
            </a:r>
            <a:endParaRPr lang="en-US" sz="640" dirty="0"/>
          </a:p>
        </p:txBody>
      </p:sp>
      <p:sp>
        <p:nvSpPr>
          <p:cNvPr id="202" name="Text 199"/>
          <p:cNvSpPr/>
          <p:nvPr/>
        </p:nvSpPr>
        <p:spPr>
          <a:xfrm>
            <a:off x="6233922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Happy Hats</a:t>
            </a:r>
            <a:endParaRPr lang="en-US" sz="640" dirty="0"/>
          </a:p>
        </p:txBody>
      </p:sp>
      <p:sp>
        <p:nvSpPr>
          <p:cNvPr id="203" name="Text 200"/>
          <p:cNvSpPr/>
          <p:nvPr/>
        </p:nvSpPr>
        <p:spPr>
          <a:xfrm>
            <a:off x="7682103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4" name="Shape 201"/>
          <p:cNvSpPr/>
          <p:nvPr/>
        </p:nvSpPr>
        <p:spPr>
          <a:xfrm>
            <a:off x="5630418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05" name="Shape 202"/>
          <p:cNvSpPr/>
          <p:nvPr/>
        </p:nvSpPr>
        <p:spPr>
          <a:xfrm>
            <a:off x="5677967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06" name="Text 203"/>
          <p:cNvSpPr/>
          <p:nvPr/>
        </p:nvSpPr>
        <p:spPr>
          <a:xfrm>
            <a:off x="5776722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396079</a:t>
            </a:r>
            <a:endParaRPr lang="en-US" sz="640" dirty="0"/>
          </a:p>
        </p:txBody>
      </p:sp>
      <p:sp>
        <p:nvSpPr>
          <p:cNvPr id="207" name="Text 204"/>
          <p:cNvSpPr/>
          <p:nvPr/>
        </p:nvSpPr>
        <p:spPr>
          <a:xfrm>
            <a:off x="6233922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 Heat UK - Gold Plan</a:t>
            </a:r>
            <a:endParaRPr lang="en-US" sz="600" dirty="0"/>
          </a:p>
        </p:txBody>
      </p:sp>
      <p:sp>
        <p:nvSpPr>
          <p:cNvPr id="208" name="Text 205"/>
          <p:cNvSpPr/>
          <p:nvPr/>
        </p:nvSpPr>
        <p:spPr>
          <a:xfrm>
            <a:off x="7682103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09" name="Shape 206"/>
          <p:cNvSpPr/>
          <p:nvPr/>
        </p:nvSpPr>
        <p:spPr>
          <a:xfrm>
            <a:off x="5630418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0" name="Shape 207"/>
          <p:cNvSpPr/>
          <p:nvPr/>
        </p:nvSpPr>
        <p:spPr>
          <a:xfrm>
            <a:off x="5677967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1" name="Text 208"/>
          <p:cNvSpPr/>
          <p:nvPr/>
        </p:nvSpPr>
        <p:spPr>
          <a:xfrm>
            <a:off x="5776722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397933</a:t>
            </a:r>
            <a:endParaRPr lang="en-US" sz="640" dirty="0"/>
          </a:p>
        </p:txBody>
      </p:sp>
      <p:sp>
        <p:nvSpPr>
          <p:cNvPr id="212" name="Text 209"/>
          <p:cNvSpPr/>
          <p:nvPr/>
        </p:nvSpPr>
        <p:spPr>
          <a:xfrm>
            <a:off x="6233922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Hunger Games on Stage UK</a:t>
            </a:r>
            <a:endParaRPr lang="en-US" sz="600" dirty="0"/>
          </a:p>
        </p:txBody>
      </p:sp>
      <p:sp>
        <p:nvSpPr>
          <p:cNvPr id="213" name="Text 210"/>
          <p:cNvSpPr/>
          <p:nvPr/>
        </p:nvSpPr>
        <p:spPr>
          <a:xfrm>
            <a:off x="7682103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4" name="Shape 211"/>
          <p:cNvSpPr/>
          <p:nvPr/>
        </p:nvSpPr>
        <p:spPr>
          <a:xfrm>
            <a:off x="5630418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15" name="Shape 212"/>
          <p:cNvSpPr/>
          <p:nvPr/>
        </p:nvSpPr>
        <p:spPr>
          <a:xfrm>
            <a:off x="5677967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16" name="Text 213"/>
          <p:cNvSpPr/>
          <p:nvPr/>
        </p:nvSpPr>
        <p:spPr>
          <a:xfrm>
            <a:off x="5776722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398213</a:t>
            </a:r>
            <a:endParaRPr lang="en-US" sz="640" dirty="0"/>
          </a:p>
        </p:txBody>
      </p:sp>
      <p:sp>
        <p:nvSpPr>
          <p:cNvPr id="217" name="Text 214"/>
          <p:cNvSpPr/>
          <p:nvPr/>
        </p:nvSpPr>
        <p:spPr>
          <a:xfrm>
            <a:off x="6233922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Keele University - MA Education</a:t>
            </a:r>
            <a:endParaRPr lang="en-US" sz="550" dirty="0"/>
          </a:p>
        </p:txBody>
      </p:sp>
      <p:sp>
        <p:nvSpPr>
          <p:cNvPr id="218" name="Text 215"/>
          <p:cNvSpPr/>
          <p:nvPr/>
        </p:nvSpPr>
        <p:spPr>
          <a:xfrm>
            <a:off x="7682103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19" name="Shape 216"/>
          <p:cNvSpPr/>
          <p:nvPr/>
        </p:nvSpPr>
        <p:spPr>
          <a:xfrm>
            <a:off x="5630418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0" name="Shape 217"/>
          <p:cNvSpPr/>
          <p:nvPr/>
        </p:nvSpPr>
        <p:spPr>
          <a:xfrm>
            <a:off x="5677967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1" name="Text 218"/>
          <p:cNvSpPr/>
          <p:nvPr/>
        </p:nvSpPr>
        <p:spPr>
          <a:xfrm>
            <a:off x="5776722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402481</a:t>
            </a:r>
            <a:endParaRPr lang="en-US" sz="640" dirty="0"/>
          </a:p>
        </p:txBody>
      </p:sp>
      <p:sp>
        <p:nvSpPr>
          <p:cNvPr id="222" name="Text 219"/>
          <p:cNvSpPr/>
          <p:nvPr/>
        </p:nvSpPr>
        <p:spPr>
          <a:xfrm>
            <a:off x="6233922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Kensford Affiliate Program</a:t>
            </a:r>
            <a:endParaRPr lang="en-US" sz="600" dirty="0"/>
          </a:p>
        </p:txBody>
      </p:sp>
      <p:sp>
        <p:nvSpPr>
          <p:cNvPr id="223" name="Text 220"/>
          <p:cNvSpPr/>
          <p:nvPr/>
        </p:nvSpPr>
        <p:spPr>
          <a:xfrm>
            <a:off x="7682103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4" name="Shape 221"/>
          <p:cNvSpPr/>
          <p:nvPr/>
        </p:nvSpPr>
        <p:spPr>
          <a:xfrm>
            <a:off x="5630418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25" name="Shape 222"/>
          <p:cNvSpPr/>
          <p:nvPr/>
        </p:nvSpPr>
        <p:spPr>
          <a:xfrm>
            <a:off x="5677967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26" name="Text 223"/>
          <p:cNvSpPr/>
          <p:nvPr/>
        </p:nvSpPr>
        <p:spPr>
          <a:xfrm>
            <a:off x="5776722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393347</a:t>
            </a:r>
            <a:endParaRPr lang="en-US" sz="640" dirty="0"/>
          </a:p>
        </p:txBody>
      </p:sp>
      <p:sp>
        <p:nvSpPr>
          <p:cNvPr id="227" name="Text 224"/>
          <p:cNvSpPr/>
          <p:nvPr/>
        </p:nvSpPr>
        <p:spPr>
          <a:xfrm>
            <a:off x="6233922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Kliktix - Official Times Square Ticket Office UK</a:t>
            </a:r>
            <a:endParaRPr lang="en-US" sz="550" dirty="0"/>
          </a:p>
        </p:txBody>
      </p:sp>
      <p:sp>
        <p:nvSpPr>
          <p:cNvPr id="228" name="Text 225"/>
          <p:cNvSpPr/>
          <p:nvPr/>
        </p:nvSpPr>
        <p:spPr>
          <a:xfrm>
            <a:off x="7682103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29" name="Shape 226"/>
          <p:cNvSpPr/>
          <p:nvPr/>
        </p:nvSpPr>
        <p:spPr>
          <a:xfrm>
            <a:off x="5630418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0" name="Shape 227"/>
          <p:cNvSpPr/>
          <p:nvPr/>
        </p:nvSpPr>
        <p:spPr>
          <a:xfrm>
            <a:off x="5677967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1" name="Text 228"/>
          <p:cNvSpPr/>
          <p:nvPr/>
        </p:nvSpPr>
        <p:spPr>
          <a:xfrm>
            <a:off x="5776722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401455</a:t>
            </a:r>
            <a:endParaRPr lang="en-US" sz="640" dirty="0"/>
          </a:p>
        </p:txBody>
      </p:sp>
      <p:sp>
        <p:nvSpPr>
          <p:cNvPr id="232" name="Text 229"/>
          <p:cNvSpPr/>
          <p:nvPr/>
        </p:nvSpPr>
        <p:spPr>
          <a:xfrm>
            <a:off x="6233922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Loans Warehouse</a:t>
            </a:r>
            <a:endParaRPr lang="en-US" sz="640" dirty="0"/>
          </a:p>
        </p:txBody>
      </p:sp>
      <p:sp>
        <p:nvSpPr>
          <p:cNvPr id="233" name="Text 230"/>
          <p:cNvSpPr/>
          <p:nvPr/>
        </p:nvSpPr>
        <p:spPr>
          <a:xfrm>
            <a:off x="7682103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4" name="Shape 231"/>
          <p:cNvSpPr/>
          <p:nvPr/>
        </p:nvSpPr>
        <p:spPr>
          <a:xfrm>
            <a:off x="5630418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35" name="Shape 232"/>
          <p:cNvSpPr/>
          <p:nvPr/>
        </p:nvSpPr>
        <p:spPr>
          <a:xfrm>
            <a:off x="5677967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36" name="Text 233"/>
          <p:cNvSpPr/>
          <p:nvPr/>
        </p:nvSpPr>
        <p:spPr>
          <a:xfrm>
            <a:off x="5776722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392454</a:t>
            </a:r>
            <a:endParaRPr lang="en-US" sz="640" dirty="0"/>
          </a:p>
        </p:txBody>
      </p:sp>
      <p:sp>
        <p:nvSpPr>
          <p:cNvPr id="237" name="Text 234"/>
          <p:cNvSpPr/>
          <p:nvPr/>
        </p:nvSpPr>
        <p:spPr>
          <a:xfrm>
            <a:off x="6233922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Matilda, The Musical UK NEW</a:t>
            </a:r>
            <a:endParaRPr lang="en-US" sz="600" dirty="0"/>
          </a:p>
        </p:txBody>
      </p:sp>
      <p:sp>
        <p:nvSpPr>
          <p:cNvPr id="238" name="Text 235"/>
          <p:cNvSpPr/>
          <p:nvPr/>
        </p:nvSpPr>
        <p:spPr>
          <a:xfrm>
            <a:off x="7682103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39" name="Shape 23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0" name="Text 23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41" name="Shape 238"/>
          <p:cNvSpPr/>
          <p:nvPr/>
        </p:nvSpPr>
        <p:spPr>
          <a:xfrm>
            <a:off x="8253603" y="162763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2" name="Shape 239"/>
          <p:cNvSpPr/>
          <p:nvPr/>
        </p:nvSpPr>
        <p:spPr>
          <a:xfrm>
            <a:off x="8301152" y="1764531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3" name="Text 240"/>
          <p:cNvSpPr/>
          <p:nvPr/>
        </p:nvSpPr>
        <p:spPr>
          <a:xfrm>
            <a:off x="8399907" y="164820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393173</a:t>
            </a:r>
            <a:endParaRPr lang="en-US" sz="640" dirty="0"/>
          </a:p>
        </p:txBody>
      </p:sp>
      <p:sp>
        <p:nvSpPr>
          <p:cNvPr id="244" name="Text 241"/>
          <p:cNvSpPr/>
          <p:nvPr/>
        </p:nvSpPr>
        <p:spPr>
          <a:xfrm>
            <a:off x="8857107" y="164820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Nutrition UK</a:t>
            </a:r>
            <a:endParaRPr lang="en-US" sz="600" dirty="0"/>
          </a:p>
        </p:txBody>
      </p:sp>
      <p:sp>
        <p:nvSpPr>
          <p:cNvPr id="245" name="Text 242"/>
          <p:cNvSpPr/>
          <p:nvPr/>
        </p:nvSpPr>
        <p:spPr>
          <a:xfrm>
            <a:off x="10305288" y="164820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46" name="Shape 243"/>
          <p:cNvSpPr/>
          <p:nvPr/>
        </p:nvSpPr>
        <p:spPr>
          <a:xfrm>
            <a:off x="8253603" y="197641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47" name="Shape 244"/>
          <p:cNvSpPr/>
          <p:nvPr/>
        </p:nvSpPr>
        <p:spPr>
          <a:xfrm>
            <a:off x="8301152" y="211330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48" name="Text 245"/>
          <p:cNvSpPr/>
          <p:nvPr/>
        </p:nvSpPr>
        <p:spPr>
          <a:xfrm>
            <a:off x="8399907" y="199698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397780</a:t>
            </a:r>
            <a:endParaRPr lang="en-US" sz="640" dirty="0"/>
          </a:p>
        </p:txBody>
      </p:sp>
      <p:sp>
        <p:nvSpPr>
          <p:cNvPr id="249" name="Text 246"/>
          <p:cNvSpPr/>
          <p:nvPr/>
        </p:nvSpPr>
        <p:spPr>
          <a:xfrm>
            <a:off x="8857107" y="199698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 Vegetable Garden</a:t>
            </a:r>
            <a:endParaRPr lang="en-US" sz="600" dirty="0"/>
          </a:p>
        </p:txBody>
      </p:sp>
      <p:sp>
        <p:nvSpPr>
          <p:cNvPr id="250" name="Text 247"/>
          <p:cNvSpPr/>
          <p:nvPr/>
        </p:nvSpPr>
        <p:spPr>
          <a:xfrm>
            <a:off x="10305288" y="199698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1" name="Shape 248"/>
          <p:cNvSpPr/>
          <p:nvPr/>
        </p:nvSpPr>
        <p:spPr>
          <a:xfrm>
            <a:off x="8253603" y="2325189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2" name="Shape 249"/>
          <p:cNvSpPr/>
          <p:nvPr/>
        </p:nvSpPr>
        <p:spPr>
          <a:xfrm>
            <a:off x="8301152" y="246208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3" name="Text 250"/>
          <p:cNvSpPr/>
          <p:nvPr/>
        </p:nvSpPr>
        <p:spPr>
          <a:xfrm>
            <a:off x="8399907" y="2345763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393369</a:t>
            </a:r>
            <a:endParaRPr lang="en-US" sz="640" dirty="0"/>
          </a:p>
        </p:txBody>
      </p:sp>
      <p:sp>
        <p:nvSpPr>
          <p:cNvPr id="254" name="Text 251"/>
          <p:cNvSpPr/>
          <p:nvPr/>
        </p:nvSpPr>
        <p:spPr>
          <a:xfrm>
            <a:off x="8857107" y="2345763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myflightrefund</a:t>
            </a:r>
            <a:endParaRPr lang="en-US" sz="640" dirty="0"/>
          </a:p>
        </p:txBody>
      </p:sp>
      <p:sp>
        <p:nvSpPr>
          <p:cNvPr id="255" name="Text 252"/>
          <p:cNvSpPr/>
          <p:nvPr/>
        </p:nvSpPr>
        <p:spPr>
          <a:xfrm>
            <a:off x="10305288" y="2345763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56" name="Shape 253"/>
          <p:cNvSpPr/>
          <p:nvPr/>
        </p:nvSpPr>
        <p:spPr>
          <a:xfrm>
            <a:off x="8253603" y="267396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57" name="Shape 254"/>
          <p:cNvSpPr/>
          <p:nvPr/>
        </p:nvSpPr>
        <p:spPr>
          <a:xfrm>
            <a:off x="8301152" y="281086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58" name="Text 255"/>
          <p:cNvSpPr/>
          <p:nvPr/>
        </p:nvSpPr>
        <p:spPr>
          <a:xfrm>
            <a:off x="8399907" y="269454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393335</a:t>
            </a:r>
            <a:endParaRPr lang="en-US" sz="640" dirty="0"/>
          </a:p>
        </p:txBody>
      </p:sp>
      <p:sp>
        <p:nvSpPr>
          <p:cNvPr id="259" name="Text 256"/>
          <p:cNvSpPr/>
          <p:nvPr/>
        </p:nvSpPr>
        <p:spPr>
          <a:xfrm>
            <a:off x="8857107" y="269454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New Baby Hampers</a:t>
            </a:r>
            <a:endParaRPr lang="en-US" sz="640" dirty="0"/>
          </a:p>
        </p:txBody>
      </p:sp>
      <p:sp>
        <p:nvSpPr>
          <p:cNvPr id="260" name="Text 257"/>
          <p:cNvSpPr/>
          <p:nvPr/>
        </p:nvSpPr>
        <p:spPr>
          <a:xfrm>
            <a:off x="10305288" y="269454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1" name="Shape 258"/>
          <p:cNvSpPr/>
          <p:nvPr/>
        </p:nvSpPr>
        <p:spPr>
          <a:xfrm>
            <a:off x="8253603" y="302274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2" name="Shape 259"/>
          <p:cNvSpPr/>
          <p:nvPr/>
        </p:nvSpPr>
        <p:spPr>
          <a:xfrm>
            <a:off x="8301152" y="31596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3" name="Text 260"/>
          <p:cNvSpPr/>
          <p:nvPr/>
        </p:nvSpPr>
        <p:spPr>
          <a:xfrm>
            <a:off x="8399907" y="304331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393197</a:t>
            </a:r>
            <a:endParaRPr lang="en-US" sz="640" dirty="0"/>
          </a:p>
        </p:txBody>
      </p:sp>
      <p:sp>
        <p:nvSpPr>
          <p:cNvPr id="264" name="Text 261"/>
          <p:cNvSpPr/>
          <p:nvPr/>
        </p:nvSpPr>
        <p:spPr>
          <a:xfrm>
            <a:off x="8857107" y="304331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Ferry UK</a:t>
            </a:r>
            <a:endParaRPr lang="en-US" sz="640" dirty="0"/>
          </a:p>
        </p:txBody>
      </p:sp>
      <p:sp>
        <p:nvSpPr>
          <p:cNvPr id="265" name="Text 262"/>
          <p:cNvSpPr/>
          <p:nvPr/>
        </p:nvSpPr>
        <p:spPr>
          <a:xfrm>
            <a:off x="10305288" y="304331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66" name="Shape 263"/>
          <p:cNvSpPr/>
          <p:nvPr/>
        </p:nvSpPr>
        <p:spPr>
          <a:xfrm>
            <a:off x="8253603" y="337152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7" name="Shape 264"/>
          <p:cNvSpPr/>
          <p:nvPr/>
        </p:nvSpPr>
        <p:spPr>
          <a:xfrm>
            <a:off x="8301152" y="350842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68" name="Text 265"/>
          <p:cNvSpPr/>
          <p:nvPr/>
        </p:nvSpPr>
        <p:spPr>
          <a:xfrm>
            <a:off x="8399907" y="339209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392841</a:t>
            </a:r>
            <a:endParaRPr lang="en-US" sz="640" dirty="0"/>
          </a:p>
        </p:txBody>
      </p:sp>
      <p:sp>
        <p:nvSpPr>
          <p:cNvPr id="269" name="Text 266"/>
          <p:cNvSpPr/>
          <p:nvPr/>
        </p:nvSpPr>
        <p:spPr>
          <a:xfrm>
            <a:off x="8857107" y="339209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Proven Performance</a:t>
            </a:r>
            <a:endParaRPr lang="en-US" sz="600" dirty="0"/>
          </a:p>
        </p:txBody>
      </p:sp>
      <p:sp>
        <p:nvSpPr>
          <p:cNvPr id="270" name="Text 267"/>
          <p:cNvSpPr/>
          <p:nvPr/>
        </p:nvSpPr>
        <p:spPr>
          <a:xfrm>
            <a:off x="10305288" y="339209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1" name="Shape 268"/>
          <p:cNvSpPr/>
          <p:nvPr/>
        </p:nvSpPr>
        <p:spPr>
          <a:xfrm>
            <a:off x="8253603" y="3720302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2" name="Shape 269"/>
          <p:cNvSpPr/>
          <p:nvPr/>
        </p:nvSpPr>
        <p:spPr>
          <a:xfrm>
            <a:off x="8301152" y="385720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3" name="Text 270"/>
          <p:cNvSpPr/>
          <p:nvPr/>
        </p:nvSpPr>
        <p:spPr>
          <a:xfrm>
            <a:off x="8399907" y="3740876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398215</a:t>
            </a:r>
            <a:endParaRPr lang="en-US" sz="640" dirty="0"/>
          </a:p>
        </p:txBody>
      </p:sp>
      <p:sp>
        <p:nvSpPr>
          <p:cNvPr id="274" name="Text 271"/>
          <p:cNvSpPr/>
          <p:nvPr/>
        </p:nvSpPr>
        <p:spPr>
          <a:xfrm>
            <a:off x="8857107" y="3740876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Queen Margarets University - MSc Healthcare Mgt</a:t>
            </a:r>
            <a:endParaRPr lang="en-US" sz="550" dirty="0"/>
          </a:p>
        </p:txBody>
      </p:sp>
      <p:sp>
        <p:nvSpPr>
          <p:cNvPr id="275" name="Text 272"/>
          <p:cNvSpPr/>
          <p:nvPr/>
        </p:nvSpPr>
        <p:spPr>
          <a:xfrm>
            <a:off x="10305288" y="3740876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76" name="Shape 273"/>
          <p:cNvSpPr/>
          <p:nvPr/>
        </p:nvSpPr>
        <p:spPr>
          <a:xfrm>
            <a:off x="8253603" y="406908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77" name="Shape 274"/>
          <p:cNvSpPr/>
          <p:nvPr/>
        </p:nvSpPr>
        <p:spPr>
          <a:xfrm>
            <a:off x="8301152" y="4205979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8" name="Text 275"/>
          <p:cNvSpPr/>
          <p:nvPr/>
        </p:nvSpPr>
        <p:spPr>
          <a:xfrm>
            <a:off x="8399907" y="408965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392486</a:t>
            </a:r>
            <a:endParaRPr lang="en-US" sz="640" dirty="0"/>
          </a:p>
        </p:txBody>
      </p:sp>
      <p:sp>
        <p:nvSpPr>
          <p:cNvPr id="279" name="Text 276"/>
          <p:cNvSpPr/>
          <p:nvPr/>
        </p:nvSpPr>
        <p:spPr>
          <a:xfrm>
            <a:off x="8857107" y="408965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Roads Challenge</a:t>
            </a:r>
            <a:endParaRPr lang="en-US" sz="600" dirty="0"/>
          </a:p>
        </p:txBody>
      </p:sp>
      <p:sp>
        <p:nvSpPr>
          <p:cNvPr id="280" name="Text 277"/>
          <p:cNvSpPr/>
          <p:nvPr/>
        </p:nvSpPr>
        <p:spPr>
          <a:xfrm>
            <a:off x="10305288" y="408965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1" name="Shape 278"/>
          <p:cNvSpPr/>
          <p:nvPr/>
        </p:nvSpPr>
        <p:spPr>
          <a:xfrm>
            <a:off x="8253603" y="4417858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2" name="Shape 279"/>
          <p:cNvSpPr/>
          <p:nvPr/>
        </p:nvSpPr>
        <p:spPr>
          <a:xfrm>
            <a:off x="8301152" y="4554757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3" name="Text 280"/>
          <p:cNvSpPr/>
          <p:nvPr/>
        </p:nvSpPr>
        <p:spPr>
          <a:xfrm>
            <a:off x="8399907" y="4438432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402465</a:t>
            </a:r>
            <a:endParaRPr lang="en-US" sz="640" dirty="0"/>
          </a:p>
        </p:txBody>
      </p:sp>
      <p:sp>
        <p:nvSpPr>
          <p:cNvPr id="284" name="Text 281"/>
          <p:cNvSpPr/>
          <p:nvPr/>
        </p:nvSpPr>
        <p:spPr>
          <a:xfrm>
            <a:off x="8857107" y="4438432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Shop Blufi</a:t>
            </a:r>
            <a:endParaRPr lang="en-US" sz="640" dirty="0"/>
          </a:p>
        </p:txBody>
      </p:sp>
      <p:sp>
        <p:nvSpPr>
          <p:cNvPr id="285" name="Text 282"/>
          <p:cNvSpPr/>
          <p:nvPr/>
        </p:nvSpPr>
        <p:spPr>
          <a:xfrm>
            <a:off x="10305288" y="4438432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86" name="Shape 283"/>
          <p:cNvSpPr/>
          <p:nvPr/>
        </p:nvSpPr>
        <p:spPr>
          <a:xfrm>
            <a:off x="8253603" y="4766637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87" name="Shape 284"/>
          <p:cNvSpPr/>
          <p:nvPr/>
        </p:nvSpPr>
        <p:spPr>
          <a:xfrm>
            <a:off x="8301152" y="4903535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88" name="Text 285"/>
          <p:cNvSpPr/>
          <p:nvPr/>
        </p:nvSpPr>
        <p:spPr>
          <a:xfrm>
            <a:off x="8399907" y="4787211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397634</a:t>
            </a:r>
            <a:endParaRPr lang="en-US" sz="640" dirty="0"/>
          </a:p>
        </p:txBody>
      </p:sp>
      <p:sp>
        <p:nvSpPr>
          <p:cNvPr id="289" name="Text 286"/>
          <p:cNvSpPr/>
          <p:nvPr/>
        </p:nvSpPr>
        <p:spPr>
          <a:xfrm>
            <a:off x="8857107" y="4787211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Simian Saboteur</a:t>
            </a:r>
            <a:endParaRPr lang="en-US" sz="640" dirty="0"/>
          </a:p>
        </p:txBody>
      </p:sp>
      <p:sp>
        <p:nvSpPr>
          <p:cNvPr id="290" name="Text 287"/>
          <p:cNvSpPr/>
          <p:nvPr/>
        </p:nvSpPr>
        <p:spPr>
          <a:xfrm>
            <a:off x="10305288" y="4787211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1" name="Shape 288"/>
          <p:cNvSpPr/>
          <p:nvPr/>
        </p:nvSpPr>
        <p:spPr>
          <a:xfrm>
            <a:off x="8253603" y="5115415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2" name="Shape 289"/>
          <p:cNvSpPr/>
          <p:nvPr/>
        </p:nvSpPr>
        <p:spPr>
          <a:xfrm>
            <a:off x="8301152" y="525231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3" name="Text 290"/>
          <p:cNvSpPr/>
          <p:nvPr/>
        </p:nvSpPr>
        <p:spPr>
          <a:xfrm>
            <a:off x="8399907" y="5135989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397005</a:t>
            </a:r>
            <a:endParaRPr lang="en-US" sz="640" dirty="0"/>
          </a:p>
        </p:txBody>
      </p:sp>
      <p:sp>
        <p:nvSpPr>
          <p:cNvPr id="294" name="Text 291"/>
          <p:cNvSpPr/>
          <p:nvPr/>
        </p:nvSpPr>
        <p:spPr>
          <a:xfrm>
            <a:off x="8857107" y="5135989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 The Musical London UK</a:t>
            </a:r>
            <a:endParaRPr lang="en-US" sz="600" dirty="0"/>
          </a:p>
        </p:txBody>
      </p:sp>
      <p:sp>
        <p:nvSpPr>
          <p:cNvPr id="295" name="Text 292"/>
          <p:cNvSpPr/>
          <p:nvPr/>
        </p:nvSpPr>
        <p:spPr>
          <a:xfrm>
            <a:off x="10305288" y="5135989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296" name="Shape 293"/>
          <p:cNvSpPr/>
          <p:nvPr/>
        </p:nvSpPr>
        <p:spPr>
          <a:xfrm>
            <a:off x="8253603" y="5464193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97" name="Shape 294"/>
          <p:cNvSpPr/>
          <p:nvPr/>
        </p:nvSpPr>
        <p:spPr>
          <a:xfrm>
            <a:off x="8301152" y="560109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98" name="Text 295"/>
          <p:cNvSpPr/>
          <p:nvPr/>
        </p:nvSpPr>
        <p:spPr>
          <a:xfrm>
            <a:off x="8399907" y="5484767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394426</a:t>
            </a:r>
            <a:endParaRPr lang="en-US" sz="640" dirty="0"/>
          </a:p>
        </p:txBody>
      </p:sp>
      <p:sp>
        <p:nvSpPr>
          <p:cNvPr id="299" name="Text 296"/>
          <p:cNvSpPr/>
          <p:nvPr/>
        </p:nvSpPr>
        <p:spPr>
          <a:xfrm>
            <a:off x="8857107" y="5484767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Sleepy Piglet</a:t>
            </a:r>
            <a:endParaRPr lang="en-US" sz="640" dirty="0"/>
          </a:p>
        </p:txBody>
      </p:sp>
      <p:sp>
        <p:nvSpPr>
          <p:cNvPr id="300" name="Text 297"/>
          <p:cNvSpPr/>
          <p:nvPr/>
        </p:nvSpPr>
        <p:spPr>
          <a:xfrm>
            <a:off x="10305288" y="5484767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1" name="Shape 298"/>
          <p:cNvSpPr/>
          <p:nvPr/>
        </p:nvSpPr>
        <p:spPr>
          <a:xfrm>
            <a:off x="8253603" y="5812971"/>
            <a:ext cx="2554605" cy="335977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2" name="Shape 299"/>
          <p:cNvSpPr/>
          <p:nvPr/>
        </p:nvSpPr>
        <p:spPr>
          <a:xfrm>
            <a:off x="8301152" y="594987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3" name="Text 300"/>
          <p:cNvSpPr/>
          <p:nvPr/>
        </p:nvSpPr>
        <p:spPr>
          <a:xfrm>
            <a:off x="8399907" y="5833545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394437</a:t>
            </a:r>
            <a:endParaRPr lang="en-US" sz="640" dirty="0"/>
          </a:p>
        </p:txBody>
      </p:sp>
      <p:sp>
        <p:nvSpPr>
          <p:cNvPr id="304" name="Text 301"/>
          <p:cNvSpPr/>
          <p:nvPr/>
        </p:nvSpPr>
        <p:spPr>
          <a:xfrm>
            <a:off x="8857107" y="5833545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Softzone UK</a:t>
            </a:r>
            <a:endParaRPr lang="en-US" sz="640" dirty="0"/>
          </a:p>
        </p:txBody>
      </p:sp>
      <p:sp>
        <p:nvSpPr>
          <p:cNvPr id="305" name="Text 302"/>
          <p:cNvSpPr/>
          <p:nvPr/>
        </p:nvSpPr>
        <p:spPr>
          <a:xfrm>
            <a:off x="10305288" y="5833545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6" name="Shape 303"/>
          <p:cNvSpPr/>
          <p:nvPr/>
        </p:nvSpPr>
        <p:spPr>
          <a:xfrm>
            <a:off x="8253603" y="6161750"/>
            <a:ext cx="2554605" cy="335977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07" name="Shape 304"/>
          <p:cNvSpPr/>
          <p:nvPr/>
        </p:nvSpPr>
        <p:spPr>
          <a:xfrm>
            <a:off x="8301152" y="629864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08" name="Text 305"/>
          <p:cNvSpPr/>
          <p:nvPr/>
        </p:nvSpPr>
        <p:spPr>
          <a:xfrm>
            <a:off x="8399907" y="6182324"/>
            <a:ext cx="402336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396777</a:t>
            </a:r>
            <a:endParaRPr lang="en-US" sz="640" dirty="0"/>
          </a:p>
        </p:txBody>
      </p:sp>
      <p:sp>
        <p:nvSpPr>
          <p:cNvPr id="309" name="Text 306"/>
          <p:cNvSpPr/>
          <p:nvPr/>
        </p:nvSpPr>
        <p:spPr>
          <a:xfrm>
            <a:off x="8857107" y="6182324"/>
            <a:ext cx="1411605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Edit Boutique</a:t>
            </a:r>
            <a:endParaRPr lang="en-US" sz="600" dirty="0"/>
          </a:p>
        </p:txBody>
      </p:sp>
      <p:sp>
        <p:nvSpPr>
          <p:cNvPr id="310" name="Text 307"/>
          <p:cNvSpPr/>
          <p:nvPr/>
        </p:nvSpPr>
        <p:spPr>
          <a:xfrm>
            <a:off x="10305288" y="6182324"/>
            <a:ext cx="457200" cy="30763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 Connection Status (2/2)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58368" y="1170432"/>
            <a:ext cx="9966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66 programs reviewed | Page 2/2 | Not Connected: 56 | Accepted: 10</a:t>
            </a:r>
            <a:endParaRPr lang="en-US" sz="880" dirty="0"/>
          </a:p>
        </p:txBody>
      </p:sp>
      <p:sp>
        <p:nvSpPr>
          <p:cNvPr id="5" name="Shape 2"/>
          <p:cNvSpPr/>
          <p:nvPr/>
        </p:nvSpPr>
        <p:spPr>
          <a:xfrm>
            <a:off x="10972800" y="1572768"/>
            <a:ext cx="960120" cy="2706624"/>
          </a:xfrm>
          <a:prstGeom prst="roundRect">
            <a:avLst>
              <a:gd name="adj" fmla="val 3810"/>
            </a:avLst>
          </a:prstGeom>
          <a:solidFill>
            <a:srgbClr val="FFFFFF">
              <a:alpha val="95000"/>
            </a:srgbClr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064240" y="1682496"/>
            <a:ext cx="777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</a:t>
            </a:r>
            <a:endParaRPr lang="en-US" sz="820" dirty="0"/>
          </a:p>
        </p:txBody>
      </p:sp>
      <p:sp>
        <p:nvSpPr>
          <p:cNvPr id="7" name="Shape 4"/>
          <p:cNvSpPr/>
          <p:nvPr/>
        </p:nvSpPr>
        <p:spPr>
          <a:xfrm>
            <a:off x="11064240" y="1978762"/>
            <a:ext cx="68580" cy="68580"/>
          </a:xfrm>
          <a:prstGeom prst="ellipse">
            <a:avLst/>
          </a:prstGeom>
          <a:solidFill>
            <a:srgbClr val="57A66C"/>
          </a:solidFill>
          <a:ln w="12700">
            <a:solidFill>
              <a:srgbClr val="57A66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1173968" y="19568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Accepted</a:t>
            </a:r>
            <a:endParaRPr lang="en-US" sz="580" dirty="0"/>
          </a:p>
        </p:txBody>
      </p:sp>
      <p:sp>
        <p:nvSpPr>
          <p:cNvPr id="9" name="Shape 6"/>
          <p:cNvSpPr/>
          <p:nvPr/>
        </p:nvSpPr>
        <p:spPr>
          <a:xfrm>
            <a:off x="11064240" y="2253082"/>
            <a:ext cx="68580" cy="68580"/>
          </a:xfrm>
          <a:prstGeom prst="ellipse">
            <a:avLst/>
          </a:prstGeom>
          <a:solidFill>
            <a:srgbClr val="AFC4F5"/>
          </a:solidFill>
          <a:ln w="12700">
            <a:solidFill>
              <a:srgbClr val="AFC4F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1173968" y="22311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Under Cons.</a:t>
            </a:r>
            <a:endParaRPr lang="en-US" sz="580" dirty="0"/>
          </a:p>
        </p:txBody>
      </p:sp>
      <p:sp>
        <p:nvSpPr>
          <p:cNvPr id="11" name="Shape 8"/>
          <p:cNvSpPr/>
          <p:nvPr/>
        </p:nvSpPr>
        <p:spPr>
          <a:xfrm>
            <a:off x="11064240" y="2527402"/>
            <a:ext cx="68580" cy="6858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73968" y="25054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Hold UC</a:t>
            </a:r>
            <a:endParaRPr lang="en-US" sz="580" dirty="0"/>
          </a:p>
        </p:txBody>
      </p:sp>
      <p:sp>
        <p:nvSpPr>
          <p:cNvPr id="13" name="Shape 10"/>
          <p:cNvSpPr/>
          <p:nvPr/>
        </p:nvSpPr>
        <p:spPr>
          <a:xfrm>
            <a:off x="11064240" y="2801722"/>
            <a:ext cx="68580" cy="68580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73968" y="277977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 Not Conn.</a:t>
            </a:r>
            <a:endParaRPr lang="en-US" sz="580" dirty="0"/>
          </a:p>
        </p:txBody>
      </p:sp>
      <p:sp>
        <p:nvSpPr>
          <p:cNvPr id="15" name="Shape 12"/>
          <p:cNvSpPr/>
          <p:nvPr/>
        </p:nvSpPr>
        <p:spPr>
          <a:xfrm>
            <a:off x="11064240" y="3076042"/>
            <a:ext cx="68580" cy="68580"/>
          </a:xfrm>
          <a:prstGeom prst="ellipse">
            <a:avLst/>
          </a:prstGeom>
          <a:solidFill>
            <a:srgbClr val="F2994A"/>
          </a:solidFill>
          <a:ln w="12700">
            <a:solidFill>
              <a:srgbClr val="F2994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173968" y="305409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Hold Acc.</a:t>
            </a:r>
            <a:endParaRPr lang="en-US" sz="580" dirty="0"/>
          </a:p>
        </p:txBody>
      </p:sp>
      <p:sp>
        <p:nvSpPr>
          <p:cNvPr id="17" name="Shape 14"/>
          <p:cNvSpPr/>
          <p:nvPr/>
        </p:nvSpPr>
        <p:spPr>
          <a:xfrm>
            <a:off x="11064240" y="3350362"/>
            <a:ext cx="68580" cy="68580"/>
          </a:xfrm>
          <a:prstGeom prst="ellipse">
            <a:avLst/>
          </a:prstGeom>
          <a:solidFill>
            <a:srgbClr val="9B51E0"/>
          </a:solidFill>
          <a:ln w="12700">
            <a:solidFill>
              <a:srgbClr val="9B51E0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11173968" y="332841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Ending</a:t>
            </a:r>
            <a:endParaRPr lang="en-US" sz="580" dirty="0"/>
          </a:p>
        </p:txBody>
      </p:sp>
      <p:sp>
        <p:nvSpPr>
          <p:cNvPr id="19" name="Shape 16"/>
          <p:cNvSpPr/>
          <p:nvPr/>
        </p:nvSpPr>
        <p:spPr>
          <a:xfrm>
            <a:off x="11064240" y="3624682"/>
            <a:ext cx="68580" cy="68580"/>
          </a:xfrm>
          <a:prstGeom prst="ellipse">
            <a:avLst/>
          </a:prstGeom>
          <a:solidFill>
            <a:srgbClr val="5B6372"/>
          </a:solidFill>
          <a:ln w="12700">
            <a:solidFill>
              <a:srgbClr val="5B6372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73968" y="360273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Ended</a:t>
            </a:r>
            <a:endParaRPr lang="en-US" sz="580" dirty="0"/>
          </a:p>
        </p:txBody>
      </p:sp>
      <p:sp>
        <p:nvSpPr>
          <p:cNvPr id="21" name="Shape 18"/>
          <p:cNvSpPr/>
          <p:nvPr/>
        </p:nvSpPr>
        <p:spPr>
          <a:xfrm>
            <a:off x="11064240" y="3899002"/>
            <a:ext cx="68580" cy="68580"/>
          </a:xfrm>
          <a:prstGeom prst="ellipse">
            <a:avLst/>
          </a:prstGeom>
          <a:solidFill>
            <a:srgbClr val="EB5757"/>
          </a:solidFill>
          <a:ln w="12700">
            <a:solidFill>
              <a:srgbClr val="EB575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1173968" y="3877056"/>
            <a:ext cx="70408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Denied</a:t>
            </a:r>
            <a:endParaRPr lang="en-US" sz="580" dirty="0"/>
          </a:p>
        </p:txBody>
      </p:sp>
      <p:sp>
        <p:nvSpPr>
          <p:cNvPr id="23" name="Shape 20"/>
          <p:cNvSpPr/>
          <p:nvPr/>
        </p:nvSpPr>
        <p:spPr>
          <a:xfrm>
            <a:off x="38404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3891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25" name="Shape 22"/>
          <p:cNvSpPr/>
          <p:nvPr/>
        </p:nvSpPr>
        <p:spPr>
          <a:xfrm>
            <a:off x="384048" y="1627632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31597" y="179359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30352" y="164820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397961</a:t>
            </a:r>
            <a:endParaRPr lang="en-US" sz="640" dirty="0"/>
          </a:p>
        </p:txBody>
      </p:sp>
      <p:sp>
        <p:nvSpPr>
          <p:cNvPr id="28" name="Text 25"/>
          <p:cNvSpPr/>
          <p:nvPr/>
        </p:nvSpPr>
        <p:spPr>
          <a:xfrm>
            <a:off x="987552" y="164820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Fragrance Avenue</a:t>
            </a:r>
            <a:endParaRPr lang="en-US" sz="600" dirty="0"/>
          </a:p>
        </p:txBody>
      </p:sp>
      <p:sp>
        <p:nvSpPr>
          <p:cNvPr id="29" name="Text 26"/>
          <p:cNvSpPr/>
          <p:nvPr/>
        </p:nvSpPr>
        <p:spPr>
          <a:xfrm>
            <a:off x="2435733" y="164820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0" name="Shape 27"/>
          <p:cNvSpPr/>
          <p:nvPr/>
        </p:nvSpPr>
        <p:spPr>
          <a:xfrm>
            <a:off x="384048" y="2034540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31597" y="220050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30352" y="205511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392789</a:t>
            </a:r>
            <a:endParaRPr lang="en-US" sz="640" dirty="0"/>
          </a:p>
        </p:txBody>
      </p:sp>
      <p:sp>
        <p:nvSpPr>
          <p:cNvPr id="33" name="Text 30"/>
          <p:cNvSpPr/>
          <p:nvPr/>
        </p:nvSpPr>
        <p:spPr>
          <a:xfrm>
            <a:off x="987552" y="205511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Producers Musical</a:t>
            </a:r>
            <a:endParaRPr lang="en-US" sz="600" dirty="0"/>
          </a:p>
        </p:txBody>
      </p:sp>
      <p:sp>
        <p:nvSpPr>
          <p:cNvPr id="34" name="Text 31"/>
          <p:cNvSpPr/>
          <p:nvPr/>
        </p:nvSpPr>
        <p:spPr>
          <a:xfrm>
            <a:off x="2435733" y="205511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35" name="Shape 32"/>
          <p:cNvSpPr/>
          <p:nvPr/>
        </p:nvSpPr>
        <p:spPr>
          <a:xfrm>
            <a:off x="384048" y="2441448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31597" y="260741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30352" y="246202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398567</a:t>
            </a:r>
            <a:endParaRPr lang="en-US" sz="640" dirty="0"/>
          </a:p>
        </p:txBody>
      </p:sp>
      <p:sp>
        <p:nvSpPr>
          <p:cNvPr id="38" name="Text 35"/>
          <p:cNvSpPr/>
          <p:nvPr/>
        </p:nvSpPr>
        <p:spPr>
          <a:xfrm>
            <a:off x="987552" y="246202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TikTok Shop UK</a:t>
            </a:r>
            <a:endParaRPr lang="en-US" sz="640" dirty="0"/>
          </a:p>
        </p:txBody>
      </p:sp>
      <p:sp>
        <p:nvSpPr>
          <p:cNvPr id="39" name="Text 36"/>
          <p:cNvSpPr/>
          <p:nvPr/>
        </p:nvSpPr>
        <p:spPr>
          <a:xfrm>
            <a:off x="2435733" y="246202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0" name="Shape 37"/>
          <p:cNvSpPr/>
          <p:nvPr/>
        </p:nvSpPr>
        <p:spPr>
          <a:xfrm>
            <a:off x="384048" y="2848356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31597" y="301432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530352" y="286893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393606</a:t>
            </a:r>
            <a:endParaRPr lang="en-US" sz="640" dirty="0"/>
          </a:p>
        </p:txBody>
      </p:sp>
      <p:sp>
        <p:nvSpPr>
          <p:cNvPr id="43" name="Text 40"/>
          <p:cNvSpPr/>
          <p:nvPr/>
        </p:nvSpPr>
        <p:spPr>
          <a:xfrm>
            <a:off x="987552" y="286893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Veyr</a:t>
            </a:r>
            <a:endParaRPr lang="en-US" sz="640" dirty="0"/>
          </a:p>
        </p:txBody>
      </p:sp>
      <p:sp>
        <p:nvSpPr>
          <p:cNvPr id="44" name="Text 41"/>
          <p:cNvSpPr/>
          <p:nvPr/>
        </p:nvSpPr>
        <p:spPr>
          <a:xfrm>
            <a:off x="2435733" y="286893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45" name="Shape 42"/>
          <p:cNvSpPr/>
          <p:nvPr/>
        </p:nvSpPr>
        <p:spPr>
          <a:xfrm>
            <a:off x="384048" y="3255264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431597" y="342122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30352" y="327583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393233</a:t>
            </a:r>
            <a:endParaRPr lang="en-US" sz="640" dirty="0"/>
          </a:p>
        </p:txBody>
      </p:sp>
      <p:sp>
        <p:nvSpPr>
          <p:cNvPr id="48" name="Text 45"/>
          <p:cNvSpPr/>
          <p:nvPr/>
        </p:nvSpPr>
        <p:spPr>
          <a:xfrm>
            <a:off x="987552" y="327583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JP</a:t>
            </a:r>
            <a:endParaRPr lang="en-US" sz="550" dirty="0"/>
          </a:p>
        </p:txBody>
      </p:sp>
      <p:sp>
        <p:nvSpPr>
          <p:cNvPr id="49" name="Text 46"/>
          <p:cNvSpPr/>
          <p:nvPr/>
        </p:nvSpPr>
        <p:spPr>
          <a:xfrm>
            <a:off x="2435733" y="327583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0" name="Shape 47"/>
          <p:cNvSpPr/>
          <p:nvPr/>
        </p:nvSpPr>
        <p:spPr>
          <a:xfrm>
            <a:off x="384048" y="3662172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431597" y="3828136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530352" y="3682746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392757</a:t>
            </a:r>
            <a:endParaRPr lang="en-US" sz="640" dirty="0"/>
          </a:p>
        </p:txBody>
      </p:sp>
      <p:sp>
        <p:nvSpPr>
          <p:cNvPr id="53" name="Text 50"/>
          <p:cNvSpPr/>
          <p:nvPr/>
        </p:nvSpPr>
        <p:spPr>
          <a:xfrm>
            <a:off x="987552" y="3682746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Warner Bros. Studio Tour Tokyo UK</a:t>
            </a:r>
            <a:endParaRPr lang="en-US" sz="550" dirty="0"/>
          </a:p>
        </p:txBody>
      </p:sp>
      <p:sp>
        <p:nvSpPr>
          <p:cNvPr id="54" name="Text 51"/>
          <p:cNvSpPr/>
          <p:nvPr/>
        </p:nvSpPr>
        <p:spPr>
          <a:xfrm>
            <a:off x="2435733" y="3682746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55" name="Shape 52"/>
          <p:cNvSpPr/>
          <p:nvPr/>
        </p:nvSpPr>
        <p:spPr>
          <a:xfrm>
            <a:off x="384048" y="4069080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431597" y="4235044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530352" y="4089654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402422</a:t>
            </a:r>
            <a:endParaRPr lang="en-US" sz="640" dirty="0"/>
          </a:p>
        </p:txBody>
      </p:sp>
      <p:sp>
        <p:nvSpPr>
          <p:cNvPr id="58" name="Text 55"/>
          <p:cNvSpPr/>
          <p:nvPr/>
        </p:nvSpPr>
        <p:spPr>
          <a:xfrm>
            <a:off x="987552" y="4089654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WholyMe</a:t>
            </a:r>
            <a:endParaRPr lang="en-US" sz="640" dirty="0"/>
          </a:p>
        </p:txBody>
      </p:sp>
      <p:sp>
        <p:nvSpPr>
          <p:cNvPr id="59" name="Text 56"/>
          <p:cNvSpPr/>
          <p:nvPr/>
        </p:nvSpPr>
        <p:spPr>
          <a:xfrm>
            <a:off x="2435733" y="4089654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0" name="Shape 57"/>
          <p:cNvSpPr/>
          <p:nvPr/>
        </p:nvSpPr>
        <p:spPr>
          <a:xfrm>
            <a:off x="384048" y="4475988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431597" y="4641952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30352" y="4496562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398212</a:t>
            </a:r>
            <a:endParaRPr lang="en-US" sz="640" dirty="0"/>
          </a:p>
        </p:txBody>
      </p:sp>
      <p:sp>
        <p:nvSpPr>
          <p:cNvPr id="63" name="Text 60"/>
          <p:cNvSpPr/>
          <p:nvPr/>
        </p:nvSpPr>
        <p:spPr>
          <a:xfrm>
            <a:off x="987552" y="4496562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Wolverhampton - MBA</a:t>
            </a:r>
            <a:endParaRPr lang="en-US" sz="600" dirty="0"/>
          </a:p>
        </p:txBody>
      </p:sp>
      <p:sp>
        <p:nvSpPr>
          <p:cNvPr id="64" name="Text 61"/>
          <p:cNvSpPr/>
          <p:nvPr/>
        </p:nvSpPr>
        <p:spPr>
          <a:xfrm>
            <a:off x="2435733" y="4496562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65" name="Shape 62"/>
          <p:cNvSpPr/>
          <p:nvPr/>
        </p:nvSpPr>
        <p:spPr>
          <a:xfrm>
            <a:off x="384048" y="4882896"/>
            <a:ext cx="2554605" cy="394106"/>
          </a:xfrm>
          <a:prstGeom prst="rect">
            <a:avLst/>
          </a:prstGeom>
          <a:solidFill>
            <a:srgbClr val="F7F8FA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431597" y="5048860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530352" y="4903470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393125</a:t>
            </a:r>
            <a:endParaRPr lang="en-US" sz="640" dirty="0"/>
          </a:p>
        </p:txBody>
      </p:sp>
      <p:sp>
        <p:nvSpPr>
          <p:cNvPr id="68" name="Text 65"/>
          <p:cNvSpPr/>
          <p:nvPr/>
        </p:nvSpPr>
        <p:spPr>
          <a:xfrm>
            <a:off x="987552" y="4903470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Xtreme Apparel</a:t>
            </a:r>
            <a:endParaRPr lang="en-US" sz="640" dirty="0"/>
          </a:p>
        </p:txBody>
      </p:sp>
      <p:sp>
        <p:nvSpPr>
          <p:cNvPr id="69" name="Text 66"/>
          <p:cNvSpPr/>
          <p:nvPr/>
        </p:nvSpPr>
        <p:spPr>
          <a:xfrm>
            <a:off x="2435733" y="490347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0" name="Shape 67"/>
          <p:cNvSpPr/>
          <p:nvPr/>
        </p:nvSpPr>
        <p:spPr>
          <a:xfrm>
            <a:off x="384048" y="5289804"/>
            <a:ext cx="2554605" cy="394106"/>
          </a:xfrm>
          <a:prstGeom prst="rect">
            <a:avLst/>
          </a:prstGeom>
          <a:solidFill>
            <a:srgbClr val="ECEFF4"/>
          </a:solidFill>
          <a:ln w="12700">
            <a:solidFill>
              <a:srgbClr val="E3E6EC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31597" y="5455768"/>
            <a:ext cx="65837" cy="65837"/>
          </a:xfrm>
          <a:prstGeom prst="ellipse">
            <a:avLst/>
          </a:prstGeom>
          <a:solidFill>
            <a:srgbClr val="8A94A6"/>
          </a:solidFill>
          <a:ln w="12700">
            <a:solidFill>
              <a:srgbClr val="8A94A6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530352" y="5310378"/>
            <a:ext cx="402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397866</a:t>
            </a:r>
            <a:endParaRPr lang="en-US" sz="640" dirty="0"/>
          </a:p>
        </p:txBody>
      </p:sp>
      <p:sp>
        <p:nvSpPr>
          <p:cNvPr id="73" name="Text 70"/>
          <p:cNvSpPr/>
          <p:nvPr/>
        </p:nvSpPr>
        <p:spPr>
          <a:xfrm>
            <a:off x="987552" y="5310378"/>
            <a:ext cx="141160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6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York - MSc Computer Science</a:t>
            </a:r>
            <a:endParaRPr lang="en-US" sz="600" dirty="0"/>
          </a:p>
        </p:txBody>
      </p:sp>
      <p:sp>
        <p:nvSpPr>
          <p:cNvPr id="74" name="Text 71"/>
          <p:cNvSpPr/>
          <p:nvPr/>
        </p:nvSpPr>
        <p:spPr>
          <a:xfrm>
            <a:off x="2435733" y="5310378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dirty="0">
                <a:solidFill>
                  <a:srgbClr val="8A94A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Conn.</a:t>
            </a:r>
            <a:endParaRPr lang="en-US" sz="620" dirty="0"/>
          </a:p>
        </p:txBody>
      </p:sp>
      <p:sp>
        <p:nvSpPr>
          <p:cNvPr id="75" name="Shape 72"/>
          <p:cNvSpPr/>
          <p:nvPr/>
        </p:nvSpPr>
        <p:spPr>
          <a:xfrm>
            <a:off x="300723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6" name="Text 73"/>
          <p:cNvSpPr/>
          <p:nvPr/>
        </p:nvSpPr>
        <p:spPr>
          <a:xfrm>
            <a:off x="306209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7" name="Shape 74"/>
          <p:cNvSpPr/>
          <p:nvPr/>
        </p:nvSpPr>
        <p:spPr>
          <a:xfrm>
            <a:off x="5630418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78" name="Text 75"/>
          <p:cNvSpPr/>
          <p:nvPr/>
        </p:nvSpPr>
        <p:spPr>
          <a:xfrm>
            <a:off x="5685282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  <p:sp>
        <p:nvSpPr>
          <p:cNvPr id="79" name="Shape 76"/>
          <p:cNvSpPr/>
          <p:nvPr/>
        </p:nvSpPr>
        <p:spPr>
          <a:xfrm>
            <a:off x="8253603" y="1408176"/>
            <a:ext cx="2554605" cy="182880"/>
          </a:xfrm>
          <a:prstGeom prst="rect">
            <a:avLst/>
          </a:prstGeom>
          <a:solidFill>
            <a:srgbClr val="E5E8EF"/>
          </a:solidFill>
          <a:ln w="12700">
            <a:solidFill>
              <a:srgbClr val="D6DAE3"/>
            </a:solidFill>
            <a:prstDash val="solid"/>
          </a:ln>
        </p:spPr>
      </p:sp>
      <p:sp>
        <p:nvSpPr>
          <p:cNvPr id="80" name="Text 77"/>
          <p:cNvSpPr/>
          <p:nvPr/>
        </p:nvSpPr>
        <p:spPr>
          <a:xfrm>
            <a:off x="8308467" y="1444752"/>
            <a:ext cx="2444877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7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 / Program / Status</a:t>
            </a:r>
            <a:endParaRPr lang="en-US" sz="57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Competitor Analysis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Anonymous comparison of publisher commission coverage and white-space programmes.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664208"/>
            <a:ext cx="11430000" cy="1196950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55648"/>
          <a:ext cx="11210544" cy="1050646"/>
        </p:xfrm>
        <a:graphic>
          <a:graphicData uri="http://schemas.openxmlformats.org/drawingml/2006/table">
            <a:tbl>
              <a:tblPr/>
              <a:tblGrid>
                <a:gridCol w="1601506"/>
                <a:gridCol w="1601506"/>
                <a:gridCol w="1601506"/>
                <a:gridCol w="1601506"/>
                <a:gridCol w="1601506"/>
                <a:gridCol w="1601506"/>
                <a:gridCol w="1601506"/>
              </a:tblGrid>
              <a:tr h="29352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Competitor Group Summary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Your Site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1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2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3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Publisher 4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Distinct comp. prog. #</a:t>
                      </a:r>
                      <a:endParaRPr lang="en-US" sz="10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Programs with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55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20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of which you have 0 Pub Comm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42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25237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Pub Comm of the above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n/a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£5,514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£364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£12,593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£1,408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£19,879</a:t>
                      </a:r>
                      <a:endParaRPr lang="en-US" sz="10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512064" y="3127248"/>
            <a:ext cx="111373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 comm by week</a:t>
            </a:r>
            <a:endParaRPr lang="en-US" sz="850" dirty="0"/>
          </a:p>
        </p:txBody>
      </p:sp>
      <p:sp>
        <p:nvSpPr>
          <p:cNvPr id="8" name="Shape 4"/>
          <p:cNvSpPr/>
          <p:nvPr/>
        </p:nvSpPr>
        <p:spPr>
          <a:xfrm>
            <a:off x="1078992" y="3447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12064" y="3383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10,000</a:t>
            </a:r>
            <a:endParaRPr lang="en-US" sz="620" dirty="0"/>
          </a:p>
        </p:txBody>
      </p:sp>
      <p:sp>
        <p:nvSpPr>
          <p:cNvPr id="10" name="Shape 6"/>
          <p:cNvSpPr/>
          <p:nvPr/>
        </p:nvSpPr>
        <p:spPr>
          <a:xfrm>
            <a:off x="1078992" y="39044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512064" y="38404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8,000</a:t>
            </a:r>
            <a:endParaRPr lang="en-US" sz="620" dirty="0"/>
          </a:p>
        </p:txBody>
      </p:sp>
      <p:sp>
        <p:nvSpPr>
          <p:cNvPr id="12" name="Shape 8"/>
          <p:cNvSpPr/>
          <p:nvPr/>
        </p:nvSpPr>
        <p:spPr>
          <a:xfrm>
            <a:off x="1078992" y="43616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12064" y="42976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6,000</a:t>
            </a:r>
            <a:endParaRPr lang="en-US" sz="620" dirty="0"/>
          </a:p>
        </p:txBody>
      </p:sp>
      <p:sp>
        <p:nvSpPr>
          <p:cNvPr id="14" name="Shape 10"/>
          <p:cNvSpPr/>
          <p:nvPr/>
        </p:nvSpPr>
        <p:spPr>
          <a:xfrm>
            <a:off x="1078992" y="48188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" y="47548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4,000</a:t>
            </a:r>
            <a:endParaRPr lang="en-US" sz="620" dirty="0"/>
          </a:p>
        </p:txBody>
      </p:sp>
      <p:sp>
        <p:nvSpPr>
          <p:cNvPr id="16" name="Shape 12"/>
          <p:cNvSpPr/>
          <p:nvPr/>
        </p:nvSpPr>
        <p:spPr>
          <a:xfrm>
            <a:off x="1078992" y="52760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75000"/>
              </a:srgbClr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" y="52120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2,000</a:t>
            </a:r>
            <a:endParaRPr lang="en-US" sz="620" dirty="0"/>
          </a:p>
        </p:txBody>
      </p:sp>
      <p:sp>
        <p:nvSpPr>
          <p:cNvPr id="18" name="Shape 14"/>
          <p:cNvSpPr/>
          <p:nvPr/>
        </p:nvSpPr>
        <p:spPr>
          <a:xfrm>
            <a:off x="1078992" y="5733288"/>
            <a:ext cx="10387584" cy="0"/>
          </a:xfrm>
          <a:prstGeom prst="line">
            <a:avLst/>
          </a:prstGeom>
          <a:noFill/>
          <a:ln w="12700">
            <a:solidFill>
              <a:srgbClr val="D9DEE8">
                <a:alpha val="9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" y="5669280"/>
            <a:ext cx="4389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2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620" dirty="0"/>
          </a:p>
        </p:txBody>
      </p:sp>
      <p:sp>
        <p:nvSpPr>
          <p:cNvPr id="20" name="Shape 16"/>
          <p:cNvSpPr/>
          <p:nvPr/>
        </p:nvSpPr>
        <p:spPr>
          <a:xfrm>
            <a:off x="1358537" y="5482971"/>
            <a:ext cx="182880" cy="2503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2100507" y="4087139"/>
            <a:ext cx="182880" cy="164614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2842478" y="5325237"/>
            <a:ext cx="182880" cy="40805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584448" y="5365699"/>
            <a:ext cx="182880" cy="36758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4326418" y="5305349"/>
            <a:ext cx="182880" cy="42793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5068389" y="4511192"/>
            <a:ext cx="182880" cy="122209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6" name="Shape 22"/>
          <p:cNvSpPr/>
          <p:nvPr/>
        </p:nvSpPr>
        <p:spPr>
          <a:xfrm>
            <a:off x="5810359" y="5277917"/>
            <a:ext cx="182880" cy="455371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6552329" y="5107838"/>
            <a:ext cx="182880" cy="625450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7294299" y="5178019"/>
            <a:ext cx="182880" cy="555269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036270" y="4911014"/>
            <a:ext cx="182880" cy="82227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0" name="Shape 26"/>
          <p:cNvSpPr/>
          <p:nvPr/>
        </p:nvSpPr>
        <p:spPr>
          <a:xfrm>
            <a:off x="8778240" y="4662754"/>
            <a:ext cx="182880" cy="1070534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9520210" y="4571543"/>
            <a:ext cx="182880" cy="1161745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10262181" y="4824832"/>
            <a:ext cx="182880" cy="908456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11004151" y="5481371"/>
            <a:ext cx="182880" cy="251917"/>
          </a:xfrm>
          <a:prstGeom prst="rect">
            <a:avLst/>
          </a:prstGeom>
          <a:solidFill>
            <a:srgbClr val="2F6FF2">
              <a:alpha val="92000"/>
            </a:srgbClr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Shape 30"/>
          <p:cNvSpPr/>
          <p:nvPr/>
        </p:nvSpPr>
        <p:spPr>
          <a:xfrm>
            <a:off x="1449977" y="5013884"/>
            <a:ext cx="741970" cy="-107671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2191947" y="4906213"/>
            <a:ext cx="741970" cy="-18310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2933918" y="4723105"/>
            <a:ext cx="741970" cy="85954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7" name="Shape 33"/>
          <p:cNvSpPr/>
          <p:nvPr/>
        </p:nvSpPr>
        <p:spPr>
          <a:xfrm>
            <a:off x="3675888" y="4809058"/>
            <a:ext cx="741970" cy="311353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8" name="Shape 34"/>
          <p:cNvSpPr/>
          <p:nvPr/>
        </p:nvSpPr>
        <p:spPr>
          <a:xfrm>
            <a:off x="4417858" y="5120411"/>
            <a:ext cx="741970" cy="-32209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159829" y="4798314"/>
            <a:ext cx="741970" cy="22334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5901799" y="5021656"/>
            <a:ext cx="741970" cy="10012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6643769" y="5121783"/>
            <a:ext cx="741970" cy="-160249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7385739" y="4961534"/>
            <a:ext cx="741970" cy="-1005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3" name="Shape 39"/>
          <p:cNvSpPr/>
          <p:nvPr/>
        </p:nvSpPr>
        <p:spPr>
          <a:xfrm>
            <a:off x="8127710" y="4951476"/>
            <a:ext cx="741970" cy="-63185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8869680" y="4319626"/>
            <a:ext cx="741970" cy="345872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9611650" y="4665497"/>
            <a:ext cx="741970" cy="-167107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6" name="Shape 42"/>
          <p:cNvSpPr/>
          <p:nvPr/>
        </p:nvSpPr>
        <p:spPr>
          <a:xfrm>
            <a:off x="10353621" y="4498391"/>
            <a:ext cx="741970" cy="862508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1427117" y="499102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2169087" y="488335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49" name="Shape 45"/>
          <p:cNvSpPr/>
          <p:nvPr/>
        </p:nvSpPr>
        <p:spPr>
          <a:xfrm>
            <a:off x="2911058" y="4700245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653028" y="4786198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1" name="Shape 47"/>
          <p:cNvSpPr/>
          <p:nvPr/>
        </p:nvSpPr>
        <p:spPr>
          <a:xfrm>
            <a:off x="4394998" y="509755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2" name="Shape 48"/>
          <p:cNvSpPr/>
          <p:nvPr/>
        </p:nvSpPr>
        <p:spPr>
          <a:xfrm>
            <a:off x="5136969" y="477545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5878939" y="499879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6620909" y="5098923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5" name="Shape 51"/>
          <p:cNvSpPr/>
          <p:nvPr/>
        </p:nvSpPr>
        <p:spPr>
          <a:xfrm>
            <a:off x="7362879" y="4938674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8104850" y="492861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8846820" y="4296766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8" name="Shape 54"/>
          <p:cNvSpPr/>
          <p:nvPr/>
        </p:nvSpPr>
        <p:spPr>
          <a:xfrm>
            <a:off x="9588790" y="4642637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10330761" y="4475531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0" name="Shape 56"/>
          <p:cNvSpPr/>
          <p:nvPr/>
        </p:nvSpPr>
        <p:spPr>
          <a:xfrm>
            <a:off x="11072731" y="5338039"/>
            <a:ext cx="45720" cy="45720"/>
          </a:xfrm>
          <a:prstGeom prst="ellipse">
            <a:avLst/>
          </a:prstGeom>
          <a:solidFill>
            <a:srgbClr val="F28E2B"/>
          </a:solidFill>
          <a:ln w="12700">
            <a:solidFill>
              <a:srgbClr val="F28E2B"/>
            </a:solidFill>
            <a:prstDash val="solid"/>
          </a:ln>
        </p:spPr>
      </p:sp>
      <p:sp>
        <p:nvSpPr>
          <p:cNvPr id="61" name="Shape 57"/>
          <p:cNvSpPr/>
          <p:nvPr/>
        </p:nvSpPr>
        <p:spPr>
          <a:xfrm>
            <a:off x="1449977" y="5702884"/>
            <a:ext cx="741970" cy="-2811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2191947" y="5674766"/>
            <a:ext cx="741970" cy="3657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3" name="Shape 59"/>
          <p:cNvSpPr/>
          <p:nvPr/>
        </p:nvSpPr>
        <p:spPr>
          <a:xfrm>
            <a:off x="2933918" y="5711342"/>
            <a:ext cx="741970" cy="-205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3675888" y="5709285"/>
            <a:ext cx="741970" cy="-33376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4417858" y="5675909"/>
            <a:ext cx="741970" cy="-27889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6" name="Shape 62"/>
          <p:cNvSpPr/>
          <p:nvPr/>
        </p:nvSpPr>
        <p:spPr>
          <a:xfrm>
            <a:off x="5159829" y="5397017"/>
            <a:ext cx="741970" cy="126187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7" name="Shape 63"/>
          <p:cNvSpPr/>
          <p:nvPr/>
        </p:nvSpPr>
        <p:spPr>
          <a:xfrm>
            <a:off x="5901799" y="5523205"/>
            <a:ext cx="741970" cy="-297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6643769" y="5520233"/>
            <a:ext cx="741970" cy="-1440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7385739" y="5505831"/>
            <a:ext cx="741970" cy="-235458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8127710" y="5270373"/>
            <a:ext cx="741970" cy="-91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1" name="Shape 67"/>
          <p:cNvSpPr/>
          <p:nvPr/>
        </p:nvSpPr>
        <p:spPr>
          <a:xfrm>
            <a:off x="8869680" y="5269459"/>
            <a:ext cx="741970" cy="754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2" name="Shape 68"/>
          <p:cNvSpPr/>
          <p:nvPr/>
        </p:nvSpPr>
        <p:spPr>
          <a:xfrm>
            <a:off x="9611650" y="5277002"/>
            <a:ext cx="741970" cy="63094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3" name="Shape 69"/>
          <p:cNvSpPr/>
          <p:nvPr/>
        </p:nvSpPr>
        <p:spPr>
          <a:xfrm>
            <a:off x="10353621" y="5340096"/>
            <a:ext cx="741970" cy="293522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74" name="Shape 70"/>
          <p:cNvSpPr/>
          <p:nvPr/>
        </p:nvSpPr>
        <p:spPr>
          <a:xfrm>
            <a:off x="1427117" y="5680024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5" name="Shape 71"/>
          <p:cNvSpPr/>
          <p:nvPr/>
        </p:nvSpPr>
        <p:spPr>
          <a:xfrm>
            <a:off x="2169087" y="565190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6" name="Shape 72"/>
          <p:cNvSpPr/>
          <p:nvPr/>
        </p:nvSpPr>
        <p:spPr>
          <a:xfrm>
            <a:off x="2911058" y="568848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7" name="Shape 73"/>
          <p:cNvSpPr/>
          <p:nvPr/>
        </p:nvSpPr>
        <p:spPr>
          <a:xfrm>
            <a:off x="3653028" y="568642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8" name="Shape 74"/>
          <p:cNvSpPr/>
          <p:nvPr/>
        </p:nvSpPr>
        <p:spPr>
          <a:xfrm>
            <a:off x="4394998" y="565304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79" name="Shape 75"/>
          <p:cNvSpPr/>
          <p:nvPr/>
        </p:nvSpPr>
        <p:spPr>
          <a:xfrm>
            <a:off x="5136969" y="5374157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0" name="Shape 76"/>
          <p:cNvSpPr/>
          <p:nvPr/>
        </p:nvSpPr>
        <p:spPr>
          <a:xfrm>
            <a:off x="5878939" y="5500345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1" name="Shape 77"/>
          <p:cNvSpPr/>
          <p:nvPr/>
        </p:nvSpPr>
        <p:spPr>
          <a:xfrm>
            <a:off x="6620909" y="549737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2" name="Shape 78"/>
          <p:cNvSpPr/>
          <p:nvPr/>
        </p:nvSpPr>
        <p:spPr>
          <a:xfrm>
            <a:off x="7362879" y="5482971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3" name="Shape 79"/>
          <p:cNvSpPr/>
          <p:nvPr/>
        </p:nvSpPr>
        <p:spPr>
          <a:xfrm>
            <a:off x="8104850" y="5247513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4" name="Shape 80"/>
          <p:cNvSpPr/>
          <p:nvPr/>
        </p:nvSpPr>
        <p:spPr>
          <a:xfrm>
            <a:off x="8846820" y="5246599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5" name="Shape 81"/>
          <p:cNvSpPr/>
          <p:nvPr/>
        </p:nvSpPr>
        <p:spPr>
          <a:xfrm>
            <a:off x="9588790" y="5254142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6" name="Shape 82"/>
          <p:cNvSpPr/>
          <p:nvPr/>
        </p:nvSpPr>
        <p:spPr>
          <a:xfrm>
            <a:off x="10330761" y="5317236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7" name="Shape 83"/>
          <p:cNvSpPr/>
          <p:nvPr/>
        </p:nvSpPr>
        <p:spPr>
          <a:xfrm>
            <a:off x="11072731" y="5610758"/>
            <a:ext cx="45720" cy="45720"/>
          </a:xfrm>
          <a:prstGeom prst="ellipse">
            <a:avLst/>
          </a:prstGeom>
          <a:solidFill>
            <a:srgbClr val="9AA3AD"/>
          </a:solidFill>
          <a:ln w="12700">
            <a:solidFill>
              <a:srgbClr val="9AA3AD"/>
            </a:solidFill>
            <a:prstDash val="solid"/>
          </a:ln>
        </p:spPr>
      </p:sp>
      <p:sp>
        <p:nvSpPr>
          <p:cNvPr id="88" name="Shape 84"/>
          <p:cNvSpPr/>
          <p:nvPr/>
        </p:nvSpPr>
        <p:spPr>
          <a:xfrm>
            <a:off x="1449977" y="5405247"/>
            <a:ext cx="741970" cy="-13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89" name="Shape 85"/>
          <p:cNvSpPr/>
          <p:nvPr/>
        </p:nvSpPr>
        <p:spPr>
          <a:xfrm>
            <a:off x="2191947" y="5403875"/>
            <a:ext cx="741970" cy="457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0" name="Shape 86"/>
          <p:cNvSpPr/>
          <p:nvPr/>
        </p:nvSpPr>
        <p:spPr>
          <a:xfrm>
            <a:off x="2933918" y="5408447"/>
            <a:ext cx="741970" cy="10538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1" name="Shape 87"/>
          <p:cNvSpPr/>
          <p:nvPr/>
        </p:nvSpPr>
        <p:spPr>
          <a:xfrm>
            <a:off x="3675888" y="5513832"/>
            <a:ext cx="741970" cy="-21717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2" name="Shape 88"/>
          <p:cNvSpPr/>
          <p:nvPr/>
        </p:nvSpPr>
        <p:spPr>
          <a:xfrm>
            <a:off x="4417858" y="5492115"/>
            <a:ext cx="741970" cy="-1485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3" name="Shape 89"/>
          <p:cNvSpPr/>
          <p:nvPr/>
        </p:nvSpPr>
        <p:spPr>
          <a:xfrm>
            <a:off x="5159829" y="5477256"/>
            <a:ext cx="741970" cy="3429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4" name="Shape 90"/>
          <p:cNvSpPr/>
          <p:nvPr/>
        </p:nvSpPr>
        <p:spPr>
          <a:xfrm>
            <a:off x="5901799" y="5511546"/>
            <a:ext cx="741970" cy="-274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5" name="Shape 91"/>
          <p:cNvSpPr/>
          <p:nvPr/>
        </p:nvSpPr>
        <p:spPr>
          <a:xfrm>
            <a:off x="6643769" y="5508803"/>
            <a:ext cx="741970" cy="-232715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6" name="Shape 92"/>
          <p:cNvSpPr/>
          <p:nvPr/>
        </p:nvSpPr>
        <p:spPr>
          <a:xfrm>
            <a:off x="7385739" y="5276088"/>
            <a:ext cx="741970" cy="-143332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7" name="Shape 93"/>
          <p:cNvSpPr/>
          <p:nvPr/>
        </p:nvSpPr>
        <p:spPr>
          <a:xfrm>
            <a:off x="8127710" y="5132756"/>
            <a:ext cx="741970" cy="141961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8" name="Shape 94"/>
          <p:cNvSpPr/>
          <p:nvPr/>
        </p:nvSpPr>
        <p:spPr>
          <a:xfrm>
            <a:off x="8869680" y="5274716"/>
            <a:ext cx="741970" cy="12116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99" name="Shape 95"/>
          <p:cNvSpPr/>
          <p:nvPr/>
        </p:nvSpPr>
        <p:spPr>
          <a:xfrm>
            <a:off x="9611650" y="5286832"/>
            <a:ext cx="741970" cy="-79553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0" name="Shape 96"/>
          <p:cNvSpPr/>
          <p:nvPr/>
        </p:nvSpPr>
        <p:spPr>
          <a:xfrm>
            <a:off x="10353621" y="5207279"/>
            <a:ext cx="741970" cy="450799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01" name="Shape 97"/>
          <p:cNvSpPr/>
          <p:nvPr/>
        </p:nvSpPr>
        <p:spPr>
          <a:xfrm>
            <a:off x="1427117" y="538238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2" name="Shape 98"/>
          <p:cNvSpPr/>
          <p:nvPr/>
        </p:nvSpPr>
        <p:spPr>
          <a:xfrm>
            <a:off x="2169087" y="538101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3" name="Shape 99"/>
          <p:cNvSpPr/>
          <p:nvPr/>
        </p:nvSpPr>
        <p:spPr>
          <a:xfrm>
            <a:off x="2911058" y="5385587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4" name="Shape 100"/>
          <p:cNvSpPr/>
          <p:nvPr/>
        </p:nvSpPr>
        <p:spPr>
          <a:xfrm>
            <a:off x="3653028" y="549097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5" name="Shape 101"/>
          <p:cNvSpPr/>
          <p:nvPr/>
        </p:nvSpPr>
        <p:spPr>
          <a:xfrm>
            <a:off x="4394998" y="5469255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6" name="Shape 102"/>
          <p:cNvSpPr/>
          <p:nvPr/>
        </p:nvSpPr>
        <p:spPr>
          <a:xfrm>
            <a:off x="5136969" y="545439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7" name="Shape 103"/>
          <p:cNvSpPr/>
          <p:nvPr/>
        </p:nvSpPr>
        <p:spPr>
          <a:xfrm>
            <a:off x="5878939" y="548868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8" name="Shape 104"/>
          <p:cNvSpPr/>
          <p:nvPr/>
        </p:nvSpPr>
        <p:spPr>
          <a:xfrm>
            <a:off x="6620909" y="5485943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09" name="Shape 105"/>
          <p:cNvSpPr/>
          <p:nvPr/>
        </p:nvSpPr>
        <p:spPr>
          <a:xfrm>
            <a:off x="7362879" y="5253228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0" name="Shape 106"/>
          <p:cNvSpPr/>
          <p:nvPr/>
        </p:nvSpPr>
        <p:spPr>
          <a:xfrm>
            <a:off x="8104850" y="510989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1" name="Shape 107"/>
          <p:cNvSpPr/>
          <p:nvPr/>
        </p:nvSpPr>
        <p:spPr>
          <a:xfrm>
            <a:off x="8846820" y="5251856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2" name="Shape 108"/>
          <p:cNvSpPr/>
          <p:nvPr/>
        </p:nvSpPr>
        <p:spPr>
          <a:xfrm>
            <a:off x="9588790" y="5263972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3" name="Shape 109"/>
          <p:cNvSpPr/>
          <p:nvPr/>
        </p:nvSpPr>
        <p:spPr>
          <a:xfrm>
            <a:off x="10330761" y="518441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4" name="Shape 110"/>
          <p:cNvSpPr/>
          <p:nvPr/>
        </p:nvSpPr>
        <p:spPr>
          <a:xfrm>
            <a:off x="11072731" y="5635219"/>
            <a:ext cx="45720" cy="45720"/>
          </a:xfrm>
          <a:prstGeom prst="ellipse">
            <a:avLst/>
          </a:prstGeom>
          <a:solidFill>
            <a:srgbClr val="F2C94C"/>
          </a:solidFill>
          <a:ln w="12700">
            <a:solidFill>
              <a:srgbClr val="F2C94C"/>
            </a:solidFill>
            <a:prstDash val="solid"/>
          </a:ln>
        </p:spPr>
      </p:sp>
      <p:sp>
        <p:nvSpPr>
          <p:cNvPr id="115" name="Shape 111"/>
          <p:cNvSpPr/>
          <p:nvPr/>
        </p:nvSpPr>
        <p:spPr>
          <a:xfrm>
            <a:off x="1449977" y="5562295"/>
            <a:ext cx="741970" cy="4572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6" name="Shape 112"/>
          <p:cNvSpPr/>
          <p:nvPr/>
        </p:nvSpPr>
        <p:spPr>
          <a:xfrm>
            <a:off x="2191947" y="5608015"/>
            <a:ext cx="741970" cy="-3497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7" name="Shape 113"/>
          <p:cNvSpPr/>
          <p:nvPr/>
        </p:nvSpPr>
        <p:spPr>
          <a:xfrm>
            <a:off x="2933918" y="5573039"/>
            <a:ext cx="741970" cy="52578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8" name="Shape 114"/>
          <p:cNvSpPr/>
          <p:nvPr/>
        </p:nvSpPr>
        <p:spPr>
          <a:xfrm>
            <a:off x="3675888" y="5625617"/>
            <a:ext cx="741970" cy="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19" name="Shape 115"/>
          <p:cNvSpPr/>
          <p:nvPr/>
        </p:nvSpPr>
        <p:spPr>
          <a:xfrm>
            <a:off x="4417858" y="5668823"/>
            <a:ext cx="741970" cy="-20574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0" name="Shape 116"/>
          <p:cNvSpPr/>
          <p:nvPr/>
        </p:nvSpPr>
        <p:spPr>
          <a:xfrm>
            <a:off x="5159829" y="5648249"/>
            <a:ext cx="741970" cy="-823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1" name="Shape 117"/>
          <p:cNvSpPr/>
          <p:nvPr/>
        </p:nvSpPr>
        <p:spPr>
          <a:xfrm>
            <a:off x="5901799" y="5640019"/>
            <a:ext cx="741970" cy="-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2" name="Shape 118"/>
          <p:cNvSpPr/>
          <p:nvPr/>
        </p:nvSpPr>
        <p:spPr>
          <a:xfrm>
            <a:off x="6643769" y="5596814"/>
            <a:ext cx="741970" cy="-48692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3" name="Shape 119"/>
          <p:cNvSpPr/>
          <p:nvPr/>
        </p:nvSpPr>
        <p:spPr>
          <a:xfrm>
            <a:off x="7385739" y="5548122"/>
            <a:ext cx="741970" cy="4320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4" name="Shape 120"/>
          <p:cNvSpPr/>
          <p:nvPr/>
        </p:nvSpPr>
        <p:spPr>
          <a:xfrm>
            <a:off x="8127710" y="5591327"/>
            <a:ext cx="741970" cy="-7246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5" name="Shape 121"/>
          <p:cNvSpPr/>
          <p:nvPr/>
        </p:nvSpPr>
        <p:spPr>
          <a:xfrm>
            <a:off x="8869680" y="5518861"/>
            <a:ext cx="741970" cy="92126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6" name="Shape 122"/>
          <p:cNvSpPr/>
          <p:nvPr/>
        </p:nvSpPr>
        <p:spPr>
          <a:xfrm>
            <a:off x="9611650" y="5610987"/>
            <a:ext cx="741970" cy="34061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7" name="Shape 123"/>
          <p:cNvSpPr/>
          <p:nvPr/>
        </p:nvSpPr>
        <p:spPr>
          <a:xfrm>
            <a:off x="10353621" y="5645048"/>
            <a:ext cx="741970" cy="74295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28" name="Shape 124"/>
          <p:cNvSpPr/>
          <p:nvPr/>
        </p:nvSpPr>
        <p:spPr>
          <a:xfrm>
            <a:off x="1427117" y="553943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29" name="Shape 125"/>
          <p:cNvSpPr/>
          <p:nvPr/>
        </p:nvSpPr>
        <p:spPr>
          <a:xfrm>
            <a:off x="2169087" y="5585155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0" name="Shape 126"/>
          <p:cNvSpPr/>
          <p:nvPr/>
        </p:nvSpPr>
        <p:spPr>
          <a:xfrm>
            <a:off x="2911058" y="555017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1" name="Shape 127"/>
          <p:cNvSpPr/>
          <p:nvPr/>
        </p:nvSpPr>
        <p:spPr>
          <a:xfrm>
            <a:off x="3653028" y="560275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2" name="Shape 128"/>
          <p:cNvSpPr/>
          <p:nvPr/>
        </p:nvSpPr>
        <p:spPr>
          <a:xfrm>
            <a:off x="4394998" y="564596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3" name="Shape 129"/>
          <p:cNvSpPr/>
          <p:nvPr/>
        </p:nvSpPr>
        <p:spPr>
          <a:xfrm>
            <a:off x="5136969" y="562538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4" name="Shape 130"/>
          <p:cNvSpPr/>
          <p:nvPr/>
        </p:nvSpPr>
        <p:spPr>
          <a:xfrm>
            <a:off x="5878939" y="5617159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5" name="Shape 131"/>
          <p:cNvSpPr/>
          <p:nvPr/>
        </p:nvSpPr>
        <p:spPr>
          <a:xfrm>
            <a:off x="6620909" y="5573954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6" name="Shape 132"/>
          <p:cNvSpPr/>
          <p:nvPr/>
        </p:nvSpPr>
        <p:spPr>
          <a:xfrm>
            <a:off x="7362879" y="5525262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7" name="Shape 133"/>
          <p:cNvSpPr/>
          <p:nvPr/>
        </p:nvSpPr>
        <p:spPr>
          <a:xfrm>
            <a:off x="8104850" y="556846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8" name="Shape 134"/>
          <p:cNvSpPr/>
          <p:nvPr/>
        </p:nvSpPr>
        <p:spPr>
          <a:xfrm>
            <a:off x="8846820" y="5496001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39" name="Shape 135"/>
          <p:cNvSpPr/>
          <p:nvPr/>
        </p:nvSpPr>
        <p:spPr>
          <a:xfrm>
            <a:off x="9588790" y="5588127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0" name="Shape 136"/>
          <p:cNvSpPr/>
          <p:nvPr/>
        </p:nvSpPr>
        <p:spPr>
          <a:xfrm>
            <a:off x="10330761" y="5622188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1" name="Shape 137"/>
          <p:cNvSpPr/>
          <p:nvPr/>
        </p:nvSpPr>
        <p:spPr>
          <a:xfrm>
            <a:off x="11072731" y="5696483"/>
            <a:ext cx="45720" cy="45720"/>
          </a:xfrm>
          <a:prstGeom prst="ellipse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2" name="Text 138"/>
          <p:cNvSpPr/>
          <p:nvPr/>
        </p:nvSpPr>
        <p:spPr>
          <a:xfrm>
            <a:off x="1093831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2025-12-29</a:t>
            </a:r>
            <a:endParaRPr lang="en-US" sz="580" dirty="0"/>
          </a:p>
        </p:txBody>
      </p:sp>
      <p:sp>
        <p:nvSpPr>
          <p:cNvPr id="143" name="Text 139"/>
          <p:cNvSpPr/>
          <p:nvPr/>
        </p:nvSpPr>
        <p:spPr>
          <a:xfrm>
            <a:off x="183580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2026-01-05</a:t>
            </a:r>
            <a:endParaRPr lang="en-US" sz="580" dirty="0"/>
          </a:p>
        </p:txBody>
      </p:sp>
      <p:sp>
        <p:nvSpPr>
          <p:cNvPr id="144" name="Text 140"/>
          <p:cNvSpPr/>
          <p:nvPr/>
        </p:nvSpPr>
        <p:spPr>
          <a:xfrm>
            <a:off x="257777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2026-01-12</a:t>
            </a:r>
            <a:endParaRPr lang="en-US" sz="580" dirty="0"/>
          </a:p>
        </p:txBody>
      </p:sp>
      <p:sp>
        <p:nvSpPr>
          <p:cNvPr id="145" name="Text 141"/>
          <p:cNvSpPr/>
          <p:nvPr/>
        </p:nvSpPr>
        <p:spPr>
          <a:xfrm>
            <a:off x="3319742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2026-01-19</a:t>
            </a:r>
            <a:endParaRPr lang="en-US" sz="580" dirty="0"/>
          </a:p>
        </p:txBody>
      </p:sp>
      <p:sp>
        <p:nvSpPr>
          <p:cNvPr id="146" name="Text 142"/>
          <p:cNvSpPr/>
          <p:nvPr/>
        </p:nvSpPr>
        <p:spPr>
          <a:xfrm>
            <a:off x="406171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2026-01-26</a:t>
            </a:r>
            <a:endParaRPr lang="en-US" sz="580" dirty="0"/>
          </a:p>
        </p:txBody>
      </p:sp>
      <p:sp>
        <p:nvSpPr>
          <p:cNvPr id="147" name="Text 143"/>
          <p:cNvSpPr/>
          <p:nvPr/>
        </p:nvSpPr>
        <p:spPr>
          <a:xfrm>
            <a:off x="480368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2026-02-02</a:t>
            </a:r>
            <a:endParaRPr lang="en-US" sz="580" dirty="0"/>
          </a:p>
        </p:txBody>
      </p:sp>
      <p:sp>
        <p:nvSpPr>
          <p:cNvPr id="148" name="Text 144"/>
          <p:cNvSpPr/>
          <p:nvPr/>
        </p:nvSpPr>
        <p:spPr>
          <a:xfrm>
            <a:off x="554565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2026-02-09</a:t>
            </a:r>
            <a:endParaRPr lang="en-US" sz="580" dirty="0"/>
          </a:p>
        </p:txBody>
      </p:sp>
      <p:sp>
        <p:nvSpPr>
          <p:cNvPr id="149" name="Text 145"/>
          <p:cNvSpPr/>
          <p:nvPr/>
        </p:nvSpPr>
        <p:spPr>
          <a:xfrm>
            <a:off x="6287623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2026-02-16</a:t>
            </a:r>
            <a:endParaRPr lang="en-US" sz="580" dirty="0"/>
          </a:p>
        </p:txBody>
      </p:sp>
      <p:sp>
        <p:nvSpPr>
          <p:cNvPr id="150" name="Text 146"/>
          <p:cNvSpPr/>
          <p:nvPr/>
        </p:nvSpPr>
        <p:spPr>
          <a:xfrm>
            <a:off x="702959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2026-02-23</a:t>
            </a:r>
            <a:endParaRPr lang="en-US" sz="580" dirty="0"/>
          </a:p>
        </p:txBody>
      </p:sp>
      <p:sp>
        <p:nvSpPr>
          <p:cNvPr id="151" name="Text 147"/>
          <p:cNvSpPr/>
          <p:nvPr/>
        </p:nvSpPr>
        <p:spPr>
          <a:xfrm>
            <a:off x="777156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2026-03-02</a:t>
            </a:r>
            <a:endParaRPr lang="en-US" sz="580" dirty="0"/>
          </a:p>
        </p:txBody>
      </p:sp>
      <p:sp>
        <p:nvSpPr>
          <p:cNvPr id="152" name="Text 148"/>
          <p:cNvSpPr/>
          <p:nvPr/>
        </p:nvSpPr>
        <p:spPr>
          <a:xfrm>
            <a:off x="8513534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2026-03-09</a:t>
            </a:r>
            <a:endParaRPr lang="en-US" sz="580" dirty="0"/>
          </a:p>
        </p:txBody>
      </p:sp>
      <p:sp>
        <p:nvSpPr>
          <p:cNvPr id="153" name="Text 149"/>
          <p:cNvSpPr/>
          <p:nvPr/>
        </p:nvSpPr>
        <p:spPr>
          <a:xfrm>
            <a:off x="925550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2026-03-16</a:t>
            </a:r>
            <a:endParaRPr lang="en-US" sz="580" dirty="0"/>
          </a:p>
        </p:txBody>
      </p:sp>
      <p:sp>
        <p:nvSpPr>
          <p:cNvPr id="154" name="Text 150"/>
          <p:cNvSpPr/>
          <p:nvPr/>
        </p:nvSpPr>
        <p:spPr>
          <a:xfrm>
            <a:off x="999747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2026-03-23</a:t>
            </a:r>
            <a:endParaRPr lang="en-US" sz="580" dirty="0"/>
          </a:p>
        </p:txBody>
      </p:sp>
      <p:sp>
        <p:nvSpPr>
          <p:cNvPr id="155" name="Text 151"/>
          <p:cNvSpPr/>
          <p:nvPr/>
        </p:nvSpPr>
        <p:spPr>
          <a:xfrm>
            <a:off x="10739445" y="5806440"/>
            <a:ext cx="712291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2026-03-30</a:t>
            </a:r>
            <a:endParaRPr lang="en-US" sz="580" dirty="0"/>
          </a:p>
        </p:txBody>
      </p:sp>
      <p:sp>
        <p:nvSpPr>
          <p:cNvPr id="156" name="Shape 152"/>
          <p:cNvSpPr/>
          <p:nvPr/>
        </p:nvSpPr>
        <p:spPr>
          <a:xfrm>
            <a:off x="3712464" y="6089904"/>
            <a:ext cx="137160" cy="45720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57" name="Text 153"/>
          <p:cNvSpPr/>
          <p:nvPr/>
        </p:nvSpPr>
        <p:spPr>
          <a:xfrm>
            <a:off x="3886200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640" dirty="0"/>
          </a:p>
        </p:txBody>
      </p:sp>
      <p:sp>
        <p:nvSpPr>
          <p:cNvPr id="158" name="Shape 154"/>
          <p:cNvSpPr/>
          <p:nvPr/>
        </p:nvSpPr>
        <p:spPr>
          <a:xfrm>
            <a:off x="4736592" y="6117336"/>
            <a:ext cx="146304" cy="0"/>
          </a:xfrm>
          <a:prstGeom prst="line">
            <a:avLst/>
          </a:prstGeom>
          <a:noFill/>
          <a:ln w="12700">
            <a:solidFill>
              <a:srgbClr val="F28E2B"/>
            </a:solidFill>
            <a:prstDash val="solid"/>
          </a:ln>
        </p:spPr>
      </p:sp>
      <p:sp>
        <p:nvSpPr>
          <p:cNvPr id="159" name="Text 155"/>
          <p:cNvSpPr/>
          <p:nvPr/>
        </p:nvSpPr>
        <p:spPr>
          <a:xfrm>
            <a:off x="4910328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1</a:t>
            </a:r>
            <a:endParaRPr lang="en-US" sz="640" dirty="0"/>
          </a:p>
        </p:txBody>
      </p:sp>
      <p:sp>
        <p:nvSpPr>
          <p:cNvPr id="160" name="Shape 156"/>
          <p:cNvSpPr/>
          <p:nvPr/>
        </p:nvSpPr>
        <p:spPr>
          <a:xfrm>
            <a:off x="5760720" y="6117336"/>
            <a:ext cx="146304" cy="0"/>
          </a:xfrm>
          <a:prstGeom prst="line">
            <a:avLst/>
          </a:prstGeom>
          <a:noFill/>
          <a:ln w="12700">
            <a:solidFill>
              <a:srgbClr val="9AA3AD"/>
            </a:solidFill>
            <a:prstDash val="solid"/>
          </a:ln>
        </p:spPr>
      </p:sp>
      <p:sp>
        <p:nvSpPr>
          <p:cNvPr id="161" name="Text 157"/>
          <p:cNvSpPr/>
          <p:nvPr/>
        </p:nvSpPr>
        <p:spPr>
          <a:xfrm>
            <a:off x="5934456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2</a:t>
            </a:r>
            <a:endParaRPr lang="en-US" sz="640" dirty="0"/>
          </a:p>
        </p:txBody>
      </p:sp>
      <p:sp>
        <p:nvSpPr>
          <p:cNvPr id="162" name="Shape 158"/>
          <p:cNvSpPr/>
          <p:nvPr/>
        </p:nvSpPr>
        <p:spPr>
          <a:xfrm>
            <a:off x="6784848" y="6117336"/>
            <a:ext cx="146304" cy="0"/>
          </a:xfrm>
          <a:prstGeom prst="line">
            <a:avLst/>
          </a:prstGeom>
          <a:noFill/>
          <a:ln w="12700">
            <a:solidFill>
              <a:srgbClr val="F2C94C"/>
            </a:solidFill>
            <a:prstDash val="solid"/>
          </a:ln>
        </p:spPr>
      </p:sp>
      <p:sp>
        <p:nvSpPr>
          <p:cNvPr id="163" name="Text 159"/>
          <p:cNvSpPr/>
          <p:nvPr/>
        </p:nvSpPr>
        <p:spPr>
          <a:xfrm>
            <a:off x="6958584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3</a:t>
            </a:r>
            <a:endParaRPr lang="en-US" sz="640" dirty="0"/>
          </a:p>
        </p:txBody>
      </p:sp>
      <p:sp>
        <p:nvSpPr>
          <p:cNvPr id="164" name="Shape 160"/>
          <p:cNvSpPr/>
          <p:nvPr/>
        </p:nvSpPr>
        <p:spPr>
          <a:xfrm>
            <a:off x="7808976" y="6117336"/>
            <a:ext cx="146304" cy="0"/>
          </a:xfrm>
          <a:prstGeom prst="line">
            <a:avLst/>
          </a:prstGeom>
          <a:noFill/>
          <a:ln w="12700">
            <a:solidFill>
              <a:srgbClr val="2F6FF2"/>
            </a:solidFill>
            <a:prstDash val="solid"/>
          </a:ln>
        </p:spPr>
      </p:sp>
      <p:sp>
        <p:nvSpPr>
          <p:cNvPr id="165" name="Text 161"/>
          <p:cNvSpPr/>
          <p:nvPr/>
        </p:nvSpPr>
        <p:spPr>
          <a:xfrm>
            <a:off x="7982712" y="6053328"/>
            <a:ext cx="8412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4</a:t>
            </a:r>
            <a:endParaRPr lang="en-US" sz="6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Within Competitor Group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share for the primary publisher and four comparison publishers.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13232" y="1645920"/>
            <a:ext cx="10771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within competitor group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1207008" y="5513832"/>
            <a:ext cx="10058400" cy="0"/>
          </a:xfrm>
          <a:prstGeom prst="line">
            <a:avLst/>
          </a:prstGeom>
          <a:noFill/>
          <a:ln w="12700">
            <a:solidFill>
              <a:srgbClr val="AEB6C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07008" y="467944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207008" y="384505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207008" y="301066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207008" y="2176272"/>
            <a:ext cx="10058400" cy="0"/>
          </a:xfrm>
          <a:prstGeom prst="line">
            <a:avLst/>
          </a:prstGeom>
          <a:noFill/>
          <a:ln w="12700">
            <a:solidFill>
              <a:srgbClr val="DDE3ED">
                <a:alpha val="82000"/>
              </a:srgbClr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728216" y="4472513"/>
            <a:ext cx="438912" cy="1041319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18488" y="4216481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31%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2258568" y="4442475"/>
            <a:ext cx="438912" cy="1071357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148840" y="418644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32%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122529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Site</a:t>
            </a:r>
            <a:endParaRPr lang="en-US" sz="860" dirty="0"/>
          </a:p>
        </p:txBody>
      </p:sp>
      <p:sp>
        <p:nvSpPr>
          <p:cNvPr id="16" name="Shape 13"/>
          <p:cNvSpPr/>
          <p:nvPr/>
        </p:nvSpPr>
        <p:spPr>
          <a:xfrm>
            <a:off x="3739896" y="3881765"/>
            <a:ext cx="438912" cy="1632067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630168" y="3625733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49%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4270248" y="4248897"/>
            <a:ext cx="438912" cy="1264935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160520" y="3992865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38%</a:t>
            </a:r>
            <a:endParaRPr lang="en-US" sz="850" dirty="0"/>
          </a:p>
        </p:txBody>
      </p:sp>
      <p:sp>
        <p:nvSpPr>
          <p:cNvPr id="20" name="Text 17"/>
          <p:cNvSpPr/>
          <p:nvPr/>
        </p:nvSpPr>
        <p:spPr>
          <a:xfrm>
            <a:off x="323697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A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5751576" y="5513832"/>
            <a:ext cx="438912" cy="18288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641848" y="5257800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6281928" y="5190089"/>
            <a:ext cx="438912" cy="323743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172200" y="4934057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5" name="Text 22"/>
          <p:cNvSpPr/>
          <p:nvPr/>
        </p:nvSpPr>
        <p:spPr>
          <a:xfrm>
            <a:off x="524865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B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7763256" y="5173401"/>
            <a:ext cx="438912" cy="340431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7653528" y="4917369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8293608" y="5016536"/>
            <a:ext cx="438912" cy="497296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183880" y="476050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726033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C</a:t>
            </a:r>
            <a:endParaRPr lang="en-US" sz="860" dirty="0"/>
          </a:p>
        </p:txBody>
      </p:sp>
      <p:sp>
        <p:nvSpPr>
          <p:cNvPr id="31" name="Shape 28"/>
          <p:cNvSpPr/>
          <p:nvPr/>
        </p:nvSpPr>
        <p:spPr>
          <a:xfrm>
            <a:off x="9774936" y="5193426"/>
            <a:ext cx="438912" cy="320406"/>
          </a:xfrm>
          <a:prstGeom prst="rect">
            <a:avLst/>
          </a:prstGeom>
          <a:solidFill>
            <a:srgbClr val="7CC8DE">
              <a:alpha val="92000"/>
            </a:srgbClr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5208" y="4937394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10305288" y="5333604"/>
            <a:ext cx="438912" cy="18022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0195560" y="5077572"/>
            <a:ext cx="6583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5%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9272016" y="5660136"/>
            <a:ext cx="1975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Comp. D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4608576" y="5884164"/>
            <a:ext cx="137160" cy="64008"/>
          </a:xfrm>
          <a:prstGeom prst="rect">
            <a:avLst/>
          </a:prstGeom>
          <a:solidFill>
            <a:srgbClr val="7CC8DE"/>
          </a:solidFill>
          <a:ln w="12700">
            <a:solidFill>
              <a:srgbClr val="7CC8DE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791456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 PP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6236208" y="5884164"/>
            <a:ext cx="137160" cy="64008"/>
          </a:xfrm>
          <a:prstGeom prst="rect">
            <a:avLst/>
          </a:prstGeom>
          <a:solidFill>
            <a:srgbClr val="2F6FF2"/>
          </a:solidFill>
          <a:ln w="12700">
            <a:solidFill>
              <a:srgbClr val="2F6FF2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19088" y="5843016"/>
            <a:ext cx="14264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60" dirty="0">
                <a:solidFill>
                  <a:srgbClr val="5B637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% of Site Group</a:t>
            </a:r>
            <a:endParaRPr lang="en-US" sz="76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Programs Competitor Performance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of publisher commission by program across the primary publisher and four comparison publishers.</a:t>
            </a:r>
            <a:endParaRPr lang="en-US" sz="1100" dirty="0"/>
          </a:p>
        </p:txBody>
      </p:sp>
      <p:sp>
        <p:nvSpPr>
          <p:cNvPr id="5" name="Shape 2"/>
          <p:cNvSpPr/>
          <p:nvPr/>
        </p:nvSpPr>
        <p:spPr>
          <a:xfrm>
            <a:off x="365760" y="1700784"/>
            <a:ext cx="11430000" cy="4583887"/>
          </a:xfrm>
          <a:prstGeom prst="rect">
            <a:avLst/>
          </a:prstGeom>
          <a:solidFill>
            <a:srgbClr val="F3F4F6"/>
          </a:solidFill>
          <a:ln w="12700">
            <a:solidFill>
              <a:srgbClr val="D6DAE3"/>
            </a:solidFill>
            <a:prstDash val="solid"/>
          </a:ln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" y="1792224"/>
          <a:ext cx="11210544" cy="4437583"/>
        </p:xfrm>
        <a:graphic>
          <a:graphicData uri="http://schemas.openxmlformats.org/drawingml/2006/table">
            <a:tbl>
              <a:tblPr/>
              <a:tblGrid>
                <a:gridCol w="3993185"/>
                <a:gridCol w="1688897"/>
                <a:gridCol w="1382573"/>
                <a:gridCol w="1382573"/>
                <a:gridCol w="1382573"/>
                <a:gridCol w="1382573"/>
              </a:tblGrid>
              <a:tr h="43251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Program Name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mvcaccount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A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B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C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Comp. D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3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Stena Line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Furniture Village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97%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Feather &amp; Black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Lenstore UK Contact Lenses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Caledonian Travel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Avanti Travel Insurance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26%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Airport Parking Luton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99%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AEG.co.uk (home appliances)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82%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Dreams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15%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31%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5F7"/>
                    </a:solidFill>
                  </a:tcPr>
                </a:tc>
              </a:tr>
              <a:tr h="400507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KRCS Apple Premium Reseller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F7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38%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2F333B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0%</a:t>
                      </a:r>
                      <a:endParaRPr lang="en-US" sz="90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1148" marR="41148" marT="41148" marB="41148" anchor="mid">
                    <a:lnL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3E6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D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KPI Highlights &amp; Business Implications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640080" y="1316736"/>
            <a:ext cx="10972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numbers mean for the business - key signals and context.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731520" y="17007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Rate Movement</a:t>
            </a:r>
            <a:endParaRPr lang="en-US" sz="1320" dirty="0"/>
          </a:p>
        </p:txBody>
      </p:sp>
      <p:sp>
        <p:nvSpPr>
          <p:cNvPr id="6" name="Text 3"/>
          <p:cNvSpPr/>
          <p:nvPr/>
        </p:nvSpPr>
        <p:spPr>
          <a:xfrm>
            <a:off x="960120" y="19842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Conversion rate increased +7.7% (4.8% to 5.1%). Conversions decreased -17.4% (-784), showing how efficiently programs converted traffic into outcomes.</a:t>
            </a:r>
            <a:endParaRPr lang="en-US" sz="1110" dirty="0"/>
          </a:p>
        </p:txBody>
      </p:sp>
      <p:sp>
        <p:nvSpPr>
          <p:cNvPr id="7" name="Text 4"/>
          <p:cNvSpPr/>
          <p:nvPr/>
        </p:nvSpPr>
        <p:spPr>
          <a:xfrm>
            <a:off x="731520" y="26151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Conversion Volume</a:t>
            </a:r>
            <a:endParaRPr lang="en-US" sz="1320" dirty="0"/>
          </a:p>
        </p:txBody>
      </p:sp>
      <p:sp>
        <p:nvSpPr>
          <p:cNvPr id="8" name="Text 5"/>
          <p:cNvSpPr/>
          <p:nvPr/>
        </p:nvSpPr>
        <p:spPr>
          <a:xfrm>
            <a:off x="960120" y="28986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conversions decreased -17.4% (-784). Largest declining program contribution requires confirmation from mover tables.</a:t>
            </a:r>
            <a:endParaRPr lang="en-US" sz="1110" dirty="0"/>
          </a:p>
        </p:txBody>
      </p:sp>
      <p:sp>
        <p:nvSpPr>
          <p:cNvPr id="9" name="Text 6"/>
          <p:cNvSpPr/>
          <p:nvPr/>
        </p:nvSpPr>
        <p:spPr>
          <a:xfrm>
            <a:off x="731520" y="35295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Order Value</a:t>
            </a:r>
            <a:endParaRPr lang="en-US" sz="1320" dirty="0"/>
          </a:p>
        </p:txBody>
      </p:sp>
      <p:sp>
        <p:nvSpPr>
          <p:cNvPr id="10" name="Text 7"/>
          <p:cNvSpPr/>
          <p:nvPr/>
        </p:nvSpPr>
        <p:spPr>
          <a:xfrm>
            <a:off x="960120" y="38130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order value decreased -39.9% (£1,596,526 to £959,252). Value generation moved alongside conversion volume and earnings performance.</a:t>
            </a:r>
            <a:endParaRPr lang="en-US" sz="1110" dirty="0"/>
          </a:p>
        </p:txBody>
      </p:sp>
      <p:sp>
        <p:nvSpPr>
          <p:cNvPr id="11" name="Text 8"/>
          <p:cNvSpPr/>
          <p:nvPr/>
        </p:nvSpPr>
        <p:spPr>
          <a:xfrm>
            <a:off x="731520" y="44439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Publisher Commission</a:t>
            </a:r>
            <a:endParaRPr lang="en-US" sz="1320" dirty="0"/>
          </a:p>
        </p:txBody>
      </p:sp>
      <p:sp>
        <p:nvSpPr>
          <p:cNvPr id="12" name="Text 9"/>
          <p:cNvSpPr/>
          <p:nvPr/>
        </p:nvSpPr>
        <p:spPr>
          <a:xfrm>
            <a:off x="960120" y="47274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Publisher commission decreased -20.4% (£55,923 to £44,500). Commission remains the core earning component for the program.</a:t>
            </a:r>
            <a:endParaRPr lang="en-US" sz="1110" dirty="0"/>
          </a:p>
        </p:txBody>
      </p:sp>
      <p:sp>
        <p:nvSpPr>
          <p:cNvPr id="13" name="Text 10"/>
          <p:cNvSpPr/>
          <p:nvPr/>
        </p:nvSpPr>
        <p:spPr>
          <a:xfrm>
            <a:off x="731520" y="5358384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20" b="1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Total Earnings</a:t>
            </a:r>
            <a:endParaRPr lang="en-US" sz="1320" dirty="0"/>
          </a:p>
        </p:txBody>
      </p:sp>
      <p:sp>
        <p:nvSpPr>
          <p:cNvPr id="14" name="Text 11"/>
          <p:cNvSpPr/>
          <p:nvPr/>
        </p:nvSpPr>
        <p:spPr>
          <a:xfrm>
            <a:off x="960120" y="5641848"/>
            <a:ext cx="10652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1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Total earnings decreased -23.1% (£70,923 to £54,533). Digital wallet contribution was £10,033 (-33.1%), so total earnings combine commission and wallet income.</a:t>
            </a:r>
            <a:endParaRPr lang="en-US" sz="11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4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30352"/>
            <a:ext cx="10789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Risks &amp; Dependencies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7132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0058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Medium - Digital wallet concentration</a:t>
            </a:r>
            <a:endParaRPr lang="en-US" sz="1140" dirty="0"/>
          </a:p>
        </p:txBody>
      </p:sp>
      <p:sp>
        <p:nvSpPr>
          <p:cNvPr id="6" name="Text 3"/>
          <p:cNvSpPr/>
          <p:nvPr/>
        </p:nvSpPr>
        <p:spPr>
          <a:xfrm>
            <a:off x="10058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7" name="Text 4"/>
          <p:cNvSpPr/>
          <p:nvPr/>
        </p:nvSpPr>
        <p:spPr>
          <a:xfrm>
            <a:off x="10058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TravelBag(Closed 17.09.2025) contributes 49.8% of current digital wallet (£5,000 of £10,033).</a:t>
            </a:r>
            <a:endParaRPr lang="en-US" sz="810" dirty="0"/>
          </a:p>
        </p:txBody>
      </p:sp>
      <p:sp>
        <p:nvSpPr>
          <p:cNvPr id="8" name="Text 5"/>
          <p:cNvSpPr/>
          <p:nvPr/>
        </p:nvSpPr>
        <p:spPr>
          <a:xfrm>
            <a:off x="10058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9" name="Text 6"/>
          <p:cNvSpPr/>
          <p:nvPr/>
        </p:nvSpPr>
        <p:spPr>
          <a:xfrm>
            <a:off x="10058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the leading program's placement while adding two similar programs into the next campaign rotation so commission is not dependent on one partner.</a:t>
            </a:r>
            <a:endParaRPr lang="en-US" sz="770" dirty="0"/>
          </a:p>
        </p:txBody>
      </p:sp>
      <p:sp>
        <p:nvSpPr>
          <p:cNvPr id="10" name="Shape 7"/>
          <p:cNvSpPr/>
          <p:nvPr/>
        </p:nvSpPr>
        <p:spPr>
          <a:xfrm>
            <a:off x="43708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6634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Stena Line YoY deterioration</a:t>
            </a:r>
            <a:endParaRPr lang="en-US" sz="1140" dirty="0"/>
          </a:p>
        </p:txBody>
      </p:sp>
      <p:sp>
        <p:nvSpPr>
          <p:cNvPr id="12" name="Text 9"/>
          <p:cNvSpPr/>
          <p:nvPr/>
        </p:nvSpPr>
        <p:spPr>
          <a:xfrm>
            <a:off x="46634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3" name="Text 10"/>
          <p:cNvSpPr/>
          <p:nvPr/>
        </p:nvSpPr>
        <p:spPr>
          <a:xfrm>
            <a:off x="46634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Stena Line declined by 482 conversions (-40.0%), £153,346 order value (-35.6%), and £7,667 total earnings (-35.6%) YoY.</a:t>
            </a:r>
            <a:endParaRPr lang="en-US" sz="810" dirty="0"/>
          </a:p>
        </p:txBody>
      </p:sp>
      <p:sp>
        <p:nvSpPr>
          <p:cNvPr id="14" name="Text 11"/>
          <p:cNvSpPr/>
          <p:nvPr/>
        </p:nvSpPr>
        <p:spPr>
          <a:xfrm>
            <a:off x="46634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15" name="Text 12"/>
          <p:cNvSpPr/>
          <p:nvPr/>
        </p:nvSpPr>
        <p:spPr>
          <a:xfrm>
            <a:off x="46634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  <p:sp>
        <p:nvSpPr>
          <p:cNvPr id="16" name="Shape 13"/>
          <p:cNvSpPr/>
          <p:nvPr/>
        </p:nvSpPr>
        <p:spPr>
          <a:xfrm>
            <a:off x="8028432" y="1975104"/>
            <a:ext cx="3438144" cy="3493008"/>
          </a:xfrm>
          <a:prstGeom prst="roundRect">
            <a:avLst/>
          </a:prstGeom>
          <a:solidFill>
            <a:srgbClr val="D7E4FF"/>
          </a:solidFill>
          <a:ln w="12700">
            <a:solidFill>
              <a:srgbClr val="D7E4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321040" y="2286000"/>
            <a:ext cx="285292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 - Dreams YoY deterioration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8321040" y="2999232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</a:t>
            </a:r>
            <a:endParaRPr lang="en-US" sz="830" dirty="0"/>
          </a:p>
        </p:txBody>
      </p:sp>
      <p:sp>
        <p:nvSpPr>
          <p:cNvPr id="19" name="Text 16"/>
          <p:cNvSpPr/>
          <p:nvPr/>
        </p:nvSpPr>
        <p:spPr>
          <a:xfrm>
            <a:off x="8321040" y="3255264"/>
            <a:ext cx="28163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1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Dreams declined by 201 conversions (-67.0%), £112,693 order value (-68.8%), and £2,254 total earnings (-68.8%) YoY.</a:t>
            </a:r>
            <a:endParaRPr lang="en-US" sz="810" dirty="0"/>
          </a:p>
        </p:txBody>
      </p:sp>
      <p:sp>
        <p:nvSpPr>
          <p:cNvPr id="20" name="Text 17"/>
          <p:cNvSpPr/>
          <p:nvPr/>
        </p:nvSpPr>
        <p:spPr>
          <a:xfrm>
            <a:off x="8321040" y="4334256"/>
            <a:ext cx="2852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b="1" dirty="0">
                <a:solidFill>
                  <a:srgbClr val="2F6F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Action</a:t>
            </a:r>
            <a:endParaRPr lang="en-US" sz="830" dirty="0"/>
          </a:p>
        </p:txBody>
      </p:sp>
      <p:sp>
        <p:nvSpPr>
          <p:cNvPr id="21" name="Text 18"/>
          <p:cNvSpPr/>
          <p:nvPr/>
        </p:nvSpPr>
        <p:spPr>
          <a:xfrm>
            <a:off x="8321040" y="4590288"/>
            <a:ext cx="28163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2F33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the program with its prior top-performing period, restore the best placement or offer that changed, and run a two-week recovery test against the lost metric.</a:t>
            </a:r>
            <a:endParaRPr lang="en-US" sz="77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F6F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harcol\Workflows\Publisher QBR\ai-agent-agenthub\qbr-pptx-service\assets\qbr-bg-bl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C:\Users\harcol\Workflows\Publisher QBR\ai-agent-agenthub\qbr-pptx-service\assets\fifth-element-wireframe-cya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0368" y="73152"/>
            <a:ext cx="6309360" cy="63093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40080" y="1325880"/>
            <a:ext cx="9875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Mvcaccount - Thank you.</a:t>
            </a:r>
            <a:endParaRPr lang="en-US" sz="2500" dirty="0"/>
          </a:p>
        </p:txBody>
      </p:sp>
      <p:sp>
        <p:nvSpPr>
          <p:cNvPr id="5" name="Shape 1"/>
          <p:cNvSpPr/>
          <p:nvPr/>
        </p:nvSpPr>
        <p:spPr>
          <a:xfrm>
            <a:off x="640080" y="2331720"/>
            <a:ext cx="2578608" cy="1024128"/>
          </a:xfrm>
          <a:prstGeom prst="roundRect">
            <a:avLst/>
          </a:prstGeom>
          <a:solidFill>
            <a:srgbClr val="F3F4F6">
              <a:alpha val="58000"/>
            </a:srgbClr>
          </a:solidFill>
          <a:ln w="12700">
            <a:solidFill>
              <a:srgbClr val="F3F4F6">
                <a:alpha val="45000"/>
              </a:srgbClr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640080" y="2331720"/>
            <a:ext cx="2578608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50" dirty="0">
                <a:solidFill>
                  <a:srgbClr val="F3F4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 Questions?</a:t>
            </a:r>
            <a:endParaRPr lang="en-US" sz="1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Tradedoubler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QBR - mvcaccount</dc:title>
  <dc:subject>Quarterly business review</dc:subject>
  <dc:creator>QBR PPTX Service</dc:creator>
  <cp:lastModifiedBy>QBR PPTX Service</cp:lastModifiedBy>
  <cp:revision>1</cp:revision>
  <dcterms:created xsi:type="dcterms:W3CDTF">2026-05-20T08:12:35Z</dcterms:created>
  <dcterms:modified xsi:type="dcterms:W3CDTF">2026-05-20T08:12:35Z</dcterms:modified>
</cp:coreProperties>
</file>