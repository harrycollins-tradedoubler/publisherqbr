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5686</c:v>
                </c:pt>
                <c:pt idx="1">
                  <c:v>5295</c:v>
                </c:pt>
                <c:pt idx="2">
                  <c:v>4175</c:v>
                </c:pt>
                <c:pt idx="3">
                  <c:v>4260</c:v>
                </c:pt>
                <c:pt idx="4">
                  <c:v>3176</c:v>
                </c:pt>
                <c:pt idx="5">
                  <c:v>5688</c:v>
                </c:pt>
                <c:pt idx="6">
                  <c:v>3890</c:v>
                </c:pt>
                <c:pt idx="7">
                  <c:v>4873</c:v>
                </c:pt>
                <c:pt idx="8">
                  <c:v>5420</c:v>
                </c:pt>
                <c:pt idx="9">
                  <c:v>2535</c:v>
                </c:pt>
                <c:pt idx="10">
                  <c:v>3296</c:v>
                </c:pt>
                <c:pt idx="11">
                  <c:v>2640</c:v>
                </c:pt>
                <c:pt idx="12">
                  <c:v>2498</c:v>
                </c:pt>
                <c:pt idx="13">
                  <c:v>894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6594</c:v>
                </c:pt>
                <c:pt idx="1">
                  <c:v>13400</c:v>
                </c:pt>
                <c:pt idx="2">
                  <c:v>9413</c:v>
                </c:pt>
                <c:pt idx="3">
                  <c:v>11190</c:v>
                </c:pt>
                <c:pt idx="4">
                  <c:v>14206</c:v>
                </c:pt>
                <c:pt idx="5">
                  <c:v>13242</c:v>
                </c:pt>
                <c:pt idx="6">
                  <c:v>13331</c:v>
                </c:pt>
                <c:pt idx="7">
                  <c:v>12607</c:v>
                </c:pt>
                <c:pt idx="8">
                  <c:v>14108</c:v>
                </c:pt>
                <c:pt idx="9">
                  <c:v>11652</c:v>
                </c:pt>
                <c:pt idx="10">
                  <c:v>15247</c:v>
                </c:pt>
                <c:pt idx="11">
                  <c:v>10688</c:v>
                </c:pt>
                <c:pt idx="12">
                  <c:v>12578</c:v>
                </c:pt>
                <c:pt idx="13">
                  <c:v>4192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2006</c:v>
                </c:pt>
                <c:pt idx="1">
                  <c:v>3586</c:v>
                </c:pt>
                <c:pt idx="2">
                  <c:v>3502</c:v>
                </c:pt>
                <c:pt idx="3">
                  <c:v>3729</c:v>
                </c:pt>
                <c:pt idx="4">
                  <c:v>3742</c:v>
                </c:pt>
                <c:pt idx="5">
                  <c:v>2701</c:v>
                </c:pt>
                <c:pt idx="6">
                  <c:v>2514</c:v>
                </c:pt>
                <c:pt idx="7">
                  <c:v>3226</c:v>
                </c:pt>
                <c:pt idx="8">
                  <c:v>3100</c:v>
                </c:pt>
                <c:pt idx="9">
                  <c:v>758</c:v>
                </c:pt>
                <c:pt idx="10">
                  <c:v>848</c:v>
                </c:pt>
                <c:pt idx="11">
                  <c:v>915</c:v>
                </c:pt>
                <c:pt idx="12">
                  <c:v>875</c:v>
                </c:pt>
                <c:pt idx="13">
                  <c:v>287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893</c:v>
                </c:pt>
                <c:pt idx="1">
                  <c:v>1378</c:v>
                </c:pt>
                <c:pt idx="2">
                  <c:v>1155</c:v>
                </c:pt>
                <c:pt idx="3">
                  <c:v>1016</c:v>
                </c:pt>
                <c:pt idx="4">
                  <c:v>1194</c:v>
                </c:pt>
                <c:pt idx="5">
                  <c:v>1554</c:v>
                </c:pt>
                <c:pt idx="6">
                  <c:v>1132</c:v>
                </c:pt>
                <c:pt idx="7">
                  <c:v>1251</c:v>
                </c:pt>
                <c:pt idx="8">
                  <c:v>1273</c:v>
                </c:pt>
                <c:pt idx="9">
                  <c:v>3017</c:v>
                </c:pt>
                <c:pt idx="10">
                  <c:v>1957</c:v>
                </c:pt>
                <c:pt idx="11">
                  <c:v>2627</c:v>
                </c:pt>
                <c:pt idx="12">
                  <c:v>2455</c:v>
                </c:pt>
                <c:pt idx="13">
                  <c:v>445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EB5757"/>
            </a:solidFill>
            <a:ln w="25400" cap="rnd">
              <a:solidFill>
                <a:srgbClr val="EB5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5757"/>
              </a:solidFill>
              <a:ln w="9525" cap="flat">
                <a:solidFill>
                  <a:srgbClr val="EB5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796</c:v>
                </c:pt>
                <c:pt idx="1">
                  <c:v>1300</c:v>
                </c:pt>
                <c:pt idx="2">
                  <c:v>1603</c:v>
                </c:pt>
                <c:pt idx="3">
                  <c:v>1065</c:v>
                </c:pt>
                <c:pt idx="4">
                  <c:v>2263</c:v>
                </c:pt>
                <c:pt idx="5">
                  <c:v>1167</c:v>
                </c:pt>
                <c:pt idx="6">
                  <c:v>1555</c:v>
                </c:pt>
                <c:pt idx="7">
                  <c:v>1469</c:v>
                </c:pt>
                <c:pt idx="8">
                  <c:v>1376</c:v>
                </c:pt>
                <c:pt idx="9">
                  <c:v>1186</c:v>
                </c:pt>
                <c:pt idx="10">
                  <c:v>1133</c:v>
                </c:pt>
                <c:pt idx="11">
                  <c:v>993</c:v>
                </c:pt>
                <c:pt idx="12">
                  <c:v>1062</c:v>
                </c:pt>
                <c:pt idx="13">
                  <c:v>459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4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Merchants@rewardgateway.co.uk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merchants@rewardgateway.co.uk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4,915 vs 7,488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-34.4%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£1,236,626 vs £1,482,451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-16.6%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£54,326 vs £68,838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-21.1%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£38,100 vs £41,840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-8.9%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£92,426 vs £110,678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-16.5%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10.2% vs 11.2%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-8.6%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merchants@rewardgateway.co.uk, performance was mixed in Jan 2026 – Mar 2026. Conversions moved -34.4% to 4,915 and conversion rate moved -8.6% to 10.2%. Publisher commission decreased -21.1% to £54,326, while digital wallet earnings decreased -8.9% to £38,100. Total earnings ended at £92,426 (-16.5%) and total order value decreased -16.6% to £1,236,626.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4,915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7,488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-2,573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-34.4%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48,048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-18,829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£1.92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£1.65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£9.19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£1,236,626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£1,482,451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-£245,825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-16.6%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£54,326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£68,838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-£14,512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£38,100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£41,840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-£3,740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£92,426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£110,678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-£18,252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-16.5%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£23,199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£12,790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£35,989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£347,844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£9,709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£13,709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£185,312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-37.8%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£4,625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£4,625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£34,937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£4,555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£16,250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£20,805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£151,850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£2,949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£2,949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£98,306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+60.7%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£2,189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£2,189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£153,271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354193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Philips Hue UK - AFF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£25,651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322161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West Coast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£128,430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327928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Marks Electrical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£32,951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With Us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£18,771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£2,560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£3,272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£12,284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+256.4%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+1537.8%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72699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(+204.0%)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1704703"/>
            <a:ext cx="51477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3422" y="1690987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£668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530352" y="2018865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(+256.4%)</a:t>
            </a:r>
            <a:endParaRPr lang="en-US" sz="640" dirty="0"/>
          </a:p>
        </p:txBody>
      </p:sp>
      <p:sp>
        <p:nvSpPr>
          <p:cNvPr id="15" name="Shape 12"/>
          <p:cNvSpPr/>
          <p:nvPr/>
        </p:nvSpPr>
        <p:spPr>
          <a:xfrm>
            <a:off x="7392924" y="2050869"/>
            <a:ext cx="394940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33584" y="2037153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£512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530352" y="2365030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Manchester (+2222.7%)</a:t>
            </a:r>
            <a:endParaRPr lang="en-US" sz="640" dirty="0"/>
          </a:p>
        </p:txBody>
      </p:sp>
      <p:sp>
        <p:nvSpPr>
          <p:cNvPr id="18" name="Shape 15"/>
          <p:cNvSpPr/>
          <p:nvPr/>
        </p:nvSpPr>
        <p:spPr>
          <a:xfrm>
            <a:off x="7392924" y="2397034"/>
            <a:ext cx="156103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94747" y="238331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£202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530352" y="2711196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(+10.8%)</a:t>
            </a:r>
            <a:endParaRPr lang="en-US" sz="640" dirty="0"/>
          </a:p>
        </p:txBody>
      </p:sp>
      <p:sp>
        <p:nvSpPr>
          <p:cNvPr id="21" name="Shape 18"/>
          <p:cNvSpPr/>
          <p:nvPr/>
        </p:nvSpPr>
        <p:spPr>
          <a:xfrm>
            <a:off x="7392924" y="2743200"/>
            <a:ext cx="70562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9206" y="272948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£92</a:t>
            </a:r>
            <a:endParaRPr lang="en-US" sz="620" dirty="0"/>
          </a:p>
        </p:txBody>
      </p:sp>
      <p:sp>
        <p:nvSpPr>
          <p:cNvPr id="23" name="Text 20"/>
          <p:cNvSpPr/>
          <p:nvPr/>
        </p:nvSpPr>
        <p:spPr>
          <a:xfrm>
            <a:off x="530352" y="3057362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(-11.4%)</a:t>
            </a:r>
            <a:endParaRPr lang="en-US" sz="640" dirty="0"/>
          </a:p>
        </p:txBody>
      </p:sp>
      <p:sp>
        <p:nvSpPr>
          <p:cNvPr id="24" name="Shape 21"/>
          <p:cNvSpPr/>
          <p:nvPr/>
        </p:nvSpPr>
        <p:spPr>
          <a:xfrm>
            <a:off x="7099552" y="3089366"/>
            <a:ext cx="293372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2584" y="3075650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-£381</a:t>
            </a:r>
            <a:endParaRPr lang="en-US" sz="620" dirty="0"/>
          </a:p>
        </p:txBody>
      </p:sp>
      <p:sp>
        <p:nvSpPr>
          <p:cNvPr id="26" name="Text 23"/>
          <p:cNvSpPr/>
          <p:nvPr/>
        </p:nvSpPr>
        <p:spPr>
          <a:xfrm>
            <a:off x="530352" y="3403527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Hue UK - AFF (-25.6%)</a:t>
            </a:r>
            <a:endParaRPr lang="en-US" sz="640" dirty="0"/>
          </a:p>
        </p:txBody>
      </p:sp>
      <p:sp>
        <p:nvSpPr>
          <p:cNvPr id="27" name="Shape 24"/>
          <p:cNvSpPr/>
          <p:nvPr/>
        </p:nvSpPr>
        <p:spPr>
          <a:xfrm>
            <a:off x="7043630" y="3435531"/>
            <a:ext cx="349294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56662" y="3421815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-£453</a:t>
            </a:r>
            <a:endParaRPr lang="en-US" sz="620" dirty="0"/>
          </a:p>
        </p:txBody>
      </p:sp>
      <p:sp>
        <p:nvSpPr>
          <p:cNvPr id="29" name="Text 26"/>
          <p:cNvSpPr/>
          <p:nvPr/>
        </p:nvSpPr>
        <p:spPr>
          <a:xfrm>
            <a:off x="530352" y="3749693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(-100.0%)</a:t>
            </a:r>
            <a:endParaRPr lang="en-US" sz="640" dirty="0"/>
          </a:p>
        </p:txBody>
      </p:sp>
      <p:sp>
        <p:nvSpPr>
          <p:cNvPr id="30" name="Shape 27"/>
          <p:cNvSpPr/>
          <p:nvPr/>
        </p:nvSpPr>
        <p:spPr>
          <a:xfrm>
            <a:off x="6877791" y="3781697"/>
            <a:ext cx="515133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90823" y="3767981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-£668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530352" y="4095859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AEG.co.uk (home appliances) (-15.0%)</a:t>
            </a:r>
            <a:endParaRPr lang="en-US" sz="640" dirty="0"/>
          </a:p>
        </p:txBody>
      </p:sp>
      <p:sp>
        <p:nvSpPr>
          <p:cNvPr id="33" name="Shape 30"/>
          <p:cNvSpPr/>
          <p:nvPr/>
        </p:nvSpPr>
        <p:spPr>
          <a:xfrm>
            <a:off x="6774866" y="4127863"/>
            <a:ext cx="618058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87898" y="4114147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-£802</a:t>
            </a:r>
            <a:endParaRPr lang="en-US" sz="620" dirty="0"/>
          </a:p>
        </p:txBody>
      </p:sp>
      <p:sp>
        <p:nvSpPr>
          <p:cNvPr id="35" name="Text 32"/>
          <p:cNvSpPr/>
          <p:nvPr/>
        </p:nvSpPr>
        <p:spPr>
          <a:xfrm>
            <a:off x="530352" y="4442025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(-81.5%)</a:t>
            </a:r>
            <a:endParaRPr lang="en-US" sz="640" dirty="0"/>
          </a:p>
        </p:txBody>
      </p:sp>
      <p:sp>
        <p:nvSpPr>
          <p:cNvPr id="36" name="Shape 33"/>
          <p:cNvSpPr/>
          <p:nvPr/>
        </p:nvSpPr>
        <p:spPr>
          <a:xfrm>
            <a:off x="6645144" y="4474029"/>
            <a:ext cx="747780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58176" y="4460313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-£970</a:t>
            </a:r>
            <a:endParaRPr lang="en-US" sz="620" dirty="0"/>
          </a:p>
        </p:txBody>
      </p:sp>
      <p:sp>
        <p:nvSpPr>
          <p:cNvPr id="38" name="Text 35"/>
          <p:cNvSpPr/>
          <p:nvPr/>
        </p:nvSpPr>
        <p:spPr>
          <a:xfrm>
            <a:off x="530352" y="4788190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(-55.6%)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6440412" y="4820194"/>
            <a:ext cx="952512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53444" y="480647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-£1,236</a:t>
            </a:r>
            <a:endParaRPr lang="en-US" sz="620" dirty="0"/>
          </a:p>
        </p:txBody>
      </p:sp>
      <p:sp>
        <p:nvSpPr>
          <p:cNvPr id="41" name="Text 38"/>
          <p:cNvSpPr/>
          <p:nvPr/>
        </p:nvSpPr>
        <p:spPr>
          <a:xfrm>
            <a:off x="530352" y="5134356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(-21.3%)</a:t>
            </a:r>
            <a:endParaRPr lang="en-US" sz="640" dirty="0"/>
          </a:p>
        </p:txBody>
      </p:sp>
      <p:sp>
        <p:nvSpPr>
          <p:cNvPr id="42" name="Shape 39"/>
          <p:cNvSpPr/>
          <p:nvPr/>
        </p:nvSpPr>
        <p:spPr>
          <a:xfrm>
            <a:off x="6425094" y="5166360"/>
            <a:ext cx="967830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8126" y="515264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-£1,255</a:t>
            </a:r>
            <a:endParaRPr lang="en-US" sz="620" dirty="0"/>
          </a:p>
        </p:txBody>
      </p:sp>
      <p:sp>
        <p:nvSpPr>
          <p:cNvPr id="44" name="Text 41"/>
          <p:cNvSpPr/>
          <p:nvPr/>
        </p:nvSpPr>
        <p:spPr>
          <a:xfrm>
            <a:off x="530352" y="5480522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West Coast (-59.9%)</a:t>
            </a:r>
            <a:endParaRPr lang="en-US" sz="640" dirty="0"/>
          </a:p>
        </p:txBody>
      </p:sp>
      <p:sp>
        <p:nvSpPr>
          <p:cNvPr id="45" name="Shape 42"/>
          <p:cNvSpPr/>
          <p:nvPr/>
        </p:nvSpPr>
        <p:spPr>
          <a:xfrm>
            <a:off x="6082276" y="5512526"/>
            <a:ext cx="1310648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95308" y="5498810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-£1,700</a:t>
            </a:r>
            <a:endParaRPr lang="en-US" sz="620" dirty="0"/>
          </a:p>
        </p:txBody>
      </p:sp>
      <p:sp>
        <p:nvSpPr>
          <p:cNvPr id="47" name="Text 44"/>
          <p:cNvSpPr/>
          <p:nvPr/>
        </p:nvSpPr>
        <p:spPr>
          <a:xfrm>
            <a:off x="530352" y="5826687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(-13.3%)</a:t>
            </a:r>
            <a:endParaRPr lang="en-US" sz="640" dirty="0"/>
          </a:p>
        </p:txBody>
      </p:sp>
      <p:sp>
        <p:nvSpPr>
          <p:cNvPr id="48" name="Shape 45"/>
          <p:cNvSpPr/>
          <p:nvPr/>
        </p:nvSpPr>
        <p:spPr>
          <a:xfrm>
            <a:off x="4652283" y="5858691"/>
            <a:ext cx="2740641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959352" y="5844975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-£3,555</a:t>
            </a:r>
            <a:endParaRPr lang="en-US" sz="620" dirty="0"/>
          </a:p>
        </p:txBody>
      </p:sp>
      <p:sp>
        <p:nvSpPr>
          <p:cNvPr id="50" name="Text 47"/>
          <p:cNvSpPr/>
          <p:nvPr/>
        </p:nvSpPr>
        <p:spPr>
          <a:xfrm>
            <a:off x="530352" y="6172853"/>
            <a:ext cx="326440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(-30.9%)</a:t>
            </a:r>
            <a:endParaRPr lang="en-US" sz="640" dirty="0"/>
          </a:p>
        </p:txBody>
      </p:sp>
      <p:sp>
        <p:nvSpPr>
          <p:cNvPr id="51" name="Shape 48"/>
          <p:cNvSpPr/>
          <p:nvPr/>
        </p:nvSpPr>
        <p:spPr>
          <a:xfrm>
            <a:off x="4050792" y="6204857"/>
            <a:ext cx="3342132" cy="1188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959352" y="6191141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-£4,335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394407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YSL Beauty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274320" y="932688"/>
            <a:ext cx="4251960" cy="4251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4920" y="71323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in the competitor gap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12064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93776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89204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requiring activation, application or recovery</a:t>
            </a:r>
            <a:endParaRPr lang="en-US" sz="980" dirty="0"/>
          </a:p>
        </p:txBody>
      </p:sp>
      <p:sp>
        <p:nvSpPr>
          <p:cNvPr id="8" name="Text 4"/>
          <p:cNvSpPr/>
          <p:nvPr/>
        </p:nvSpPr>
        <p:spPr>
          <a:xfrm>
            <a:off x="845820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2753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opportunities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£26.9k already accepted but inactive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5897880" y="32735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£104.4k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669280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 opportunity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79008" y="444398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 programs where the primary publisher is not earning</a:t>
            </a:r>
            <a:endParaRPr lang="en-US" sz="1040" dirty="0"/>
          </a:p>
        </p:txBody>
      </p:sp>
      <p:sp>
        <p:nvSpPr>
          <p:cNvPr id="14" name="Text 10"/>
          <p:cNvSpPr/>
          <p:nvPr/>
        </p:nvSpPr>
        <p:spPr>
          <a:xfrm>
            <a:off x="5074920" y="51023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accepted and click-led programs first, then build an application pipeline for no-connection gaps. The largest visible gap is Wightlink (£18.4k).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competitor-funded gaps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receiving publisher commission from competitors while the primary publisher is not earning.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highest-value programs shown here. 104 remaining gap programs are available in the Excel report.</a:t>
            </a:r>
            <a:endParaRPr lang="en-US" sz="940" dirty="0"/>
          </a:p>
        </p:txBody>
      </p:sp>
      <p:sp>
        <p:nvSpPr>
          <p:cNvPr id="6" name="Shape 3"/>
          <p:cNvSpPr/>
          <p:nvPr/>
        </p:nvSpPr>
        <p:spPr>
          <a:xfrm>
            <a:off x="530352" y="1572768"/>
            <a:ext cx="11137392" cy="310896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66420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4553712" y="16642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status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6035040" y="166420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signal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7772400" y="16642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 - Specified Sites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10625328" y="166420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530352" y="1883664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0208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0584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Wightlink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248069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4535424" y="2048256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20208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035040" y="202082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7772400" y="204825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048256"/>
            <a:ext cx="214884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88752" y="202082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£18,410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30352" y="2304288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584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329522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4535424" y="2468880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5152" y="24414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035040" y="244144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 competitors earning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7772400" y="246888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0" y="2468880"/>
            <a:ext cx="208242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88752" y="24414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£17,841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0352" y="2724912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8620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Bershka GB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305093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535424" y="2889504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286207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6035040" y="286207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37" name="Shape 34"/>
          <p:cNvSpPr/>
          <p:nvPr/>
        </p:nvSpPr>
        <p:spPr>
          <a:xfrm>
            <a:off x="7772400" y="288950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0" y="2889504"/>
            <a:ext cx="188376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88752" y="28620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£16,139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30352" y="3145536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0352" y="32826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05840" y="3209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246156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535424" y="3310128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45152" y="328269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6035040" y="328269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46" name="Shape 43"/>
          <p:cNvSpPr/>
          <p:nvPr/>
        </p:nvSpPr>
        <p:spPr>
          <a:xfrm>
            <a:off x="7772400" y="331012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72400" y="3310128"/>
            <a:ext cx="130412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88752" y="32826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£11,173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530352" y="3566160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0352" y="3703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0584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Paddington Bear Experience UK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357366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4535424" y="3730752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45152" y="3703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6035040" y="37033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55" name="Shape 52"/>
          <p:cNvSpPr/>
          <p:nvPr/>
        </p:nvSpPr>
        <p:spPr>
          <a:xfrm>
            <a:off x="7772400" y="373075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0" y="3730752"/>
            <a:ext cx="711533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588752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£6,096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530352" y="3986784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30352" y="4123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005840" y="4050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Blenheim Palace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377545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4535424" y="4151376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645152" y="41239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6035040" y="41239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64" name="Shape 61"/>
          <p:cNvSpPr/>
          <p:nvPr/>
        </p:nvSpPr>
        <p:spPr>
          <a:xfrm>
            <a:off x="7772400" y="415137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772400" y="4151376"/>
            <a:ext cx="551275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88752" y="412394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£4,723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530352" y="4407408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30352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005840" y="4471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201350</a:t>
            </a:r>
            <a:endParaRPr lang="en-US" sz="720" dirty="0"/>
          </a:p>
        </p:txBody>
      </p:sp>
      <p:sp>
        <p:nvSpPr>
          <p:cNvPr id="70" name="Shape 67"/>
          <p:cNvSpPr/>
          <p:nvPr/>
        </p:nvSpPr>
        <p:spPr>
          <a:xfrm>
            <a:off x="4535424" y="4572000"/>
            <a:ext cx="73152" cy="73152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645152" y="454456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6035040" y="45445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 competitors earning</a:t>
            </a:r>
            <a:endParaRPr lang="en-US" sz="710" dirty="0"/>
          </a:p>
        </p:txBody>
      </p:sp>
      <p:sp>
        <p:nvSpPr>
          <p:cNvPr id="73" name="Shape 70"/>
          <p:cNvSpPr/>
          <p:nvPr/>
        </p:nvSpPr>
        <p:spPr>
          <a:xfrm>
            <a:off x="7772400" y="457200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72400" y="4572000"/>
            <a:ext cx="413194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588752" y="454456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£3,540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530352" y="4828032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49651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1005840" y="4892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Monopoly Lifesized - London (UK affil…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333391</a:t>
            </a:r>
            <a:endParaRPr lang="en-US" sz="720" dirty="0"/>
          </a:p>
        </p:txBody>
      </p:sp>
      <p:sp>
        <p:nvSpPr>
          <p:cNvPr id="79" name="Shape 76"/>
          <p:cNvSpPr/>
          <p:nvPr/>
        </p:nvSpPr>
        <p:spPr>
          <a:xfrm>
            <a:off x="4535424" y="4992624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645152" y="496519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6035040" y="496519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 competitors earning</a:t>
            </a:r>
            <a:endParaRPr lang="en-US" sz="710" dirty="0"/>
          </a:p>
        </p:txBody>
      </p:sp>
      <p:sp>
        <p:nvSpPr>
          <p:cNvPr id="82" name="Shape 79"/>
          <p:cNvSpPr/>
          <p:nvPr/>
        </p:nvSpPr>
        <p:spPr>
          <a:xfrm>
            <a:off x="7772400" y="499262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72400" y="4992624"/>
            <a:ext cx="398837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0588752" y="49651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£3,417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530352" y="5248656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30352" y="5385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1005840" y="5312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300817</a:t>
            </a:r>
            <a:endParaRPr lang="en-US" sz="720" dirty="0"/>
          </a:p>
        </p:txBody>
      </p:sp>
      <p:sp>
        <p:nvSpPr>
          <p:cNvPr id="88" name="Shape 85"/>
          <p:cNvSpPr/>
          <p:nvPr/>
        </p:nvSpPr>
        <p:spPr>
          <a:xfrm>
            <a:off x="4535424" y="5413248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645152" y="53858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6035040" y="538581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91" name="Shape 88"/>
          <p:cNvSpPr/>
          <p:nvPr/>
        </p:nvSpPr>
        <p:spPr>
          <a:xfrm>
            <a:off x="7772400" y="541324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772400" y="5413248"/>
            <a:ext cx="354133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588752" y="538581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£3,034</a:t>
            </a:r>
            <a:endParaRPr lang="en-US" sz="780" dirty="0"/>
          </a:p>
        </p:txBody>
      </p:sp>
      <p:sp>
        <p:nvSpPr>
          <p:cNvPr id="94" name="Shape 91"/>
          <p:cNvSpPr/>
          <p:nvPr/>
        </p:nvSpPr>
        <p:spPr>
          <a:xfrm>
            <a:off x="530352" y="5669280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30352" y="58064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1005840" y="5733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Cliphair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324415</a:t>
            </a:r>
            <a:endParaRPr lang="en-US" sz="720" dirty="0"/>
          </a:p>
        </p:txBody>
      </p:sp>
      <p:sp>
        <p:nvSpPr>
          <p:cNvPr id="97" name="Shape 94"/>
          <p:cNvSpPr/>
          <p:nvPr/>
        </p:nvSpPr>
        <p:spPr>
          <a:xfrm>
            <a:off x="4535424" y="5833872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645152" y="580644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6035040" y="5806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100" name="Shape 97"/>
          <p:cNvSpPr/>
          <p:nvPr/>
        </p:nvSpPr>
        <p:spPr>
          <a:xfrm>
            <a:off x="7772400" y="583387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772400" y="5833872"/>
            <a:ext cx="334173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588752" y="58064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£2,863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55 | Accepted: 11 | Created from 1 October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394407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YSL Beauty UK</a:t>
            </a:r>
            <a:endParaRPr lang="en-US" sz="64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55 | Accepted: 11 | Created from 1 October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£63,697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£16,571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£18,329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£5,812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£104,410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689455"/>
            <a:ext cx="438912" cy="82437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43342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883033"/>
            <a:ext cx="438912" cy="630799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62700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21689"/>
            <a:ext cx="438912" cy="169214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5656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3628111"/>
            <a:ext cx="438912" cy="1885721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37207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220127"/>
            <a:ext cx="438912" cy="29370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96409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43363"/>
            <a:ext cx="438912" cy="370469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8733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280203"/>
            <a:ext cx="438912" cy="23362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02417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266853"/>
            <a:ext cx="438912" cy="246979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1082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220127"/>
            <a:ext cx="438912" cy="29370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6409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10241"/>
            <a:ext cx="438912" cy="203591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5420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merchants@rewardgateway.co.uk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Philips Hue UK - AFF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West Coast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Marks Electrical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decreased -8.6% (11.2% to 10.2%). Conversions decreased -34.4% (-2,573),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-34.4% (-2,573).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-16.6% (£1,482,451 to £1,236,626).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-21.1% (£68,838 to £54,326).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-16.5% (£110,678 to £92,426). Digital wallet contribution was £38,100 (-8.9%),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 Single-program earnings dependency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 Single-program earnings dependency. Action: Protect the leading program's placement while adding two similar programs into the next campaign rotation so commission is not dependent on one partner.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 Commission concentration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contributes 42.7% of current publisher commission (£23,199 of £54,326).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 Digital wallet concentration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AEG.co.uk (home appliances) contributes 42.7% of current digital wallet (£16,250 of £38,100).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Merchants@rewardgateway.co.uk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merchants@rewardgateway.co.uk</dc:title>
  <dc:subject>Quarterly business review</dc:subject>
  <dc:creator>QBR PPTX Service</dc:creator>
  <cp:lastModifiedBy>QBR PPTX Service</cp:lastModifiedBy>
  <cp:revision>1</cp:revision>
  <dcterms:created xsi:type="dcterms:W3CDTF">2026-05-21T09:02:39Z</dcterms:created>
  <dcterms:modified xsi:type="dcterms:W3CDTF">2026-05-21T09:02:39Z</dcterms:modified>
</cp:coreProperties>
</file>