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6FF2"/>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blu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21792" y="621792"/>
            <a:ext cx="10561320" cy="1115568"/>
          </a:xfrm>
          <a:prstGeom prst="rect">
            <a:avLst/>
          </a:prstGeom>
          <a:noFill/>
          <a:ln/>
        </p:spPr>
        <p:txBody>
          <a:bodyPr wrap="square" lIns="0" tIns="0" rIns="0" bIns="0" rtlCol="0" anchor="ctr"/>
          <a:lstStyle/>
          <a:p>
            <a:pPr indent="0" marL="0">
              <a:buNone/>
            </a:pPr>
            <a:r>
              <a:rPr lang="en-US" sz="2900" dirty="0">
                <a:solidFill>
                  <a:srgbClr val="F3F4F6"/>
                </a:solidFill>
                <a:latin typeface="Aptos" pitchFamily="34" charset="0"/>
                <a:ea typeface="Aptos" pitchFamily="34" charset="-122"/>
                <a:cs typeface="Aptos" pitchFamily="34" charset="-120"/>
              </a:rPr>
              <a:t>Examen des performances de Topcashback</a:t>
            </a:r>
            <a:endParaRPr lang="en-US" sz="2900" dirty="0"/>
          </a:p>
        </p:txBody>
      </p:sp>
      <p:sp>
        <p:nvSpPr>
          <p:cNvPr id="4" name="Text 1"/>
          <p:cNvSpPr/>
          <p:nvPr/>
        </p:nvSpPr>
        <p:spPr>
          <a:xfrm>
            <a:off x="621792" y="1828800"/>
            <a:ext cx="10378440" cy="713232"/>
          </a:xfrm>
          <a:prstGeom prst="rect">
            <a:avLst/>
          </a:prstGeom>
          <a:noFill/>
          <a:ln/>
        </p:spPr>
        <p:txBody>
          <a:bodyPr wrap="square" lIns="0" tIns="0" rIns="0" bIns="0" rtlCol="0" anchor="ctr"/>
          <a:lstStyle/>
          <a:p>
            <a:pPr indent="0" marL="0">
              <a:buNone/>
            </a:pPr>
            <a:r>
              <a:rPr lang="en-US" sz="1220" dirty="0">
                <a:solidFill>
                  <a:srgbClr val="F3F4F6"/>
                </a:solidFill>
                <a:latin typeface="Aptos" pitchFamily="34" charset="0"/>
                <a:ea typeface="Aptos" pitchFamily="34" charset="-122"/>
                <a:cs typeface="Aptos" pitchFamily="34" charset="-120"/>
              </a:rPr>
              <a:t>Un examen ciblé, année après année, des performances des éditeurs les plus performants, de la dynamique de conversion, des bénéfices et des priorités stratégiques pour stimuler la croissance et optimiser les résultats.</a:t>
            </a:r>
            <a:endParaRPr lang="en-US" sz="1220" dirty="0"/>
          </a:p>
        </p:txBody>
      </p:sp>
      <p:pic>
        <p:nvPicPr>
          <p:cNvPr id="5" name="Image 1" descr="C:\Users\harcol\Workflows\Publisher QBR\ai-agent-agenthub\qbr-pptx-service\assets\td-logo-white.png">    </p:cNvPr>
          <p:cNvPicPr>
            <a:picLocks noChangeAspect="1"/>
          </p:cNvPicPr>
          <p:nvPr/>
        </p:nvPicPr>
        <p:blipFill>
          <a:blip r:embed="rId2"/>
          <a:stretch>
            <a:fillRect/>
          </a:stretch>
        </p:blipFill>
        <p:spPr>
          <a:xfrm>
            <a:off x="566928" y="3858768"/>
            <a:ext cx="1965960" cy="1591056"/>
          </a:xfrm>
          <a:prstGeom prst="rect">
            <a:avLst/>
          </a:prstGeom>
        </p:spPr>
      </p:pic>
      <p:pic>
        <p:nvPicPr>
          <p:cNvPr id="6" name="Image 2" descr="C:\Users\harcol\Workflows\Publisher QBR\ai-agent-agenthub\qbr-pptx-service\assets\fifth-element-wireframe-cyan.png">    </p:cNvPr>
          <p:cNvPicPr>
            <a:picLocks noChangeAspect="1"/>
          </p:cNvPicPr>
          <p:nvPr/>
        </p:nvPicPr>
        <p:blipFill>
          <a:blip r:embed="rId3"/>
          <a:stretch>
            <a:fillRect/>
          </a:stretch>
        </p:blipFill>
        <p:spPr>
          <a:xfrm>
            <a:off x="7543800" y="2542032"/>
            <a:ext cx="402336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6"/>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2F333B"/>
                </a:solidFill>
                <a:latin typeface="Aptos" pitchFamily="34" charset="0"/>
                <a:ea typeface="Aptos" pitchFamily="34" charset="-122"/>
                <a:cs typeface="Aptos" pitchFamily="34" charset="-120"/>
              </a:rPr>
              <a:t>Période de déclaration</a:t>
            </a:r>
            <a:endParaRPr lang="en-US" sz="2800" dirty="0"/>
          </a:p>
        </p:txBody>
      </p:sp>
      <p:sp>
        <p:nvSpPr>
          <p:cNvPr id="4" name="Text 1"/>
          <p:cNvSpPr/>
          <p:nvPr/>
        </p:nvSpPr>
        <p:spPr>
          <a:xfrm>
            <a:off x="658368" y="1261872"/>
            <a:ext cx="10332720" cy="237744"/>
          </a:xfrm>
          <a:prstGeom prst="rect">
            <a:avLst/>
          </a:prstGeom>
          <a:noFill/>
          <a:ln/>
        </p:spPr>
        <p:txBody>
          <a:bodyPr wrap="square" lIns="0" tIns="0" rIns="0" bIns="0" rtlCol="0" anchor="ctr"/>
          <a:lstStyle/>
          <a:p>
            <a:pPr indent="0" marL="0">
              <a:buNone/>
            </a:pPr>
            <a:r>
              <a:rPr lang="en-US" sz="1020" dirty="0">
                <a:solidFill>
                  <a:srgbClr val="2F6FF2"/>
                </a:solidFill>
                <a:latin typeface="Aptos" pitchFamily="34" charset="0"/>
                <a:ea typeface="Aptos" pitchFamily="34" charset="-122"/>
                <a:cs typeface="Aptos" pitchFamily="34" charset="-120"/>
              </a:rPr>
              <a:t>Current and YoY comparison windows</a:t>
            </a:r>
            <a:endParaRPr lang="en-US" sz="1020" dirty="0"/>
          </a:p>
        </p:txBody>
      </p:sp>
      <p:sp>
        <p:nvSpPr>
          <p:cNvPr id="5" name="Text 2"/>
          <p:cNvSpPr/>
          <p:nvPr/>
        </p:nvSpPr>
        <p:spPr>
          <a:xfrm>
            <a:off x="658368" y="1755648"/>
            <a:ext cx="4572000" cy="310896"/>
          </a:xfrm>
          <a:prstGeom prst="rect">
            <a:avLst/>
          </a:prstGeom>
          <a:noFill/>
          <a:ln/>
        </p:spPr>
        <p:txBody>
          <a:bodyPr wrap="square" lIns="0" tIns="0" rIns="0" bIns="0" rtlCol="0" anchor="ctr"/>
          <a:lstStyle/>
          <a:p>
            <a:pPr indent="0" marL="0">
              <a:buNone/>
            </a:pPr>
            <a:r>
              <a:rPr lang="en-US" sz="1600" dirty="0">
                <a:solidFill>
                  <a:srgbClr val="2F333B"/>
                </a:solidFill>
                <a:latin typeface="Aptos" pitchFamily="34" charset="0"/>
                <a:ea typeface="Aptos" pitchFamily="34" charset="-122"/>
                <a:cs typeface="Aptos" pitchFamily="34" charset="-120"/>
              </a:rPr>
              <a:t>Période actuelle</a:t>
            </a:r>
            <a:endParaRPr lang="en-US" sz="1600" dirty="0"/>
          </a:p>
        </p:txBody>
      </p:sp>
      <p:sp>
        <p:nvSpPr>
          <p:cNvPr id="6" name="Text 3"/>
          <p:cNvSpPr/>
          <p:nvPr/>
        </p:nvSpPr>
        <p:spPr>
          <a:xfrm>
            <a:off x="658368" y="2286000"/>
            <a:ext cx="4800600" cy="237744"/>
          </a:xfrm>
          <a:prstGeom prst="rect">
            <a:avLst/>
          </a:prstGeom>
          <a:noFill/>
          <a:ln/>
        </p:spPr>
        <p:txBody>
          <a:bodyPr wrap="square" lIns="0" tIns="0" rIns="0" bIns="0" rtlCol="0" anchor="ctr"/>
          <a:lstStyle/>
          <a:p>
            <a:pPr indent="0" marL="0">
              <a:buNone/>
            </a:pPr>
            <a:r>
              <a:rPr lang="en-US" sz="980" dirty="0">
                <a:solidFill>
                  <a:srgbClr val="5B6372"/>
                </a:solidFill>
                <a:latin typeface="Aptos" pitchFamily="34" charset="0"/>
                <a:ea typeface="Aptos" pitchFamily="34" charset="-122"/>
                <a:cs typeface="Aptos" pitchFamily="34" charset="-120"/>
              </a:rPr>
              <a:t>Période de reporting: 2026-02-19 au 2026-05-19</a:t>
            </a:r>
            <a:endParaRPr lang="en-US" sz="980" dirty="0"/>
          </a:p>
        </p:txBody>
      </p:sp>
      <p:sp>
        <p:nvSpPr>
          <p:cNvPr id="7" name="Text 4"/>
          <p:cNvSpPr/>
          <p:nvPr/>
        </p:nvSpPr>
        <p:spPr>
          <a:xfrm>
            <a:off x="658368" y="2596896"/>
            <a:ext cx="4800600" cy="237744"/>
          </a:xfrm>
          <a:prstGeom prst="rect">
            <a:avLst/>
          </a:prstGeom>
          <a:noFill/>
          <a:ln/>
        </p:spPr>
        <p:txBody>
          <a:bodyPr wrap="square" lIns="0" tIns="0" rIns="0" bIns="0" rtlCol="0" anchor="ctr"/>
          <a:lstStyle/>
          <a:p>
            <a:pPr indent="0" marL="0">
              <a:buNone/>
            </a:pPr>
            <a:r>
              <a:rPr lang="en-US" sz="980" dirty="0">
                <a:solidFill>
                  <a:srgbClr val="5B6372"/>
                </a:solidFill>
                <a:latin typeface="Aptos" pitchFamily="34" charset="0"/>
                <a:ea typeface="Aptos" pitchFamily="34" charset="-122"/>
                <a:cs typeface="Aptos" pitchFamily="34" charset="-120"/>
              </a:rPr>
              <a:t>Données au: 2026-02-19 au 2026-05-19</a:t>
            </a:r>
            <a:endParaRPr lang="en-US" sz="980" dirty="0"/>
          </a:p>
        </p:txBody>
      </p:sp>
      <p:sp>
        <p:nvSpPr>
          <p:cNvPr id="8" name="Text 5"/>
          <p:cNvSpPr/>
          <p:nvPr/>
        </p:nvSpPr>
        <p:spPr>
          <a:xfrm>
            <a:off x="5989320" y="1755648"/>
            <a:ext cx="4572000" cy="310896"/>
          </a:xfrm>
          <a:prstGeom prst="rect">
            <a:avLst/>
          </a:prstGeom>
          <a:noFill/>
          <a:ln/>
        </p:spPr>
        <p:txBody>
          <a:bodyPr wrap="square" lIns="0" tIns="0" rIns="0" bIns="0" rtlCol="0" anchor="ctr"/>
          <a:lstStyle/>
          <a:p>
            <a:pPr indent="0" marL="0">
              <a:buNone/>
            </a:pPr>
            <a:r>
              <a:rPr lang="en-US" sz="1600" dirty="0">
                <a:solidFill>
                  <a:srgbClr val="2F333B"/>
                </a:solidFill>
                <a:latin typeface="Aptos" pitchFamily="34" charset="0"/>
                <a:ea typeface="Aptos" pitchFamily="34" charset="-122"/>
                <a:cs typeface="Aptos" pitchFamily="34" charset="-120"/>
              </a:rPr>
              <a:t>Période de comparaison (YoY)</a:t>
            </a:r>
            <a:endParaRPr lang="en-US" sz="1600" dirty="0"/>
          </a:p>
        </p:txBody>
      </p:sp>
      <p:sp>
        <p:nvSpPr>
          <p:cNvPr id="9" name="Text 6"/>
          <p:cNvSpPr/>
          <p:nvPr/>
        </p:nvSpPr>
        <p:spPr>
          <a:xfrm>
            <a:off x="5989320" y="2286000"/>
            <a:ext cx="4800600" cy="237744"/>
          </a:xfrm>
          <a:prstGeom prst="rect">
            <a:avLst/>
          </a:prstGeom>
          <a:noFill/>
          <a:ln/>
        </p:spPr>
        <p:txBody>
          <a:bodyPr wrap="square" lIns="0" tIns="0" rIns="0" bIns="0" rtlCol="0" anchor="ctr"/>
          <a:lstStyle/>
          <a:p>
            <a:pPr indent="0" marL="0">
              <a:buNone/>
            </a:pPr>
            <a:r>
              <a:rPr lang="en-US" sz="980" dirty="0">
                <a:solidFill>
                  <a:srgbClr val="5B6372"/>
                </a:solidFill>
                <a:latin typeface="Aptos" pitchFamily="34" charset="0"/>
                <a:ea typeface="Aptos" pitchFamily="34" charset="-122"/>
                <a:cs typeface="Aptos" pitchFamily="34" charset="-120"/>
              </a:rPr>
              <a:t>Période de comparaison: 19 février 2025 – 19 mai 2025</a:t>
            </a:r>
            <a:endParaRPr lang="en-US" sz="980" dirty="0"/>
          </a:p>
        </p:txBody>
      </p:sp>
      <p:sp>
        <p:nvSpPr>
          <p:cNvPr id="10" name="Text 7"/>
          <p:cNvSpPr/>
          <p:nvPr/>
        </p:nvSpPr>
        <p:spPr>
          <a:xfrm>
            <a:off x="5989320" y="2596896"/>
            <a:ext cx="4800600" cy="237744"/>
          </a:xfrm>
          <a:prstGeom prst="rect">
            <a:avLst/>
          </a:prstGeom>
          <a:noFill/>
          <a:ln/>
        </p:spPr>
        <p:txBody>
          <a:bodyPr wrap="square" lIns="0" tIns="0" rIns="0" bIns="0" rtlCol="0" anchor="ctr"/>
          <a:lstStyle/>
          <a:p>
            <a:pPr indent="0" marL="0">
              <a:buNone/>
            </a:pPr>
            <a:r>
              <a:rPr lang="en-US" sz="980" dirty="0">
                <a:solidFill>
                  <a:srgbClr val="5B6372"/>
                </a:solidFill>
                <a:latin typeface="Aptos" pitchFamily="34" charset="0"/>
                <a:ea typeface="Aptos" pitchFamily="34" charset="-122"/>
                <a:cs typeface="Aptos" pitchFamily="34" charset="-120"/>
              </a:rPr>
              <a:t>Référence : glissement annuel (YoY)</a:t>
            </a:r>
            <a:endParaRPr lang="en-US" sz="980" dirty="0"/>
          </a:p>
        </p:txBody>
      </p:sp>
      <p:sp>
        <p:nvSpPr>
          <p:cNvPr id="11" name="Shape 8"/>
          <p:cNvSpPr/>
          <p:nvPr/>
        </p:nvSpPr>
        <p:spPr>
          <a:xfrm>
            <a:off x="658368" y="3273552"/>
            <a:ext cx="10927080" cy="804672"/>
          </a:xfrm>
          <a:prstGeom prst="roundRect">
            <a:avLst/>
          </a:prstGeom>
          <a:solidFill>
            <a:srgbClr val="AFC4F5">
              <a:alpha val="90000"/>
            </a:srgbClr>
          </a:solidFill>
          <a:ln w="12700">
            <a:solidFill>
              <a:srgbClr val="AFC4F5"/>
            </a:solidFill>
            <a:prstDash val="solid"/>
          </a:ln>
        </p:spPr>
      </p:sp>
      <p:sp>
        <p:nvSpPr>
          <p:cNvPr id="12" name="Text 9"/>
          <p:cNvSpPr/>
          <p:nvPr/>
        </p:nvSpPr>
        <p:spPr>
          <a:xfrm>
            <a:off x="896112" y="3557016"/>
            <a:ext cx="10241280" cy="219456"/>
          </a:xfrm>
          <a:prstGeom prst="rect">
            <a:avLst/>
          </a:prstGeom>
          <a:noFill/>
          <a:ln/>
        </p:spPr>
        <p:txBody>
          <a:bodyPr wrap="square" lIns="0" tIns="0" rIns="0" bIns="0" rtlCol="0" anchor="ctr"/>
          <a:lstStyle/>
          <a:p>
            <a:pPr indent="0" marL="0">
              <a:buNone/>
            </a:pPr>
            <a:r>
              <a:rPr lang="en-US" sz="970" dirty="0">
                <a:solidFill>
                  <a:srgbClr val="2F333B"/>
                </a:solidFill>
                <a:latin typeface="Aptos" pitchFamily="34" charset="0"/>
                <a:ea typeface="Aptos" pitchFamily="34" charset="-122"/>
                <a:cs typeface="Aptos" pitchFamily="34" charset="-120"/>
              </a:rPr>
              <a:t>Toutes les valeurs sont présentées en EUR, sauf indication contraire. La variation YoY est calculée entre la période actuelle et la période de comparaison.</a:t>
            </a:r>
            <a:endParaRPr lang="en-US" sz="9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6"/>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2F333B"/>
                </a:solidFill>
                <a:latin typeface="Aptos" pitchFamily="34" charset="0"/>
                <a:ea typeface="Aptos" pitchFamily="34" charset="-122"/>
                <a:cs typeface="Aptos" pitchFamily="34" charset="-120"/>
              </a:rPr>
              <a:t>Performance du programme : résumé</a:t>
            </a:r>
            <a:endParaRPr lang="en-US" sz="2800" dirty="0"/>
          </a:p>
        </p:txBody>
      </p:sp>
      <p:sp>
        <p:nvSpPr>
          <p:cNvPr id="4" name="Shape 1"/>
          <p:cNvSpPr/>
          <p:nvPr/>
        </p:nvSpPr>
        <p:spPr>
          <a:xfrm>
            <a:off x="640080" y="1965960"/>
            <a:ext cx="3493008" cy="1353312"/>
          </a:xfrm>
          <a:prstGeom prst="rect">
            <a:avLst/>
          </a:prstGeom>
          <a:solidFill>
            <a:srgbClr val="F3F4F6"/>
          </a:solidFill>
          <a:ln w="12700">
            <a:solidFill>
              <a:srgbClr val="D8DCE5"/>
            </a:solidFill>
            <a:prstDash val="solid"/>
          </a:ln>
        </p:spPr>
      </p:sp>
      <p:sp>
        <p:nvSpPr>
          <p:cNvPr id="5" name="Shape 2"/>
          <p:cNvSpPr/>
          <p:nvPr/>
        </p:nvSpPr>
        <p:spPr>
          <a:xfrm>
            <a:off x="640080" y="1965960"/>
            <a:ext cx="3493008" cy="73152"/>
          </a:xfrm>
          <a:prstGeom prst="rect">
            <a:avLst/>
          </a:prstGeom>
          <a:solidFill>
            <a:srgbClr val="2F6FF2"/>
          </a:solidFill>
          <a:ln w="12700">
            <a:solidFill>
              <a:srgbClr val="2F6FF2"/>
            </a:solidFill>
            <a:prstDash val="solid"/>
          </a:ln>
        </p:spPr>
      </p:sp>
      <p:sp>
        <p:nvSpPr>
          <p:cNvPr id="6" name="Shape 3"/>
          <p:cNvSpPr/>
          <p:nvPr/>
        </p:nvSpPr>
        <p:spPr>
          <a:xfrm>
            <a:off x="2139696" y="1719072"/>
            <a:ext cx="493776" cy="493776"/>
          </a:xfrm>
          <a:prstGeom prst="ellipse">
            <a:avLst/>
          </a:prstGeom>
          <a:solidFill>
            <a:srgbClr val="2F6FF2"/>
          </a:solidFill>
          <a:ln w="12700">
            <a:solidFill>
              <a:srgbClr val="2F6FF2"/>
            </a:solidFill>
            <a:prstDash val="solid"/>
          </a:ln>
        </p:spPr>
      </p:sp>
      <p:sp>
        <p:nvSpPr>
          <p:cNvPr id="7" name="Text 4"/>
          <p:cNvSpPr/>
          <p:nvPr/>
        </p:nvSpPr>
        <p:spPr>
          <a:xfrm>
            <a:off x="2267712" y="1847088"/>
            <a:ext cx="237744" cy="219456"/>
          </a:xfrm>
          <a:prstGeom prst="rect">
            <a:avLst/>
          </a:prstGeom>
          <a:noFill/>
          <a:ln/>
        </p:spPr>
        <p:txBody>
          <a:bodyPr wrap="square" lIns="0" tIns="0" rIns="0" bIns="0" rtlCol="0" anchor="ctr"/>
          <a:lstStyle/>
          <a:p>
            <a:pPr algn="ctr" indent="0" marL="0">
              <a:buNone/>
            </a:pPr>
            <a:r>
              <a:rPr lang="en-US" sz="1200" dirty="0">
                <a:solidFill>
                  <a:srgbClr val="F3F4F6"/>
                </a:solidFill>
                <a:latin typeface="Segoe UI Symbol" pitchFamily="34" charset="0"/>
                <a:ea typeface="Segoe UI Symbol" pitchFamily="34" charset="-122"/>
                <a:cs typeface="Segoe UI Symbol" pitchFamily="34" charset="-120"/>
              </a:rPr>
              <a:t>☰</a:t>
            </a:r>
            <a:endParaRPr lang="en-US" sz="1200" dirty="0"/>
          </a:p>
        </p:txBody>
      </p:sp>
      <p:sp>
        <p:nvSpPr>
          <p:cNvPr id="8" name="Text 5"/>
          <p:cNvSpPr/>
          <p:nvPr/>
        </p:nvSpPr>
        <p:spPr>
          <a:xfrm>
            <a:off x="841248" y="2423160"/>
            <a:ext cx="3218688" cy="219456"/>
          </a:xfrm>
          <a:prstGeom prst="rect">
            <a:avLst/>
          </a:prstGeom>
          <a:noFill/>
          <a:ln/>
        </p:spPr>
        <p:txBody>
          <a:bodyPr wrap="square" lIns="0" tIns="0" rIns="0" bIns="0" rtlCol="0" anchor="ctr"/>
          <a:lstStyle/>
          <a:p>
            <a:pPr indent="0" marL="0">
              <a:buNone/>
            </a:pPr>
            <a:r>
              <a:rPr lang="en-US" sz="1050" dirty="0">
                <a:solidFill>
                  <a:srgbClr val="2F333B"/>
                </a:solidFill>
                <a:latin typeface="Aptos" pitchFamily="34" charset="0"/>
                <a:ea typeface="Aptos" pitchFamily="34" charset="-122"/>
                <a:cs typeface="Aptos" pitchFamily="34" charset="-120"/>
              </a:rPr>
              <a:t>Conversions</a:t>
            </a:r>
            <a:endParaRPr lang="en-US" sz="1050" dirty="0"/>
          </a:p>
        </p:txBody>
      </p:sp>
      <p:sp>
        <p:nvSpPr>
          <p:cNvPr id="9" name="Text 6"/>
          <p:cNvSpPr/>
          <p:nvPr/>
        </p:nvSpPr>
        <p:spPr>
          <a:xfrm>
            <a:off x="841248" y="2752344"/>
            <a:ext cx="3172968" cy="475488"/>
          </a:xfrm>
          <a:prstGeom prst="rect">
            <a:avLst/>
          </a:prstGeom>
          <a:noFill/>
          <a:ln/>
        </p:spPr>
        <p:txBody>
          <a:bodyPr wrap="square" lIns="0" tIns="0" rIns="0" bIns="0" rtlCol="0" anchor="ctr"/>
          <a:lstStyle/>
          <a:p>
            <a:pPr indent="0" marL="0">
              <a:buNone/>
            </a:pPr>
            <a:r>
              <a:rPr lang="en-US" sz="1020" dirty="0">
                <a:solidFill>
                  <a:srgbClr val="2F333B"/>
                </a:solidFill>
                <a:latin typeface="Aptos" pitchFamily="34" charset="0"/>
                <a:ea typeface="Aptos" pitchFamily="34" charset="-122"/>
                <a:cs typeface="Aptos" pitchFamily="34" charset="-120"/>
              </a:rPr>
              <a:t>93 165 contre 98 729 PY -5,6%</a:t>
            </a:r>
            <a:endParaRPr lang="en-US" sz="1020" dirty="0"/>
          </a:p>
        </p:txBody>
      </p:sp>
      <p:sp>
        <p:nvSpPr>
          <p:cNvPr id="10" name="Shape 7"/>
          <p:cNvSpPr/>
          <p:nvPr/>
        </p:nvSpPr>
        <p:spPr>
          <a:xfrm>
            <a:off x="4352544" y="1965960"/>
            <a:ext cx="3493008" cy="1353312"/>
          </a:xfrm>
          <a:prstGeom prst="rect">
            <a:avLst/>
          </a:prstGeom>
          <a:solidFill>
            <a:srgbClr val="F3F4F6"/>
          </a:solidFill>
          <a:ln w="12700">
            <a:solidFill>
              <a:srgbClr val="D8DCE5"/>
            </a:solidFill>
            <a:prstDash val="solid"/>
          </a:ln>
        </p:spPr>
      </p:sp>
      <p:sp>
        <p:nvSpPr>
          <p:cNvPr id="11" name="Shape 8"/>
          <p:cNvSpPr/>
          <p:nvPr/>
        </p:nvSpPr>
        <p:spPr>
          <a:xfrm>
            <a:off x="4352544" y="1965960"/>
            <a:ext cx="3493008" cy="73152"/>
          </a:xfrm>
          <a:prstGeom prst="rect">
            <a:avLst/>
          </a:prstGeom>
          <a:solidFill>
            <a:srgbClr val="2F6FF2"/>
          </a:solidFill>
          <a:ln w="12700">
            <a:solidFill>
              <a:srgbClr val="2F6FF2"/>
            </a:solidFill>
            <a:prstDash val="solid"/>
          </a:ln>
        </p:spPr>
      </p:sp>
      <p:sp>
        <p:nvSpPr>
          <p:cNvPr id="12" name="Shape 9"/>
          <p:cNvSpPr/>
          <p:nvPr/>
        </p:nvSpPr>
        <p:spPr>
          <a:xfrm>
            <a:off x="5852160" y="1719072"/>
            <a:ext cx="493776" cy="493776"/>
          </a:xfrm>
          <a:prstGeom prst="ellipse">
            <a:avLst/>
          </a:prstGeom>
          <a:solidFill>
            <a:srgbClr val="2F6FF2"/>
          </a:solidFill>
          <a:ln w="12700">
            <a:solidFill>
              <a:srgbClr val="2F6FF2"/>
            </a:solidFill>
            <a:prstDash val="solid"/>
          </a:ln>
        </p:spPr>
      </p:sp>
      <p:sp>
        <p:nvSpPr>
          <p:cNvPr id="13" name="Text 10"/>
          <p:cNvSpPr/>
          <p:nvPr/>
        </p:nvSpPr>
        <p:spPr>
          <a:xfrm>
            <a:off x="5980176" y="1847088"/>
            <a:ext cx="237744" cy="219456"/>
          </a:xfrm>
          <a:prstGeom prst="rect">
            <a:avLst/>
          </a:prstGeom>
          <a:noFill/>
          <a:ln/>
        </p:spPr>
        <p:txBody>
          <a:bodyPr wrap="square" lIns="0" tIns="0" rIns="0" bIns="0" rtlCol="0" anchor="ctr"/>
          <a:lstStyle/>
          <a:p>
            <a:pPr algn="ctr" indent="0" marL="0">
              <a:buNone/>
            </a:pPr>
            <a:r>
              <a:rPr lang="en-US" sz="1200" dirty="0">
                <a:solidFill>
                  <a:srgbClr val="F3F4F6"/>
                </a:solidFill>
                <a:latin typeface="Segoe UI Symbol" pitchFamily="34" charset="0"/>
                <a:ea typeface="Segoe UI Symbol" pitchFamily="34" charset="-122"/>
                <a:cs typeface="Segoe UI Symbol" pitchFamily="34" charset="-120"/>
              </a:rPr>
              <a:t>▤</a:t>
            </a:r>
            <a:endParaRPr lang="en-US" sz="1200" dirty="0"/>
          </a:p>
        </p:txBody>
      </p:sp>
      <p:sp>
        <p:nvSpPr>
          <p:cNvPr id="14" name="Text 11"/>
          <p:cNvSpPr/>
          <p:nvPr/>
        </p:nvSpPr>
        <p:spPr>
          <a:xfrm>
            <a:off x="4553712" y="2423160"/>
            <a:ext cx="3218688" cy="219456"/>
          </a:xfrm>
          <a:prstGeom prst="rect">
            <a:avLst/>
          </a:prstGeom>
          <a:noFill/>
          <a:ln/>
        </p:spPr>
        <p:txBody>
          <a:bodyPr wrap="square" lIns="0" tIns="0" rIns="0" bIns="0" rtlCol="0" anchor="ctr"/>
          <a:lstStyle/>
          <a:p>
            <a:pPr indent="0" marL="0">
              <a:buNone/>
            </a:pPr>
            <a:r>
              <a:rPr lang="en-US" sz="1050" dirty="0">
                <a:solidFill>
                  <a:srgbClr val="2F333B"/>
                </a:solidFill>
                <a:latin typeface="Aptos" pitchFamily="34" charset="0"/>
                <a:ea typeface="Aptos" pitchFamily="34" charset="-122"/>
                <a:cs typeface="Aptos" pitchFamily="34" charset="-120"/>
              </a:rPr>
              <a:t>Valeur totale de la commande</a:t>
            </a:r>
            <a:endParaRPr lang="en-US" sz="1050" dirty="0"/>
          </a:p>
        </p:txBody>
      </p:sp>
      <p:sp>
        <p:nvSpPr>
          <p:cNvPr id="15" name="Text 12"/>
          <p:cNvSpPr/>
          <p:nvPr/>
        </p:nvSpPr>
        <p:spPr>
          <a:xfrm>
            <a:off x="4553712" y="2752344"/>
            <a:ext cx="3172968" cy="475488"/>
          </a:xfrm>
          <a:prstGeom prst="rect">
            <a:avLst/>
          </a:prstGeom>
          <a:noFill/>
          <a:ln/>
        </p:spPr>
        <p:txBody>
          <a:bodyPr wrap="square" lIns="0" tIns="0" rIns="0" bIns="0" rtlCol="0" anchor="ctr"/>
          <a:lstStyle/>
          <a:p>
            <a:pPr indent="0" marL="0">
              <a:buNone/>
            </a:pPr>
            <a:r>
              <a:rPr lang="en-US" sz="1020" dirty="0">
                <a:solidFill>
                  <a:srgbClr val="2F333B"/>
                </a:solidFill>
                <a:latin typeface="Aptos" pitchFamily="34" charset="0"/>
                <a:ea typeface="Aptos" pitchFamily="34" charset="-122"/>
                <a:cs typeface="Aptos" pitchFamily="34" charset="-120"/>
              </a:rPr>
              <a:t>15 923 430 € vs 24 652 989 € PY -35,4%</a:t>
            </a:r>
            <a:endParaRPr lang="en-US" sz="1020" dirty="0"/>
          </a:p>
        </p:txBody>
      </p:sp>
      <p:sp>
        <p:nvSpPr>
          <p:cNvPr id="16" name="Shape 13"/>
          <p:cNvSpPr/>
          <p:nvPr/>
        </p:nvSpPr>
        <p:spPr>
          <a:xfrm>
            <a:off x="8065008" y="1965960"/>
            <a:ext cx="3493008" cy="1353312"/>
          </a:xfrm>
          <a:prstGeom prst="rect">
            <a:avLst/>
          </a:prstGeom>
          <a:solidFill>
            <a:srgbClr val="F3F4F6"/>
          </a:solidFill>
          <a:ln w="12700">
            <a:solidFill>
              <a:srgbClr val="D8DCE5"/>
            </a:solidFill>
            <a:prstDash val="solid"/>
          </a:ln>
        </p:spPr>
      </p:sp>
      <p:sp>
        <p:nvSpPr>
          <p:cNvPr id="17" name="Shape 14"/>
          <p:cNvSpPr/>
          <p:nvPr/>
        </p:nvSpPr>
        <p:spPr>
          <a:xfrm>
            <a:off x="8065008" y="1965960"/>
            <a:ext cx="3493008" cy="73152"/>
          </a:xfrm>
          <a:prstGeom prst="rect">
            <a:avLst/>
          </a:prstGeom>
          <a:solidFill>
            <a:srgbClr val="2F6FF2"/>
          </a:solidFill>
          <a:ln w="12700">
            <a:solidFill>
              <a:srgbClr val="2F6FF2"/>
            </a:solidFill>
            <a:prstDash val="solid"/>
          </a:ln>
        </p:spPr>
      </p:sp>
      <p:sp>
        <p:nvSpPr>
          <p:cNvPr id="18" name="Shape 15"/>
          <p:cNvSpPr/>
          <p:nvPr/>
        </p:nvSpPr>
        <p:spPr>
          <a:xfrm>
            <a:off x="9564624" y="1719072"/>
            <a:ext cx="493776" cy="493776"/>
          </a:xfrm>
          <a:prstGeom prst="ellipse">
            <a:avLst/>
          </a:prstGeom>
          <a:solidFill>
            <a:srgbClr val="2F6FF2"/>
          </a:solidFill>
          <a:ln w="12700">
            <a:solidFill>
              <a:srgbClr val="2F6FF2"/>
            </a:solidFill>
            <a:prstDash val="solid"/>
          </a:ln>
        </p:spPr>
      </p:sp>
      <p:sp>
        <p:nvSpPr>
          <p:cNvPr id="19" name="Text 16"/>
          <p:cNvSpPr/>
          <p:nvPr/>
        </p:nvSpPr>
        <p:spPr>
          <a:xfrm>
            <a:off x="9692640" y="1847088"/>
            <a:ext cx="237744" cy="219456"/>
          </a:xfrm>
          <a:prstGeom prst="rect">
            <a:avLst/>
          </a:prstGeom>
          <a:noFill/>
          <a:ln/>
        </p:spPr>
        <p:txBody>
          <a:bodyPr wrap="square" lIns="0" tIns="0" rIns="0" bIns="0" rtlCol="0" anchor="ctr"/>
          <a:lstStyle/>
          <a:p>
            <a:pPr algn="ctr" indent="0" marL="0">
              <a:buNone/>
            </a:pPr>
            <a:r>
              <a:rPr lang="en-US" sz="1200" dirty="0">
                <a:solidFill>
                  <a:srgbClr val="F3F4F6"/>
                </a:solidFill>
                <a:latin typeface="Segoe UI Symbol" pitchFamily="34" charset="0"/>
                <a:ea typeface="Segoe UI Symbol" pitchFamily="34" charset="-122"/>
                <a:cs typeface="Segoe UI Symbol" pitchFamily="34" charset="-120"/>
              </a:rPr>
              <a:t>£</a:t>
            </a:r>
            <a:endParaRPr lang="en-US" sz="1200" dirty="0"/>
          </a:p>
        </p:txBody>
      </p:sp>
      <p:sp>
        <p:nvSpPr>
          <p:cNvPr id="20" name="Text 17"/>
          <p:cNvSpPr/>
          <p:nvPr/>
        </p:nvSpPr>
        <p:spPr>
          <a:xfrm>
            <a:off x="8266176" y="2423160"/>
            <a:ext cx="3218688" cy="219456"/>
          </a:xfrm>
          <a:prstGeom prst="rect">
            <a:avLst/>
          </a:prstGeom>
          <a:noFill/>
          <a:ln/>
        </p:spPr>
        <p:txBody>
          <a:bodyPr wrap="square" lIns="0" tIns="0" rIns="0" bIns="0" rtlCol="0" anchor="ctr"/>
          <a:lstStyle/>
          <a:p>
            <a:pPr indent="0" marL="0">
              <a:buNone/>
            </a:pPr>
            <a:r>
              <a:rPr lang="en-US" sz="1050" dirty="0">
                <a:solidFill>
                  <a:srgbClr val="2F333B"/>
                </a:solidFill>
                <a:latin typeface="Aptos" pitchFamily="34" charset="0"/>
                <a:ea typeface="Aptos" pitchFamily="34" charset="-122"/>
                <a:cs typeface="Aptos" pitchFamily="34" charset="-120"/>
              </a:rPr>
              <a:t>Commission de l'éditeur</a:t>
            </a:r>
            <a:endParaRPr lang="en-US" sz="1050" dirty="0"/>
          </a:p>
        </p:txBody>
      </p:sp>
      <p:sp>
        <p:nvSpPr>
          <p:cNvPr id="21" name="Text 18"/>
          <p:cNvSpPr/>
          <p:nvPr/>
        </p:nvSpPr>
        <p:spPr>
          <a:xfrm>
            <a:off x="8266176" y="2752344"/>
            <a:ext cx="3172968" cy="475488"/>
          </a:xfrm>
          <a:prstGeom prst="rect">
            <a:avLst/>
          </a:prstGeom>
          <a:noFill/>
          <a:ln/>
        </p:spPr>
        <p:txBody>
          <a:bodyPr wrap="square" lIns="0" tIns="0" rIns="0" bIns="0" rtlCol="0" anchor="ctr"/>
          <a:lstStyle/>
          <a:p>
            <a:pPr indent="0" marL="0">
              <a:buNone/>
            </a:pPr>
            <a:r>
              <a:rPr lang="en-US" sz="1020" dirty="0">
                <a:solidFill>
                  <a:srgbClr val="2F333B"/>
                </a:solidFill>
                <a:latin typeface="Aptos" pitchFamily="34" charset="0"/>
                <a:ea typeface="Aptos" pitchFamily="34" charset="-122"/>
                <a:cs typeface="Aptos" pitchFamily="34" charset="-120"/>
              </a:rPr>
              <a:t>707 424 € vs 966 077 € PY -26,8%</a:t>
            </a:r>
            <a:endParaRPr lang="en-US" sz="1020" dirty="0"/>
          </a:p>
        </p:txBody>
      </p:sp>
      <p:sp>
        <p:nvSpPr>
          <p:cNvPr id="22" name="Shape 19"/>
          <p:cNvSpPr/>
          <p:nvPr/>
        </p:nvSpPr>
        <p:spPr>
          <a:xfrm>
            <a:off x="640080" y="3758184"/>
            <a:ext cx="3493008" cy="1353312"/>
          </a:xfrm>
          <a:prstGeom prst="rect">
            <a:avLst/>
          </a:prstGeom>
          <a:solidFill>
            <a:srgbClr val="F3F4F6"/>
          </a:solidFill>
          <a:ln w="12700">
            <a:solidFill>
              <a:srgbClr val="D8DCE5"/>
            </a:solidFill>
            <a:prstDash val="solid"/>
          </a:ln>
        </p:spPr>
      </p:sp>
      <p:sp>
        <p:nvSpPr>
          <p:cNvPr id="23" name="Shape 20"/>
          <p:cNvSpPr/>
          <p:nvPr/>
        </p:nvSpPr>
        <p:spPr>
          <a:xfrm>
            <a:off x="640080" y="3758184"/>
            <a:ext cx="3493008" cy="73152"/>
          </a:xfrm>
          <a:prstGeom prst="rect">
            <a:avLst/>
          </a:prstGeom>
          <a:solidFill>
            <a:srgbClr val="2F6FF2"/>
          </a:solidFill>
          <a:ln w="12700">
            <a:solidFill>
              <a:srgbClr val="2F6FF2"/>
            </a:solidFill>
            <a:prstDash val="solid"/>
          </a:ln>
        </p:spPr>
      </p:sp>
      <p:sp>
        <p:nvSpPr>
          <p:cNvPr id="24" name="Shape 21"/>
          <p:cNvSpPr/>
          <p:nvPr/>
        </p:nvSpPr>
        <p:spPr>
          <a:xfrm>
            <a:off x="2139696" y="3511296"/>
            <a:ext cx="493776" cy="493776"/>
          </a:xfrm>
          <a:prstGeom prst="ellipse">
            <a:avLst/>
          </a:prstGeom>
          <a:solidFill>
            <a:srgbClr val="2F6FF2"/>
          </a:solidFill>
          <a:ln w="12700">
            <a:solidFill>
              <a:srgbClr val="2F6FF2"/>
            </a:solidFill>
            <a:prstDash val="solid"/>
          </a:ln>
        </p:spPr>
      </p:sp>
      <p:sp>
        <p:nvSpPr>
          <p:cNvPr id="25" name="Text 22"/>
          <p:cNvSpPr/>
          <p:nvPr/>
        </p:nvSpPr>
        <p:spPr>
          <a:xfrm>
            <a:off x="2267712" y="3639312"/>
            <a:ext cx="237744" cy="219456"/>
          </a:xfrm>
          <a:prstGeom prst="rect">
            <a:avLst/>
          </a:prstGeom>
          <a:noFill/>
          <a:ln/>
        </p:spPr>
        <p:txBody>
          <a:bodyPr wrap="square" lIns="0" tIns="0" rIns="0" bIns="0" rtlCol="0" anchor="ctr"/>
          <a:lstStyle/>
          <a:p>
            <a:pPr algn="ctr" indent="0" marL="0">
              <a:buNone/>
            </a:pPr>
            <a:r>
              <a:rPr lang="en-US" sz="1200" dirty="0">
                <a:solidFill>
                  <a:srgbClr val="F3F4F6"/>
                </a:solidFill>
                <a:latin typeface="Segoe UI Symbol" pitchFamily="34" charset="0"/>
                <a:ea typeface="Segoe UI Symbol" pitchFamily="34" charset="-122"/>
                <a:cs typeface="Segoe UI Symbol" pitchFamily="34" charset="-120"/>
              </a:rPr>
              <a:t>£</a:t>
            </a:r>
            <a:endParaRPr lang="en-US" sz="1200" dirty="0"/>
          </a:p>
        </p:txBody>
      </p:sp>
      <p:sp>
        <p:nvSpPr>
          <p:cNvPr id="26" name="Text 23"/>
          <p:cNvSpPr/>
          <p:nvPr/>
        </p:nvSpPr>
        <p:spPr>
          <a:xfrm>
            <a:off x="841248" y="4215384"/>
            <a:ext cx="3218688" cy="219456"/>
          </a:xfrm>
          <a:prstGeom prst="rect">
            <a:avLst/>
          </a:prstGeom>
          <a:noFill/>
          <a:ln/>
        </p:spPr>
        <p:txBody>
          <a:bodyPr wrap="square" lIns="0" tIns="0" rIns="0" bIns="0" rtlCol="0" anchor="ctr"/>
          <a:lstStyle/>
          <a:p>
            <a:pPr indent="0" marL="0">
              <a:buNone/>
            </a:pPr>
            <a:r>
              <a:rPr lang="en-US" sz="1050" dirty="0">
                <a:solidFill>
                  <a:srgbClr val="2F333B"/>
                </a:solidFill>
                <a:latin typeface="Aptos" pitchFamily="34" charset="0"/>
                <a:ea typeface="Aptos" pitchFamily="34" charset="-122"/>
                <a:cs typeface="Aptos" pitchFamily="34" charset="-120"/>
              </a:rPr>
              <a:t>Portefeuille numérique</a:t>
            </a:r>
            <a:endParaRPr lang="en-US" sz="1050" dirty="0"/>
          </a:p>
        </p:txBody>
      </p:sp>
      <p:sp>
        <p:nvSpPr>
          <p:cNvPr id="27" name="Text 24"/>
          <p:cNvSpPr/>
          <p:nvPr/>
        </p:nvSpPr>
        <p:spPr>
          <a:xfrm>
            <a:off x="841248" y="4544568"/>
            <a:ext cx="3172968" cy="475488"/>
          </a:xfrm>
          <a:prstGeom prst="rect">
            <a:avLst/>
          </a:prstGeom>
          <a:noFill/>
          <a:ln/>
        </p:spPr>
        <p:txBody>
          <a:bodyPr wrap="square" lIns="0" tIns="0" rIns="0" bIns="0" rtlCol="0" anchor="ctr"/>
          <a:lstStyle/>
          <a:p>
            <a:pPr indent="0" marL="0">
              <a:buNone/>
            </a:pPr>
            <a:r>
              <a:rPr lang="en-US" sz="1020" dirty="0">
                <a:solidFill>
                  <a:srgbClr val="2F333B"/>
                </a:solidFill>
                <a:latin typeface="Aptos" pitchFamily="34" charset="0"/>
                <a:ea typeface="Aptos" pitchFamily="34" charset="-122"/>
                <a:cs typeface="Aptos" pitchFamily="34" charset="-120"/>
              </a:rPr>
              <a:t>67 578 € vs 158 760 € PY -57,4%</a:t>
            </a:r>
            <a:endParaRPr lang="en-US" sz="1020" dirty="0"/>
          </a:p>
        </p:txBody>
      </p:sp>
      <p:sp>
        <p:nvSpPr>
          <p:cNvPr id="28" name="Shape 25"/>
          <p:cNvSpPr/>
          <p:nvPr/>
        </p:nvSpPr>
        <p:spPr>
          <a:xfrm>
            <a:off x="4352544" y="3758184"/>
            <a:ext cx="3493008" cy="1353312"/>
          </a:xfrm>
          <a:prstGeom prst="rect">
            <a:avLst/>
          </a:prstGeom>
          <a:solidFill>
            <a:srgbClr val="F3F4F6"/>
          </a:solidFill>
          <a:ln w="12700">
            <a:solidFill>
              <a:srgbClr val="D8DCE5"/>
            </a:solidFill>
            <a:prstDash val="solid"/>
          </a:ln>
        </p:spPr>
      </p:sp>
      <p:sp>
        <p:nvSpPr>
          <p:cNvPr id="29" name="Shape 26"/>
          <p:cNvSpPr/>
          <p:nvPr/>
        </p:nvSpPr>
        <p:spPr>
          <a:xfrm>
            <a:off x="4352544" y="3758184"/>
            <a:ext cx="3493008" cy="73152"/>
          </a:xfrm>
          <a:prstGeom prst="rect">
            <a:avLst/>
          </a:prstGeom>
          <a:solidFill>
            <a:srgbClr val="2F6FF2"/>
          </a:solidFill>
          <a:ln w="12700">
            <a:solidFill>
              <a:srgbClr val="2F6FF2"/>
            </a:solidFill>
            <a:prstDash val="solid"/>
          </a:ln>
        </p:spPr>
      </p:sp>
      <p:sp>
        <p:nvSpPr>
          <p:cNvPr id="30" name="Shape 27"/>
          <p:cNvSpPr/>
          <p:nvPr/>
        </p:nvSpPr>
        <p:spPr>
          <a:xfrm>
            <a:off x="5852160" y="3511296"/>
            <a:ext cx="493776" cy="493776"/>
          </a:xfrm>
          <a:prstGeom prst="ellipse">
            <a:avLst/>
          </a:prstGeom>
          <a:solidFill>
            <a:srgbClr val="2F6FF2"/>
          </a:solidFill>
          <a:ln w="12700">
            <a:solidFill>
              <a:srgbClr val="2F6FF2"/>
            </a:solidFill>
            <a:prstDash val="solid"/>
          </a:ln>
        </p:spPr>
      </p:sp>
      <p:sp>
        <p:nvSpPr>
          <p:cNvPr id="31" name="Text 28"/>
          <p:cNvSpPr/>
          <p:nvPr/>
        </p:nvSpPr>
        <p:spPr>
          <a:xfrm>
            <a:off x="5980176" y="3639312"/>
            <a:ext cx="237744" cy="219456"/>
          </a:xfrm>
          <a:prstGeom prst="rect">
            <a:avLst/>
          </a:prstGeom>
          <a:noFill/>
          <a:ln/>
        </p:spPr>
        <p:txBody>
          <a:bodyPr wrap="square" lIns="0" tIns="0" rIns="0" bIns="0" rtlCol="0" anchor="ctr"/>
          <a:lstStyle/>
          <a:p>
            <a:pPr algn="ctr" indent="0" marL="0">
              <a:buNone/>
            </a:pPr>
            <a:r>
              <a:rPr lang="en-US" sz="1200" dirty="0">
                <a:solidFill>
                  <a:srgbClr val="F3F4F6"/>
                </a:solidFill>
                <a:latin typeface="Segoe UI Symbol" pitchFamily="34" charset="0"/>
                <a:ea typeface="Segoe UI Symbol" pitchFamily="34" charset="-122"/>
                <a:cs typeface="Segoe UI Symbol" pitchFamily="34" charset="-120"/>
              </a:rPr>
              <a:t>£</a:t>
            </a:r>
            <a:endParaRPr lang="en-US" sz="1200" dirty="0"/>
          </a:p>
        </p:txBody>
      </p:sp>
      <p:sp>
        <p:nvSpPr>
          <p:cNvPr id="32" name="Text 29"/>
          <p:cNvSpPr/>
          <p:nvPr/>
        </p:nvSpPr>
        <p:spPr>
          <a:xfrm>
            <a:off x="4553712" y="4215384"/>
            <a:ext cx="3218688" cy="219456"/>
          </a:xfrm>
          <a:prstGeom prst="rect">
            <a:avLst/>
          </a:prstGeom>
          <a:noFill/>
          <a:ln/>
        </p:spPr>
        <p:txBody>
          <a:bodyPr wrap="square" lIns="0" tIns="0" rIns="0" bIns="0" rtlCol="0" anchor="ctr"/>
          <a:lstStyle/>
          <a:p>
            <a:pPr indent="0" marL="0">
              <a:buNone/>
            </a:pPr>
            <a:r>
              <a:rPr lang="en-US" sz="1050" dirty="0">
                <a:solidFill>
                  <a:srgbClr val="2F333B"/>
                </a:solidFill>
                <a:latin typeface="Aptos" pitchFamily="34" charset="0"/>
                <a:ea typeface="Aptos" pitchFamily="34" charset="-122"/>
                <a:cs typeface="Aptos" pitchFamily="34" charset="-120"/>
              </a:rPr>
              <a:t>Gains totaux</a:t>
            </a:r>
            <a:endParaRPr lang="en-US" sz="1050" dirty="0"/>
          </a:p>
        </p:txBody>
      </p:sp>
      <p:sp>
        <p:nvSpPr>
          <p:cNvPr id="33" name="Text 30"/>
          <p:cNvSpPr/>
          <p:nvPr/>
        </p:nvSpPr>
        <p:spPr>
          <a:xfrm>
            <a:off x="4553712" y="4544568"/>
            <a:ext cx="3172968" cy="475488"/>
          </a:xfrm>
          <a:prstGeom prst="rect">
            <a:avLst/>
          </a:prstGeom>
          <a:noFill/>
          <a:ln/>
        </p:spPr>
        <p:txBody>
          <a:bodyPr wrap="square" lIns="0" tIns="0" rIns="0" bIns="0" rtlCol="0" anchor="ctr"/>
          <a:lstStyle/>
          <a:p>
            <a:pPr indent="0" marL="0">
              <a:buNone/>
            </a:pPr>
            <a:r>
              <a:rPr lang="en-US" sz="1020" dirty="0">
                <a:solidFill>
                  <a:srgbClr val="2F333B"/>
                </a:solidFill>
                <a:latin typeface="Aptos" pitchFamily="34" charset="0"/>
                <a:ea typeface="Aptos" pitchFamily="34" charset="-122"/>
                <a:cs typeface="Aptos" pitchFamily="34" charset="-120"/>
              </a:rPr>
              <a:t>775 002 € contre 1 124 837 € PY -31,1%</a:t>
            </a:r>
            <a:endParaRPr lang="en-US" sz="1020" dirty="0"/>
          </a:p>
        </p:txBody>
      </p:sp>
      <p:sp>
        <p:nvSpPr>
          <p:cNvPr id="34" name="Shape 31"/>
          <p:cNvSpPr/>
          <p:nvPr/>
        </p:nvSpPr>
        <p:spPr>
          <a:xfrm>
            <a:off x="8065008" y="3758184"/>
            <a:ext cx="3493008" cy="1353312"/>
          </a:xfrm>
          <a:prstGeom prst="rect">
            <a:avLst/>
          </a:prstGeom>
          <a:solidFill>
            <a:srgbClr val="F3F4F6"/>
          </a:solidFill>
          <a:ln w="12700">
            <a:solidFill>
              <a:srgbClr val="D8DCE5"/>
            </a:solidFill>
            <a:prstDash val="solid"/>
          </a:ln>
        </p:spPr>
      </p:sp>
      <p:sp>
        <p:nvSpPr>
          <p:cNvPr id="35" name="Shape 32"/>
          <p:cNvSpPr/>
          <p:nvPr/>
        </p:nvSpPr>
        <p:spPr>
          <a:xfrm>
            <a:off x="8065008" y="3758184"/>
            <a:ext cx="3493008" cy="73152"/>
          </a:xfrm>
          <a:prstGeom prst="rect">
            <a:avLst/>
          </a:prstGeom>
          <a:solidFill>
            <a:srgbClr val="2F6FF2"/>
          </a:solidFill>
          <a:ln w="12700">
            <a:solidFill>
              <a:srgbClr val="2F6FF2"/>
            </a:solidFill>
            <a:prstDash val="solid"/>
          </a:ln>
        </p:spPr>
      </p:sp>
      <p:sp>
        <p:nvSpPr>
          <p:cNvPr id="36" name="Shape 33"/>
          <p:cNvSpPr/>
          <p:nvPr/>
        </p:nvSpPr>
        <p:spPr>
          <a:xfrm>
            <a:off x="9564624" y="3511296"/>
            <a:ext cx="493776" cy="493776"/>
          </a:xfrm>
          <a:prstGeom prst="ellipse">
            <a:avLst/>
          </a:prstGeom>
          <a:solidFill>
            <a:srgbClr val="2F6FF2"/>
          </a:solidFill>
          <a:ln w="12700">
            <a:solidFill>
              <a:srgbClr val="2F6FF2"/>
            </a:solidFill>
            <a:prstDash val="solid"/>
          </a:ln>
        </p:spPr>
      </p:sp>
      <p:sp>
        <p:nvSpPr>
          <p:cNvPr id="37" name="Text 34"/>
          <p:cNvSpPr/>
          <p:nvPr/>
        </p:nvSpPr>
        <p:spPr>
          <a:xfrm>
            <a:off x="9692640" y="3639312"/>
            <a:ext cx="237744" cy="219456"/>
          </a:xfrm>
          <a:prstGeom prst="rect">
            <a:avLst/>
          </a:prstGeom>
          <a:noFill/>
          <a:ln/>
        </p:spPr>
        <p:txBody>
          <a:bodyPr wrap="square" lIns="0" tIns="0" rIns="0" bIns="0" rtlCol="0" anchor="ctr"/>
          <a:lstStyle/>
          <a:p>
            <a:pPr algn="ctr" indent="0" marL="0">
              <a:buNone/>
            </a:pPr>
            <a:r>
              <a:rPr lang="en-US" sz="1200" dirty="0">
                <a:solidFill>
                  <a:srgbClr val="F3F4F6"/>
                </a:solidFill>
                <a:latin typeface="Segoe UI Symbol" pitchFamily="34" charset="0"/>
                <a:ea typeface="Segoe UI Symbol" pitchFamily="34" charset="-122"/>
                <a:cs typeface="Segoe UI Symbol" pitchFamily="34" charset="-120"/>
              </a:rPr>
              <a:t>⚡</a:t>
            </a:r>
            <a:endParaRPr lang="en-US" sz="1200" dirty="0"/>
          </a:p>
        </p:txBody>
      </p:sp>
      <p:sp>
        <p:nvSpPr>
          <p:cNvPr id="38" name="Text 35"/>
          <p:cNvSpPr/>
          <p:nvPr/>
        </p:nvSpPr>
        <p:spPr>
          <a:xfrm>
            <a:off x="8266176" y="4215384"/>
            <a:ext cx="3218688" cy="219456"/>
          </a:xfrm>
          <a:prstGeom prst="rect">
            <a:avLst/>
          </a:prstGeom>
          <a:noFill/>
          <a:ln/>
        </p:spPr>
        <p:txBody>
          <a:bodyPr wrap="square" lIns="0" tIns="0" rIns="0" bIns="0" rtlCol="0" anchor="ctr"/>
          <a:lstStyle/>
          <a:p>
            <a:pPr indent="0" marL="0">
              <a:buNone/>
            </a:pPr>
            <a:r>
              <a:rPr lang="en-US" sz="1050" dirty="0">
                <a:solidFill>
                  <a:srgbClr val="2F333B"/>
                </a:solidFill>
                <a:latin typeface="Aptos" pitchFamily="34" charset="0"/>
                <a:ea typeface="Aptos" pitchFamily="34" charset="-122"/>
                <a:cs typeface="Aptos" pitchFamily="34" charset="-120"/>
              </a:rPr>
              <a:t>Taux de conversion</a:t>
            </a:r>
            <a:endParaRPr lang="en-US" sz="1050" dirty="0"/>
          </a:p>
        </p:txBody>
      </p:sp>
      <p:sp>
        <p:nvSpPr>
          <p:cNvPr id="39" name="Text 36"/>
          <p:cNvSpPr/>
          <p:nvPr/>
        </p:nvSpPr>
        <p:spPr>
          <a:xfrm>
            <a:off x="8266176" y="4544568"/>
            <a:ext cx="3172968" cy="475488"/>
          </a:xfrm>
          <a:prstGeom prst="rect">
            <a:avLst/>
          </a:prstGeom>
          <a:noFill/>
          <a:ln/>
        </p:spPr>
        <p:txBody>
          <a:bodyPr wrap="square" lIns="0" tIns="0" rIns="0" bIns="0" rtlCol="0" anchor="ctr"/>
          <a:lstStyle/>
          <a:p>
            <a:pPr indent="0" marL="0">
              <a:buNone/>
            </a:pPr>
            <a:r>
              <a:rPr lang="en-US" sz="1020" dirty="0">
                <a:solidFill>
                  <a:srgbClr val="2F333B"/>
                </a:solidFill>
                <a:latin typeface="Aptos" pitchFamily="34" charset="0"/>
                <a:ea typeface="Aptos" pitchFamily="34" charset="-122"/>
                <a:cs typeface="Aptos" pitchFamily="34" charset="-120"/>
              </a:rPr>
              <a:t>25,6% contre 23,4% PY +9,8%</a:t>
            </a:r>
            <a:endParaRPr lang="en-US" sz="1020" dirty="0"/>
          </a:p>
        </p:txBody>
      </p:sp>
      <p:sp>
        <p:nvSpPr>
          <p:cNvPr id="40" name="Text 37"/>
          <p:cNvSpPr/>
          <p:nvPr/>
        </p:nvSpPr>
        <p:spPr>
          <a:xfrm>
            <a:off x="749808" y="5367528"/>
            <a:ext cx="10607040" cy="822960"/>
          </a:xfrm>
          <a:prstGeom prst="rect">
            <a:avLst/>
          </a:prstGeom>
          <a:noFill/>
          <a:ln/>
        </p:spPr>
        <p:txBody>
          <a:bodyPr wrap="square" lIns="0" tIns="0" rIns="0" bIns="0" rtlCol="0" anchor="ctr"/>
          <a:lstStyle/>
          <a:p>
            <a:pPr indent="0" marL="0">
              <a:buNone/>
            </a:pPr>
            <a:r>
              <a:rPr lang="en-US" sz="1130" dirty="0">
                <a:solidFill>
                  <a:srgbClr val="2F333B"/>
                </a:solidFill>
                <a:latin typeface="Aptos" pitchFamily="34" charset="0"/>
                <a:ea typeface="Aptos" pitchFamily="34" charset="-122"/>
                <a:cs typeface="Aptos" pitchFamily="34" charset="-120"/>
              </a:rPr>
              <a:t>Sur tous les programmes connectés à topcashback, les performances ont été mitigées en févr. 2026 – mai 2026. Les conversions ont augmenté de -5,6 % à 93 165 et le taux de conversion a augmenté de +9,8 % à 25,6 %. Les commissions des éditeurs ont diminué de -26,8% à 707 424 €, tandis que les revenus du portefeuille numérique ont diminué de -57,4% à 67 578 €. Le bénéfice total s'est terminé à 775 002 € (-31,1 %) et le montant total des commandes a diminué de -35,4 % à 15 923 430 €.</a:t>
            </a:r>
            <a:endParaRPr lang="en-US" sz="11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6"/>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2F333B"/>
                </a:solidFill>
                <a:latin typeface="Aptos" pitchFamily="34" charset="0"/>
                <a:ea typeface="Aptos" pitchFamily="34" charset="-122"/>
                <a:cs typeface="Aptos" pitchFamily="34" charset="-120"/>
              </a:rPr>
              <a:t>Tableau récapitulatif des KPI : conversions et revenus</a:t>
            </a:r>
            <a:endParaRPr lang="en-US" sz="2800" dirty="0"/>
          </a:p>
        </p:txBody>
      </p:sp>
      <p:sp>
        <p:nvSpPr>
          <p:cNvPr id="4" name="Text 1"/>
          <p:cNvSpPr/>
          <p:nvPr/>
        </p:nvSpPr>
        <p:spPr>
          <a:xfrm>
            <a:off x="640080" y="1316736"/>
            <a:ext cx="10972800" cy="310896"/>
          </a:xfrm>
          <a:prstGeom prst="rect">
            <a:avLst/>
          </a:prstGeom>
          <a:noFill/>
          <a:ln/>
        </p:spPr>
        <p:txBody>
          <a:bodyPr wrap="square" lIns="0" tIns="0" rIns="0" bIns="0" rtlCol="0" anchor="ctr"/>
          <a:lstStyle/>
          <a:p>
            <a:pPr algn="ctr" indent="0" marL="0">
              <a:buNone/>
            </a:pPr>
            <a:r>
              <a:rPr lang="en-US" sz="1100" dirty="0">
                <a:solidFill>
                  <a:srgbClr val="2F6FF2"/>
                </a:solidFill>
                <a:latin typeface="Aptos" pitchFamily="34" charset="0"/>
                <a:ea typeface="Aptos" pitchFamily="34" charset="-122"/>
                <a:cs typeface="Aptos" pitchFamily="34" charset="-120"/>
              </a:rPr>
              <a:t>Répartition unifiée des KPI par rapport à l'année précédente.</a:t>
            </a:r>
            <a:endParaRPr lang="en-US" sz="1100" dirty="0"/>
          </a:p>
        </p:txBody>
      </p:sp>
      <p:sp>
        <p:nvSpPr>
          <p:cNvPr id="5" name="Shape 2"/>
          <p:cNvSpPr/>
          <p:nvPr/>
        </p:nvSpPr>
        <p:spPr>
          <a:xfrm>
            <a:off x="365760" y="1627632"/>
            <a:ext cx="11430000" cy="4584802"/>
          </a:xfrm>
          <a:prstGeom prst="rect">
            <a:avLst/>
          </a:prstGeom>
          <a:solidFill>
            <a:srgbClr val="F3F4F6"/>
          </a:solidFill>
          <a:ln w="12700">
            <a:solidFill>
              <a:srgbClr val="D6DA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75488" y="1719072"/>
          <a:ext cx="11210544" cy="4438498"/>
        </p:xfrm>
        <a:graphic>
          <a:graphicData uri="http://schemas.openxmlformats.org/drawingml/2006/table">
            <a:tbl>
              <a:tblPr/>
              <a:tblGrid>
                <a:gridCol w="2242109"/>
                <a:gridCol w="2242109"/>
                <a:gridCol w="2242109"/>
                <a:gridCol w="2242109"/>
                <a:gridCol w="2242109"/>
              </a:tblGrid>
              <a:tr h="460858">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Métrique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Récent</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Précédent</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Différence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 d'écart</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r>
              <a:tr h="39776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Conversions</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93,165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98,729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-5,564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9776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Taux de conversion</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25.6%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23.4%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9776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Clics</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363,218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422,612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-59,394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-14.1%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9776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Gains par clic</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€2.13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€2.66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-€0.53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-19.8%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9776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Gains par commission</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1,10x</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1,16x</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-0,07x</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9776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Valeur totale de la commande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€15,923,430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€24,652,989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-€8,729,558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-35.4%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9776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Commission de l'éditeur</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€707,424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€966,077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-€258,652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-26.8%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9776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Portefeuille numérique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€67,578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€158,760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-€91,182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-57.4%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9776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Gains totaux</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€775,002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€1,124,837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-€349,834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-31.1%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9776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Programmes actifs</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248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262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bl>
          </a:graphicData>
        </a:graphic>
      </p:graphicFrame>
      <p:sp>
        <p:nvSpPr>
          <p:cNvPr id="7" name="Text 3"/>
          <p:cNvSpPr/>
          <p:nvPr/>
        </p:nvSpPr>
        <p:spPr>
          <a:xfrm>
            <a:off x="475488" y="6267298"/>
            <a:ext cx="11155680" cy="310896"/>
          </a:xfrm>
          <a:prstGeom prst="rect">
            <a:avLst/>
          </a:prstGeom>
          <a:noFill/>
          <a:ln/>
        </p:spPr>
        <p:txBody>
          <a:bodyPr wrap="square" lIns="0" tIns="0" rIns="0" bIns="0" rtlCol="0" anchor="ctr"/>
          <a:lstStyle/>
          <a:p>
            <a:pPr indent="0" marL="0">
              <a:buNone/>
            </a:pPr>
            <a:r>
              <a:rPr lang="en-US" sz="1020" dirty="0">
                <a:solidFill>
                  <a:srgbClr val="2F333B"/>
                </a:solidFill>
                <a:latin typeface="Aptos" pitchFamily="34" charset="0"/>
                <a:ea typeface="Aptos" pitchFamily="34" charset="-122"/>
                <a:cs typeface="Aptos" pitchFamily="34" charset="-120"/>
              </a:rPr>
              <a:t>Revenus totaux = Commission de l'éditeur + Portefeuille numérique. Le taux de conversion utilise la base du taux de conversion de l'API source.</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F6FF2"/>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blu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58368" y="292608"/>
            <a:ext cx="4937760" cy="420624"/>
          </a:xfrm>
          <a:prstGeom prst="rect">
            <a:avLst/>
          </a:prstGeom>
          <a:noFill/>
          <a:ln/>
        </p:spPr>
        <p:txBody>
          <a:bodyPr wrap="square" lIns="0" tIns="0" rIns="0" bIns="0" rtlCol="0" anchor="ctr">
            <a:normAutofit/>
          </a:bodyPr>
          <a:lstStyle/>
          <a:p>
            <a:pPr indent="0" marL="0">
              <a:buNone/>
            </a:pPr>
            <a:r>
              <a:rPr lang="en-US" sz="2800" dirty="0">
                <a:solidFill>
                  <a:srgbClr val="FFFFFF"/>
                </a:solidFill>
                <a:latin typeface="Aptos" pitchFamily="34" charset="0"/>
                <a:ea typeface="Aptos" pitchFamily="34" charset="-122"/>
                <a:cs typeface="Aptos" pitchFamily="34" charset="-120"/>
              </a:rPr>
              <a:t>Activation Status</a:t>
            </a:r>
            <a:endParaRPr lang="en-US" sz="2800" dirty="0"/>
          </a:p>
        </p:txBody>
      </p:sp>
      <p:sp>
        <p:nvSpPr>
          <p:cNvPr id="4" name="Shape 1"/>
          <p:cNvSpPr/>
          <p:nvPr/>
        </p:nvSpPr>
        <p:spPr>
          <a:xfrm>
            <a:off x="6089904" y="1298448"/>
            <a:ext cx="0" cy="1874520"/>
          </a:xfrm>
          <a:prstGeom prst="line">
            <a:avLst/>
          </a:prstGeom>
          <a:noFill/>
          <a:ln w="12700">
            <a:solidFill>
              <a:srgbClr val="FFFFFF"/>
            </a:solidFill>
            <a:prstDash val="solid"/>
          </a:ln>
        </p:spPr>
      </p:sp>
      <p:sp>
        <p:nvSpPr>
          <p:cNvPr id="5" name="Shape 2"/>
          <p:cNvSpPr/>
          <p:nvPr/>
        </p:nvSpPr>
        <p:spPr>
          <a:xfrm>
            <a:off x="6089904" y="3794760"/>
            <a:ext cx="0" cy="1874520"/>
          </a:xfrm>
          <a:prstGeom prst="line">
            <a:avLst/>
          </a:prstGeom>
          <a:noFill/>
          <a:ln w="12700">
            <a:solidFill>
              <a:srgbClr val="FFFFFF"/>
            </a:solidFill>
            <a:prstDash val="solid"/>
          </a:ln>
        </p:spPr>
      </p:sp>
      <p:sp>
        <p:nvSpPr>
          <p:cNvPr id="6" name="Shape 3"/>
          <p:cNvSpPr/>
          <p:nvPr/>
        </p:nvSpPr>
        <p:spPr>
          <a:xfrm>
            <a:off x="1042416" y="3483864"/>
            <a:ext cx="4608576" cy="0"/>
          </a:xfrm>
          <a:prstGeom prst="line">
            <a:avLst/>
          </a:prstGeom>
          <a:noFill/>
          <a:ln w="12700">
            <a:solidFill>
              <a:srgbClr val="FFFFFF"/>
            </a:solidFill>
            <a:prstDash val="solid"/>
          </a:ln>
        </p:spPr>
      </p:sp>
      <p:sp>
        <p:nvSpPr>
          <p:cNvPr id="7" name="Shape 4"/>
          <p:cNvSpPr/>
          <p:nvPr/>
        </p:nvSpPr>
        <p:spPr>
          <a:xfrm>
            <a:off x="6528816" y="3483864"/>
            <a:ext cx="4608576" cy="0"/>
          </a:xfrm>
          <a:prstGeom prst="line">
            <a:avLst/>
          </a:prstGeom>
          <a:noFill/>
          <a:ln w="12700">
            <a:solidFill>
              <a:srgbClr val="FFFFFF"/>
            </a:solidFill>
            <a:prstDash val="solid"/>
          </a:ln>
        </p:spPr>
      </p:sp>
      <p:sp>
        <p:nvSpPr>
          <p:cNvPr id="8" name="Text 5"/>
          <p:cNvSpPr/>
          <p:nvPr/>
        </p:nvSpPr>
        <p:spPr>
          <a:xfrm>
            <a:off x="1847088" y="1243584"/>
            <a:ext cx="3054096" cy="566928"/>
          </a:xfrm>
          <a:prstGeom prst="rect">
            <a:avLst/>
          </a:prstGeom>
          <a:noFill/>
          <a:ln/>
        </p:spPr>
        <p:txBody>
          <a:bodyPr wrap="square" lIns="0" tIns="0" rIns="0" bIns="0" rtlCol="0" anchor="ctr">
            <a:normAutofit/>
          </a:bodyPr>
          <a:lstStyle/>
          <a:p>
            <a:pPr algn="ctr" indent="0" marL="0">
              <a:buNone/>
            </a:pPr>
            <a:r>
              <a:rPr lang="en-US" sz="3800" dirty="0">
                <a:solidFill>
                  <a:srgbClr val="FFFFFF"/>
                </a:solidFill>
                <a:latin typeface="Aptos" pitchFamily="34" charset="0"/>
                <a:ea typeface="Aptos" pitchFamily="34" charset="-122"/>
                <a:cs typeface="Aptos" pitchFamily="34" charset="-120"/>
              </a:rPr>
              <a:t>248</a:t>
            </a:r>
            <a:endParaRPr lang="en-US" sz="3800" dirty="0"/>
          </a:p>
        </p:txBody>
      </p:sp>
      <p:sp>
        <p:nvSpPr>
          <p:cNvPr id="9" name="Text 6"/>
          <p:cNvSpPr/>
          <p:nvPr/>
        </p:nvSpPr>
        <p:spPr>
          <a:xfrm>
            <a:off x="1847088" y="1865376"/>
            <a:ext cx="3054096" cy="228600"/>
          </a:xfrm>
          <a:prstGeom prst="rect">
            <a:avLst/>
          </a:prstGeom>
          <a:noFill/>
          <a:ln/>
        </p:spPr>
        <p:txBody>
          <a:bodyPr wrap="square" lIns="0" tIns="0" rIns="0" bIns="0" rtlCol="0" anchor="ctr">
            <a:normAutofit/>
          </a:bodyPr>
          <a:lstStyle/>
          <a:p>
            <a:pPr algn="ctr" indent="0" marL="0">
              <a:buNone/>
            </a:pPr>
            <a:r>
              <a:rPr lang="en-US" sz="1360" dirty="0">
                <a:solidFill>
                  <a:srgbClr val="BCEBFF"/>
                </a:solidFill>
                <a:latin typeface="Aptos" pitchFamily="34" charset="0"/>
                <a:ea typeface="Aptos" pitchFamily="34" charset="-122"/>
                <a:cs typeface="Aptos" pitchFamily="34" charset="-120"/>
              </a:rPr>
              <a:t>Joined programs</a:t>
            </a:r>
            <a:endParaRPr lang="en-US" sz="1360" dirty="0"/>
          </a:p>
        </p:txBody>
      </p:sp>
      <p:sp>
        <p:nvSpPr>
          <p:cNvPr id="10" name="Text 7"/>
          <p:cNvSpPr/>
          <p:nvPr/>
        </p:nvSpPr>
        <p:spPr>
          <a:xfrm>
            <a:off x="1847088" y="2377440"/>
            <a:ext cx="1335024" cy="146304"/>
          </a:xfrm>
          <a:prstGeom prst="rect">
            <a:avLst/>
          </a:prstGeom>
          <a:noFill/>
          <a:ln/>
        </p:spPr>
        <p:txBody>
          <a:bodyPr wrap="square" lIns="0" tIns="0" rIns="0" bIns="0" rtlCol="0" anchor="ctr"/>
          <a:lstStyle/>
          <a:p>
            <a:pPr algn="ctr" indent="0" marL="0">
              <a:buNone/>
            </a:pPr>
            <a:r>
              <a:rPr lang="en-US" sz="820" dirty="0">
                <a:solidFill>
                  <a:srgbClr val="F3F4F6"/>
                </a:solidFill>
                <a:latin typeface="Aptos" pitchFamily="34" charset="0"/>
                <a:ea typeface="Aptos" pitchFamily="34" charset="-122"/>
                <a:cs typeface="Aptos" pitchFamily="34" charset="-120"/>
              </a:rPr>
              <a:t>New</a:t>
            </a:r>
            <a:endParaRPr lang="en-US" sz="820" dirty="0"/>
          </a:p>
        </p:txBody>
      </p:sp>
      <p:sp>
        <p:nvSpPr>
          <p:cNvPr id="11" name="Text 8"/>
          <p:cNvSpPr/>
          <p:nvPr/>
        </p:nvSpPr>
        <p:spPr>
          <a:xfrm>
            <a:off x="1847088" y="2596896"/>
            <a:ext cx="1335024" cy="237744"/>
          </a:xfrm>
          <a:prstGeom prst="rect">
            <a:avLst/>
          </a:prstGeom>
          <a:noFill/>
          <a:ln/>
        </p:spPr>
        <p:txBody>
          <a:bodyPr wrap="square" lIns="0" tIns="0" rIns="0" bIns="0" rtlCol="0" anchor="ctr">
            <a:normAutofit/>
          </a:bodyPr>
          <a:lstStyle/>
          <a:p>
            <a:pPr algn="ctr" indent="0" marL="0">
              <a:buNone/>
            </a:pPr>
            <a:r>
              <a:rPr lang="en-US" sz="1420" dirty="0">
                <a:solidFill>
                  <a:srgbClr val="BCEBFF"/>
                </a:solidFill>
                <a:latin typeface="Aptos" pitchFamily="34" charset="0"/>
                <a:ea typeface="Aptos" pitchFamily="34" charset="-122"/>
                <a:cs typeface="Aptos" pitchFamily="34" charset="-120"/>
              </a:rPr>
              <a:t>69</a:t>
            </a:r>
            <a:endParaRPr lang="en-US" sz="1420" dirty="0"/>
          </a:p>
        </p:txBody>
      </p:sp>
      <p:sp>
        <p:nvSpPr>
          <p:cNvPr id="12" name="Text 9"/>
          <p:cNvSpPr/>
          <p:nvPr/>
        </p:nvSpPr>
        <p:spPr>
          <a:xfrm>
            <a:off x="3566160" y="2377440"/>
            <a:ext cx="1335024" cy="146304"/>
          </a:xfrm>
          <a:prstGeom prst="rect">
            <a:avLst/>
          </a:prstGeom>
          <a:noFill/>
          <a:ln/>
        </p:spPr>
        <p:txBody>
          <a:bodyPr wrap="square" lIns="0" tIns="0" rIns="0" bIns="0" rtlCol="0" anchor="ctr"/>
          <a:lstStyle/>
          <a:p>
            <a:pPr algn="ctr" indent="0" marL="0">
              <a:buNone/>
            </a:pPr>
            <a:r>
              <a:rPr lang="en-US" sz="820" dirty="0">
                <a:solidFill>
                  <a:srgbClr val="F3F4F6"/>
                </a:solidFill>
                <a:latin typeface="Aptos" pitchFamily="34" charset="0"/>
                <a:ea typeface="Aptos" pitchFamily="34" charset="-122"/>
                <a:cs typeface="Aptos" pitchFamily="34" charset="-120"/>
              </a:rPr>
              <a:t>New %</a:t>
            </a:r>
            <a:endParaRPr lang="en-US" sz="820" dirty="0"/>
          </a:p>
        </p:txBody>
      </p:sp>
      <p:sp>
        <p:nvSpPr>
          <p:cNvPr id="13" name="Text 10"/>
          <p:cNvSpPr/>
          <p:nvPr/>
        </p:nvSpPr>
        <p:spPr>
          <a:xfrm>
            <a:off x="3566160" y="2596896"/>
            <a:ext cx="1335024" cy="237744"/>
          </a:xfrm>
          <a:prstGeom prst="rect">
            <a:avLst/>
          </a:prstGeom>
          <a:noFill/>
          <a:ln/>
        </p:spPr>
        <p:txBody>
          <a:bodyPr wrap="square" lIns="0" tIns="0" rIns="0" bIns="0" rtlCol="0" anchor="ctr">
            <a:normAutofit/>
          </a:bodyPr>
          <a:lstStyle/>
          <a:p>
            <a:pPr algn="ctr" indent="0" marL="0">
              <a:buNone/>
            </a:pPr>
            <a:r>
              <a:rPr lang="en-US" sz="1420" dirty="0">
                <a:solidFill>
                  <a:srgbClr val="BCEBFF"/>
                </a:solidFill>
                <a:latin typeface="Aptos" pitchFamily="34" charset="0"/>
                <a:ea typeface="Aptos" pitchFamily="34" charset="-122"/>
                <a:cs typeface="Aptos" pitchFamily="34" charset="-120"/>
              </a:rPr>
              <a:t>28%</a:t>
            </a:r>
            <a:endParaRPr lang="en-US" sz="1420" dirty="0"/>
          </a:p>
        </p:txBody>
      </p:sp>
      <p:sp>
        <p:nvSpPr>
          <p:cNvPr id="14" name="Text 11"/>
          <p:cNvSpPr/>
          <p:nvPr/>
        </p:nvSpPr>
        <p:spPr>
          <a:xfrm>
            <a:off x="7278624" y="1243584"/>
            <a:ext cx="3054096" cy="566928"/>
          </a:xfrm>
          <a:prstGeom prst="rect">
            <a:avLst/>
          </a:prstGeom>
          <a:noFill/>
          <a:ln/>
        </p:spPr>
        <p:txBody>
          <a:bodyPr wrap="square" lIns="0" tIns="0" rIns="0" bIns="0" rtlCol="0" anchor="ctr">
            <a:normAutofit/>
          </a:bodyPr>
          <a:lstStyle/>
          <a:p>
            <a:pPr algn="ctr" indent="0" marL="0">
              <a:buNone/>
            </a:pPr>
            <a:r>
              <a:rPr lang="en-US" sz="3800" dirty="0">
                <a:solidFill>
                  <a:srgbClr val="FFFFFF"/>
                </a:solidFill>
                <a:latin typeface="Aptos" pitchFamily="34" charset="0"/>
                <a:ea typeface="Aptos" pitchFamily="34" charset="-122"/>
                <a:cs typeface="Aptos" pitchFamily="34" charset="-120"/>
              </a:rPr>
              <a:t>247</a:t>
            </a:r>
            <a:endParaRPr lang="en-US" sz="3800" dirty="0"/>
          </a:p>
        </p:txBody>
      </p:sp>
      <p:sp>
        <p:nvSpPr>
          <p:cNvPr id="15" name="Text 12"/>
          <p:cNvSpPr/>
          <p:nvPr/>
        </p:nvSpPr>
        <p:spPr>
          <a:xfrm>
            <a:off x="7278624" y="1865376"/>
            <a:ext cx="3054096" cy="228600"/>
          </a:xfrm>
          <a:prstGeom prst="rect">
            <a:avLst/>
          </a:prstGeom>
          <a:noFill/>
          <a:ln/>
        </p:spPr>
        <p:txBody>
          <a:bodyPr wrap="square" lIns="0" tIns="0" rIns="0" bIns="0" rtlCol="0" anchor="ctr">
            <a:normAutofit/>
          </a:bodyPr>
          <a:lstStyle/>
          <a:p>
            <a:pPr algn="ctr" indent="0" marL="0">
              <a:buNone/>
            </a:pPr>
            <a:r>
              <a:rPr lang="en-US" sz="1360" dirty="0">
                <a:solidFill>
                  <a:srgbClr val="BCEBFF"/>
                </a:solidFill>
                <a:latin typeface="Aptos" pitchFamily="34" charset="0"/>
                <a:ea typeface="Aptos" pitchFamily="34" charset="-122"/>
                <a:cs typeface="Aptos" pitchFamily="34" charset="-120"/>
              </a:rPr>
              <a:t>With clicks</a:t>
            </a:r>
            <a:endParaRPr lang="en-US" sz="1360" dirty="0"/>
          </a:p>
        </p:txBody>
      </p:sp>
      <p:sp>
        <p:nvSpPr>
          <p:cNvPr id="16" name="Text 13"/>
          <p:cNvSpPr/>
          <p:nvPr/>
        </p:nvSpPr>
        <p:spPr>
          <a:xfrm>
            <a:off x="7278624" y="2377440"/>
            <a:ext cx="1335024" cy="146304"/>
          </a:xfrm>
          <a:prstGeom prst="rect">
            <a:avLst/>
          </a:prstGeom>
          <a:noFill/>
          <a:ln/>
        </p:spPr>
        <p:txBody>
          <a:bodyPr wrap="square" lIns="0" tIns="0" rIns="0" bIns="0" rtlCol="0" anchor="ctr"/>
          <a:lstStyle/>
          <a:p>
            <a:pPr algn="ctr" indent="0" marL="0">
              <a:buNone/>
            </a:pPr>
            <a:r>
              <a:rPr lang="en-US" sz="820" dirty="0">
                <a:solidFill>
                  <a:srgbClr val="F3F4F6"/>
                </a:solidFill>
                <a:latin typeface="Aptos" pitchFamily="34" charset="0"/>
                <a:ea typeface="Aptos" pitchFamily="34" charset="-122"/>
                <a:cs typeface="Aptos" pitchFamily="34" charset="-120"/>
              </a:rPr>
              <a:t>New</a:t>
            </a:r>
            <a:endParaRPr lang="en-US" sz="820" dirty="0"/>
          </a:p>
        </p:txBody>
      </p:sp>
      <p:sp>
        <p:nvSpPr>
          <p:cNvPr id="17" name="Text 14"/>
          <p:cNvSpPr/>
          <p:nvPr/>
        </p:nvSpPr>
        <p:spPr>
          <a:xfrm>
            <a:off x="7278624" y="2596896"/>
            <a:ext cx="1335024" cy="237744"/>
          </a:xfrm>
          <a:prstGeom prst="rect">
            <a:avLst/>
          </a:prstGeom>
          <a:noFill/>
          <a:ln/>
        </p:spPr>
        <p:txBody>
          <a:bodyPr wrap="square" lIns="0" tIns="0" rIns="0" bIns="0" rtlCol="0" anchor="ctr">
            <a:normAutofit/>
          </a:bodyPr>
          <a:lstStyle/>
          <a:p>
            <a:pPr algn="ctr" indent="0" marL="0">
              <a:buNone/>
            </a:pPr>
            <a:r>
              <a:rPr lang="en-US" sz="1420" dirty="0">
                <a:solidFill>
                  <a:srgbClr val="BCEBFF"/>
                </a:solidFill>
                <a:latin typeface="Aptos" pitchFamily="34" charset="0"/>
                <a:ea typeface="Aptos" pitchFamily="34" charset="-122"/>
                <a:cs typeface="Aptos" pitchFamily="34" charset="-120"/>
              </a:rPr>
              <a:t>68</a:t>
            </a:r>
            <a:endParaRPr lang="en-US" sz="1420" dirty="0"/>
          </a:p>
        </p:txBody>
      </p:sp>
      <p:sp>
        <p:nvSpPr>
          <p:cNvPr id="18" name="Text 15"/>
          <p:cNvSpPr/>
          <p:nvPr/>
        </p:nvSpPr>
        <p:spPr>
          <a:xfrm>
            <a:off x="8997696" y="2377440"/>
            <a:ext cx="1335024" cy="146304"/>
          </a:xfrm>
          <a:prstGeom prst="rect">
            <a:avLst/>
          </a:prstGeom>
          <a:noFill/>
          <a:ln/>
        </p:spPr>
        <p:txBody>
          <a:bodyPr wrap="square" lIns="0" tIns="0" rIns="0" bIns="0" rtlCol="0" anchor="ctr"/>
          <a:lstStyle/>
          <a:p>
            <a:pPr algn="ctr" indent="0" marL="0">
              <a:buNone/>
            </a:pPr>
            <a:r>
              <a:rPr lang="en-US" sz="820" dirty="0">
                <a:solidFill>
                  <a:srgbClr val="F3F4F6"/>
                </a:solidFill>
                <a:latin typeface="Aptos" pitchFamily="34" charset="0"/>
                <a:ea typeface="Aptos" pitchFamily="34" charset="-122"/>
                <a:cs typeface="Aptos" pitchFamily="34" charset="-120"/>
              </a:rPr>
              <a:t>New %</a:t>
            </a:r>
            <a:endParaRPr lang="en-US" sz="820" dirty="0"/>
          </a:p>
        </p:txBody>
      </p:sp>
      <p:sp>
        <p:nvSpPr>
          <p:cNvPr id="19" name="Text 16"/>
          <p:cNvSpPr/>
          <p:nvPr/>
        </p:nvSpPr>
        <p:spPr>
          <a:xfrm>
            <a:off x="8997696" y="2596896"/>
            <a:ext cx="1335024" cy="237744"/>
          </a:xfrm>
          <a:prstGeom prst="rect">
            <a:avLst/>
          </a:prstGeom>
          <a:noFill/>
          <a:ln/>
        </p:spPr>
        <p:txBody>
          <a:bodyPr wrap="square" lIns="0" tIns="0" rIns="0" bIns="0" rtlCol="0" anchor="ctr">
            <a:normAutofit/>
          </a:bodyPr>
          <a:lstStyle/>
          <a:p>
            <a:pPr algn="ctr" indent="0" marL="0">
              <a:buNone/>
            </a:pPr>
            <a:r>
              <a:rPr lang="en-US" sz="1420" dirty="0">
                <a:solidFill>
                  <a:srgbClr val="BCEBFF"/>
                </a:solidFill>
                <a:latin typeface="Aptos" pitchFamily="34" charset="0"/>
                <a:ea typeface="Aptos" pitchFamily="34" charset="-122"/>
                <a:cs typeface="Aptos" pitchFamily="34" charset="-120"/>
              </a:rPr>
              <a:t>28%</a:t>
            </a:r>
            <a:endParaRPr lang="en-US" sz="1420" dirty="0"/>
          </a:p>
        </p:txBody>
      </p:sp>
      <p:sp>
        <p:nvSpPr>
          <p:cNvPr id="20" name="Text 17"/>
          <p:cNvSpPr/>
          <p:nvPr/>
        </p:nvSpPr>
        <p:spPr>
          <a:xfrm>
            <a:off x="1847088" y="3794760"/>
            <a:ext cx="3054096" cy="566928"/>
          </a:xfrm>
          <a:prstGeom prst="rect">
            <a:avLst/>
          </a:prstGeom>
          <a:noFill/>
          <a:ln/>
        </p:spPr>
        <p:txBody>
          <a:bodyPr wrap="square" lIns="0" tIns="0" rIns="0" bIns="0" rtlCol="0" anchor="ctr">
            <a:normAutofit/>
          </a:bodyPr>
          <a:lstStyle/>
          <a:p>
            <a:pPr algn="ctr" indent="0" marL="0">
              <a:buNone/>
            </a:pPr>
            <a:r>
              <a:rPr lang="en-US" sz="3800" dirty="0">
                <a:solidFill>
                  <a:srgbClr val="FFFFFF"/>
                </a:solidFill>
                <a:latin typeface="Aptos" pitchFamily="34" charset="0"/>
                <a:ea typeface="Aptos" pitchFamily="34" charset="-122"/>
                <a:cs typeface="Aptos" pitchFamily="34" charset="-120"/>
              </a:rPr>
              <a:t>155</a:t>
            </a:r>
            <a:endParaRPr lang="en-US" sz="3800" dirty="0"/>
          </a:p>
        </p:txBody>
      </p:sp>
      <p:sp>
        <p:nvSpPr>
          <p:cNvPr id="21" name="Text 18"/>
          <p:cNvSpPr/>
          <p:nvPr/>
        </p:nvSpPr>
        <p:spPr>
          <a:xfrm>
            <a:off x="1847088" y="4416552"/>
            <a:ext cx="3054096" cy="228600"/>
          </a:xfrm>
          <a:prstGeom prst="rect">
            <a:avLst/>
          </a:prstGeom>
          <a:noFill/>
          <a:ln/>
        </p:spPr>
        <p:txBody>
          <a:bodyPr wrap="square" lIns="0" tIns="0" rIns="0" bIns="0" rtlCol="0" anchor="ctr">
            <a:normAutofit/>
          </a:bodyPr>
          <a:lstStyle/>
          <a:p>
            <a:pPr algn="ctr" indent="0" marL="0">
              <a:buNone/>
            </a:pPr>
            <a:r>
              <a:rPr lang="en-US" sz="1360" dirty="0">
                <a:solidFill>
                  <a:srgbClr val="BCEBFF"/>
                </a:solidFill>
                <a:latin typeface="Aptos" pitchFamily="34" charset="0"/>
                <a:ea typeface="Aptos" pitchFamily="34" charset="-122"/>
                <a:cs typeface="Aptos" pitchFamily="34" charset="-120"/>
              </a:rPr>
              <a:t>Pub commission</a:t>
            </a:r>
            <a:endParaRPr lang="en-US" sz="1360" dirty="0"/>
          </a:p>
        </p:txBody>
      </p:sp>
      <p:sp>
        <p:nvSpPr>
          <p:cNvPr id="22" name="Text 19"/>
          <p:cNvSpPr/>
          <p:nvPr/>
        </p:nvSpPr>
        <p:spPr>
          <a:xfrm>
            <a:off x="1847088" y="4928616"/>
            <a:ext cx="1335024" cy="146304"/>
          </a:xfrm>
          <a:prstGeom prst="rect">
            <a:avLst/>
          </a:prstGeom>
          <a:noFill/>
          <a:ln/>
        </p:spPr>
        <p:txBody>
          <a:bodyPr wrap="square" lIns="0" tIns="0" rIns="0" bIns="0" rtlCol="0" anchor="ctr"/>
          <a:lstStyle/>
          <a:p>
            <a:pPr algn="ctr" indent="0" marL="0">
              <a:buNone/>
            </a:pPr>
            <a:r>
              <a:rPr lang="en-US" sz="820" dirty="0">
                <a:solidFill>
                  <a:srgbClr val="F3F4F6"/>
                </a:solidFill>
                <a:latin typeface="Aptos" pitchFamily="34" charset="0"/>
                <a:ea typeface="Aptos" pitchFamily="34" charset="-122"/>
                <a:cs typeface="Aptos" pitchFamily="34" charset="-120"/>
              </a:rPr>
              <a:t>New</a:t>
            </a:r>
            <a:endParaRPr lang="en-US" sz="820" dirty="0"/>
          </a:p>
        </p:txBody>
      </p:sp>
      <p:sp>
        <p:nvSpPr>
          <p:cNvPr id="23" name="Text 20"/>
          <p:cNvSpPr/>
          <p:nvPr/>
        </p:nvSpPr>
        <p:spPr>
          <a:xfrm>
            <a:off x="1847088" y="5148072"/>
            <a:ext cx="1335024" cy="237744"/>
          </a:xfrm>
          <a:prstGeom prst="rect">
            <a:avLst/>
          </a:prstGeom>
          <a:noFill/>
          <a:ln/>
        </p:spPr>
        <p:txBody>
          <a:bodyPr wrap="square" lIns="0" tIns="0" rIns="0" bIns="0" rtlCol="0" anchor="ctr">
            <a:normAutofit/>
          </a:bodyPr>
          <a:lstStyle/>
          <a:p>
            <a:pPr algn="ctr" indent="0" marL="0">
              <a:buNone/>
            </a:pPr>
            <a:r>
              <a:rPr lang="en-US" sz="1420" dirty="0">
                <a:solidFill>
                  <a:srgbClr val="BCEBFF"/>
                </a:solidFill>
                <a:latin typeface="Aptos" pitchFamily="34" charset="0"/>
                <a:ea typeface="Aptos" pitchFamily="34" charset="-122"/>
                <a:cs typeface="Aptos" pitchFamily="34" charset="-120"/>
              </a:rPr>
              <a:t>24</a:t>
            </a:r>
            <a:endParaRPr lang="en-US" sz="1420" dirty="0"/>
          </a:p>
        </p:txBody>
      </p:sp>
      <p:sp>
        <p:nvSpPr>
          <p:cNvPr id="24" name="Text 21"/>
          <p:cNvSpPr/>
          <p:nvPr/>
        </p:nvSpPr>
        <p:spPr>
          <a:xfrm>
            <a:off x="3566160" y="4928616"/>
            <a:ext cx="1335024" cy="146304"/>
          </a:xfrm>
          <a:prstGeom prst="rect">
            <a:avLst/>
          </a:prstGeom>
          <a:noFill/>
          <a:ln/>
        </p:spPr>
        <p:txBody>
          <a:bodyPr wrap="square" lIns="0" tIns="0" rIns="0" bIns="0" rtlCol="0" anchor="ctr"/>
          <a:lstStyle/>
          <a:p>
            <a:pPr algn="ctr" indent="0" marL="0">
              <a:buNone/>
            </a:pPr>
            <a:r>
              <a:rPr lang="en-US" sz="820" dirty="0">
                <a:solidFill>
                  <a:srgbClr val="F3F4F6"/>
                </a:solidFill>
                <a:latin typeface="Aptos" pitchFamily="34" charset="0"/>
                <a:ea typeface="Aptos" pitchFamily="34" charset="-122"/>
                <a:cs typeface="Aptos" pitchFamily="34" charset="-120"/>
              </a:rPr>
              <a:t>New %</a:t>
            </a:r>
            <a:endParaRPr lang="en-US" sz="820" dirty="0"/>
          </a:p>
        </p:txBody>
      </p:sp>
      <p:sp>
        <p:nvSpPr>
          <p:cNvPr id="25" name="Text 22"/>
          <p:cNvSpPr/>
          <p:nvPr/>
        </p:nvSpPr>
        <p:spPr>
          <a:xfrm>
            <a:off x="3566160" y="5148072"/>
            <a:ext cx="1335024" cy="237744"/>
          </a:xfrm>
          <a:prstGeom prst="rect">
            <a:avLst/>
          </a:prstGeom>
          <a:noFill/>
          <a:ln/>
        </p:spPr>
        <p:txBody>
          <a:bodyPr wrap="square" lIns="0" tIns="0" rIns="0" bIns="0" rtlCol="0" anchor="ctr">
            <a:normAutofit/>
          </a:bodyPr>
          <a:lstStyle/>
          <a:p>
            <a:pPr algn="ctr" indent="0" marL="0">
              <a:buNone/>
            </a:pPr>
            <a:r>
              <a:rPr lang="en-US" sz="1420" dirty="0">
                <a:solidFill>
                  <a:srgbClr val="BCEBFF"/>
                </a:solidFill>
                <a:latin typeface="Aptos" pitchFamily="34" charset="0"/>
                <a:ea typeface="Aptos" pitchFamily="34" charset="-122"/>
                <a:cs typeface="Aptos" pitchFamily="34" charset="-120"/>
              </a:rPr>
              <a:t>15%</a:t>
            </a:r>
            <a:endParaRPr lang="en-US" sz="1420" dirty="0"/>
          </a:p>
        </p:txBody>
      </p:sp>
      <p:sp>
        <p:nvSpPr>
          <p:cNvPr id="26" name="Text 23"/>
          <p:cNvSpPr/>
          <p:nvPr/>
        </p:nvSpPr>
        <p:spPr>
          <a:xfrm>
            <a:off x="7278624" y="3794760"/>
            <a:ext cx="3054096" cy="566928"/>
          </a:xfrm>
          <a:prstGeom prst="rect">
            <a:avLst/>
          </a:prstGeom>
          <a:noFill/>
          <a:ln/>
        </p:spPr>
        <p:txBody>
          <a:bodyPr wrap="square" lIns="0" tIns="0" rIns="0" bIns="0" rtlCol="0" anchor="ctr">
            <a:normAutofit/>
          </a:bodyPr>
          <a:lstStyle/>
          <a:p>
            <a:pPr algn="ctr" indent="0" marL="0">
              <a:buNone/>
            </a:pPr>
            <a:r>
              <a:rPr lang="en-US" sz="3800" dirty="0">
                <a:solidFill>
                  <a:srgbClr val="FFFFFF"/>
                </a:solidFill>
                <a:latin typeface="Aptos" pitchFamily="34" charset="0"/>
                <a:ea typeface="Aptos" pitchFamily="34" charset="-122"/>
                <a:cs typeface="Aptos" pitchFamily="34" charset="-120"/>
              </a:rPr>
              <a:t>93</a:t>
            </a:r>
            <a:endParaRPr lang="en-US" sz="3800" dirty="0"/>
          </a:p>
        </p:txBody>
      </p:sp>
      <p:sp>
        <p:nvSpPr>
          <p:cNvPr id="27" name="Text 24"/>
          <p:cNvSpPr/>
          <p:nvPr/>
        </p:nvSpPr>
        <p:spPr>
          <a:xfrm>
            <a:off x="7278624" y="4416552"/>
            <a:ext cx="3054096" cy="228600"/>
          </a:xfrm>
          <a:prstGeom prst="rect">
            <a:avLst/>
          </a:prstGeom>
          <a:noFill/>
          <a:ln/>
        </p:spPr>
        <p:txBody>
          <a:bodyPr wrap="square" lIns="0" tIns="0" rIns="0" bIns="0" rtlCol="0" anchor="ctr">
            <a:normAutofit/>
          </a:bodyPr>
          <a:lstStyle/>
          <a:p>
            <a:pPr algn="ctr" indent="0" marL="0">
              <a:buNone/>
            </a:pPr>
            <a:r>
              <a:rPr lang="en-US" sz="1360" dirty="0">
                <a:solidFill>
                  <a:srgbClr val="BCEBFF"/>
                </a:solidFill>
                <a:latin typeface="Aptos" pitchFamily="34" charset="0"/>
                <a:ea typeface="Aptos" pitchFamily="34" charset="-122"/>
                <a:cs typeface="Aptos" pitchFamily="34" charset="-120"/>
              </a:rPr>
              <a:t>Inactive</a:t>
            </a:r>
            <a:endParaRPr lang="en-US" sz="1360" dirty="0"/>
          </a:p>
        </p:txBody>
      </p:sp>
      <p:sp>
        <p:nvSpPr>
          <p:cNvPr id="28" name="Text 25"/>
          <p:cNvSpPr/>
          <p:nvPr/>
        </p:nvSpPr>
        <p:spPr>
          <a:xfrm>
            <a:off x="7278624" y="4928616"/>
            <a:ext cx="1335024" cy="146304"/>
          </a:xfrm>
          <a:prstGeom prst="rect">
            <a:avLst/>
          </a:prstGeom>
          <a:noFill/>
          <a:ln/>
        </p:spPr>
        <p:txBody>
          <a:bodyPr wrap="square" lIns="0" tIns="0" rIns="0" bIns="0" rtlCol="0" anchor="ctr"/>
          <a:lstStyle/>
          <a:p>
            <a:pPr algn="ctr" indent="0" marL="0">
              <a:buNone/>
            </a:pPr>
            <a:r>
              <a:rPr lang="en-US" sz="820" dirty="0">
                <a:solidFill>
                  <a:srgbClr val="F3F4F6"/>
                </a:solidFill>
                <a:latin typeface="Aptos" pitchFamily="34" charset="0"/>
                <a:ea typeface="Aptos" pitchFamily="34" charset="-122"/>
                <a:cs typeface="Aptos" pitchFamily="34" charset="-120"/>
              </a:rPr>
              <a:t>New</a:t>
            </a:r>
            <a:endParaRPr lang="en-US" sz="820" dirty="0"/>
          </a:p>
        </p:txBody>
      </p:sp>
      <p:sp>
        <p:nvSpPr>
          <p:cNvPr id="29" name="Text 26"/>
          <p:cNvSpPr/>
          <p:nvPr/>
        </p:nvSpPr>
        <p:spPr>
          <a:xfrm>
            <a:off x="7278624" y="5148072"/>
            <a:ext cx="1335024" cy="237744"/>
          </a:xfrm>
          <a:prstGeom prst="rect">
            <a:avLst/>
          </a:prstGeom>
          <a:noFill/>
          <a:ln/>
        </p:spPr>
        <p:txBody>
          <a:bodyPr wrap="square" lIns="0" tIns="0" rIns="0" bIns="0" rtlCol="0" anchor="ctr">
            <a:normAutofit/>
          </a:bodyPr>
          <a:lstStyle/>
          <a:p>
            <a:pPr algn="ctr" indent="0" marL="0">
              <a:buNone/>
            </a:pPr>
            <a:r>
              <a:rPr lang="en-US" sz="1420" dirty="0">
                <a:solidFill>
                  <a:srgbClr val="BCEBFF"/>
                </a:solidFill>
                <a:latin typeface="Aptos" pitchFamily="34" charset="0"/>
                <a:ea typeface="Aptos" pitchFamily="34" charset="-122"/>
                <a:cs typeface="Aptos" pitchFamily="34" charset="-120"/>
              </a:rPr>
              <a:t>45</a:t>
            </a:r>
            <a:endParaRPr lang="en-US" sz="1420" dirty="0"/>
          </a:p>
        </p:txBody>
      </p:sp>
      <p:sp>
        <p:nvSpPr>
          <p:cNvPr id="30" name="Text 27"/>
          <p:cNvSpPr/>
          <p:nvPr/>
        </p:nvSpPr>
        <p:spPr>
          <a:xfrm>
            <a:off x="8997696" y="4928616"/>
            <a:ext cx="1335024" cy="146304"/>
          </a:xfrm>
          <a:prstGeom prst="rect">
            <a:avLst/>
          </a:prstGeom>
          <a:noFill/>
          <a:ln/>
        </p:spPr>
        <p:txBody>
          <a:bodyPr wrap="square" lIns="0" tIns="0" rIns="0" bIns="0" rtlCol="0" anchor="ctr"/>
          <a:lstStyle/>
          <a:p>
            <a:pPr algn="ctr" indent="0" marL="0">
              <a:buNone/>
            </a:pPr>
            <a:r>
              <a:rPr lang="en-US" sz="820" dirty="0">
                <a:solidFill>
                  <a:srgbClr val="F3F4F6"/>
                </a:solidFill>
                <a:latin typeface="Aptos" pitchFamily="34" charset="0"/>
                <a:ea typeface="Aptos" pitchFamily="34" charset="-122"/>
                <a:cs typeface="Aptos" pitchFamily="34" charset="-120"/>
              </a:rPr>
              <a:t>New %</a:t>
            </a:r>
            <a:endParaRPr lang="en-US" sz="820" dirty="0"/>
          </a:p>
        </p:txBody>
      </p:sp>
      <p:sp>
        <p:nvSpPr>
          <p:cNvPr id="31" name="Text 28"/>
          <p:cNvSpPr/>
          <p:nvPr/>
        </p:nvSpPr>
        <p:spPr>
          <a:xfrm>
            <a:off x="8997696" y="5148072"/>
            <a:ext cx="1335024" cy="237744"/>
          </a:xfrm>
          <a:prstGeom prst="rect">
            <a:avLst/>
          </a:prstGeom>
          <a:noFill/>
          <a:ln/>
        </p:spPr>
        <p:txBody>
          <a:bodyPr wrap="square" lIns="0" tIns="0" rIns="0" bIns="0" rtlCol="0" anchor="ctr">
            <a:normAutofit/>
          </a:bodyPr>
          <a:lstStyle/>
          <a:p>
            <a:pPr algn="ctr" indent="0" marL="0">
              <a:buNone/>
            </a:pPr>
            <a:r>
              <a:rPr lang="en-US" sz="1420" dirty="0">
                <a:solidFill>
                  <a:srgbClr val="BCEBFF"/>
                </a:solidFill>
                <a:latin typeface="Aptos" pitchFamily="34" charset="0"/>
                <a:ea typeface="Aptos" pitchFamily="34" charset="-122"/>
                <a:cs typeface="Aptos" pitchFamily="34" charset="-120"/>
              </a:rPr>
              <a:t>48%</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6"/>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2F333B"/>
                </a:solidFill>
                <a:latin typeface="Aptos" pitchFamily="34" charset="0"/>
                <a:ea typeface="Aptos" pitchFamily="34" charset="-122"/>
                <a:cs typeface="Aptos" pitchFamily="34" charset="-120"/>
              </a:rPr>
              <a:t>Analyse au niveau du programme : Commission des éditeurs</a:t>
            </a:r>
            <a:endParaRPr lang="en-US" sz="2800" dirty="0"/>
          </a:p>
        </p:txBody>
      </p:sp>
      <p:sp>
        <p:nvSpPr>
          <p:cNvPr id="4" name="Text 1"/>
          <p:cNvSpPr/>
          <p:nvPr/>
        </p:nvSpPr>
        <p:spPr>
          <a:xfrm>
            <a:off x="640080" y="1316736"/>
            <a:ext cx="10972800" cy="310896"/>
          </a:xfrm>
          <a:prstGeom prst="rect">
            <a:avLst/>
          </a:prstGeom>
          <a:noFill/>
          <a:ln/>
        </p:spPr>
        <p:txBody>
          <a:bodyPr wrap="square" lIns="0" tIns="0" rIns="0" bIns="0" rtlCol="0" anchor="ctr"/>
          <a:lstStyle/>
          <a:p>
            <a:pPr algn="ctr" indent="0" marL="0">
              <a:buNone/>
            </a:pPr>
            <a:r>
              <a:rPr lang="en-US" sz="1100" dirty="0">
                <a:solidFill>
                  <a:srgbClr val="2F6FF2"/>
                </a:solidFill>
                <a:latin typeface="Aptos" pitchFamily="34" charset="0"/>
                <a:ea typeface="Aptos" pitchFamily="34" charset="-122"/>
                <a:cs typeface="Aptos" pitchFamily="34" charset="-120"/>
              </a:rPr>
              <a:t>Vue par programme commandée par commission de l'éditeur.</a:t>
            </a:r>
            <a:endParaRPr lang="en-US" sz="1100" dirty="0"/>
          </a:p>
        </p:txBody>
      </p:sp>
      <p:sp>
        <p:nvSpPr>
          <p:cNvPr id="5" name="Shape 2"/>
          <p:cNvSpPr/>
          <p:nvPr/>
        </p:nvSpPr>
        <p:spPr>
          <a:xfrm>
            <a:off x="365760" y="1627632"/>
            <a:ext cx="11430000" cy="5042916"/>
          </a:xfrm>
          <a:prstGeom prst="rect">
            <a:avLst/>
          </a:prstGeom>
          <a:solidFill>
            <a:srgbClr val="F3F4F6"/>
          </a:solidFill>
          <a:ln w="12700">
            <a:solidFill>
              <a:srgbClr val="D6DAE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5488" y="1719072"/>
          <a:ext cx="11210544" cy="4896612"/>
        </p:xfrm>
        <a:graphic>
          <a:graphicData uri="http://schemas.openxmlformats.org/drawingml/2006/table">
            <a:tbl>
              <a:tblPr/>
              <a:tblGrid>
                <a:gridCol w="1121054"/>
                <a:gridCol w="1121054"/>
                <a:gridCol w="1121054"/>
                <a:gridCol w="1121054"/>
                <a:gridCol w="1121054"/>
                <a:gridCol w="1121054"/>
                <a:gridCol w="1121054"/>
                <a:gridCol w="1121054"/>
                <a:gridCol w="1121054"/>
                <a:gridCol w="1121054"/>
              </a:tblGrid>
              <a:tr h="430682">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ID du programme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Nom du programme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Commission de l'éditeur</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Portefeuille numérique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Gains totaux</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Conversions</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Valeur de la commande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Commission de l'éditeur % par rapport à l'année précédente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Bénéfice en glissement annuel %</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Conversions sur un an %</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300817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getyourguide.co.uk</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€127,700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€3,000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€130,700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11,448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€1,706,070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+89.5%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+80.5%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+52.7%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359210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Restez sûr</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€110,397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€2,041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€112,438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2,057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€415,845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+47.7%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+47.1%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+61.2%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246156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Épicerie Morrisons</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€78,525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€2,000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€80,525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53,388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€5,651,204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-64.8%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-67.7%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254701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Sixt Rent a Car Royaume-Uni</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€39,696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€1,538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€41,233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1,087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€391,466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+79.6%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+72.3%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+68.8%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359223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Assurance voyage Avanti</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€35,673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€117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€35,790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489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€137,906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+83.6%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+84.2%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+83.8%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122083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Ligne murale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€27,346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€27,346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1,405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€542,299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-44.9%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-44.9%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-43.6%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324849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Direct Ferries Royaume-Uni</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€19,314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€19,314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1,512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€487,070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+102.8%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+102.8%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+103.2%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324414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Assurer et partir</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€17,816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€17,816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850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€81,450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-40.1%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-69.5%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-22.2%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8854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Disneyland Paris FR</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€17,352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€17,352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885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€812,202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-60.1%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-62.8%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-22.9%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236409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eFlorist Royaume-Uni</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€14,537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€14,537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2,801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€86,351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-40.1%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-40.1%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-44.5%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329603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ArgentFerme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€13,820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€35,065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€48,885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€413,884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-83.7%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-61.5%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-73.1%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72161">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381677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Assurance Rose Rouge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€9,611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€9,611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€346,033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N / A</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N / A</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N / A</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6"/>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2F333B"/>
                </a:solidFill>
                <a:latin typeface="Aptos" pitchFamily="34" charset="0"/>
                <a:ea typeface="Aptos" pitchFamily="34" charset="-122"/>
                <a:cs typeface="Aptos" pitchFamily="34" charset="-120"/>
              </a:rPr>
              <a:t>Movers &amp; Shakers : Commission de l'éditeur</a:t>
            </a:r>
            <a:endParaRPr lang="en-US" sz="2800" dirty="0"/>
          </a:p>
        </p:txBody>
      </p:sp>
      <p:sp>
        <p:nvSpPr>
          <p:cNvPr id="4" name="Text 1"/>
          <p:cNvSpPr/>
          <p:nvPr/>
        </p:nvSpPr>
        <p:spPr>
          <a:xfrm>
            <a:off x="640080" y="1316736"/>
            <a:ext cx="10972800" cy="310896"/>
          </a:xfrm>
          <a:prstGeom prst="rect">
            <a:avLst/>
          </a:prstGeom>
          <a:noFill/>
          <a:ln/>
        </p:spPr>
        <p:txBody>
          <a:bodyPr wrap="square" lIns="0" tIns="0" rIns="0" bIns="0" rtlCol="0" anchor="ctr"/>
          <a:lstStyle/>
          <a:p>
            <a:pPr algn="ctr" indent="0" marL="0">
              <a:buNone/>
            </a:pPr>
            <a:r>
              <a:rPr lang="en-US" sz="1100" dirty="0">
                <a:solidFill>
                  <a:srgbClr val="2F6FF2"/>
                </a:solidFill>
                <a:latin typeface="Aptos" pitchFamily="34" charset="0"/>
                <a:ea typeface="Aptos" pitchFamily="34" charset="-122"/>
                <a:cs typeface="Aptos" pitchFamily="34" charset="-120"/>
              </a:rPr>
              <a:t>Top 10 des changements positifs et négatifs des commissions des éditeurs d'une période à l'autre.</a:t>
            </a:r>
            <a:endParaRPr lang="en-US" sz="1100" dirty="0"/>
          </a:p>
        </p:txBody>
      </p:sp>
      <p:sp>
        <p:nvSpPr>
          <p:cNvPr id="5" name="Text 2"/>
          <p:cNvSpPr/>
          <p:nvPr/>
        </p:nvSpPr>
        <p:spPr>
          <a:xfrm>
            <a:off x="530352" y="1298448"/>
            <a:ext cx="11137392" cy="182880"/>
          </a:xfrm>
          <a:prstGeom prst="rect">
            <a:avLst/>
          </a:prstGeom>
          <a:noFill/>
          <a:ln/>
        </p:spPr>
        <p:txBody>
          <a:bodyPr wrap="square" lIns="0" tIns="0" rIns="0" bIns="0" rtlCol="0" anchor="ctr"/>
          <a:lstStyle/>
          <a:p>
            <a:pPr algn="ctr" indent="0" marL="0">
              <a:buNone/>
            </a:pPr>
            <a:r>
              <a:rPr lang="en-US" sz="880" dirty="0">
                <a:solidFill>
                  <a:srgbClr val="5B6372"/>
                </a:solidFill>
                <a:latin typeface="Aptos" pitchFamily="34" charset="0"/>
                <a:ea typeface="Aptos" pitchFamily="34" charset="-122"/>
                <a:cs typeface="Aptos" pitchFamily="34" charset="-120"/>
              </a:rPr>
              <a:t>Partners with most change in publisher commission period-on-period</a:t>
            </a:r>
            <a:endParaRPr lang="en-US" sz="880" dirty="0"/>
          </a:p>
        </p:txBody>
      </p:sp>
      <p:sp>
        <p:nvSpPr>
          <p:cNvPr id="6" name="Shape 3"/>
          <p:cNvSpPr/>
          <p:nvPr/>
        </p:nvSpPr>
        <p:spPr>
          <a:xfrm>
            <a:off x="4050792" y="1591056"/>
            <a:ext cx="0" cy="4846320"/>
          </a:xfrm>
          <a:prstGeom prst="line">
            <a:avLst/>
          </a:prstGeom>
          <a:noFill/>
          <a:ln w="12700">
            <a:solidFill>
              <a:srgbClr val="E0E4EC">
                <a:alpha val="88000"/>
              </a:srgbClr>
            </a:solidFill>
            <a:prstDash val="solid"/>
          </a:ln>
        </p:spPr>
      </p:sp>
      <p:sp>
        <p:nvSpPr>
          <p:cNvPr id="7" name="Shape 4"/>
          <p:cNvSpPr/>
          <p:nvPr/>
        </p:nvSpPr>
        <p:spPr>
          <a:xfrm>
            <a:off x="5721858" y="1591056"/>
            <a:ext cx="0" cy="4846320"/>
          </a:xfrm>
          <a:prstGeom prst="line">
            <a:avLst/>
          </a:prstGeom>
          <a:noFill/>
          <a:ln w="12700">
            <a:solidFill>
              <a:srgbClr val="E0E4EC">
                <a:alpha val="88000"/>
              </a:srgbClr>
            </a:solidFill>
            <a:prstDash val="solid"/>
          </a:ln>
        </p:spPr>
      </p:sp>
      <p:sp>
        <p:nvSpPr>
          <p:cNvPr id="8" name="Shape 5"/>
          <p:cNvSpPr/>
          <p:nvPr/>
        </p:nvSpPr>
        <p:spPr>
          <a:xfrm>
            <a:off x="7392924" y="1591056"/>
            <a:ext cx="0" cy="4846320"/>
          </a:xfrm>
          <a:prstGeom prst="line">
            <a:avLst/>
          </a:prstGeom>
          <a:noFill/>
          <a:ln w="12700">
            <a:solidFill>
              <a:srgbClr val="7B8190"/>
            </a:solidFill>
            <a:prstDash val="solid"/>
          </a:ln>
        </p:spPr>
      </p:sp>
      <p:sp>
        <p:nvSpPr>
          <p:cNvPr id="9" name="Shape 6"/>
          <p:cNvSpPr/>
          <p:nvPr/>
        </p:nvSpPr>
        <p:spPr>
          <a:xfrm>
            <a:off x="9063990" y="1591056"/>
            <a:ext cx="0" cy="4846320"/>
          </a:xfrm>
          <a:prstGeom prst="line">
            <a:avLst/>
          </a:prstGeom>
          <a:noFill/>
          <a:ln w="12700">
            <a:solidFill>
              <a:srgbClr val="E0E4EC">
                <a:alpha val="88000"/>
              </a:srgbClr>
            </a:solidFill>
            <a:prstDash val="solid"/>
          </a:ln>
        </p:spPr>
      </p:sp>
      <p:sp>
        <p:nvSpPr>
          <p:cNvPr id="10" name="Shape 7"/>
          <p:cNvSpPr/>
          <p:nvPr/>
        </p:nvSpPr>
        <p:spPr>
          <a:xfrm>
            <a:off x="10735056" y="1591056"/>
            <a:ext cx="0" cy="4846320"/>
          </a:xfrm>
          <a:prstGeom prst="line">
            <a:avLst/>
          </a:prstGeom>
          <a:noFill/>
          <a:ln w="12700">
            <a:solidFill>
              <a:srgbClr val="E0E4EC">
                <a:alpha val="88000"/>
              </a:srgbClr>
            </a:solidFill>
            <a:prstDash val="solid"/>
          </a:ln>
        </p:spPr>
      </p:sp>
      <p:sp>
        <p:nvSpPr>
          <p:cNvPr id="11" name="Text 8"/>
          <p:cNvSpPr/>
          <p:nvPr/>
        </p:nvSpPr>
        <p:spPr>
          <a:xfrm>
            <a:off x="530352" y="1622054"/>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getyourguide.co.uk (+89.5%)</a:t>
            </a:r>
            <a:endParaRPr lang="en-US" sz="580" dirty="0"/>
          </a:p>
        </p:txBody>
      </p:sp>
      <p:sp>
        <p:nvSpPr>
          <p:cNvPr id="12" name="Shape 9"/>
          <p:cNvSpPr/>
          <p:nvPr/>
        </p:nvSpPr>
        <p:spPr>
          <a:xfrm>
            <a:off x="7392924" y="1654058"/>
            <a:ext cx="1394499" cy="116312"/>
          </a:xfrm>
          <a:prstGeom prst="rect">
            <a:avLst/>
          </a:prstGeom>
          <a:solidFill>
            <a:srgbClr val="2F6FF2">
              <a:alpha val="96000"/>
            </a:srgbClr>
          </a:solidFill>
          <a:ln w="12700">
            <a:solidFill>
              <a:srgbClr val="2F6FF2"/>
            </a:solidFill>
            <a:prstDash val="solid"/>
          </a:ln>
        </p:spPr>
      </p:sp>
      <p:sp>
        <p:nvSpPr>
          <p:cNvPr id="13" name="Text 10"/>
          <p:cNvSpPr/>
          <p:nvPr/>
        </p:nvSpPr>
        <p:spPr>
          <a:xfrm>
            <a:off x="8833143" y="1640342"/>
            <a:ext cx="841248" cy="152888"/>
          </a:xfrm>
          <a:prstGeom prst="rect">
            <a:avLst/>
          </a:prstGeom>
          <a:noFill/>
          <a:ln/>
        </p:spPr>
        <p:txBody>
          <a:bodyPr wrap="square" lIns="0" tIns="0" rIns="0" bIns="0" rtlCol="0" anchor="ctr"/>
          <a:lstStyle/>
          <a:p>
            <a:pPr algn="l" indent="0" marL="0">
              <a:buNone/>
            </a:pPr>
            <a:r>
              <a:rPr lang="en-US" sz="570" dirty="0">
                <a:solidFill>
                  <a:srgbClr val="2F333B"/>
                </a:solidFill>
                <a:latin typeface="Aptos" pitchFamily="34" charset="0"/>
                <a:ea typeface="Aptos" pitchFamily="34" charset="-122"/>
                <a:cs typeface="Aptos" pitchFamily="34" charset="-120"/>
              </a:rPr>
              <a:t>€60,298</a:t>
            </a:r>
            <a:endParaRPr lang="en-US" sz="570" dirty="0"/>
          </a:p>
        </p:txBody>
      </p:sp>
      <p:sp>
        <p:nvSpPr>
          <p:cNvPr id="14" name="Text 11"/>
          <p:cNvSpPr/>
          <p:nvPr/>
        </p:nvSpPr>
        <p:spPr>
          <a:xfrm>
            <a:off x="530352" y="1864370"/>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Staysure (+47.7%)</a:t>
            </a:r>
            <a:endParaRPr lang="en-US" sz="580" dirty="0"/>
          </a:p>
        </p:txBody>
      </p:sp>
      <p:sp>
        <p:nvSpPr>
          <p:cNvPr id="15" name="Shape 12"/>
          <p:cNvSpPr/>
          <p:nvPr/>
        </p:nvSpPr>
        <p:spPr>
          <a:xfrm>
            <a:off x="7392924" y="1896374"/>
            <a:ext cx="824623" cy="116312"/>
          </a:xfrm>
          <a:prstGeom prst="rect">
            <a:avLst/>
          </a:prstGeom>
          <a:solidFill>
            <a:srgbClr val="2F6FF2">
              <a:alpha val="96000"/>
            </a:srgbClr>
          </a:solidFill>
          <a:ln w="12700">
            <a:solidFill>
              <a:srgbClr val="2F6FF2"/>
            </a:solidFill>
            <a:prstDash val="solid"/>
          </a:ln>
        </p:spPr>
      </p:sp>
      <p:sp>
        <p:nvSpPr>
          <p:cNvPr id="16" name="Text 13"/>
          <p:cNvSpPr/>
          <p:nvPr/>
        </p:nvSpPr>
        <p:spPr>
          <a:xfrm>
            <a:off x="8263267" y="1882658"/>
            <a:ext cx="841248" cy="152888"/>
          </a:xfrm>
          <a:prstGeom prst="rect">
            <a:avLst/>
          </a:prstGeom>
          <a:noFill/>
          <a:ln/>
        </p:spPr>
        <p:txBody>
          <a:bodyPr wrap="square" lIns="0" tIns="0" rIns="0" bIns="0" rtlCol="0" anchor="ctr"/>
          <a:lstStyle/>
          <a:p>
            <a:pPr algn="l" indent="0" marL="0">
              <a:buNone/>
            </a:pPr>
            <a:r>
              <a:rPr lang="en-US" sz="570" dirty="0">
                <a:solidFill>
                  <a:srgbClr val="2F333B"/>
                </a:solidFill>
                <a:latin typeface="Aptos" pitchFamily="34" charset="0"/>
                <a:ea typeface="Aptos" pitchFamily="34" charset="-122"/>
                <a:cs typeface="Aptos" pitchFamily="34" charset="-120"/>
              </a:rPr>
              <a:t>€35,657</a:t>
            </a:r>
            <a:endParaRPr lang="en-US" sz="570" dirty="0"/>
          </a:p>
        </p:txBody>
      </p:sp>
      <p:sp>
        <p:nvSpPr>
          <p:cNvPr id="17" name="Text 14"/>
          <p:cNvSpPr/>
          <p:nvPr/>
        </p:nvSpPr>
        <p:spPr>
          <a:xfrm>
            <a:off x="530352" y="2106686"/>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Sixt Rent a Car UK (+79.6%)</a:t>
            </a:r>
            <a:endParaRPr lang="en-US" sz="580" dirty="0"/>
          </a:p>
        </p:txBody>
      </p:sp>
      <p:sp>
        <p:nvSpPr>
          <p:cNvPr id="18" name="Shape 15"/>
          <p:cNvSpPr/>
          <p:nvPr/>
        </p:nvSpPr>
        <p:spPr>
          <a:xfrm>
            <a:off x="7392924" y="2138690"/>
            <a:ext cx="406874" cy="116312"/>
          </a:xfrm>
          <a:prstGeom prst="rect">
            <a:avLst/>
          </a:prstGeom>
          <a:solidFill>
            <a:srgbClr val="2F6FF2">
              <a:alpha val="96000"/>
            </a:srgbClr>
          </a:solidFill>
          <a:ln w="12700">
            <a:solidFill>
              <a:srgbClr val="2F6FF2"/>
            </a:solidFill>
            <a:prstDash val="solid"/>
          </a:ln>
        </p:spPr>
      </p:sp>
      <p:sp>
        <p:nvSpPr>
          <p:cNvPr id="19" name="Text 16"/>
          <p:cNvSpPr/>
          <p:nvPr/>
        </p:nvSpPr>
        <p:spPr>
          <a:xfrm>
            <a:off x="7845518" y="2124974"/>
            <a:ext cx="841248" cy="152888"/>
          </a:xfrm>
          <a:prstGeom prst="rect">
            <a:avLst/>
          </a:prstGeom>
          <a:noFill/>
          <a:ln/>
        </p:spPr>
        <p:txBody>
          <a:bodyPr wrap="square" lIns="0" tIns="0" rIns="0" bIns="0" rtlCol="0" anchor="ctr"/>
          <a:lstStyle/>
          <a:p>
            <a:pPr algn="l" indent="0" marL="0">
              <a:buNone/>
            </a:pPr>
            <a:r>
              <a:rPr lang="en-US" sz="570" dirty="0">
                <a:solidFill>
                  <a:srgbClr val="2F333B"/>
                </a:solidFill>
                <a:latin typeface="Aptos" pitchFamily="34" charset="0"/>
                <a:ea typeface="Aptos" pitchFamily="34" charset="-122"/>
                <a:cs typeface="Aptos" pitchFamily="34" charset="-120"/>
              </a:rPr>
              <a:t>€17,593</a:t>
            </a:r>
            <a:endParaRPr lang="en-US" sz="570" dirty="0"/>
          </a:p>
        </p:txBody>
      </p:sp>
      <p:sp>
        <p:nvSpPr>
          <p:cNvPr id="20" name="Text 17"/>
          <p:cNvSpPr/>
          <p:nvPr/>
        </p:nvSpPr>
        <p:spPr>
          <a:xfrm>
            <a:off x="530352" y="2349002"/>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Avanti Travel Insurance (+83.6%)</a:t>
            </a:r>
            <a:endParaRPr lang="en-US" sz="580" dirty="0"/>
          </a:p>
        </p:txBody>
      </p:sp>
      <p:sp>
        <p:nvSpPr>
          <p:cNvPr id="21" name="Shape 18"/>
          <p:cNvSpPr/>
          <p:nvPr/>
        </p:nvSpPr>
        <p:spPr>
          <a:xfrm>
            <a:off x="7392924" y="2381006"/>
            <a:ext cx="375682" cy="116312"/>
          </a:xfrm>
          <a:prstGeom prst="rect">
            <a:avLst/>
          </a:prstGeom>
          <a:solidFill>
            <a:srgbClr val="2F6FF2">
              <a:alpha val="96000"/>
            </a:srgbClr>
          </a:solidFill>
          <a:ln w="12700">
            <a:solidFill>
              <a:srgbClr val="2F6FF2"/>
            </a:solidFill>
            <a:prstDash val="solid"/>
          </a:ln>
        </p:spPr>
      </p:sp>
      <p:sp>
        <p:nvSpPr>
          <p:cNvPr id="22" name="Text 19"/>
          <p:cNvSpPr/>
          <p:nvPr/>
        </p:nvSpPr>
        <p:spPr>
          <a:xfrm>
            <a:off x="7814326" y="2367290"/>
            <a:ext cx="841248" cy="152888"/>
          </a:xfrm>
          <a:prstGeom prst="rect">
            <a:avLst/>
          </a:prstGeom>
          <a:noFill/>
          <a:ln/>
        </p:spPr>
        <p:txBody>
          <a:bodyPr wrap="square" lIns="0" tIns="0" rIns="0" bIns="0" rtlCol="0" anchor="ctr"/>
          <a:lstStyle/>
          <a:p>
            <a:pPr algn="l" indent="0" marL="0">
              <a:buNone/>
            </a:pPr>
            <a:r>
              <a:rPr lang="en-US" sz="570" dirty="0">
                <a:solidFill>
                  <a:srgbClr val="2F333B"/>
                </a:solidFill>
                <a:latin typeface="Aptos" pitchFamily="34" charset="0"/>
                <a:ea typeface="Aptos" pitchFamily="34" charset="-122"/>
                <a:cs typeface="Aptos" pitchFamily="34" charset="-120"/>
              </a:rPr>
              <a:t>€16,244</a:t>
            </a:r>
            <a:endParaRPr lang="en-US" sz="570" dirty="0"/>
          </a:p>
        </p:txBody>
      </p:sp>
      <p:sp>
        <p:nvSpPr>
          <p:cNvPr id="23" name="Text 20"/>
          <p:cNvSpPr/>
          <p:nvPr/>
        </p:nvSpPr>
        <p:spPr>
          <a:xfrm>
            <a:off x="530352" y="2591318"/>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Direct Ferries UK (+102.8%)</a:t>
            </a:r>
            <a:endParaRPr lang="en-US" sz="580" dirty="0"/>
          </a:p>
        </p:txBody>
      </p:sp>
      <p:sp>
        <p:nvSpPr>
          <p:cNvPr id="24" name="Shape 21"/>
          <p:cNvSpPr/>
          <p:nvPr/>
        </p:nvSpPr>
        <p:spPr>
          <a:xfrm>
            <a:off x="7392924" y="2623322"/>
            <a:ext cx="226407" cy="116312"/>
          </a:xfrm>
          <a:prstGeom prst="rect">
            <a:avLst/>
          </a:prstGeom>
          <a:solidFill>
            <a:srgbClr val="2F6FF2">
              <a:alpha val="96000"/>
            </a:srgbClr>
          </a:solidFill>
          <a:ln w="12700">
            <a:solidFill>
              <a:srgbClr val="2F6FF2"/>
            </a:solidFill>
            <a:prstDash val="solid"/>
          </a:ln>
        </p:spPr>
      </p:sp>
      <p:sp>
        <p:nvSpPr>
          <p:cNvPr id="25" name="Text 22"/>
          <p:cNvSpPr/>
          <p:nvPr/>
        </p:nvSpPr>
        <p:spPr>
          <a:xfrm>
            <a:off x="7665051" y="2609606"/>
            <a:ext cx="841248" cy="152888"/>
          </a:xfrm>
          <a:prstGeom prst="rect">
            <a:avLst/>
          </a:prstGeom>
          <a:noFill/>
          <a:ln/>
        </p:spPr>
        <p:txBody>
          <a:bodyPr wrap="square" lIns="0" tIns="0" rIns="0" bIns="0" rtlCol="0" anchor="ctr"/>
          <a:lstStyle/>
          <a:p>
            <a:pPr algn="l" indent="0" marL="0">
              <a:buNone/>
            </a:pPr>
            <a:r>
              <a:rPr lang="en-US" sz="570" dirty="0">
                <a:solidFill>
                  <a:srgbClr val="2F333B"/>
                </a:solidFill>
                <a:latin typeface="Aptos" pitchFamily="34" charset="0"/>
                <a:ea typeface="Aptos" pitchFamily="34" charset="-122"/>
                <a:cs typeface="Aptos" pitchFamily="34" charset="-120"/>
              </a:rPr>
              <a:t>€9,790</a:t>
            </a:r>
            <a:endParaRPr lang="en-US" sz="570" dirty="0"/>
          </a:p>
        </p:txBody>
      </p:sp>
      <p:sp>
        <p:nvSpPr>
          <p:cNvPr id="26" name="Text 23"/>
          <p:cNvSpPr/>
          <p:nvPr/>
        </p:nvSpPr>
        <p:spPr>
          <a:xfrm>
            <a:off x="530352" y="2833634"/>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Red Rose Assurance (N/A)</a:t>
            </a:r>
            <a:endParaRPr lang="en-US" sz="580" dirty="0"/>
          </a:p>
        </p:txBody>
      </p:sp>
      <p:sp>
        <p:nvSpPr>
          <p:cNvPr id="27" name="Shape 24"/>
          <p:cNvSpPr/>
          <p:nvPr/>
        </p:nvSpPr>
        <p:spPr>
          <a:xfrm>
            <a:off x="7392924" y="2865638"/>
            <a:ext cx="222283" cy="116312"/>
          </a:xfrm>
          <a:prstGeom prst="rect">
            <a:avLst/>
          </a:prstGeom>
          <a:solidFill>
            <a:srgbClr val="2F6FF2">
              <a:alpha val="96000"/>
            </a:srgbClr>
          </a:solidFill>
          <a:ln w="12700">
            <a:solidFill>
              <a:srgbClr val="2F6FF2"/>
            </a:solidFill>
            <a:prstDash val="solid"/>
          </a:ln>
        </p:spPr>
      </p:sp>
      <p:sp>
        <p:nvSpPr>
          <p:cNvPr id="28" name="Text 25"/>
          <p:cNvSpPr/>
          <p:nvPr/>
        </p:nvSpPr>
        <p:spPr>
          <a:xfrm>
            <a:off x="7660927" y="2851922"/>
            <a:ext cx="841248" cy="152888"/>
          </a:xfrm>
          <a:prstGeom prst="rect">
            <a:avLst/>
          </a:prstGeom>
          <a:noFill/>
          <a:ln/>
        </p:spPr>
        <p:txBody>
          <a:bodyPr wrap="square" lIns="0" tIns="0" rIns="0" bIns="0" rtlCol="0" anchor="ctr"/>
          <a:lstStyle/>
          <a:p>
            <a:pPr algn="l" indent="0" marL="0">
              <a:buNone/>
            </a:pPr>
            <a:r>
              <a:rPr lang="en-US" sz="570" dirty="0">
                <a:solidFill>
                  <a:srgbClr val="2F333B"/>
                </a:solidFill>
                <a:latin typeface="Aptos" pitchFamily="34" charset="0"/>
                <a:ea typeface="Aptos" pitchFamily="34" charset="-122"/>
                <a:cs typeface="Aptos" pitchFamily="34" charset="-120"/>
              </a:rPr>
              <a:t>€9,611</a:t>
            </a:r>
            <a:endParaRPr lang="en-US" sz="570" dirty="0"/>
          </a:p>
        </p:txBody>
      </p:sp>
      <p:sp>
        <p:nvSpPr>
          <p:cNvPr id="29" name="Text 26"/>
          <p:cNvSpPr/>
          <p:nvPr/>
        </p:nvSpPr>
        <p:spPr>
          <a:xfrm>
            <a:off x="530352" y="3075950"/>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Petgevity (+259.9%)</a:t>
            </a:r>
            <a:endParaRPr lang="en-US" sz="580" dirty="0"/>
          </a:p>
        </p:txBody>
      </p:sp>
      <p:sp>
        <p:nvSpPr>
          <p:cNvPr id="30" name="Shape 27"/>
          <p:cNvSpPr/>
          <p:nvPr/>
        </p:nvSpPr>
        <p:spPr>
          <a:xfrm>
            <a:off x="7392924" y="3107954"/>
            <a:ext cx="143195" cy="116312"/>
          </a:xfrm>
          <a:prstGeom prst="rect">
            <a:avLst/>
          </a:prstGeom>
          <a:solidFill>
            <a:srgbClr val="2F6FF2">
              <a:alpha val="96000"/>
            </a:srgbClr>
          </a:solidFill>
          <a:ln w="12700">
            <a:solidFill>
              <a:srgbClr val="2F6FF2"/>
            </a:solidFill>
            <a:prstDash val="solid"/>
          </a:ln>
        </p:spPr>
      </p:sp>
      <p:sp>
        <p:nvSpPr>
          <p:cNvPr id="31" name="Text 28"/>
          <p:cNvSpPr/>
          <p:nvPr/>
        </p:nvSpPr>
        <p:spPr>
          <a:xfrm>
            <a:off x="7581839" y="3094238"/>
            <a:ext cx="841248" cy="152888"/>
          </a:xfrm>
          <a:prstGeom prst="rect">
            <a:avLst/>
          </a:prstGeom>
          <a:noFill/>
          <a:ln/>
        </p:spPr>
        <p:txBody>
          <a:bodyPr wrap="square" lIns="0" tIns="0" rIns="0" bIns="0" rtlCol="0" anchor="ctr"/>
          <a:lstStyle/>
          <a:p>
            <a:pPr algn="l" indent="0" marL="0">
              <a:buNone/>
            </a:pPr>
            <a:r>
              <a:rPr lang="en-US" sz="570" dirty="0">
                <a:solidFill>
                  <a:srgbClr val="2F333B"/>
                </a:solidFill>
                <a:latin typeface="Aptos" pitchFamily="34" charset="0"/>
                <a:ea typeface="Aptos" pitchFamily="34" charset="-122"/>
                <a:cs typeface="Aptos" pitchFamily="34" charset="-120"/>
              </a:rPr>
              <a:t>€6,192</a:t>
            </a:r>
            <a:endParaRPr lang="en-US" sz="570" dirty="0"/>
          </a:p>
        </p:txBody>
      </p:sp>
      <p:sp>
        <p:nvSpPr>
          <p:cNvPr id="32" name="Text 29"/>
          <p:cNvSpPr/>
          <p:nvPr/>
        </p:nvSpPr>
        <p:spPr>
          <a:xfrm>
            <a:off x="530352" y="3318266"/>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The Mortgage Genie (+145.9%)</a:t>
            </a:r>
            <a:endParaRPr lang="en-US" sz="580" dirty="0"/>
          </a:p>
        </p:txBody>
      </p:sp>
      <p:sp>
        <p:nvSpPr>
          <p:cNvPr id="33" name="Shape 30"/>
          <p:cNvSpPr/>
          <p:nvPr/>
        </p:nvSpPr>
        <p:spPr>
          <a:xfrm>
            <a:off x="7392924" y="3350270"/>
            <a:ext cx="131502" cy="116312"/>
          </a:xfrm>
          <a:prstGeom prst="rect">
            <a:avLst/>
          </a:prstGeom>
          <a:solidFill>
            <a:srgbClr val="2F6FF2">
              <a:alpha val="96000"/>
            </a:srgbClr>
          </a:solidFill>
          <a:ln w="12700">
            <a:solidFill>
              <a:srgbClr val="2F6FF2"/>
            </a:solidFill>
            <a:prstDash val="solid"/>
          </a:ln>
        </p:spPr>
      </p:sp>
      <p:sp>
        <p:nvSpPr>
          <p:cNvPr id="34" name="Text 31"/>
          <p:cNvSpPr/>
          <p:nvPr/>
        </p:nvSpPr>
        <p:spPr>
          <a:xfrm>
            <a:off x="7570146" y="3336554"/>
            <a:ext cx="841248" cy="152888"/>
          </a:xfrm>
          <a:prstGeom prst="rect">
            <a:avLst/>
          </a:prstGeom>
          <a:noFill/>
          <a:ln/>
        </p:spPr>
        <p:txBody>
          <a:bodyPr wrap="square" lIns="0" tIns="0" rIns="0" bIns="0" rtlCol="0" anchor="ctr"/>
          <a:lstStyle/>
          <a:p>
            <a:pPr algn="l" indent="0" marL="0">
              <a:buNone/>
            </a:pPr>
            <a:r>
              <a:rPr lang="en-US" sz="570" dirty="0">
                <a:solidFill>
                  <a:srgbClr val="2F333B"/>
                </a:solidFill>
                <a:latin typeface="Aptos" pitchFamily="34" charset="0"/>
                <a:ea typeface="Aptos" pitchFamily="34" charset="-122"/>
                <a:cs typeface="Aptos" pitchFamily="34" charset="-120"/>
              </a:rPr>
              <a:t>€5,686</a:t>
            </a:r>
            <a:endParaRPr lang="en-US" sz="570" dirty="0"/>
          </a:p>
        </p:txBody>
      </p:sp>
      <p:sp>
        <p:nvSpPr>
          <p:cNvPr id="35" name="Text 32"/>
          <p:cNvSpPr/>
          <p:nvPr/>
        </p:nvSpPr>
        <p:spPr>
          <a:xfrm>
            <a:off x="530352" y="3560582"/>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Serenata Flowers (N/A)</a:t>
            </a:r>
            <a:endParaRPr lang="en-US" sz="580" dirty="0"/>
          </a:p>
        </p:txBody>
      </p:sp>
      <p:sp>
        <p:nvSpPr>
          <p:cNvPr id="36" name="Shape 33"/>
          <p:cNvSpPr/>
          <p:nvPr/>
        </p:nvSpPr>
        <p:spPr>
          <a:xfrm>
            <a:off x="7392924" y="3592586"/>
            <a:ext cx="122377" cy="116312"/>
          </a:xfrm>
          <a:prstGeom prst="rect">
            <a:avLst/>
          </a:prstGeom>
          <a:solidFill>
            <a:srgbClr val="2F6FF2">
              <a:alpha val="96000"/>
            </a:srgbClr>
          </a:solidFill>
          <a:ln w="12700">
            <a:solidFill>
              <a:srgbClr val="2F6FF2"/>
            </a:solidFill>
            <a:prstDash val="solid"/>
          </a:ln>
        </p:spPr>
      </p:sp>
      <p:sp>
        <p:nvSpPr>
          <p:cNvPr id="37" name="Text 34"/>
          <p:cNvSpPr/>
          <p:nvPr/>
        </p:nvSpPr>
        <p:spPr>
          <a:xfrm>
            <a:off x="7561021" y="3578870"/>
            <a:ext cx="841248" cy="152888"/>
          </a:xfrm>
          <a:prstGeom prst="rect">
            <a:avLst/>
          </a:prstGeom>
          <a:noFill/>
          <a:ln/>
        </p:spPr>
        <p:txBody>
          <a:bodyPr wrap="square" lIns="0" tIns="0" rIns="0" bIns="0" rtlCol="0" anchor="ctr"/>
          <a:lstStyle/>
          <a:p>
            <a:pPr algn="l" indent="0" marL="0">
              <a:buNone/>
            </a:pPr>
            <a:r>
              <a:rPr lang="en-US" sz="570" dirty="0">
                <a:solidFill>
                  <a:srgbClr val="2F333B"/>
                </a:solidFill>
                <a:latin typeface="Aptos" pitchFamily="34" charset="0"/>
                <a:ea typeface="Aptos" pitchFamily="34" charset="-122"/>
                <a:cs typeface="Aptos" pitchFamily="34" charset="-120"/>
              </a:rPr>
              <a:t>€5,292</a:t>
            </a:r>
            <a:endParaRPr lang="en-US" sz="570" dirty="0"/>
          </a:p>
        </p:txBody>
      </p:sp>
      <p:sp>
        <p:nvSpPr>
          <p:cNvPr id="38" name="Text 35"/>
          <p:cNvSpPr/>
          <p:nvPr/>
        </p:nvSpPr>
        <p:spPr>
          <a:xfrm>
            <a:off x="530352" y="3802898"/>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Eurowings UK (+288.6%)</a:t>
            </a:r>
            <a:endParaRPr lang="en-US" sz="580" dirty="0"/>
          </a:p>
        </p:txBody>
      </p:sp>
      <p:sp>
        <p:nvSpPr>
          <p:cNvPr id="39" name="Shape 36"/>
          <p:cNvSpPr/>
          <p:nvPr/>
        </p:nvSpPr>
        <p:spPr>
          <a:xfrm>
            <a:off x="7392924" y="3834902"/>
            <a:ext cx="106518" cy="116312"/>
          </a:xfrm>
          <a:prstGeom prst="rect">
            <a:avLst/>
          </a:prstGeom>
          <a:solidFill>
            <a:srgbClr val="2F6FF2">
              <a:alpha val="96000"/>
            </a:srgbClr>
          </a:solidFill>
          <a:ln w="12700">
            <a:solidFill>
              <a:srgbClr val="2F6FF2"/>
            </a:solidFill>
            <a:prstDash val="solid"/>
          </a:ln>
        </p:spPr>
      </p:sp>
      <p:sp>
        <p:nvSpPr>
          <p:cNvPr id="40" name="Text 37"/>
          <p:cNvSpPr/>
          <p:nvPr/>
        </p:nvSpPr>
        <p:spPr>
          <a:xfrm>
            <a:off x="7545162" y="3821186"/>
            <a:ext cx="841248" cy="152888"/>
          </a:xfrm>
          <a:prstGeom prst="rect">
            <a:avLst/>
          </a:prstGeom>
          <a:noFill/>
          <a:ln/>
        </p:spPr>
        <p:txBody>
          <a:bodyPr wrap="square" lIns="0" tIns="0" rIns="0" bIns="0" rtlCol="0" anchor="ctr"/>
          <a:lstStyle/>
          <a:p>
            <a:pPr algn="l" indent="0" marL="0">
              <a:buNone/>
            </a:pPr>
            <a:r>
              <a:rPr lang="en-US" sz="570" dirty="0">
                <a:solidFill>
                  <a:srgbClr val="2F333B"/>
                </a:solidFill>
                <a:latin typeface="Aptos" pitchFamily="34" charset="0"/>
                <a:ea typeface="Aptos" pitchFamily="34" charset="-122"/>
                <a:cs typeface="Aptos" pitchFamily="34" charset="-120"/>
              </a:rPr>
              <a:t>€4,606</a:t>
            </a:r>
            <a:endParaRPr lang="en-US" sz="570" dirty="0"/>
          </a:p>
        </p:txBody>
      </p:sp>
      <p:sp>
        <p:nvSpPr>
          <p:cNvPr id="41" name="Text 38"/>
          <p:cNvSpPr/>
          <p:nvPr/>
        </p:nvSpPr>
        <p:spPr>
          <a:xfrm>
            <a:off x="530352" y="4045214"/>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eFlorist UK (-40.1%)</a:t>
            </a:r>
            <a:endParaRPr lang="en-US" sz="580" dirty="0"/>
          </a:p>
        </p:txBody>
      </p:sp>
      <p:sp>
        <p:nvSpPr>
          <p:cNvPr id="42" name="Shape 39"/>
          <p:cNvSpPr/>
          <p:nvPr/>
        </p:nvSpPr>
        <p:spPr>
          <a:xfrm>
            <a:off x="7167836" y="4077218"/>
            <a:ext cx="225088" cy="116312"/>
          </a:xfrm>
          <a:prstGeom prst="rect">
            <a:avLst/>
          </a:prstGeom>
          <a:solidFill>
            <a:srgbClr val="EB5757"/>
          </a:solidFill>
          <a:ln w="12700">
            <a:solidFill>
              <a:srgbClr val="EB5757"/>
            </a:solidFill>
            <a:prstDash val="solid"/>
          </a:ln>
        </p:spPr>
      </p:sp>
      <p:sp>
        <p:nvSpPr>
          <p:cNvPr id="43" name="Text 40"/>
          <p:cNvSpPr/>
          <p:nvPr/>
        </p:nvSpPr>
        <p:spPr>
          <a:xfrm>
            <a:off x="6280868" y="4063502"/>
            <a:ext cx="841248" cy="152888"/>
          </a:xfrm>
          <a:prstGeom prst="rect">
            <a:avLst/>
          </a:prstGeom>
          <a:noFill/>
          <a:ln/>
        </p:spPr>
        <p:txBody>
          <a:bodyPr wrap="square" lIns="0" tIns="0" rIns="0" bIns="0" rtlCol="0" anchor="ctr"/>
          <a:lstStyle/>
          <a:p>
            <a:pPr algn="r" indent="0" marL="0">
              <a:buNone/>
            </a:pPr>
            <a:r>
              <a:rPr lang="en-US" sz="570" dirty="0">
                <a:solidFill>
                  <a:srgbClr val="2F333B"/>
                </a:solidFill>
                <a:latin typeface="Aptos" pitchFamily="34" charset="0"/>
                <a:ea typeface="Aptos" pitchFamily="34" charset="-122"/>
                <a:cs typeface="Aptos" pitchFamily="34" charset="-120"/>
              </a:rPr>
              <a:t>-€9,733</a:t>
            </a:r>
            <a:endParaRPr lang="en-US" sz="570" dirty="0"/>
          </a:p>
        </p:txBody>
      </p:sp>
      <p:sp>
        <p:nvSpPr>
          <p:cNvPr id="44" name="Text 41"/>
          <p:cNvSpPr/>
          <p:nvPr/>
        </p:nvSpPr>
        <p:spPr>
          <a:xfrm>
            <a:off x="530352" y="4287530"/>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Lycamobile (-75.3%)</a:t>
            </a:r>
            <a:endParaRPr lang="en-US" sz="580" dirty="0"/>
          </a:p>
        </p:txBody>
      </p:sp>
      <p:sp>
        <p:nvSpPr>
          <p:cNvPr id="45" name="Shape 42"/>
          <p:cNvSpPr/>
          <p:nvPr/>
        </p:nvSpPr>
        <p:spPr>
          <a:xfrm>
            <a:off x="7165837" y="4319534"/>
            <a:ext cx="227087" cy="116312"/>
          </a:xfrm>
          <a:prstGeom prst="rect">
            <a:avLst/>
          </a:prstGeom>
          <a:solidFill>
            <a:srgbClr val="EB5757"/>
          </a:solidFill>
          <a:ln w="12700">
            <a:solidFill>
              <a:srgbClr val="EB5757"/>
            </a:solidFill>
            <a:prstDash val="solid"/>
          </a:ln>
        </p:spPr>
      </p:sp>
      <p:sp>
        <p:nvSpPr>
          <p:cNvPr id="46" name="Text 43"/>
          <p:cNvSpPr/>
          <p:nvPr/>
        </p:nvSpPr>
        <p:spPr>
          <a:xfrm>
            <a:off x="6278869" y="4305818"/>
            <a:ext cx="841248" cy="152888"/>
          </a:xfrm>
          <a:prstGeom prst="rect">
            <a:avLst/>
          </a:prstGeom>
          <a:noFill/>
          <a:ln/>
        </p:spPr>
        <p:txBody>
          <a:bodyPr wrap="square" lIns="0" tIns="0" rIns="0" bIns="0" rtlCol="0" anchor="ctr"/>
          <a:lstStyle/>
          <a:p>
            <a:pPr algn="r" indent="0" marL="0">
              <a:buNone/>
            </a:pPr>
            <a:r>
              <a:rPr lang="en-US" sz="570" dirty="0">
                <a:solidFill>
                  <a:srgbClr val="2F333B"/>
                </a:solidFill>
                <a:latin typeface="Aptos" pitchFamily="34" charset="0"/>
                <a:ea typeface="Aptos" pitchFamily="34" charset="-122"/>
                <a:cs typeface="Aptos" pitchFamily="34" charset="-120"/>
              </a:rPr>
              <a:t>-€9,819</a:t>
            </a:r>
            <a:endParaRPr lang="en-US" sz="570" dirty="0"/>
          </a:p>
        </p:txBody>
      </p:sp>
      <p:sp>
        <p:nvSpPr>
          <p:cNvPr id="47" name="Text 44"/>
          <p:cNvSpPr/>
          <p:nvPr/>
        </p:nvSpPr>
        <p:spPr>
          <a:xfrm>
            <a:off x="530352" y="4529846"/>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Lufthansa UK (-100.0%)</a:t>
            </a:r>
            <a:endParaRPr lang="en-US" sz="580" dirty="0"/>
          </a:p>
        </p:txBody>
      </p:sp>
      <p:sp>
        <p:nvSpPr>
          <p:cNvPr id="48" name="Shape 45"/>
          <p:cNvSpPr/>
          <p:nvPr/>
        </p:nvSpPr>
        <p:spPr>
          <a:xfrm>
            <a:off x="7125097" y="4561850"/>
            <a:ext cx="267827" cy="116312"/>
          </a:xfrm>
          <a:prstGeom prst="rect">
            <a:avLst/>
          </a:prstGeom>
          <a:solidFill>
            <a:srgbClr val="EB5757"/>
          </a:solidFill>
          <a:ln w="12700">
            <a:solidFill>
              <a:srgbClr val="EB5757"/>
            </a:solidFill>
            <a:prstDash val="solid"/>
          </a:ln>
        </p:spPr>
      </p:sp>
      <p:sp>
        <p:nvSpPr>
          <p:cNvPr id="49" name="Text 46"/>
          <p:cNvSpPr/>
          <p:nvPr/>
        </p:nvSpPr>
        <p:spPr>
          <a:xfrm>
            <a:off x="6238129" y="4548134"/>
            <a:ext cx="841248" cy="152888"/>
          </a:xfrm>
          <a:prstGeom prst="rect">
            <a:avLst/>
          </a:prstGeom>
          <a:noFill/>
          <a:ln/>
        </p:spPr>
        <p:txBody>
          <a:bodyPr wrap="square" lIns="0" tIns="0" rIns="0" bIns="0" rtlCol="0" anchor="ctr"/>
          <a:lstStyle/>
          <a:p>
            <a:pPr algn="r" indent="0" marL="0">
              <a:buNone/>
            </a:pPr>
            <a:r>
              <a:rPr lang="en-US" sz="570" dirty="0">
                <a:solidFill>
                  <a:srgbClr val="2F333B"/>
                </a:solidFill>
                <a:latin typeface="Aptos" pitchFamily="34" charset="0"/>
                <a:ea typeface="Aptos" pitchFamily="34" charset="-122"/>
                <a:cs typeface="Aptos" pitchFamily="34" charset="-120"/>
              </a:rPr>
              <a:t>-€11,581</a:t>
            </a:r>
            <a:endParaRPr lang="en-US" sz="570" dirty="0"/>
          </a:p>
        </p:txBody>
      </p:sp>
      <p:sp>
        <p:nvSpPr>
          <p:cNvPr id="50" name="Text 47"/>
          <p:cNvSpPr/>
          <p:nvPr/>
        </p:nvSpPr>
        <p:spPr>
          <a:xfrm>
            <a:off x="530352" y="4772162"/>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InsureandGo (-40.1%)</a:t>
            </a:r>
            <a:endParaRPr lang="en-US" sz="580" dirty="0"/>
          </a:p>
        </p:txBody>
      </p:sp>
      <p:sp>
        <p:nvSpPr>
          <p:cNvPr id="51" name="Shape 48"/>
          <p:cNvSpPr/>
          <p:nvPr/>
        </p:nvSpPr>
        <p:spPr>
          <a:xfrm>
            <a:off x="7116844" y="4804166"/>
            <a:ext cx="276080" cy="116312"/>
          </a:xfrm>
          <a:prstGeom prst="rect">
            <a:avLst/>
          </a:prstGeom>
          <a:solidFill>
            <a:srgbClr val="EB5757"/>
          </a:solidFill>
          <a:ln w="12700">
            <a:solidFill>
              <a:srgbClr val="EB5757"/>
            </a:solidFill>
            <a:prstDash val="solid"/>
          </a:ln>
        </p:spPr>
      </p:sp>
      <p:sp>
        <p:nvSpPr>
          <p:cNvPr id="52" name="Text 49"/>
          <p:cNvSpPr/>
          <p:nvPr/>
        </p:nvSpPr>
        <p:spPr>
          <a:xfrm>
            <a:off x="6229876" y="4790450"/>
            <a:ext cx="841248" cy="152888"/>
          </a:xfrm>
          <a:prstGeom prst="rect">
            <a:avLst/>
          </a:prstGeom>
          <a:noFill/>
          <a:ln/>
        </p:spPr>
        <p:txBody>
          <a:bodyPr wrap="square" lIns="0" tIns="0" rIns="0" bIns="0" rtlCol="0" anchor="ctr"/>
          <a:lstStyle/>
          <a:p>
            <a:pPr algn="r" indent="0" marL="0">
              <a:buNone/>
            </a:pPr>
            <a:r>
              <a:rPr lang="en-US" sz="570" dirty="0">
                <a:solidFill>
                  <a:srgbClr val="2F333B"/>
                </a:solidFill>
                <a:latin typeface="Aptos" pitchFamily="34" charset="0"/>
                <a:ea typeface="Aptos" pitchFamily="34" charset="-122"/>
                <a:cs typeface="Aptos" pitchFamily="34" charset="-120"/>
              </a:rPr>
              <a:t>-€11,938</a:t>
            </a:r>
            <a:endParaRPr lang="en-US" sz="570" dirty="0"/>
          </a:p>
        </p:txBody>
      </p:sp>
      <p:sp>
        <p:nvSpPr>
          <p:cNvPr id="53" name="Text 50"/>
          <p:cNvSpPr/>
          <p:nvPr/>
        </p:nvSpPr>
        <p:spPr>
          <a:xfrm>
            <a:off x="530352" y="5014478"/>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Marks Electrical (-56.7%)</a:t>
            </a:r>
            <a:endParaRPr lang="en-US" sz="580" dirty="0"/>
          </a:p>
        </p:txBody>
      </p:sp>
      <p:sp>
        <p:nvSpPr>
          <p:cNvPr id="54" name="Shape 51"/>
          <p:cNvSpPr/>
          <p:nvPr/>
        </p:nvSpPr>
        <p:spPr>
          <a:xfrm>
            <a:off x="7114423" y="5046482"/>
            <a:ext cx="278501" cy="116312"/>
          </a:xfrm>
          <a:prstGeom prst="rect">
            <a:avLst/>
          </a:prstGeom>
          <a:solidFill>
            <a:srgbClr val="EB5757"/>
          </a:solidFill>
          <a:ln w="12700">
            <a:solidFill>
              <a:srgbClr val="EB5757"/>
            </a:solidFill>
            <a:prstDash val="solid"/>
          </a:ln>
        </p:spPr>
      </p:sp>
      <p:sp>
        <p:nvSpPr>
          <p:cNvPr id="55" name="Text 52"/>
          <p:cNvSpPr/>
          <p:nvPr/>
        </p:nvSpPr>
        <p:spPr>
          <a:xfrm>
            <a:off x="6227455" y="5032766"/>
            <a:ext cx="841248" cy="152888"/>
          </a:xfrm>
          <a:prstGeom prst="rect">
            <a:avLst/>
          </a:prstGeom>
          <a:noFill/>
          <a:ln/>
        </p:spPr>
        <p:txBody>
          <a:bodyPr wrap="square" lIns="0" tIns="0" rIns="0" bIns="0" rtlCol="0" anchor="ctr"/>
          <a:lstStyle/>
          <a:p>
            <a:pPr algn="r" indent="0" marL="0">
              <a:buNone/>
            </a:pPr>
            <a:r>
              <a:rPr lang="en-US" sz="570" dirty="0">
                <a:solidFill>
                  <a:srgbClr val="2F333B"/>
                </a:solidFill>
                <a:latin typeface="Aptos" pitchFamily="34" charset="0"/>
                <a:ea typeface="Aptos" pitchFamily="34" charset="-122"/>
                <a:cs typeface="Aptos" pitchFamily="34" charset="-120"/>
              </a:rPr>
              <a:t>-€12,042</a:t>
            </a:r>
            <a:endParaRPr lang="en-US" sz="570" dirty="0"/>
          </a:p>
        </p:txBody>
      </p:sp>
      <p:sp>
        <p:nvSpPr>
          <p:cNvPr id="56" name="Text 53"/>
          <p:cNvSpPr/>
          <p:nvPr/>
        </p:nvSpPr>
        <p:spPr>
          <a:xfrm>
            <a:off x="530352" y="5256794"/>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Stena Line (-44.9%)</a:t>
            </a:r>
            <a:endParaRPr lang="en-US" sz="580" dirty="0"/>
          </a:p>
        </p:txBody>
      </p:sp>
      <p:sp>
        <p:nvSpPr>
          <p:cNvPr id="57" name="Shape 54"/>
          <p:cNvSpPr/>
          <p:nvPr/>
        </p:nvSpPr>
        <p:spPr>
          <a:xfrm>
            <a:off x="6876547" y="5288798"/>
            <a:ext cx="516377" cy="116312"/>
          </a:xfrm>
          <a:prstGeom prst="rect">
            <a:avLst/>
          </a:prstGeom>
          <a:solidFill>
            <a:srgbClr val="EB5757"/>
          </a:solidFill>
          <a:ln w="12700">
            <a:solidFill>
              <a:srgbClr val="EB5757"/>
            </a:solidFill>
            <a:prstDash val="solid"/>
          </a:ln>
        </p:spPr>
      </p:sp>
      <p:sp>
        <p:nvSpPr>
          <p:cNvPr id="58" name="Text 55"/>
          <p:cNvSpPr/>
          <p:nvPr/>
        </p:nvSpPr>
        <p:spPr>
          <a:xfrm>
            <a:off x="5989579" y="5275082"/>
            <a:ext cx="841248" cy="152888"/>
          </a:xfrm>
          <a:prstGeom prst="rect">
            <a:avLst/>
          </a:prstGeom>
          <a:noFill/>
          <a:ln/>
        </p:spPr>
        <p:txBody>
          <a:bodyPr wrap="square" lIns="0" tIns="0" rIns="0" bIns="0" rtlCol="0" anchor="ctr"/>
          <a:lstStyle/>
          <a:p>
            <a:pPr algn="r" indent="0" marL="0">
              <a:buNone/>
            </a:pPr>
            <a:r>
              <a:rPr lang="en-US" sz="570" dirty="0">
                <a:solidFill>
                  <a:srgbClr val="2F333B"/>
                </a:solidFill>
                <a:latin typeface="Aptos" pitchFamily="34" charset="0"/>
                <a:ea typeface="Aptos" pitchFamily="34" charset="-122"/>
                <a:cs typeface="Aptos" pitchFamily="34" charset="-120"/>
              </a:rPr>
              <a:t>-€22,328</a:t>
            </a:r>
            <a:endParaRPr lang="en-US" sz="570" dirty="0"/>
          </a:p>
        </p:txBody>
      </p:sp>
      <p:sp>
        <p:nvSpPr>
          <p:cNvPr id="59" name="Text 56"/>
          <p:cNvSpPr/>
          <p:nvPr/>
        </p:nvSpPr>
        <p:spPr>
          <a:xfrm>
            <a:off x="530352" y="5499110"/>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Disneyland Paris GB (-60.1%)</a:t>
            </a:r>
            <a:endParaRPr lang="en-US" sz="580" dirty="0"/>
          </a:p>
        </p:txBody>
      </p:sp>
      <p:sp>
        <p:nvSpPr>
          <p:cNvPr id="60" name="Shape 57"/>
          <p:cNvSpPr/>
          <p:nvPr/>
        </p:nvSpPr>
        <p:spPr>
          <a:xfrm>
            <a:off x="6787892" y="5531114"/>
            <a:ext cx="605032" cy="116312"/>
          </a:xfrm>
          <a:prstGeom prst="rect">
            <a:avLst/>
          </a:prstGeom>
          <a:solidFill>
            <a:srgbClr val="EB5757"/>
          </a:solidFill>
          <a:ln w="12700">
            <a:solidFill>
              <a:srgbClr val="EB5757"/>
            </a:solidFill>
            <a:prstDash val="solid"/>
          </a:ln>
        </p:spPr>
      </p:sp>
      <p:sp>
        <p:nvSpPr>
          <p:cNvPr id="61" name="Text 58"/>
          <p:cNvSpPr/>
          <p:nvPr/>
        </p:nvSpPr>
        <p:spPr>
          <a:xfrm>
            <a:off x="5900924" y="5517398"/>
            <a:ext cx="841248" cy="152888"/>
          </a:xfrm>
          <a:prstGeom prst="rect">
            <a:avLst/>
          </a:prstGeom>
          <a:noFill/>
          <a:ln/>
        </p:spPr>
        <p:txBody>
          <a:bodyPr wrap="square" lIns="0" tIns="0" rIns="0" bIns="0" rtlCol="0" anchor="ctr"/>
          <a:lstStyle/>
          <a:p>
            <a:pPr algn="r" indent="0" marL="0">
              <a:buNone/>
            </a:pPr>
            <a:r>
              <a:rPr lang="en-US" sz="570" dirty="0">
                <a:solidFill>
                  <a:srgbClr val="2F333B"/>
                </a:solidFill>
                <a:latin typeface="Aptos" pitchFamily="34" charset="0"/>
                <a:ea typeface="Aptos" pitchFamily="34" charset="-122"/>
                <a:cs typeface="Aptos" pitchFamily="34" charset="-120"/>
              </a:rPr>
              <a:t>-€26,162</a:t>
            </a:r>
            <a:endParaRPr lang="en-US" sz="570" dirty="0"/>
          </a:p>
        </p:txBody>
      </p:sp>
      <p:sp>
        <p:nvSpPr>
          <p:cNvPr id="62" name="Text 59"/>
          <p:cNvSpPr/>
          <p:nvPr/>
        </p:nvSpPr>
        <p:spPr>
          <a:xfrm>
            <a:off x="530352" y="5741426"/>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Travel Republic (Closed 17.09.2025) (-100.0%)</a:t>
            </a:r>
            <a:endParaRPr lang="en-US" sz="580" dirty="0"/>
          </a:p>
        </p:txBody>
      </p:sp>
      <p:sp>
        <p:nvSpPr>
          <p:cNvPr id="63" name="Shape 60"/>
          <p:cNvSpPr/>
          <p:nvPr/>
        </p:nvSpPr>
        <p:spPr>
          <a:xfrm>
            <a:off x="6271841" y="5773430"/>
            <a:ext cx="1121083" cy="116312"/>
          </a:xfrm>
          <a:prstGeom prst="rect">
            <a:avLst/>
          </a:prstGeom>
          <a:solidFill>
            <a:srgbClr val="EB5757"/>
          </a:solidFill>
          <a:ln w="12700">
            <a:solidFill>
              <a:srgbClr val="EB5757"/>
            </a:solidFill>
            <a:prstDash val="solid"/>
          </a:ln>
        </p:spPr>
      </p:sp>
      <p:sp>
        <p:nvSpPr>
          <p:cNvPr id="64" name="Text 61"/>
          <p:cNvSpPr/>
          <p:nvPr/>
        </p:nvSpPr>
        <p:spPr>
          <a:xfrm>
            <a:off x="5384873" y="5759714"/>
            <a:ext cx="841248" cy="152888"/>
          </a:xfrm>
          <a:prstGeom prst="rect">
            <a:avLst/>
          </a:prstGeom>
          <a:noFill/>
          <a:ln/>
        </p:spPr>
        <p:txBody>
          <a:bodyPr wrap="square" lIns="0" tIns="0" rIns="0" bIns="0" rtlCol="0" anchor="ctr"/>
          <a:lstStyle/>
          <a:p>
            <a:pPr algn="r" indent="0" marL="0">
              <a:buNone/>
            </a:pPr>
            <a:r>
              <a:rPr lang="en-US" sz="570" dirty="0">
                <a:solidFill>
                  <a:srgbClr val="2F333B"/>
                </a:solidFill>
                <a:latin typeface="Aptos" pitchFamily="34" charset="0"/>
                <a:ea typeface="Aptos" pitchFamily="34" charset="-122"/>
                <a:cs typeface="Aptos" pitchFamily="34" charset="-120"/>
              </a:rPr>
              <a:t>-€48,476</a:t>
            </a:r>
            <a:endParaRPr lang="en-US" sz="570" dirty="0"/>
          </a:p>
        </p:txBody>
      </p:sp>
      <p:sp>
        <p:nvSpPr>
          <p:cNvPr id="65" name="Text 62"/>
          <p:cNvSpPr/>
          <p:nvPr/>
        </p:nvSpPr>
        <p:spPr>
          <a:xfrm>
            <a:off x="530352" y="5983742"/>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MoneyFarm (-83.7%)</a:t>
            </a:r>
            <a:endParaRPr lang="en-US" sz="580" dirty="0"/>
          </a:p>
        </p:txBody>
      </p:sp>
      <p:sp>
        <p:nvSpPr>
          <p:cNvPr id="66" name="Shape 63"/>
          <p:cNvSpPr/>
          <p:nvPr/>
        </p:nvSpPr>
        <p:spPr>
          <a:xfrm>
            <a:off x="5747749" y="6015746"/>
            <a:ext cx="1645175" cy="116312"/>
          </a:xfrm>
          <a:prstGeom prst="rect">
            <a:avLst/>
          </a:prstGeom>
          <a:solidFill>
            <a:srgbClr val="EB5757"/>
          </a:solidFill>
          <a:ln w="12700">
            <a:solidFill>
              <a:srgbClr val="EB5757"/>
            </a:solidFill>
            <a:prstDash val="solid"/>
          </a:ln>
        </p:spPr>
      </p:sp>
      <p:sp>
        <p:nvSpPr>
          <p:cNvPr id="67" name="Text 64"/>
          <p:cNvSpPr/>
          <p:nvPr/>
        </p:nvSpPr>
        <p:spPr>
          <a:xfrm>
            <a:off x="4860781" y="6002030"/>
            <a:ext cx="841248" cy="152888"/>
          </a:xfrm>
          <a:prstGeom prst="rect">
            <a:avLst/>
          </a:prstGeom>
          <a:noFill/>
          <a:ln/>
        </p:spPr>
        <p:txBody>
          <a:bodyPr wrap="square" lIns="0" tIns="0" rIns="0" bIns="0" rtlCol="0" anchor="ctr"/>
          <a:lstStyle/>
          <a:p>
            <a:pPr algn="r" indent="0" marL="0">
              <a:buNone/>
            </a:pPr>
            <a:r>
              <a:rPr lang="en-US" sz="570" dirty="0">
                <a:solidFill>
                  <a:srgbClr val="2F333B"/>
                </a:solidFill>
                <a:latin typeface="Aptos" pitchFamily="34" charset="0"/>
                <a:ea typeface="Aptos" pitchFamily="34" charset="-122"/>
                <a:cs typeface="Aptos" pitchFamily="34" charset="-120"/>
              </a:rPr>
              <a:t>-€71,137</a:t>
            </a:r>
            <a:endParaRPr lang="en-US" sz="570" dirty="0"/>
          </a:p>
        </p:txBody>
      </p:sp>
      <p:sp>
        <p:nvSpPr>
          <p:cNvPr id="68" name="Text 65"/>
          <p:cNvSpPr/>
          <p:nvPr/>
        </p:nvSpPr>
        <p:spPr>
          <a:xfrm>
            <a:off x="530352" y="6226058"/>
            <a:ext cx="3264408" cy="242316"/>
          </a:xfrm>
          <a:prstGeom prst="rect">
            <a:avLst/>
          </a:prstGeom>
          <a:noFill/>
          <a:ln/>
        </p:spPr>
        <p:txBody>
          <a:bodyPr wrap="square" lIns="0" tIns="0" rIns="0" bIns="0" rtlCol="0" anchor="ctr"/>
          <a:lstStyle/>
          <a:p>
            <a:pPr algn="r" indent="0" marL="0">
              <a:buNone/>
            </a:pPr>
            <a:r>
              <a:rPr lang="en-US" sz="580" dirty="0">
                <a:solidFill>
                  <a:srgbClr val="5B6372"/>
                </a:solidFill>
                <a:latin typeface="Aptos" pitchFamily="34" charset="0"/>
                <a:ea typeface="Aptos" pitchFamily="34" charset="-122"/>
                <a:cs typeface="Aptos" pitchFamily="34" charset="-120"/>
              </a:rPr>
              <a:t>Morrisons Grocery (-64.8%)</a:t>
            </a:r>
            <a:endParaRPr lang="en-US" sz="580" dirty="0"/>
          </a:p>
        </p:txBody>
      </p:sp>
      <p:sp>
        <p:nvSpPr>
          <p:cNvPr id="69" name="Shape 66"/>
          <p:cNvSpPr/>
          <p:nvPr/>
        </p:nvSpPr>
        <p:spPr>
          <a:xfrm>
            <a:off x="4050792" y="6258062"/>
            <a:ext cx="3342132" cy="116312"/>
          </a:xfrm>
          <a:prstGeom prst="rect">
            <a:avLst/>
          </a:prstGeom>
          <a:solidFill>
            <a:srgbClr val="EB5757"/>
          </a:solidFill>
          <a:ln w="12700">
            <a:solidFill>
              <a:srgbClr val="EB5757"/>
            </a:solidFill>
            <a:prstDash val="solid"/>
          </a:ln>
        </p:spPr>
      </p:sp>
      <p:sp>
        <p:nvSpPr>
          <p:cNvPr id="70" name="Text 67"/>
          <p:cNvSpPr/>
          <p:nvPr/>
        </p:nvSpPr>
        <p:spPr>
          <a:xfrm>
            <a:off x="3959352" y="6244346"/>
            <a:ext cx="841248" cy="152888"/>
          </a:xfrm>
          <a:prstGeom prst="rect">
            <a:avLst/>
          </a:prstGeom>
          <a:noFill/>
          <a:ln/>
        </p:spPr>
        <p:txBody>
          <a:bodyPr wrap="square" lIns="0" tIns="0" rIns="0" bIns="0" rtlCol="0" anchor="ctr"/>
          <a:lstStyle/>
          <a:p>
            <a:pPr algn="r" indent="0" marL="0">
              <a:buNone/>
            </a:pPr>
            <a:r>
              <a:rPr lang="en-US" sz="570" dirty="0">
                <a:solidFill>
                  <a:srgbClr val="2F333B"/>
                </a:solidFill>
                <a:latin typeface="Aptos" pitchFamily="34" charset="0"/>
                <a:ea typeface="Aptos" pitchFamily="34" charset="-122"/>
                <a:cs typeface="Aptos" pitchFamily="34" charset="-120"/>
              </a:rPr>
              <a:t>-€144,514</a:t>
            </a:r>
            <a:endParaRPr lang="en-US" sz="5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6"/>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2F333B"/>
                </a:solidFill>
                <a:latin typeface="Aptos" pitchFamily="34" charset="0"/>
                <a:ea typeface="Aptos" pitchFamily="34" charset="-122"/>
                <a:cs typeface="Aptos" pitchFamily="34" charset="-120"/>
              </a:rPr>
              <a:t>Top 10 des nouveaux programmes</a:t>
            </a:r>
            <a:endParaRPr lang="en-US" sz="2800" dirty="0"/>
          </a:p>
        </p:txBody>
      </p:sp>
      <p:sp>
        <p:nvSpPr>
          <p:cNvPr id="4" name="Text 1"/>
          <p:cNvSpPr/>
          <p:nvPr/>
        </p:nvSpPr>
        <p:spPr>
          <a:xfrm>
            <a:off x="640080" y="1316736"/>
            <a:ext cx="10972800" cy="310896"/>
          </a:xfrm>
          <a:prstGeom prst="rect">
            <a:avLst/>
          </a:prstGeom>
          <a:noFill/>
          <a:ln/>
        </p:spPr>
        <p:txBody>
          <a:bodyPr wrap="square" lIns="0" tIns="0" rIns="0" bIns="0" rtlCol="0" anchor="ctr"/>
          <a:lstStyle/>
          <a:p>
            <a:pPr algn="ctr" indent="0" marL="0">
              <a:buNone/>
            </a:pPr>
            <a:r>
              <a:rPr lang="en-US" sz="1100" dirty="0">
                <a:solidFill>
                  <a:srgbClr val="2F6FF2"/>
                </a:solidFill>
                <a:latin typeface="Aptos" pitchFamily="34" charset="0"/>
                <a:ea typeface="Aptos" pitchFamily="34" charset="-122"/>
                <a:cs typeface="Aptos" pitchFamily="34" charset="-120"/>
              </a:rPr>
              <a:t>Programmes rejoints ou actifs pour la première fois pour l'éditeur principal au cours de la période en cours.</a:t>
            </a:r>
            <a:endParaRPr lang="en-US" sz="1100" dirty="0"/>
          </a:p>
        </p:txBody>
      </p:sp>
      <p:sp>
        <p:nvSpPr>
          <p:cNvPr id="5" name="Shape 2"/>
          <p:cNvSpPr/>
          <p:nvPr/>
        </p:nvSpPr>
        <p:spPr>
          <a:xfrm>
            <a:off x="365760" y="1783080"/>
            <a:ext cx="11430000" cy="4401922"/>
          </a:xfrm>
          <a:prstGeom prst="rect">
            <a:avLst/>
          </a:prstGeom>
          <a:solidFill>
            <a:srgbClr val="F3F4F6"/>
          </a:solidFill>
          <a:ln w="12700">
            <a:solidFill>
              <a:srgbClr val="D6DAE3"/>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75488" y="1874520"/>
          <a:ext cx="11210544" cy="4255618"/>
        </p:xfrm>
        <a:graphic>
          <a:graphicData uri="http://schemas.openxmlformats.org/drawingml/2006/table">
            <a:tbl>
              <a:tblPr/>
              <a:tblGrid>
                <a:gridCol w="1601506"/>
                <a:gridCol w="1601506"/>
                <a:gridCol w="1601506"/>
                <a:gridCol w="1601506"/>
                <a:gridCol w="1601506"/>
                <a:gridCol w="1601506"/>
                <a:gridCol w="1601506"/>
              </a:tblGrid>
              <a:tr h="442570">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ID du programme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Nom du programme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Conversions</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Valeur de la commande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Commission de l'éditeur</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Portefeuille numérique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Gains totaux</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r>
              <a:tr h="381305">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381677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Assurance Rose Rouge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€346,033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€9,611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€9,611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81305">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391591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Fleurs de sérénata</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838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€30,112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€5,292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€5,292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81305">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377698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Ferryhopper Royaume-Uni</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376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€63,474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€1,904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€1,904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81305">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396847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Misérable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77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€18,126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€1,813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€1,813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81305">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393448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Matériel à bonnes affaires au Royaume-Uni</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€9,953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€588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€588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81305">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380893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Esdemarca Royaume-Uni</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€5,360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€498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€498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81305">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353828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Vinatis France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€6,013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€314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€333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81305">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377545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Palais de Blenheim</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107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€9,821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€196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€196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381305">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382842</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Clickrent Royaume-Uni</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€3,025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€181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€181</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381305">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385129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Ligne circulaire Royaume-Uni</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€885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6"/>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2F333B"/>
                </a:solidFill>
                <a:latin typeface="Aptos" pitchFamily="34" charset="0"/>
                <a:ea typeface="Aptos" pitchFamily="34" charset="-122"/>
                <a:cs typeface="Aptos" pitchFamily="34" charset="-120"/>
              </a:rPr>
              <a:t>Analyse des concurrents</a:t>
            </a:r>
            <a:endParaRPr lang="en-US" sz="2800" dirty="0"/>
          </a:p>
        </p:txBody>
      </p:sp>
      <p:sp>
        <p:nvSpPr>
          <p:cNvPr id="4" name="Text 1"/>
          <p:cNvSpPr/>
          <p:nvPr/>
        </p:nvSpPr>
        <p:spPr>
          <a:xfrm>
            <a:off x="640080" y="1316736"/>
            <a:ext cx="10972800" cy="310896"/>
          </a:xfrm>
          <a:prstGeom prst="rect">
            <a:avLst/>
          </a:prstGeom>
          <a:noFill/>
          <a:ln/>
        </p:spPr>
        <p:txBody>
          <a:bodyPr wrap="square" lIns="0" tIns="0" rIns="0" bIns="0" rtlCol="0" anchor="ctr"/>
          <a:lstStyle/>
          <a:p>
            <a:pPr algn="ctr" indent="0" marL="0">
              <a:buNone/>
            </a:pPr>
            <a:r>
              <a:rPr lang="en-US" sz="1100" dirty="0">
                <a:solidFill>
                  <a:srgbClr val="2F6FF2"/>
                </a:solidFill>
                <a:latin typeface="Aptos" pitchFamily="34" charset="0"/>
                <a:ea typeface="Aptos" pitchFamily="34" charset="-122"/>
                <a:cs typeface="Aptos" pitchFamily="34" charset="-120"/>
              </a:rPr>
              <a:t>Comparaison anonyme de la couverture des commissions des éditeurs et des programmes d'espaces blancs.</a:t>
            </a:r>
            <a:endParaRPr lang="en-US" sz="1100" dirty="0"/>
          </a:p>
        </p:txBody>
      </p:sp>
      <p:sp>
        <p:nvSpPr>
          <p:cNvPr id="5" name="Shape 2"/>
          <p:cNvSpPr/>
          <p:nvPr/>
        </p:nvSpPr>
        <p:spPr>
          <a:xfrm>
            <a:off x="365760" y="1664208"/>
            <a:ext cx="11430000" cy="1196950"/>
          </a:xfrm>
          <a:prstGeom prst="rect">
            <a:avLst/>
          </a:prstGeom>
          <a:solidFill>
            <a:srgbClr val="F3F4F6"/>
          </a:solidFill>
          <a:ln w="12700">
            <a:solidFill>
              <a:srgbClr val="D6DAE3"/>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75488" y="1755648"/>
          <a:ext cx="11210544" cy="1050646"/>
        </p:xfrm>
        <a:graphic>
          <a:graphicData uri="http://schemas.openxmlformats.org/drawingml/2006/table">
            <a:tbl>
              <a:tblPr/>
              <a:tblGrid>
                <a:gridCol w="1601506"/>
                <a:gridCol w="1601506"/>
                <a:gridCol w="1601506"/>
                <a:gridCol w="1601506"/>
                <a:gridCol w="1601506"/>
                <a:gridCol w="1601506"/>
                <a:gridCol w="1601506"/>
              </a:tblGrid>
              <a:tr h="293522">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Résumé du groupe de concurrents</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Votre site</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Éditeur 1</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Éditeur 2</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Éditeur 3</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Éditeur 4</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Composition distincte. programme. #</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r>
              <a:tr h="25237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Programmes avec Pub Comm</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155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108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47</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20</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138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25237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dont vous avez 0 Pub Comm</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n / A</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252374">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Pub Comm de ce qui précède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n / A</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€3,268</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€5,734</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€2,769</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€2,405</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€14,176</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bl>
          </a:graphicData>
        </a:graphic>
      </p:graphicFrame>
      <p:sp>
        <p:nvSpPr>
          <p:cNvPr id="7" name="Text 3"/>
          <p:cNvSpPr/>
          <p:nvPr/>
        </p:nvSpPr>
        <p:spPr>
          <a:xfrm>
            <a:off x="512064" y="3127248"/>
            <a:ext cx="11137392" cy="182880"/>
          </a:xfrm>
          <a:prstGeom prst="rect">
            <a:avLst/>
          </a:prstGeom>
          <a:noFill/>
          <a:ln/>
        </p:spPr>
        <p:txBody>
          <a:bodyPr wrap="square" lIns="0" tIns="0" rIns="0" bIns="0" rtlCol="0" anchor="ctr"/>
          <a:lstStyle/>
          <a:p>
            <a:pPr algn="ctr" indent="0" marL="0">
              <a:buNone/>
            </a:pPr>
            <a:r>
              <a:rPr lang="en-US" sz="850" dirty="0">
                <a:solidFill>
                  <a:srgbClr val="5B6372"/>
                </a:solidFill>
                <a:latin typeface="Aptos" pitchFamily="34" charset="0"/>
                <a:ea typeface="Aptos" pitchFamily="34" charset="-122"/>
                <a:cs typeface="Aptos" pitchFamily="34" charset="-120"/>
              </a:rPr>
              <a:t>Publ comm by week</a:t>
            </a:r>
            <a:endParaRPr lang="en-US" sz="850" dirty="0"/>
          </a:p>
        </p:txBody>
      </p:sp>
      <p:sp>
        <p:nvSpPr>
          <p:cNvPr id="8" name="Shape 4"/>
          <p:cNvSpPr/>
          <p:nvPr/>
        </p:nvSpPr>
        <p:spPr>
          <a:xfrm>
            <a:off x="1078992" y="3447288"/>
            <a:ext cx="10387584" cy="0"/>
          </a:xfrm>
          <a:prstGeom prst="line">
            <a:avLst/>
          </a:prstGeom>
          <a:noFill/>
          <a:ln w="12700">
            <a:solidFill>
              <a:srgbClr val="D9DEE8">
                <a:alpha val="75000"/>
              </a:srgbClr>
            </a:solidFill>
            <a:prstDash val="solid"/>
          </a:ln>
        </p:spPr>
      </p:sp>
      <p:sp>
        <p:nvSpPr>
          <p:cNvPr id="9" name="Text 5"/>
          <p:cNvSpPr/>
          <p:nvPr/>
        </p:nvSpPr>
        <p:spPr>
          <a:xfrm>
            <a:off x="512064" y="3383280"/>
            <a:ext cx="438912" cy="128016"/>
          </a:xfrm>
          <a:prstGeom prst="rect">
            <a:avLst/>
          </a:prstGeom>
          <a:noFill/>
          <a:ln/>
        </p:spPr>
        <p:txBody>
          <a:bodyPr wrap="square" lIns="0" tIns="0" rIns="0" bIns="0" rtlCol="0" anchor="ctr"/>
          <a:lstStyle/>
          <a:p>
            <a:pPr algn="r" indent="0" marL="0">
              <a:buNone/>
            </a:pPr>
            <a:r>
              <a:rPr lang="en-US" sz="620" dirty="0">
                <a:solidFill>
                  <a:srgbClr val="5B6372"/>
                </a:solidFill>
                <a:latin typeface="Aptos" pitchFamily="34" charset="0"/>
                <a:ea typeface="Aptos" pitchFamily="34" charset="-122"/>
                <a:cs typeface="Aptos" pitchFamily="34" charset="-120"/>
              </a:rPr>
              <a:t>100 000</a:t>
            </a:r>
            <a:endParaRPr lang="en-US" sz="620" dirty="0"/>
          </a:p>
        </p:txBody>
      </p:sp>
      <p:sp>
        <p:nvSpPr>
          <p:cNvPr id="10" name="Shape 6"/>
          <p:cNvSpPr/>
          <p:nvPr/>
        </p:nvSpPr>
        <p:spPr>
          <a:xfrm>
            <a:off x="1078992" y="3904488"/>
            <a:ext cx="10387584" cy="0"/>
          </a:xfrm>
          <a:prstGeom prst="line">
            <a:avLst/>
          </a:prstGeom>
          <a:noFill/>
          <a:ln w="12700">
            <a:solidFill>
              <a:srgbClr val="D9DEE8">
                <a:alpha val="75000"/>
              </a:srgbClr>
            </a:solidFill>
            <a:prstDash val="solid"/>
          </a:ln>
        </p:spPr>
      </p:sp>
      <p:sp>
        <p:nvSpPr>
          <p:cNvPr id="11" name="Text 7"/>
          <p:cNvSpPr/>
          <p:nvPr/>
        </p:nvSpPr>
        <p:spPr>
          <a:xfrm>
            <a:off x="512064" y="3840480"/>
            <a:ext cx="438912" cy="128016"/>
          </a:xfrm>
          <a:prstGeom prst="rect">
            <a:avLst/>
          </a:prstGeom>
          <a:noFill/>
          <a:ln/>
        </p:spPr>
        <p:txBody>
          <a:bodyPr wrap="square" lIns="0" tIns="0" rIns="0" bIns="0" rtlCol="0" anchor="ctr"/>
          <a:lstStyle/>
          <a:p>
            <a:pPr algn="r" indent="0" marL="0">
              <a:buNone/>
            </a:pPr>
            <a:r>
              <a:rPr lang="en-US" sz="620" dirty="0">
                <a:solidFill>
                  <a:srgbClr val="5B6372"/>
                </a:solidFill>
                <a:latin typeface="Aptos" pitchFamily="34" charset="0"/>
                <a:ea typeface="Aptos" pitchFamily="34" charset="-122"/>
                <a:cs typeface="Aptos" pitchFamily="34" charset="-120"/>
              </a:rPr>
              <a:t>80 000</a:t>
            </a:r>
            <a:endParaRPr lang="en-US" sz="620" dirty="0"/>
          </a:p>
        </p:txBody>
      </p:sp>
      <p:sp>
        <p:nvSpPr>
          <p:cNvPr id="12" name="Shape 8"/>
          <p:cNvSpPr/>
          <p:nvPr/>
        </p:nvSpPr>
        <p:spPr>
          <a:xfrm>
            <a:off x="1078992" y="4361688"/>
            <a:ext cx="10387584" cy="0"/>
          </a:xfrm>
          <a:prstGeom prst="line">
            <a:avLst/>
          </a:prstGeom>
          <a:noFill/>
          <a:ln w="12700">
            <a:solidFill>
              <a:srgbClr val="D9DEE8">
                <a:alpha val="75000"/>
              </a:srgbClr>
            </a:solidFill>
            <a:prstDash val="solid"/>
          </a:ln>
        </p:spPr>
      </p:sp>
      <p:sp>
        <p:nvSpPr>
          <p:cNvPr id="13" name="Text 9"/>
          <p:cNvSpPr/>
          <p:nvPr/>
        </p:nvSpPr>
        <p:spPr>
          <a:xfrm>
            <a:off x="512064" y="4297680"/>
            <a:ext cx="438912" cy="128016"/>
          </a:xfrm>
          <a:prstGeom prst="rect">
            <a:avLst/>
          </a:prstGeom>
          <a:noFill/>
          <a:ln/>
        </p:spPr>
        <p:txBody>
          <a:bodyPr wrap="square" lIns="0" tIns="0" rIns="0" bIns="0" rtlCol="0" anchor="ctr"/>
          <a:lstStyle/>
          <a:p>
            <a:pPr algn="r" indent="0" marL="0">
              <a:buNone/>
            </a:pPr>
            <a:r>
              <a:rPr lang="en-US" sz="620" dirty="0">
                <a:solidFill>
                  <a:srgbClr val="5B6372"/>
                </a:solidFill>
                <a:latin typeface="Aptos" pitchFamily="34" charset="0"/>
                <a:ea typeface="Aptos" pitchFamily="34" charset="-122"/>
                <a:cs typeface="Aptos" pitchFamily="34" charset="-120"/>
              </a:rPr>
              <a:t>60 000</a:t>
            </a:r>
            <a:endParaRPr lang="en-US" sz="620" dirty="0"/>
          </a:p>
        </p:txBody>
      </p:sp>
      <p:sp>
        <p:nvSpPr>
          <p:cNvPr id="14" name="Shape 10"/>
          <p:cNvSpPr/>
          <p:nvPr/>
        </p:nvSpPr>
        <p:spPr>
          <a:xfrm>
            <a:off x="1078992" y="4818888"/>
            <a:ext cx="10387584" cy="0"/>
          </a:xfrm>
          <a:prstGeom prst="line">
            <a:avLst/>
          </a:prstGeom>
          <a:noFill/>
          <a:ln w="12700">
            <a:solidFill>
              <a:srgbClr val="D9DEE8">
                <a:alpha val="75000"/>
              </a:srgbClr>
            </a:solidFill>
            <a:prstDash val="solid"/>
          </a:ln>
        </p:spPr>
      </p:sp>
      <p:sp>
        <p:nvSpPr>
          <p:cNvPr id="15" name="Text 11"/>
          <p:cNvSpPr/>
          <p:nvPr/>
        </p:nvSpPr>
        <p:spPr>
          <a:xfrm>
            <a:off x="512064" y="4754880"/>
            <a:ext cx="438912" cy="128016"/>
          </a:xfrm>
          <a:prstGeom prst="rect">
            <a:avLst/>
          </a:prstGeom>
          <a:noFill/>
          <a:ln/>
        </p:spPr>
        <p:txBody>
          <a:bodyPr wrap="square" lIns="0" tIns="0" rIns="0" bIns="0" rtlCol="0" anchor="ctr"/>
          <a:lstStyle/>
          <a:p>
            <a:pPr algn="r" indent="0" marL="0">
              <a:buNone/>
            </a:pPr>
            <a:r>
              <a:rPr lang="en-US" sz="620" dirty="0">
                <a:solidFill>
                  <a:srgbClr val="5B6372"/>
                </a:solidFill>
                <a:latin typeface="Aptos" pitchFamily="34" charset="0"/>
                <a:ea typeface="Aptos" pitchFamily="34" charset="-122"/>
                <a:cs typeface="Aptos" pitchFamily="34" charset="-120"/>
              </a:rPr>
              <a:t>40 000</a:t>
            </a:r>
            <a:endParaRPr lang="en-US" sz="620" dirty="0"/>
          </a:p>
        </p:txBody>
      </p:sp>
      <p:sp>
        <p:nvSpPr>
          <p:cNvPr id="16" name="Shape 12"/>
          <p:cNvSpPr/>
          <p:nvPr/>
        </p:nvSpPr>
        <p:spPr>
          <a:xfrm>
            <a:off x="1078992" y="5276088"/>
            <a:ext cx="10387584" cy="0"/>
          </a:xfrm>
          <a:prstGeom prst="line">
            <a:avLst/>
          </a:prstGeom>
          <a:noFill/>
          <a:ln w="12700">
            <a:solidFill>
              <a:srgbClr val="D9DEE8">
                <a:alpha val="75000"/>
              </a:srgbClr>
            </a:solidFill>
            <a:prstDash val="solid"/>
          </a:ln>
        </p:spPr>
      </p:sp>
      <p:sp>
        <p:nvSpPr>
          <p:cNvPr id="17" name="Text 13"/>
          <p:cNvSpPr/>
          <p:nvPr/>
        </p:nvSpPr>
        <p:spPr>
          <a:xfrm>
            <a:off x="512064" y="5212080"/>
            <a:ext cx="438912" cy="128016"/>
          </a:xfrm>
          <a:prstGeom prst="rect">
            <a:avLst/>
          </a:prstGeom>
          <a:noFill/>
          <a:ln/>
        </p:spPr>
        <p:txBody>
          <a:bodyPr wrap="square" lIns="0" tIns="0" rIns="0" bIns="0" rtlCol="0" anchor="ctr"/>
          <a:lstStyle/>
          <a:p>
            <a:pPr algn="r" indent="0" marL="0">
              <a:buNone/>
            </a:pPr>
            <a:r>
              <a:rPr lang="en-US" sz="620" dirty="0">
                <a:solidFill>
                  <a:srgbClr val="5B6372"/>
                </a:solidFill>
                <a:latin typeface="Aptos" pitchFamily="34" charset="0"/>
                <a:ea typeface="Aptos" pitchFamily="34" charset="-122"/>
                <a:cs typeface="Aptos" pitchFamily="34" charset="-120"/>
              </a:rPr>
              <a:t>20 000</a:t>
            </a:r>
            <a:endParaRPr lang="en-US" sz="620" dirty="0"/>
          </a:p>
        </p:txBody>
      </p:sp>
      <p:sp>
        <p:nvSpPr>
          <p:cNvPr id="18" name="Shape 14"/>
          <p:cNvSpPr/>
          <p:nvPr/>
        </p:nvSpPr>
        <p:spPr>
          <a:xfrm>
            <a:off x="1078992" y="5733288"/>
            <a:ext cx="10387584" cy="0"/>
          </a:xfrm>
          <a:prstGeom prst="line">
            <a:avLst/>
          </a:prstGeom>
          <a:noFill/>
          <a:ln w="12700">
            <a:solidFill>
              <a:srgbClr val="D9DEE8">
                <a:alpha val="90000"/>
              </a:srgbClr>
            </a:solidFill>
            <a:prstDash val="solid"/>
          </a:ln>
        </p:spPr>
      </p:sp>
      <p:sp>
        <p:nvSpPr>
          <p:cNvPr id="19" name="Text 15"/>
          <p:cNvSpPr/>
          <p:nvPr/>
        </p:nvSpPr>
        <p:spPr>
          <a:xfrm>
            <a:off x="512064" y="5669280"/>
            <a:ext cx="438912" cy="128016"/>
          </a:xfrm>
          <a:prstGeom prst="rect">
            <a:avLst/>
          </a:prstGeom>
          <a:noFill/>
          <a:ln/>
        </p:spPr>
        <p:txBody>
          <a:bodyPr wrap="square" lIns="0" tIns="0" rIns="0" bIns="0" rtlCol="0" anchor="ctr"/>
          <a:lstStyle/>
          <a:p>
            <a:pPr algn="r" indent="0" marL="0">
              <a:buNone/>
            </a:pPr>
            <a:r>
              <a:rPr lang="en-US" sz="620" dirty="0">
                <a:solidFill>
                  <a:srgbClr val="5B6372"/>
                </a:solidFill>
                <a:latin typeface="Aptos" pitchFamily="34" charset="0"/>
                <a:ea typeface="Aptos" pitchFamily="34" charset="-122"/>
                <a:cs typeface="Aptos" pitchFamily="34" charset="-120"/>
              </a:rPr>
              <a:t>0</a:t>
            </a:r>
            <a:endParaRPr lang="en-US" sz="620" dirty="0"/>
          </a:p>
        </p:txBody>
      </p:sp>
      <p:sp>
        <p:nvSpPr>
          <p:cNvPr id="20" name="Shape 16"/>
          <p:cNvSpPr/>
          <p:nvPr/>
        </p:nvSpPr>
        <p:spPr>
          <a:xfrm>
            <a:off x="1358537" y="4993218"/>
            <a:ext cx="182880" cy="740070"/>
          </a:xfrm>
          <a:prstGeom prst="rect">
            <a:avLst/>
          </a:prstGeom>
          <a:solidFill>
            <a:srgbClr val="2F6FF2">
              <a:alpha val="92000"/>
            </a:srgbClr>
          </a:solidFill>
          <a:ln w="12700">
            <a:solidFill>
              <a:srgbClr val="2F6FF2"/>
            </a:solidFill>
            <a:prstDash val="solid"/>
          </a:ln>
        </p:spPr>
      </p:sp>
      <p:sp>
        <p:nvSpPr>
          <p:cNvPr id="21" name="Shape 17"/>
          <p:cNvSpPr/>
          <p:nvPr/>
        </p:nvSpPr>
        <p:spPr>
          <a:xfrm>
            <a:off x="2100507" y="4480171"/>
            <a:ext cx="182880" cy="1253117"/>
          </a:xfrm>
          <a:prstGeom prst="rect">
            <a:avLst/>
          </a:prstGeom>
          <a:solidFill>
            <a:srgbClr val="2F6FF2">
              <a:alpha val="92000"/>
            </a:srgbClr>
          </a:solidFill>
          <a:ln w="12700">
            <a:solidFill>
              <a:srgbClr val="2F6FF2"/>
            </a:solidFill>
            <a:prstDash val="solid"/>
          </a:ln>
        </p:spPr>
      </p:sp>
      <p:sp>
        <p:nvSpPr>
          <p:cNvPr id="22" name="Shape 18"/>
          <p:cNvSpPr/>
          <p:nvPr/>
        </p:nvSpPr>
        <p:spPr>
          <a:xfrm>
            <a:off x="2842478" y="4310893"/>
            <a:ext cx="182880" cy="1422395"/>
          </a:xfrm>
          <a:prstGeom prst="rect">
            <a:avLst/>
          </a:prstGeom>
          <a:solidFill>
            <a:srgbClr val="2F6FF2">
              <a:alpha val="92000"/>
            </a:srgbClr>
          </a:solidFill>
          <a:ln w="12700">
            <a:solidFill>
              <a:srgbClr val="2F6FF2"/>
            </a:solidFill>
            <a:prstDash val="solid"/>
          </a:ln>
        </p:spPr>
      </p:sp>
      <p:sp>
        <p:nvSpPr>
          <p:cNvPr id="23" name="Shape 19"/>
          <p:cNvSpPr/>
          <p:nvPr/>
        </p:nvSpPr>
        <p:spPr>
          <a:xfrm>
            <a:off x="3584448" y="4156245"/>
            <a:ext cx="182880" cy="1577043"/>
          </a:xfrm>
          <a:prstGeom prst="rect">
            <a:avLst/>
          </a:prstGeom>
          <a:solidFill>
            <a:srgbClr val="2F6FF2">
              <a:alpha val="92000"/>
            </a:srgbClr>
          </a:solidFill>
          <a:ln w="12700">
            <a:solidFill>
              <a:srgbClr val="2F6FF2"/>
            </a:solidFill>
            <a:prstDash val="solid"/>
          </a:ln>
        </p:spPr>
      </p:sp>
      <p:sp>
        <p:nvSpPr>
          <p:cNvPr id="24" name="Shape 20"/>
          <p:cNvSpPr/>
          <p:nvPr/>
        </p:nvSpPr>
        <p:spPr>
          <a:xfrm>
            <a:off x="4326418" y="4448510"/>
            <a:ext cx="182880" cy="1284778"/>
          </a:xfrm>
          <a:prstGeom prst="rect">
            <a:avLst/>
          </a:prstGeom>
          <a:solidFill>
            <a:srgbClr val="2F6FF2">
              <a:alpha val="92000"/>
            </a:srgbClr>
          </a:solidFill>
          <a:ln w="12700">
            <a:solidFill>
              <a:srgbClr val="2F6FF2"/>
            </a:solidFill>
            <a:prstDash val="solid"/>
          </a:ln>
        </p:spPr>
      </p:sp>
      <p:sp>
        <p:nvSpPr>
          <p:cNvPr id="25" name="Shape 21"/>
          <p:cNvSpPr/>
          <p:nvPr/>
        </p:nvSpPr>
        <p:spPr>
          <a:xfrm>
            <a:off x="5068389" y="4383199"/>
            <a:ext cx="182880" cy="1350089"/>
          </a:xfrm>
          <a:prstGeom prst="rect">
            <a:avLst/>
          </a:prstGeom>
          <a:solidFill>
            <a:srgbClr val="2F6FF2">
              <a:alpha val="92000"/>
            </a:srgbClr>
          </a:solidFill>
          <a:ln w="12700">
            <a:solidFill>
              <a:srgbClr val="2F6FF2"/>
            </a:solidFill>
            <a:prstDash val="solid"/>
          </a:ln>
        </p:spPr>
      </p:sp>
      <p:sp>
        <p:nvSpPr>
          <p:cNvPr id="26" name="Shape 22"/>
          <p:cNvSpPr/>
          <p:nvPr/>
        </p:nvSpPr>
        <p:spPr>
          <a:xfrm>
            <a:off x="5810359" y="4528383"/>
            <a:ext cx="182880" cy="1204905"/>
          </a:xfrm>
          <a:prstGeom prst="rect">
            <a:avLst/>
          </a:prstGeom>
          <a:solidFill>
            <a:srgbClr val="2F6FF2">
              <a:alpha val="92000"/>
            </a:srgbClr>
          </a:solidFill>
          <a:ln w="12700">
            <a:solidFill>
              <a:srgbClr val="2F6FF2"/>
            </a:solidFill>
            <a:prstDash val="solid"/>
          </a:ln>
        </p:spPr>
      </p:sp>
      <p:sp>
        <p:nvSpPr>
          <p:cNvPr id="27" name="Shape 23"/>
          <p:cNvSpPr/>
          <p:nvPr/>
        </p:nvSpPr>
        <p:spPr>
          <a:xfrm>
            <a:off x="6552329" y="4658754"/>
            <a:ext cx="182880" cy="1074534"/>
          </a:xfrm>
          <a:prstGeom prst="rect">
            <a:avLst/>
          </a:prstGeom>
          <a:solidFill>
            <a:srgbClr val="2F6FF2">
              <a:alpha val="92000"/>
            </a:srgbClr>
          </a:solidFill>
          <a:ln w="12700">
            <a:solidFill>
              <a:srgbClr val="2F6FF2"/>
            </a:solidFill>
            <a:prstDash val="solid"/>
          </a:ln>
        </p:spPr>
      </p:sp>
      <p:sp>
        <p:nvSpPr>
          <p:cNvPr id="28" name="Shape 24"/>
          <p:cNvSpPr/>
          <p:nvPr/>
        </p:nvSpPr>
        <p:spPr>
          <a:xfrm>
            <a:off x="7294299" y="4615571"/>
            <a:ext cx="182880" cy="1117717"/>
          </a:xfrm>
          <a:prstGeom prst="rect">
            <a:avLst/>
          </a:prstGeom>
          <a:solidFill>
            <a:srgbClr val="2F6FF2">
              <a:alpha val="92000"/>
            </a:srgbClr>
          </a:solidFill>
          <a:ln w="12700">
            <a:solidFill>
              <a:srgbClr val="2F6FF2"/>
            </a:solidFill>
            <a:prstDash val="solid"/>
          </a:ln>
        </p:spPr>
      </p:sp>
      <p:sp>
        <p:nvSpPr>
          <p:cNvPr id="29" name="Shape 25"/>
          <p:cNvSpPr/>
          <p:nvPr/>
        </p:nvSpPr>
        <p:spPr>
          <a:xfrm>
            <a:off x="8036270" y="4712017"/>
            <a:ext cx="182880" cy="1021271"/>
          </a:xfrm>
          <a:prstGeom prst="rect">
            <a:avLst/>
          </a:prstGeom>
          <a:solidFill>
            <a:srgbClr val="2F6FF2">
              <a:alpha val="92000"/>
            </a:srgbClr>
          </a:solidFill>
          <a:ln w="12700">
            <a:solidFill>
              <a:srgbClr val="2F6FF2"/>
            </a:solidFill>
            <a:prstDash val="solid"/>
          </a:ln>
        </p:spPr>
      </p:sp>
      <p:sp>
        <p:nvSpPr>
          <p:cNvPr id="30" name="Shape 26"/>
          <p:cNvSpPr/>
          <p:nvPr/>
        </p:nvSpPr>
        <p:spPr>
          <a:xfrm>
            <a:off x="8778240" y="4291096"/>
            <a:ext cx="182880" cy="1442192"/>
          </a:xfrm>
          <a:prstGeom prst="rect">
            <a:avLst/>
          </a:prstGeom>
          <a:solidFill>
            <a:srgbClr val="2F6FF2">
              <a:alpha val="92000"/>
            </a:srgbClr>
          </a:solidFill>
          <a:ln w="12700">
            <a:solidFill>
              <a:srgbClr val="2F6FF2"/>
            </a:solidFill>
            <a:prstDash val="solid"/>
          </a:ln>
        </p:spPr>
      </p:sp>
      <p:sp>
        <p:nvSpPr>
          <p:cNvPr id="31" name="Shape 27"/>
          <p:cNvSpPr/>
          <p:nvPr/>
        </p:nvSpPr>
        <p:spPr>
          <a:xfrm>
            <a:off x="9520210" y="4446293"/>
            <a:ext cx="182880" cy="1286995"/>
          </a:xfrm>
          <a:prstGeom prst="rect">
            <a:avLst/>
          </a:prstGeom>
          <a:solidFill>
            <a:srgbClr val="2F6FF2">
              <a:alpha val="92000"/>
            </a:srgbClr>
          </a:solidFill>
          <a:ln w="12700">
            <a:solidFill>
              <a:srgbClr val="2F6FF2"/>
            </a:solidFill>
            <a:prstDash val="solid"/>
          </a:ln>
        </p:spPr>
      </p:sp>
      <p:sp>
        <p:nvSpPr>
          <p:cNvPr id="32" name="Shape 28"/>
          <p:cNvSpPr/>
          <p:nvPr/>
        </p:nvSpPr>
        <p:spPr>
          <a:xfrm>
            <a:off x="10262181" y="4556707"/>
            <a:ext cx="182880" cy="1176581"/>
          </a:xfrm>
          <a:prstGeom prst="rect">
            <a:avLst/>
          </a:prstGeom>
          <a:solidFill>
            <a:srgbClr val="2F6FF2">
              <a:alpha val="92000"/>
            </a:srgbClr>
          </a:solidFill>
          <a:ln w="12700">
            <a:solidFill>
              <a:srgbClr val="2F6FF2"/>
            </a:solidFill>
            <a:prstDash val="solid"/>
          </a:ln>
        </p:spPr>
      </p:sp>
      <p:sp>
        <p:nvSpPr>
          <p:cNvPr id="33" name="Shape 29"/>
          <p:cNvSpPr/>
          <p:nvPr/>
        </p:nvSpPr>
        <p:spPr>
          <a:xfrm>
            <a:off x="11004151" y="5513215"/>
            <a:ext cx="182880" cy="220073"/>
          </a:xfrm>
          <a:prstGeom prst="rect">
            <a:avLst/>
          </a:prstGeom>
          <a:solidFill>
            <a:srgbClr val="2F6FF2">
              <a:alpha val="92000"/>
            </a:srgbClr>
          </a:solidFill>
          <a:ln w="12700">
            <a:solidFill>
              <a:srgbClr val="2F6FF2"/>
            </a:solidFill>
            <a:prstDash val="solid"/>
          </a:ln>
        </p:spPr>
      </p:sp>
      <p:sp>
        <p:nvSpPr>
          <p:cNvPr id="34" name="Shape 30"/>
          <p:cNvSpPr/>
          <p:nvPr/>
        </p:nvSpPr>
        <p:spPr>
          <a:xfrm>
            <a:off x="1449977" y="5575005"/>
            <a:ext cx="741970" cy="-143492"/>
          </a:xfrm>
          <a:prstGeom prst="line">
            <a:avLst/>
          </a:prstGeom>
          <a:noFill/>
          <a:ln w="12700">
            <a:solidFill>
              <a:srgbClr val="F28E2B"/>
            </a:solidFill>
            <a:prstDash val="solid"/>
          </a:ln>
        </p:spPr>
      </p:sp>
      <p:sp>
        <p:nvSpPr>
          <p:cNvPr id="35" name="Shape 31"/>
          <p:cNvSpPr/>
          <p:nvPr/>
        </p:nvSpPr>
        <p:spPr>
          <a:xfrm>
            <a:off x="2191947" y="5431513"/>
            <a:ext cx="741970" cy="-60328"/>
          </a:xfrm>
          <a:prstGeom prst="line">
            <a:avLst/>
          </a:prstGeom>
          <a:noFill/>
          <a:ln w="12700">
            <a:solidFill>
              <a:srgbClr val="F28E2B"/>
            </a:solidFill>
            <a:prstDash val="solid"/>
          </a:ln>
        </p:spPr>
      </p:sp>
      <p:sp>
        <p:nvSpPr>
          <p:cNvPr id="36" name="Shape 32"/>
          <p:cNvSpPr/>
          <p:nvPr/>
        </p:nvSpPr>
        <p:spPr>
          <a:xfrm>
            <a:off x="2933918" y="5371186"/>
            <a:ext cx="741970" cy="5692"/>
          </a:xfrm>
          <a:prstGeom prst="line">
            <a:avLst/>
          </a:prstGeom>
          <a:noFill/>
          <a:ln w="12700">
            <a:solidFill>
              <a:srgbClr val="F28E2B"/>
            </a:solidFill>
            <a:prstDash val="solid"/>
          </a:ln>
        </p:spPr>
      </p:sp>
      <p:sp>
        <p:nvSpPr>
          <p:cNvPr id="37" name="Shape 33"/>
          <p:cNvSpPr/>
          <p:nvPr/>
        </p:nvSpPr>
        <p:spPr>
          <a:xfrm>
            <a:off x="3675888" y="5376878"/>
            <a:ext cx="741970" cy="-19614"/>
          </a:xfrm>
          <a:prstGeom prst="line">
            <a:avLst/>
          </a:prstGeom>
          <a:noFill/>
          <a:ln w="12700">
            <a:solidFill>
              <a:srgbClr val="F28E2B"/>
            </a:solidFill>
            <a:prstDash val="solid"/>
          </a:ln>
        </p:spPr>
      </p:sp>
      <p:sp>
        <p:nvSpPr>
          <p:cNvPr id="38" name="Shape 34"/>
          <p:cNvSpPr/>
          <p:nvPr/>
        </p:nvSpPr>
        <p:spPr>
          <a:xfrm>
            <a:off x="4417858" y="5357264"/>
            <a:ext cx="741970" cy="43891"/>
          </a:xfrm>
          <a:prstGeom prst="line">
            <a:avLst/>
          </a:prstGeom>
          <a:noFill/>
          <a:ln w="12700">
            <a:solidFill>
              <a:srgbClr val="F28E2B"/>
            </a:solidFill>
            <a:prstDash val="solid"/>
          </a:ln>
        </p:spPr>
      </p:sp>
      <p:sp>
        <p:nvSpPr>
          <p:cNvPr id="39" name="Shape 35"/>
          <p:cNvSpPr/>
          <p:nvPr/>
        </p:nvSpPr>
        <p:spPr>
          <a:xfrm>
            <a:off x="5159829" y="5401155"/>
            <a:ext cx="741970" cy="30884"/>
          </a:xfrm>
          <a:prstGeom prst="line">
            <a:avLst/>
          </a:prstGeom>
          <a:noFill/>
          <a:ln w="12700">
            <a:solidFill>
              <a:srgbClr val="F28E2B"/>
            </a:solidFill>
            <a:prstDash val="solid"/>
          </a:ln>
        </p:spPr>
      </p:sp>
      <p:sp>
        <p:nvSpPr>
          <p:cNvPr id="40" name="Shape 36"/>
          <p:cNvSpPr/>
          <p:nvPr/>
        </p:nvSpPr>
        <p:spPr>
          <a:xfrm>
            <a:off x="5901799" y="5432039"/>
            <a:ext cx="741970" cy="823"/>
          </a:xfrm>
          <a:prstGeom prst="line">
            <a:avLst/>
          </a:prstGeom>
          <a:noFill/>
          <a:ln w="12700">
            <a:solidFill>
              <a:srgbClr val="F28E2B"/>
            </a:solidFill>
            <a:prstDash val="solid"/>
          </a:ln>
        </p:spPr>
      </p:sp>
      <p:sp>
        <p:nvSpPr>
          <p:cNvPr id="41" name="Shape 37"/>
          <p:cNvSpPr/>
          <p:nvPr/>
        </p:nvSpPr>
        <p:spPr>
          <a:xfrm>
            <a:off x="6643769" y="5432862"/>
            <a:ext cx="741970" cy="10538"/>
          </a:xfrm>
          <a:prstGeom prst="line">
            <a:avLst/>
          </a:prstGeom>
          <a:noFill/>
          <a:ln w="12700">
            <a:solidFill>
              <a:srgbClr val="F28E2B"/>
            </a:solidFill>
            <a:prstDash val="solid"/>
          </a:ln>
        </p:spPr>
      </p:sp>
      <p:sp>
        <p:nvSpPr>
          <p:cNvPr id="42" name="Shape 38"/>
          <p:cNvSpPr/>
          <p:nvPr/>
        </p:nvSpPr>
        <p:spPr>
          <a:xfrm>
            <a:off x="7385739" y="5443400"/>
            <a:ext cx="741970" cy="-3018"/>
          </a:xfrm>
          <a:prstGeom prst="line">
            <a:avLst/>
          </a:prstGeom>
          <a:noFill/>
          <a:ln w="12700">
            <a:solidFill>
              <a:srgbClr val="F28E2B"/>
            </a:solidFill>
            <a:prstDash val="solid"/>
          </a:ln>
        </p:spPr>
      </p:sp>
      <p:sp>
        <p:nvSpPr>
          <p:cNvPr id="43" name="Shape 39"/>
          <p:cNvSpPr/>
          <p:nvPr/>
        </p:nvSpPr>
        <p:spPr>
          <a:xfrm>
            <a:off x="8127710" y="5440383"/>
            <a:ext cx="741970" cy="-55115"/>
          </a:xfrm>
          <a:prstGeom prst="line">
            <a:avLst/>
          </a:prstGeom>
          <a:noFill/>
          <a:ln w="12700">
            <a:solidFill>
              <a:srgbClr val="F28E2B"/>
            </a:solidFill>
            <a:prstDash val="solid"/>
          </a:ln>
        </p:spPr>
      </p:sp>
      <p:sp>
        <p:nvSpPr>
          <p:cNvPr id="44" name="Shape 40"/>
          <p:cNvSpPr/>
          <p:nvPr/>
        </p:nvSpPr>
        <p:spPr>
          <a:xfrm>
            <a:off x="8869680" y="5385267"/>
            <a:ext cx="741970" cy="-4572"/>
          </a:xfrm>
          <a:prstGeom prst="line">
            <a:avLst/>
          </a:prstGeom>
          <a:noFill/>
          <a:ln w="12700">
            <a:solidFill>
              <a:srgbClr val="F28E2B"/>
            </a:solidFill>
            <a:prstDash val="solid"/>
          </a:ln>
        </p:spPr>
      </p:sp>
      <p:sp>
        <p:nvSpPr>
          <p:cNvPr id="45" name="Shape 41"/>
          <p:cNvSpPr/>
          <p:nvPr/>
        </p:nvSpPr>
        <p:spPr>
          <a:xfrm>
            <a:off x="9611650" y="5380695"/>
            <a:ext cx="741970" cy="-15591"/>
          </a:xfrm>
          <a:prstGeom prst="line">
            <a:avLst/>
          </a:prstGeom>
          <a:noFill/>
          <a:ln w="12700">
            <a:solidFill>
              <a:srgbClr val="F28E2B"/>
            </a:solidFill>
            <a:prstDash val="solid"/>
          </a:ln>
        </p:spPr>
      </p:sp>
      <p:sp>
        <p:nvSpPr>
          <p:cNvPr id="46" name="Shape 42"/>
          <p:cNvSpPr/>
          <p:nvPr/>
        </p:nvSpPr>
        <p:spPr>
          <a:xfrm>
            <a:off x="10353621" y="5365105"/>
            <a:ext cx="741970" cy="314279"/>
          </a:xfrm>
          <a:prstGeom prst="line">
            <a:avLst/>
          </a:prstGeom>
          <a:noFill/>
          <a:ln w="12700">
            <a:solidFill>
              <a:srgbClr val="F28E2B"/>
            </a:solidFill>
            <a:prstDash val="solid"/>
          </a:ln>
        </p:spPr>
      </p:sp>
      <p:sp>
        <p:nvSpPr>
          <p:cNvPr id="47" name="Shape 43"/>
          <p:cNvSpPr/>
          <p:nvPr/>
        </p:nvSpPr>
        <p:spPr>
          <a:xfrm>
            <a:off x="1427117" y="5552145"/>
            <a:ext cx="45720" cy="45720"/>
          </a:xfrm>
          <a:prstGeom prst="ellipse">
            <a:avLst/>
          </a:prstGeom>
          <a:solidFill>
            <a:srgbClr val="F28E2B"/>
          </a:solidFill>
          <a:ln w="12700">
            <a:solidFill>
              <a:srgbClr val="F28E2B"/>
            </a:solidFill>
            <a:prstDash val="solid"/>
          </a:ln>
        </p:spPr>
      </p:sp>
      <p:sp>
        <p:nvSpPr>
          <p:cNvPr id="48" name="Shape 44"/>
          <p:cNvSpPr/>
          <p:nvPr/>
        </p:nvSpPr>
        <p:spPr>
          <a:xfrm>
            <a:off x="2169087" y="5408653"/>
            <a:ext cx="45720" cy="45720"/>
          </a:xfrm>
          <a:prstGeom prst="ellipse">
            <a:avLst/>
          </a:prstGeom>
          <a:solidFill>
            <a:srgbClr val="F28E2B"/>
          </a:solidFill>
          <a:ln w="12700">
            <a:solidFill>
              <a:srgbClr val="F28E2B"/>
            </a:solidFill>
            <a:prstDash val="solid"/>
          </a:ln>
        </p:spPr>
      </p:sp>
      <p:sp>
        <p:nvSpPr>
          <p:cNvPr id="49" name="Shape 45"/>
          <p:cNvSpPr/>
          <p:nvPr/>
        </p:nvSpPr>
        <p:spPr>
          <a:xfrm>
            <a:off x="2911058" y="5348326"/>
            <a:ext cx="45720" cy="45720"/>
          </a:xfrm>
          <a:prstGeom prst="ellipse">
            <a:avLst/>
          </a:prstGeom>
          <a:solidFill>
            <a:srgbClr val="F28E2B"/>
          </a:solidFill>
          <a:ln w="12700">
            <a:solidFill>
              <a:srgbClr val="F28E2B"/>
            </a:solidFill>
            <a:prstDash val="solid"/>
          </a:ln>
        </p:spPr>
      </p:sp>
      <p:sp>
        <p:nvSpPr>
          <p:cNvPr id="50" name="Shape 46"/>
          <p:cNvSpPr/>
          <p:nvPr/>
        </p:nvSpPr>
        <p:spPr>
          <a:xfrm>
            <a:off x="3653028" y="5354018"/>
            <a:ext cx="45720" cy="45720"/>
          </a:xfrm>
          <a:prstGeom prst="ellipse">
            <a:avLst/>
          </a:prstGeom>
          <a:solidFill>
            <a:srgbClr val="F28E2B"/>
          </a:solidFill>
          <a:ln w="12700">
            <a:solidFill>
              <a:srgbClr val="F28E2B"/>
            </a:solidFill>
            <a:prstDash val="solid"/>
          </a:ln>
        </p:spPr>
      </p:sp>
      <p:sp>
        <p:nvSpPr>
          <p:cNvPr id="51" name="Shape 47"/>
          <p:cNvSpPr/>
          <p:nvPr/>
        </p:nvSpPr>
        <p:spPr>
          <a:xfrm>
            <a:off x="4394998" y="5334404"/>
            <a:ext cx="45720" cy="45720"/>
          </a:xfrm>
          <a:prstGeom prst="ellipse">
            <a:avLst/>
          </a:prstGeom>
          <a:solidFill>
            <a:srgbClr val="F28E2B"/>
          </a:solidFill>
          <a:ln w="12700">
            <a:solidFill>
              <a:srgbClr val="F28E2B"/>
            </a:solidFill>
            <a:prstDash val="solid"/>
          </a:ln>
        </p:spPr>
      </p:sp>
      <p:sp>
        <p:nvSpPr>
          <p:cNvPr id="52" name="Shape 48"/>
          <p:cNvSpPr/>
          <p:nvPr/>
        </p:nvSpPr>
        <p:spPr>
          <a:xfrm>
            <a:off x="5136969" y="5378295"/>
            <a:ext cx="45720" cy="45720"/>
          </a:xfrm>
          <a:prstGeom prst="ellipse">
            <a:avLst/>
          </a:prstGeom>
          <a:solidFill>
            <a:srgbClr val="F28E2B"/>
          </a:solidFill>
          <a:ln w="12700">
            <a:solidFill>
              <a:srgbClr val="F28E2B"/>
            </a:solidFill>
            <a:prstDash val="solid"/>
          </a:ln>
        </p:spPr>
      </p:sp>
      <p:sp>
        <p:nvSpPr>
          <p:cNvPr id="53" name="Shape 49"/>
          <p:cNvSpPr/>
          <p:nvPr/>
        </p:nvSpPr>
        <p:spPr>
          <a:xfrm>
            <a:off x="5878939" y="5409179"/>
            <a:ext cx="45720" cy="45720"/>
          </a:xfrm>
          <a:prstGeom prst="ellipse">
            <a:avLst/>
          </a:prstGeom>
          <a:solidFill>
            <a:srgbClr val="F28E2B"/>
          </a:solidFill>
          <a:ln w="12700">
            <a:solidFill>
              <a:srgbClr val="F28E2B"/>
            </a:solidFill>
            <a:prstDash val="solid"/>
          </a:ln>
        </p:spPr>
      </p:sp>
      <p:sp>
        <p:nvSpPr>
          <p:cNvPr id="54" name="Shape 50"/>
          <p:cNvSpPr/>
          <p:nvPr/>
        </p:nvSpPr>
        <p:spPr>
          <a:xfrm>
            <a:off x="6620909" y="5410002"/>
            <a:ext cx="45720" cy="45720"/>
          </a:xfrm>
          <a:prstGeom prst="ellipse">
            <a:avLst/>
          </a:prstGeom>
          <a:solidFill>
            <a:srgbClr val="F28E2B"/>
          </a:solidFill>
          <a:ln w="12700">
            <a:solidFill>
              <a:srgbClr val="F28E2B"/>
            </a:solidFill>
            <a:prstDash val="solid"/>
          </a:ln>
        </p:spPr>
      </p:sp>
      <p:sp>
        <p:nvSpPr>
          <p:cNvPr id="55" name="Shape 51"/>
          <p:cNvSpPr/>
          <p:nvPr/>
        </p:nvSpPr>
        <p:spPr>
          <a:xfrm>
            <a:off x="7362879" y="5420540"/>
            <a:ext cx="45720" cy="45720"/>
          </a:xfrm>
          <a:prstGeom prst="ellipse">
            <a:avLst/>
          </a:prstGeom>
          <a:solidFill>
            <a:srgbClr val="F28E2B"/>
          </a:solidFill>
          <a:ln w="12700">
            <a:solidFill>
              <a:srgbClr val="F28E2B"/>
            </a:solidFill>
            <a:prstDash val="solid"/>
          </a:ln>
        </p:spPr>
      </p:sp>
      <p:sp>
        <p:nvSpPr>
          <p:cNvPr id="56" name="Shape 52"/>
          <p:cNvSpPr/>
          <p:nvPr/>
        </p:nvSpPr>
        <p:spPr>
          <a:xfrm>
            <a:off x="8104850" y="5417523"/>
            <a:ext cx="45720" cy="45720"/>
          </a:xfrm>
          <a:prstGeom prst="ellipse">
            <a:avLst/>
          </a:prstGeom>
          <a:solidFill>
            <a:srgbClr val="F28E2B"/>
          </a:solidFill>
          <a:ln w="12700">
            <a:solidFill>
              <a:srgbClr val="F28E2B"/>
            </a:solidFill>
            <a:prstDash val="solid"/>
          </a:ln>
        </p:spPr>
      </p:sp>
      <p:sp>
        <p:nvSpPr>
          <p:cNvPr id="57" name="Shape 53"/>
          <p:cNvSpPr/>
          <p:nvPr/>
        </p:nvSpPr>
        <p:spPr>
          <a:xfrm>
            <a:off x="8846820" y="5362407"/>
            <a:ext cx="45720" cy="45720"/>
          </a:xfrm>
          <a:prstGeom prst="ellipse">
            <a:avLst/>
          </a:prstGeom>
          <a:solidFill>
            <a:srgbClr val="F28E2B"/>
          </a:solidFill>
          <a:ln w="12700">
            <a:solidFill>
              <a:srgbClr val="F28E2B"/>
            </a:solidFill>
            <a:prstDash val="solid"/>
          </a:ln>
        </p:spPr>
      </p:sp>
      <p:sp>
        <p:nvSpPr>
          <p:cNvPr id="58" name="Shape 54"/>
          <p:cNvSpPr/>
          <p:nvPr/>
        </p:nvSpPr>
        <p:spPr>
          <a:xfrm>
            <a:off x="9588790" y="5357835"/>
            <a:ext cx="45720" cy="45720"/>
          </a:xfrm>
          <a:prstGeom prst="ellipse">
            <a:avLst/>
          </a:prstGeom>
          <a:solidFill>
            <a:srgbClr val="F28E2B"/>
          </a:solidFill>
          <a:ln w="12700">
            <a:solidFill>
              <a:srgbClr val="F28E2B"/>
            </a:solidFill>
            <a:prstDash val="solid"/>
          </a:ln>
        </p:spPr>
      </p:sp>
      <p:sp>
        <p:nvSpPr>
          <p:cNvPr id="59" name="Shape 55"/>
          <p:cNvSpPr/>
          <p:nvPr/>
        </p:nvSpPr>
        <p:spPr>
          <a:xfrm>
            <a:off x="10330761" y="5342245"/>
            <a:ext cx="45720" cy="45720"/>
          </a:xfrm>
          <a:prstGeom prst="ellipse">
            <a:avLst/>
          </a:prstGeom>
          <a:solidFill>
            <a:srgbClr val="F28E2B"/>
          </a:solidFill>
          <a:ln w="12700">
            <a:solidFill>
              <a:srgbClr val="F28E2B"/>
            </a:solidFill>
            <a:prstDash val="solid"/>
          </a:ln>
        </p:spPr>
      </p:sp>
      <p:sp>
        <p:nvSpPr>
          <p:cNvPr id="60" name="Shape 56"/>
          <p:cNvSpPr/>
          <p:nvPr/>
        </p:nvSpPr>
        <p:spPr>
          <a:xfrm>
            <a:off x="11072731" y="5656524"/>
            <a:ext cx="45720" cy="45720"/>
          </a:xfrm>
          <a:prstGeom prst="ellipse">
            <a:avLst/>
          </a:prstGeom>
          <a:solidFill>
            <a:srgbClr val="F28E2B"/>
          </a:solidFill>
          <a:ln w="12700">
            <a:solidFill>
              <a:srgbClr val="F28E2B"/>
            </a:solidFill>
            <a:prstDash val="solid"/>
          </a:ln>
        </p:spPr>
      </p:sp>
      <p:sp>
        <p:nvSpPr>
          <p:cNvPr id="61" name="Shape 57"/>
          <p:cNvSpPr/>
          <p:nvPr/>
        </p:nvSpPr>
        <p:spPr>
          <a:xfrm>
            <a:off x="1449977" y="5598437"/>
            <a:ext cx="741970" cy="-120084"/>
          </a:xfrm>
          <a:prstGeom prst="line">
            <a:avLst/>
          </a:prstGeom>
          <a:noFill/>
          <a:ln w="12700">
            <a:solidFill>
              <a:srgbClr val="9AA3AD"/>
            </a:solidFill>
            <a:prstDash val="solid"/>
          </a:ln>
        </p:spPr>
      </p:sp>
      <p:sp>
        <p:nvSpPr>
          <p:cNvPr id="62" name="Shape 58"/>
          <p:cNvSpPr/>
          <p:nvPr/>
        </p:nvSpPr>
        <p:spPr>
          <a:xfrm>
            <a:off x="2191947" y="5478353"/>
            <a:ext cx="741970" cy="2972"/>
          </a:xfrm>
          <a:prstGeom prst="line">
            <a:avLst/>
          </a:prstGeom>
          <a:noFill/>
          <a:ln w="12700">
            <a:solidFill>
              <a:srgbClr val="9AA3AD"/>
            </a:solidFill>
            <a:prstDash val="solid"/>
          </a:ln>
        </p:spPr>
      </p:sp>
      <p:sp>
        <p:nvSpPr>
          <p:cNvPr id="63" name="Shape 59"/>
          <p:cNvSpPr/>
          <p:nvPr/>
        </p:nvSpPr>
        <p:spPr>
          <a:xfrm>
            <a:off x="2933918" y="5481325"/>
            <a:ext cx="741970" cy="-26198"/>
          </a:xfrm>
          <a:prstGeom prst="line">
            <a:avLst/>
          </a:prstGeom>
          <a:noFill/>
          <a:ln w="12700">
            <a:solidFill>
              <a:srgbClr val="9AA3AD"/>
            </a:solidFill>
            <a:prstDash val="solid"/>
          </a:ln>
        </p:spPr>
      </p:sp>
      <p:sp>
        <p:nvSpPr>
          <p:cNvPr id="64" name="Shape 60"/>
          <p:cNvSpPr/>
          <p:nvPr/>
        </p:nvSpPr>
        <p:spPr>
          <a:xfrm>
            <a:off x="3675888" y="5455128"/>
            <a:ext cx="741970" cy="-24895"/>
          </a:xfrm>
          <a:prstGeom prst="line">
            <a:avLst/>
          </a:prstGeom>
          <a:noFill/>
          <a:ln w="12700">
            <a:solidFill>
              <a:srgbClr val="9AA3AD"/>
            </a:solidFill>
            <a:prstDash val="solid"/>
          </a:ln>
        </p:spPr>
      </p:sp>
      <p:sp>
        <p:nvSpPr>
          <p:cNvPr id="65" name="Shape 61"/>
          <p:cNvSpPr/>
          <p:nvPr/>
        </p:nvSpPr>
        <p:spPr>
          <a:xfrm>
            <a:off x="4417858" y="5430233"/>
            <a:ext cx="741970" cy="23683"/>
          </a:xfrm>
          <a:prstGeom prst="line">
            <a:avLst/>
          </a:prstGeom>
          <a:noFill/>
          <a:ln w="12700">
            <a:solidFill>
              <a:srgbClr val="9AA3AD"/>
            </a:solidFill>
            <a:prstDash val="solid"/>
          </a:ln>
        </p:spPr>
      </p:sp>
      <p:sp>
        <p:nvSpPr>
          <p:cNvPr id="66" name="Shape 62"/>
          <p:cNvSpPr/>
          <p:nvPr/>
        </p:nvSpPr>
        <p:spPr>
          <a:xfrm>
            <a:off x="5159829" y="5453916"/>
            <a:ext cx="741970" cy="55093"/>
          </a:xfrm>
          <a:prstGeom prst="line">
            <a:avLst/>
          </a:prstGeom>
          <a:noFill/>
          <a:ln w="12700">
            <a:solidFill>
              <a:srgbClr val="9AA3AD"/>
            </a:solidFill>
            <a:prstDash val="solid"/>
          </a:ln>
        </p:spPr>
      </p:sp>
      <p:sp>
        <p:nvSpPr>
          <p:cNvPr id="67" name="Shape 63"/>
          <p:cNvSpPr/>
          <p:nvPr/>
        </p:nvSpPr>
        <p:spPr>
          <a:xfrm>
            <a:off x="5901799" y="5509009"/>
            <a:ext cx="741970" cy="-9898"/>
          </a:xfrm>
          <a:prstGeom prst="line">
            <a:avLst/>
          </a:prstGeom>
          <a:noFill/>
          <a:ln w="12700">
            <a:solidFill>
              <a:srgbClr val="9AA3AD"/>
            </a:solidFill>
            <a:prstDash val="solid"/>
          </a:ln>
        </p:spPr>
      </p:sp>
      <p:sp>
        <p:nvSpPr>
          <p:cNvPr id="68" name="Shape 64"/>
          <p:cNvSpPr/>
          <p:nvPr/>
        </p:nvSpPr>
        <p:spPr>
          <a:xfrm>
            <a:off x="6643769" y="5499110"/>
            <a:ext cx="741970" cy="-10264"/>
          </a:xfrm>
          <a:prstGeom prst="line">
            <a:avLst/>
          </a:prstGeom>
          <a:noFill/>
          <a:ln w="12700">
            <a:solidFill>
              <a:srgbClr val="9AA3AD"/>
            </a:solidFill>
            <a:prstDash val="solid"/>
          </a:ln>
        </p:spPr>
      </p:sp>
      <p:sp>
        <p:nvSpPr>
          <p:cNvPr id="69" name="Shape 65"/>
          <p:cNvSpPr/>
          <p:nvPr/>
        </p:nvSpPr>
        <p:spPr>
          <a:xfrm>
            <a:off x="7385739" y="5488846"/>
            <a:ext cx="741970" cy="4778"/>
          </a:xfrm>
          <a:prstGeom prst="line">
            <a:avLst/>
          </a:prstGeom>
          <a:noFill/>
          <a:ln w="12700">
            <a:solidFill>
              <a:srgbClr val="9AA3AD"/>
            </a:solidFill>
            <a:prstDash val="solid"/>
          </a:ln>
        </p:spPr>
      </p:sp>
      <p:sp>
        <p:nvSpPr>
          <p:cNvPr id="70" name="Shape 66"/>
          <p:cNvSpPr/>
          <p:nvPr/>
        </p:nvSpPr>
        <p:spPr>
          <a:xfrm>
            <a:off x="8127710" y="5493624"/>
            <a:ext cx="741970" cy="-6584"/>
          </a:xfrm>
          <a:prstGeom prst="line">
            <a:avLst/>
          </a:prstGeom>
          <a:noFill/>
          <a:ln w="12700">
            <a:solidFill>
              <a:srgbClr val="9AA3AD"/>
            </a:solidFill>
            <a:prstDash val="solid"/>
          </a:ln>
        </p:spPr>
      </p:sp>
      <p:sp>
        <p:nvSpPr>
          <p:cNvPr id="71" name="Shape 67"/>
          <p:cNvSpPr/>
          <p:nvPr/>
        </p:nvSpPr>
        <p:spPr>
          <a:xfrm>
            <a:off x="8869680" y="5487040"/>
            <a:ext cx="741970" cy="-17214"/>
          </a:xfrm>
          <a:prstGeom prst="line">
            <a:avLst/>
          </a:prstGeom>
          <a:noFill/>
          <a:ln w="12700">
            <a:solidFill>
              <a:srgbClr val="9AA3AD"/>
            </a:solidFill>
            <a:prstDash val="solid"/>
          </a:ln>
        </p:spPr>
      </p:sp>
      <p:sp>
        <p:nvSpPr>
          <p:cNvPr id="72" name="Shape 68"/>
          <p:cNvSpPr/>
          <p:nvPr/>
        </p:nvSpPr>
        <p:spPr>
          <a:xfrm>
            <a:off x="9611650" y="5469827"/>
            <a:ext cx="741970" cy="21580"/>
          </a:xfrm>
          <a:prstGeom prst="line">
            <a:avLst/>
          </a:prstGeom>
          <a:noFill/>
          <a:ln w="12700">
            <a:solidFill>
              <a:srgbClr val="9AA3AD"/>
            </a:solidFill>
            <a:prstDash val="solid"/>
          </a:ln>
        </p:spPr>
      </p:sp>
      <p:sp>
        <p:nvSpPr>
          <p:cNvPr id="73" name="Shape 69"/>
          <p:cNvSpPr/>
          <p:nvPr/>
        </p:nvSpPr>
        <p:spPr>
          <a:xfrm>
            <a:off x="10353621" y="5491406"/>
            <a:ext cx="741970" cy="192230"/>
          </a:xfrm>
          <a:prstGeom prst="line">
            <a:avLst/>
          </a:prstGeom>
          <a:noFill/>
          <a:ln w="12700">
            <a:solidFill>
              <a:srgbClr val="9AA3AD"/>
            </a:solidFill>
            <a:prstDash val="solid"/>
          </a:ln>
        </p:spPr>
      </p:sp>
      <p:sp>
        <p:nvSpPr>
          <p:cNvPr id="74" name="Shape 70"/>
          <p:cNvSpPr/>
          <p:nvPr/>
        </p:nvSpPr>
        <p:spPr>
          <a:xfrm>
            <a:off x="1427117" y="5575577"/>
            <a:ext cx="45720" cy="45720"/>
          </a:xfrm>
          <a:prstGeom prst="ellipse">
            <a:avLst/>
          </a:prstGeom>
          <a:solidFill>
            <a:srgbClr val="9AA3AD"/>
          </a:solidFill>
          <a:ln w="12700">
            <a:solidFill>
              <a:srgbClr val="9AA3AD"/>
            </a:solidFill>
            <a:prstDash val="solid"/>
          </a:ln>
        </p:spPr>
      </p:sp>
      <p:sp>
        <p:nvSpPr>
          <p:cNvPr id="75" name="Shape 71"/>
          <p:cNvSpPr/>
          <p:nvPr/>
        </p:nvSpPr>
        <p:spPr>
          <a:xfrm>
            <a:off x="2169087" y="5455493"/>
            <a:ext cx="45720" cy="45720"/>
          </a:xfrm>
          <a:prstGeom prst="ellipse">
            <a:avLst/>
          </a:prstGeom>
          <a:solidFill>
            <a:srgbClr val="9AA3AD"/>
          </a:solidFill>
          <a:ln w="12700">
            <a:solidFill>
              <a:srgbClr val="9AA3AD"/>
            </a:solidFill>
            <a:prstDash val="solid"/>
          </a:ln>
        </p:spPr>
      </p:sp>
      <p:sp>
        <p:nvSpPr>
          <p:cNvPr id="76" name="Shape 72"/>
          <p:cNvSpPr/>
          <p:nvPr/>
        </p:nvSpPr>
        <p:spPr>
          <a:xfrm>
            <a:off x="2911058" y="5458465"/>
            <a:ext cx="45720" cy="45720"/>
          </a:xfrm>
          <a:prstGeom prst="ellipse">
            <a:avLst/>
          </a:prstGeom>
          <a:solidFill>
            <a:srgbClr val="9AA3AD"/>
          </a:solidFill>
          <a:ln w="12700">
            <a:solidFill>
              <a:srgbClr val="9AA3AD"/>
            </a:solidFill>
            <a:prstDash val="solid"/>
          </a:ln>
        </p:spPr>
      </p:sp>
      <p:sp>
        <p:nvSpPr>
          <p:cNvPr id="77" name="Shape 73"/>
          <p:cNvSpPr/>
          <p:nvPr/>
        </p:nvSpPr>
        <p:spPr>
          <a:xfrm>
            <a:off x="3653028" y="5432268"/>
            <a:ext cx="45720" cy="45720"/>
          </a:xfrm>
          <a:prstGeom prst="ellipse">
            <a:avLst/>
          </a:prstGeom>
          <a:solidFill>
            <a:srgbClr val="9AA3AD"/>
          </a:solidFill>
          <a:ln w="12700">
            <a:solidFill>
              <a:srgbClr val="9AA3AD"/>
            </a:solidFill>
            <a:prstDash val="solid"/>
          </a:ln>
        </p:spPr>
      </p:sp>
      <p:sp>
        <p:nvSpPr>
          <p:cNvPr id="78" name="Shape 74"/>
          <p:cNvSpPr/>
          <p:nvPr/>
        </p:nvSpPr>
        <p:spPr>
          <a:xfrm>
            <a:off x="4394998" y="5407373"/>
            <a:ext cx="45720" cy="45720"/>
          </a:xfrm>
          <a:prstGeom prst="ellipse">
            <a:avLst/>
          </a:prstGeom>
          <a:solidFill>
            <a:srgbClr val="9AA3AD"/>
          </a:solidFill>
          <a:ln w="12700">
            <a:solidFill>
              <a:srgbClr val="9AA3AD"/>
            </a:solidFill>
            <a:prstDash val="solid"/>
          </a:ln>
        </p:spPr>
      </p:sp>
      <p:sp>
        <p:nvSpPr>
          <p:cNvPr id="79" name="Shape 75"/>
          <p:cNvSpPr/>
          <p:nvPr/>
        </p:nvSpPr>
        <p:spPr>
          <a:xfrm>
            <a:off x="5136969" y="5431056"/>
            <a:ext cx="45720" cy="45720"/>
          </a:xfrm>
          <a:prstGeom prst="ellipse">
            <a:avLst/>
          </a:prstGeom>
          <a:solidFill>
            <a:srgbClr val="9AA3AD"/>
          </a:solidFill>
          <a:ln w="12700">
            <a:solidFill>
              <a:srgbClr val="9AA3AD"/>
            </a:solidFill>
            <a:prstDash val="solid"/>
          </a:ln>
        </p:spPr>
      </p:sp>
      <p:sp>
        <p:nvSpPr>
          <p:cNvPr id="80" name="Shape 76"/>
          <p:cNvSpPr/>
          <p:nvPr/>
        </p:nvSpPr>
        <p:spPr>
          <a:xfrm>
            <a:off x="5878939" y="5486149"/>
            <a:ext cx="45720" cy="45720"/>
          </a:xfrm>
          <a:prstGeom prst="ellipse">
            <a:avLst/>
          </a:prstGeom>
          <a:solidFill>
            <a:srgbClr val="9AA3AD"/>
          </a:solidFill>
          <a:ln w="12700">
            <a:solidFill>
              <a:srgbClr val="9AA3AD"/>
            </a:solidFill>
            <a:prstDash val="solid"/>
          </a:ln>
        </p:spPr>
      </p:sp>
      <p:sp>
        <p:nvSpPr>
          <p:cNvPr id="81" name="Shape 77"/>
          <p:cNvSpPr/>
          <p:nvPr/>
        </p:nvSpPr>
        <p:spPr>
          <a:xfrm>
            <a:off x="6620909" y="5476250"/>
            <a:ext cx="45720" cy="45720"/>
          </a:xfrm>
          <a:prstGeom prst="ellipse">
            <a:avLst/>
          </a:prstGeom>
          <a:solidFill>
            <a:srgbClr val="9AA3AD"/>
          </a:solidFill>
          <a:ln w="12700">
            <a:solidFill>
              <a:srgbClr val="9AA3AD"/>
            </a:solidFill>
            <a:prstDash val="solid"/>
          </a:ln>
        </p:spPr>
      </p:sp>
      <p:sp>
        <p:nvSpPr>
          <p:cNvPr id="82" name="Shape 78"/>
          <p:cNvSpPr/>
          <p:nvPr/>
        </p:nvSpPr>
        <p:spPr>
          <a:xfrm>
            <a:off x="7362879" y="5465986"/>
            <a:ext cx="45720" cy="45720"/>
          </a:xfrm>
          <a:prstGeom prst="ellipse">
            <a:avLst/>
          </a:prstGeom>
          <a:solidFill>
            <a:srgbClr val="9AA3AD"/>
          </a:solidFill>
          <a:ln w="12700">
            <a:solidFill>
              <a:srgbClr val="9AA3AD"/>
            </a:solidFill>
            <a:prstDash val="solid"/>
          </a:ln>
        </p:spPr>
      </p:sp>
      <p:sp>
        <p:nvSpPr>
          <p:cNvPr id="83" name="Shape 79"/>
          <p:cNvSpPr/>
          <p:nvPr/>
        </p:nvSpPr>
        <p:spPr>
          <a:xfrm>
            <a:off x="8104850" y="5470764"/>
            <a:ext cx="45720" cy="45720"/>
          </a:xfrm>
          <a:prstGeom prst="ellipse">
            <a:avLst/>
          </a:prstGeom>
          <a:solidFill>
            <a:srgbClr val="9AA3AD"/>
          </a:solidFill>
          <a:ln w="12700">
            <a:solidFill>
              <a:srgbClr val="9AA3AD"/>
            </a:solidFill>
            <a:prstDash val="solid"/>
          </a:ln>
        </p:spPr>
      </p:sp>
      <p:sp>
        <p:nvSpPr>
          <p:cNvPr id="84" name="Shape 80"/>
          <p:cNvSpPr/>
          <p:nvPr/>
        </p:nvSpPr>
        <p:spPr>
          <a:xfrm>
            <a:off x="8846820" y="5464180"/>
            <a:ext cx="45720" cy="45720"/>
          </a:xfrm>
          <a:prstGeom prst="ellipse">
            <a:avLst/>
          </a:prstGeom>
          <a:solidFill>
            <a:srgbClr val="9AA3AD"/>
          </a:solidFill>
          <a:ln w="12700">
            <a:solidFill>
              <a:srgbClr val="9AA3AD"/>
            </a:solidFill>
            <a:prstDash val="solid"/>
          </a:ln>
        </p:spPr>
      </p:sp>
      <p:sp>
        <p:nvSpPr>
          <p:cNvPr id="85" name="Shape 81"/>
          <p:cNvSpPr/>
          <p:nvPr/>
        </p:nvSpPr>
        <p:spPr>
          <a:xfrm>
            <a:off x="9588790" y="5446966"/>
            <a:ext cx="45720" cy="45720"/>
          </a:xfrm>
          <a:prstGeom prst="ellipse">
            <a:avLst/>
          </a:prstGeom>
          <a:solidFill>
            <a:srgbClr val="9AA3AD"/>
          </a:solidFill>
          <a:ln w="12700">
            <a:solidFill>
              <a:srgbClr val="9AA3AD"/>
            </a:solidFill>
            <a:prstDash val="solid"/>
          </a:ln>
        </p:spPr>
      </p:sp>
      <p:sp>
        <p:nvSpPr>
          <p:cNvPr id="86" name="Shape 82"/>
          <p:cNvSpPr/>
          <p:nvPr/>
        </p:nvSpPr>
        <p:spPr>
          <a:xfrm>
            <a:off x="10330761" y="5468546"/>
            <a:ext cx="45720" cy="45720"/>
          </a:xfrm>
          <a:prstGeom prst="ellipse">
            <a:avLst/>
          </a:prstGeom>
          <a:solidFill>
            <a:srgbClr val="9AA3AD"/>
          </a:solidFill>
          <a:ln w="12700">
            <a:solidFill>
              <a:srgbClr val="9AA3AD"/>
            </a:solidFill>
            <a:prstDash val="solid"/>
          </a:ln>
        </p:spPr>
      </p:sp>
      <p:sp>
        <p:nvSpPr>
          <p:cNvPr id="87" name="Shape 83"/>
          <p:cNvSpPr/>
          <p:nvPr/>
        </p:nvSpPr>
        <p:spPr>
          <a:xfrm>
            <a:off x="11072731" y="5660776"/>
            <a:ext cx="45720" cy="45720"/>
          </a:xfrm>
          <a:prstGeom prst="ellipse">
            <a:avLst/>
          </a:prstGeom>
          <a:solidFill>
            <a:srgbClr val="9AA3AD"/>
          </a:solidFill>
          <a:ln w="12700">
            <a:solidFill>
              <a:srgbClr val="9AA3AD"/>
            </a:solidFill>
            <a:prstDash val="solid"/>
          </a:ln>
        </p:spPr>
      </p:sp>
      <p:sp>
        <p:nvSpPr>
          <p:cNvPr id="88" name="Shape 84"/>
          <p:cNvSpPr/>
          <p:nvPr/>
        </p:nvSpPr>
        <p:spPr>
          <a:xfrm>
            <a:off x="1449977" y="5668571"/>
            <a:ext cx="741970" cy="-28232"/>
          </a:xfrm>
          <a:prstGeom prst="line">
            <a:avLst/>
          </a:prstGeom>
          <a:noFill/>
          <a:ln w="12700">
            <a:solidFill>
              <a:srgbClr val="F2C94C"/>
            </a:solidFill>
            <a:prstDash val="solid"/>
          </a:ln>
        </p:spPr>
      </p:sp>
      <p:sp>
        <p:nvSpPr>
          <p:cNvPr id="89" name="Shape 85"/>
          <p:cNvSpPr/>
          <p:nvPr/>
        </p:nvSpPr>
        <p:spPr>
          <a:xfrm>
            <a:off x="2191947" y="5640339"/>
            <a:ext cx="741970" cy="2880"/>
          </a:xfrm>
          <a:prstGeom prst="line">
            <a:avLst/>
          </a:prstGeom>
          <a:noFill/>
          <a:ln w="12700">
            <a:solidFill>
              <a:srgbClr val="F2C94C"/>
            </a:solidFill>
            <a:prstDash val="solid"/>
          </a:ln>
        </p:spPr>
      </p:sp>
      <p:sp>
        <p:nvSpPr>
          <p:cNvPr id="90" name="Shape 86"/>
          <p:cNvSpPr/>
          <p:nvPr/>
        </p:nvSpPr>
        <p:spPr>
          <a:xfrm>
            <a:off x="2933918" y="5643220"/>
            <a:ext cx="741970" cy="10493"/>
          </a:xfrm>
          <a:prstGeom prst="line">
            <a:avLst/>
          </a:prstGeom>
          <a:noFill/>
          <a:ln w="12700">
            <a:solidFill>
              <a:srgbClr val="F2C94C"/>
            </a:solidFill>
            <a:prstDash val="solid"/>
          </a:ln>
        </p:spPr>
      </p:sp>
      <p:sp>
        <p:nvSpPr>
          <p:cNvPr id="91" name="Shape 87"/>
          <p:cNvSpPr/>
          <p:nvPr/>
        </p:nvSpPr>
        <p:spPr>
          <a:xfrm>
            <a:off x="3675888" y="5653712"/>
            <a:ext cx="741970" cy="-4572"/>
          </a:xfrm>
          <a:prstGeom prst="line">
            <a:avLst/>
          </a:prstGeom>
          <a:noFill/>
          <a:ln w="12700">
            <a:solidFill>
              <a:srgbClr val="F2C94C"/>
            </a:solidFill>
            <a:prstDash val="solid"/>
          </a:ln>
        </p:spPr>
      </p:sp>
      <p:sp>
        <p:nvSpPr>
          <p:cNvPr id="92" name="Shape 88"/>
          <p:cNvSpPr/>
          <p:nvPr/>
        </p:nvSpPr>
        <p:spPr>
          <a:xfrm>
            <a:off x="4417858" y="5649140"/>
            <a:ext cx="741970" cy="-19225"/>
          </a:xfrm>
          <a:prstGeom prst="line">
            <a:avLst/>
          </a:prstGeom>
          <a:noFill/>
          <a:ln w="12700">
            <a:solidFill>
              <a:srgbClr val="F2C94C"/>
            </a:solidFill>
            <a:prstDash val="solid"/>
          </a:ln>
        </p:spPr>
      </p:sp>
      <p:sp>
        <p:nvSpPr>
          <p:cNvPr id="93" name="Shape 89"/>
          <p:cNvSpPr/>
          <p:nvPr/>
        </p:nvSpPr>
        <p:spPr>
          <a:xfrm>
            <a:off x="5159829" y="5629915"/>
            <a:ext cx="741970" cy="-19728"/>
          </a:xfrm>
          <a:prstGeom prst="line">
            <a:avLst/>
          </a:prstGeom>
          <a:noFill/>
          <a:ln w="12700">
            <a:solidFill>
              <a:srgbClr val="F2C94C"/>
            </a:solidFill>
            <a:prstDash val="solid"/>
          </a:ln>
        </p:spPr>
      </p:sp>
      <p:sp>
        <p:nvSpPr>
          <p:cNvPr id="94" name="Shape 90"/>
          <p:cNvSpPr/>
          <p:nvPr/>
        </p:nvSpPr>
        <p:spPr>
          <a:xfrm>
            <a:off x="5901799" y="5610187"/>
            <a:ext cx="741970" cy="-20048"/>
          </a:xfrm>
          <a:prstGeom prst="line">
            <a:avLst/>
          </a:prstGeom>
          <a:noFill/>
          <a:ln w="12700">
            <a:solidFill>
              <a:srgbClr val="F2C94C"/>
            </a:solidFill>
            <a:prstDash val="solid"/>
          </a:ln>
        </p:spPr>
      </p:sp>
      <p:sp>
        <p:nvSpPr>
          <p:cNvPr id="95" name="Shape 91"/>
          <p:cNvSpPr/>
          <p:nvPr/>
        </p:nvSpPr>
        <p:spPr>
          <a:xfrm>
            <a:off x="6643769" y="5590139"/>
            <a:ext cx="741970" cy="36553"/>
          </a:xfrm>
          <a:prstGeom prst="line">
            <a:avLst/>
          </a:prstGeom>
          <a:noFill/>
          <a:ln w="12700">
            <a:solidFill>
              <a:srgbClr val="F2C94C"/>
            </a:solidFill>
            <a:prstDash val="solid"/>
          </a:ln>
        </p:spPr>
      </p:sp>
      <p:sp>
        <p:nvSpPr>
          <p:cNvPr id="96" name="Shape 92"/>
          <p:cNvSpPr/>
          <p:nvPr/>
        </p:nvSpPr>
        <p:spPr>
          <a:xfrm>
            <a:off x="7385739" y="5626692"/>
            <a:ext cx="741970" cy="2446"/>
          </a:xfrm>
          <a:prstGeom prst="line">
            <a:avLst/>
          </a:prstGeom>
          <a:noFill/>
          <a:ln w="12700">
            <a:solidFill>
              <a:srgbClr val="F2C94C"/>
            </a:solidFill>
            <a:prstDash val="solid"/>
          </a:ln>
        </p:spPr>
      </p:sp>
      <p:sp>
        <p:nvSpPr>
          <p:cNvPr id="97" name="Shape 93"/>
          <p:cNvSpPr/>
          <p:nvPr/>
        </p:nvSpPr>
        <p:spPr>
          <a:xfrm>
            <a:off x="8127710" y="5629138"/>
            <a:ext cx="741970" cy="-16802"/>
          </a:xfrm>
          <a:prstGeom prst="line">
            <a:avLst/>
          </a:prstGeom>
          <a:noFill/>
          <a:ln w="12700">
            <a:solidFill>
              <a:srgbClr val="F2C94C"/>
            </a:solidFill>
            <a:prstDash val="solid"/>
          </a:ln>
        </p:spPr>
      </p:sp>
      <p:sp>
        <p:nvSpPr>
          <p:cNvPr id="98" name="Shape 94"/>
          <p:cNvSpPr/>
          <p:nvPr/>
        </p:nvSpPr>
        <p:spPr>
          <a:xfrm>
            <a:off x="8869680" y="5612336"/>
            <a:ext cx="741970" cy="12916"/>
          </a:xfrm>
          <a:prstGeom prst="line">
            <a:avLst/>
          </a:prstGeom>
          <a:noFill/>
          <a:ln w="12700">
            <a:solidFill>
              <a:srgbClr val="F2C94C"/>
            </a:solidFill>
            <a:prstDash val="solid"/>
          </a:ln>
        </p:spPr>
      </p:sp>
      <p:sp>
        <p:nvSpPr>
          <p:cNvPr id="99" name="Shape 95"/>
          <p:cNvSpPr/>
          <p:nvPr/>
        </p:nvSpPr>
        <p:spPr>
          <a:xfrm>
            <a:off x="9611650" y="5625252"/>
            <a:ext cx="741970" cy="-3498"/>
          </a:xfrm>
          <a:prstGeom prst="line">
            <a:avLst/>
          </a:prstGeom>
          <a:noFill/>
          <a:ln w="12700">
            <a:solidFill>
              <a:srgbClr val="F2C94C"/>
            </a:solidFill>
            <a:prstDash val="solid"/>
          </a:ln>
        </p:spPr>
      </p:sp>
      <p:sp>
        <p:nvSpPr>
          <p:cNvPr id="100" name="Shape 96"/>
          <p:cNvSpPr/>
          <p:nvPr/>
        </p:nvSpPr>
        <p:spPr>
          <a:xfrm>
            <a:off x="10353621" y="5621754"/>
            <a:ext cx="741970" cy="93726"/>
          </a:xfrm>
          <a:prstGeom prst="line">
            <a:avLst/>
          </a:prstGeom>
          <a:noFill/>
          <a:ln w="12700">
            <a:solidFill>
              <a:srgbClr val="F2C94C"/>
            </a:solidFill>
            <a:prstDash val="solid"/>
          </a:ln>
        </p:spPr>
      </p:sp>
      <p:sp>
        <p:nvSpPr>
          <p:cNvPr id="101" name="Shape 97"/>
          <p:cNvSpPr/>
          <p:nvPr/>
        </p:nvSpPr>
        <p:spPr>
          <a:xfrm>
            <a:off x="1427117" y="5645711"/>
            <a:ext cx="45720" cy="45720"/>
          </a:xfrm>
          <a:prstGeom prst="ellipse">
            <a:avLst/>
          </a:prstGeom>
          <a:solidFill>
            <a:srgbClr val="F2C94C"/>
          </a:solidFill>
          <a:ln w="12700">
            <a:solidFill>
              <a:srgbClr val="F2C94C"/>
            </a:solidFill>
            <a:prstDash val="solid"/>
          </a:ln>
        </p:spPr>
      </p:sp>
      <p:sp>
        <p:nvSpPr>
          <p:cNvPr id="102" name="Shape 98"/>
          <p:cNvSpPr/>
          <p:nvPr/>
        </p:nvSpPr>
        <p:spPr>
          <a:xfrm>
            <a:off x="2169087" y="5617479"/>
            <a:ext cx="45720" cy="45720"/>
          </a:xfrm>
          <a:prstGeom prst="ellipse">
            <a:avLst/>
          </a:prstGeom>
          <a:solidFill>
            <a:srgbClr val="F2C94C"/>
          </a:solidFill>
          <a:ln w="12700">
            <a:solidFill>
              <a:srgbClr val="F2C94C"/>
            </a:solidFill>
            <a:prstDash val="solid"/>
          </a:ln>
        </p:spPr>
      </p:sp>
      <p:sp>
        <p:nvSpPr>
          <p:cNvPr id="103" name="Shape 99"/>
          <p:cNvSpPr/>
          <p:nvPr/>
        </p:nvSpPr>
        <p:spPr>
          <a:xfrm>
            <a:off x="2911058" y="5620360"/>
            <a:ext cx="45720" cy="45720"/>
          </a:xfrm>
          <a:prstGeom prst="ellipse">
            <a:avLst/>
          </a:prstGeom>
          <a:solidFill>
            <a:srgbClr val="F2C94C"/>
          </a:solidFill>
          <a:ln w="12700">
            <a:solidFill>
              <a:srgbClr val="F2C94C"/>
            </a:solidFill>
            <a:prstDash val="solid"/>
          </a:ln>
        </p:spPr>
      </p:sp>
      <p:sp>
        <p:nvSpPr>
          <p:cNvPr id="104" name="Shape 100"/>
          <p:cNvSpPr/>
          <p:nvPr/>
        </p:nvSpPr>
        <p:spPr>
          <a:xfrm>
            <a:off x="3653028" y="5630852"/>
            <a:ext cx="45720" cy="45720"/>
          </a:xfrm>
          <a:prstGeom prst="ellipse">
            <a:avLst/>
          </a:prstGeom>
          <a:solidFill>
            <a:srgbClr val="F2C94C"/>
          </a:solidFill>
          <a:ln w="12700">
            <a:solidFill>
              <a:srgbClr val="F2C94C"/>
            </a:solidFill>
            <a:prstDash val="solid"/>
          </a:ln>
        </p:spPr>
      </p:sp>
      <p:sp>
        <p:nvSpPr>
          <p:cNvPr id="105" name="Shape 101"/>
          <p:cNvSpPr/>
          <p:nvPr/>
        </p:nvSpPr>
        <p:spPr>
          <a:xfrm>
            <a:off x="4394998" y="5626280"/>
            <a:ext cx="45720" cy="45720"/>
          </a:xfrm>
          <a:prstGeom prst="ellipse">
            <a:avLst/>
          </a:prstGeom>
          <a:solidFill>
            <a:srgbClr val="F2C94C"/>
          </a:solidFill>
          <a:ln w="12700">
            <a:solidFill>
              <a:srgbClr val="F2C94C"/>
            </a:solidFill>
            <a:prstDash val="solid"/>
          </a:ln>
        </p:spPr>
      </p:sp>
      <p:sp>
        <p:nvSpPr>
          <p:cNvPr id="106" name="Shape 102"/>
          <p:cNvSpPr/>
          <p:nvPr/>
        </p:nvSpPr>
        <p:spPr>
          <a:xfrm>
            <a:off x="5136969" y="5607055"/>
            <a:ext cx="45720" cy="45720"/>
          </a:xfrm>
          <a:prstGeom prst="ellipse">
            <a:avLst/>
          </a:prstGeom>
          <a:solidFill>
            <a:srgbClr val="F2C94C"/>
          </a:solidFill>
          <a:ln w="12700">
            <a:solidFill>
              <a:srgbClr val="F2C94C"/>
            </a:solidFill>
            <a:prstDash val="solid"/>
          </a:ln>
        </p:spPr>
      </p:sp>
      <p:sp>
        <p:nvSpPr>
          <p:cNvPr id="107" name="Shape 103"/>
          <p:cNvSpPr/>
          <p:nvPr/>
        </p:nvSpPr>
        <p:spPr>
          <a:xfrm>
            <a:off x="5878939" y="5587327"/>
            <a:ext cx="45720" cy="45720"/>
          </a:xfrm>
          <a:prstGeom prst="ellipse">
            <a:avLst/>
          </a:prstGeom>
          <a:solidFill>
            <a:srgbClr val="F2C94C"/>
          </a:solidFill>
          <a:ln w="12700">
            <a:solidFill>
              <a:srgbClr val="F2C94C"/>
            </a:solidFill>
            <a:prstDash val="solid"/>
          </a:ln>
        </p:spPr>
      </p:sp>
      <p:sp>
        <p:nvSpPr>
          <p:cNvPr id="108" name="Shape 104"/>
          <p:cNvSpPr/>
          <p:nvPr/>
        </p:nvSpPr>
        <p:spPr>
          <a:xfrm>
            <a:off x="6620909" y="5567279"/>
            <a:ext cx="45720" cy="45720"/>
          </a:xfrm>
          <a:prstGeom prst="ellipse">
            <a:avLst/>
          </a:prstGeom>
          <a:solidFill>
            <a:srgbClr val="F2C94C"/>
          </a:solidFill>
          <a:ln w="12700">
            <a:solidFill>
              <a:srgbClr val="F2C94C"/>
            </a:solidFill>
            <a:prstDash val="solid"/>
          </a:ln>
        </p:spPr>
      </p:sp>
      <p:sp>
        <p:nvSpPr>
          <p:cNvPr id="109" name="Shape 105"/>
          <p:cNvSpPr/>
          <p:nvPr/>
        </p:nvSpPr>
        <p:spPr>
          <a:xfrm>
            <a:off x="7362879" y="5603832"/>
            <a:ext cx="45720" cy="45720"/>
          </a:xfrm>
          <a:prstGeom prst="ellipse">
            <a:avLst/>
          </a:prstGeom>
          <a:solidFill>
            <a:srgbClr val="F2C94C"/>
          </a:solidFill>
          <a:ln w="12700">
            <a:solidFill>
              <a:srgbClr val="F2C94C"/>
            </a:solidFill>
            <a:prstDash val="solid"/>
          </a:ln>
        </p:spPr>
      </p:sp>
      <p:sp>
        <p:nvSpPr>
          <p:cNvPr id="110" name="Shape 106"/>
          <p:cNvSpPr/>
          <p:nvPr/>
        </p:nvSpPr>
        <p:spPr>
          <a:xfrm>
            <a:off x="8104850" y="5606278"/>
            <a:ext cx="45720" cy="45720"/>
          </a:xfrm>
          <a:prstGeom prst="ellipse">
            <a:avLst/>
          </a:prstGeom>
          <a:solidFill>
            <a:srgbClr val="F2C94C"/>
          </a:solidFill>
          <a:ln w="12700">
            <a:solidFill>
              <a:srgbClr val="F2C94C"/>
            </a:solidFill>
            <a:prstDash val="solid"/>
          </a:ln>
        </p:spPr>
      </p:sp>
      <p:sp>
        <p:nvSpPr>
          <p:cNvPr id="111" name="Shape 107"/>
          <p:cNvSpPr/>
          <p:nvPr/>
        </p:nvSpPr>
        <p:spPr>
          <a:xfrm>
            <a:off x="8846820" y="5589476"/>
            <a:ext cx="45720" cy="45720"/>
          </a:xfrm>
          <a:prstGeom prst="ellipse">
            <a:avLst/>
          </a:prstGeom>
          <a:solidFill>
            <a:srgbClr val="F2C94C"/>
          </a:solidFill>
          <a:ln w="12700">
            <a:solidFill>
              <a:srgbClr val="F2C94C"/>
            </a:solidFill>
            <a:prstDash val="solid"/>
          </a:ln>
        </p:spPr>
      </p:sp>
      <p:sp>
        <p:nvSpPr>
          <p:cNvPr id="112" name="Shape 108"/>
          <p:cNvSpPr/>
          <p:nvPr/>
        </p:nvSpPr>
        <p:spPr>
          <a:xfrm>
            <a:off x="9588790" y="5602392"/>
            <a:ext cx="45720" cy="45720"/>
          </a:xfrm>
          <a:prstGeom prst="ellipse">
            <a:avLst/>
          </a:prstGeom>
          <a:solidFill>
            <a:srgbClr val="F2C94C"/>
          </a:solidFill>
          <a:ln w="12700">
            <a:solidFill>
              <a:srgbClr val="F2C94C"/>
            </a:solidFill>
            <a:prstDash val="solid"/>
          </a:ln>
        </p:spPr>
      </p:sp>
      <p:sp>
        <p:nvSpPr>
          <p:cNvPr id="113" name="Shape 109"/>
          <p:cNvSpPr/>
          <p:nvPr/>
        </p:nvSpPr>
        <p:spPr>
          <a:xfrm>
            <a:off x="10330761" y="5598894"/>
            <a:ext cx="45720" cy="45720"/>
          </a:xfrm>
          <a:prstGeom prst="ellipse">
            <a:avLst/>
          </a:prstGeom>
          <a:solidFill>
            <a:srgbClr val="F2C94C"/>
          </a:solidFill>
          <a:ln w="12700">
            <a:solidFill>
              <a:srgbClr val="F2C94C"/>
            </a:solidFill>
            <a:prstDash val="solid"/>
          </a:ln>
        </p:spPr>
      </p:sp>
      <p:sp>
        <p:nvSpPr>
          <p:cNvPr id="114" name="Shape 110"/>
          <p:cNvSpPr/>
          <p:nvPr/>
        </p:nvSpPr>
        <p:spPr>
          <a:xfrm>
            <a:off x="11072731" y="5692620"/>
            <a:ext cx="45720" cy="45720"/>
          </a:xfrm>
          <a:prstGeom prst="ellipse">
            <a:avLst/>
          </a:prstGeom>
          <a:solidFill>
            <a:srgbClr val="F2C94C"/>
          </a:solidFill>
          <a:ln w="12700">
            <a:solidFill>
              <a:srgbClr val="F2C94C"/>
            </a:solidFill>
            <a:prstDash val="solid"/>
          </a:ln>
        </p:spPr>
      </p:sp>
      <p:sp>
        <p:nvSpPr>
          <p:cNvPr id="115" name="Shape 111"/>
          <p:cNvSpPr/>
          <p:nvPr/>
        </p:nvSpPr>
        <p:spPr>
          <a:xfrm>
            <a:off x="1449977" y="5647494"/>
            <a:ext cx="741970" cy="-57241"/>
          </a:xfrm>
          <a:prstGeom prst="line">
            <a:avLst/>
          </a:prstGeom>
          <a:noFill/>
          <a:ln w="12700">
            <a:solidFill>
              <a:srgbClr val="2F6FF2"/>
            </a:solidFill>
            <a:prstDash val="solid"/>
          </a:ln>
        </p:spPr>
      </p:sp>
      <p:sp>
        <p:nvSpPr>
          <p:cNvPr id="116" name="Shape 112"/>
          <p:cNvSpPr/>
          <p:nvPr/>
        </p:nvSpPr>
        <p:spPr>
          <a:xfrm>
            <a:off x="2191947" y="5590253"/>
            <a:ext cx="741970" cy="76124"/>
          </a:xfrm>
          <a:prstGeom prst="line">
            <a:avLst/>
          </a:prstGeom>
          <a:noFill/>
          <a:ln w="12700">
            <a:solidFill>
              <a:srgbClr val="2F6FF2"/>
            </a:solidFill>
            <a:prstDash val="solid"/>
          </a:ln>
        </p:spPr>
      </p:sp>
      <p:sp>
        <p:nvSpPr>
          <p:cNvPr id="117" name="Shape 113"/>
          <p:cNvSpPr/>
          <p:nvPr/>
        </p:nvSpPr>
        <p:spPr>
          <a:xfrm>
            <a:off x="2933918" y="5666377"/>
            <a:ext cx="741970" cy="-20094"/>
          </a:xfrm>
          <a:prstGeom prst="line">
            <a:avLst/>
          </a:prstGeom>
          <a:noFill/>
          <a:ln w="12700">
            <a:solidFill>
              <a:srgbClr val="2F6FF2"/>
            </a:solidFill>
            <a:prstDash val="solid"/>
          </a:ln>
        </p:spPr>
      </p:sp>
      <p:sp>
        <p:nvSpPr>
          <p:cNvPr id="118" name="Shape 114"/>
          <p:cNvSpPr/>
          <p:nvPr/>
        </p:nvSpPr>
        <p:spPr>
          <a:xfrm>
            <a:off x="3675888" y="5646283"/>
            <a:ext cx="741970" cy="17328"/>
          </a:xfrm>
          <a:prstGeom prst="line">
            <a:avLst/>
          </a:prstGeom>
          <a:noFill/>
          <a:ln w="12700">
            <a:solidFill>
              <a:srgbClr val="2F6FF2"/>
            </a:solidFill>
            <a:prstDash val="solid"/>
          </a:ln>
        </p:spPr>
      </p:sp>
      <p:sp>
        <p:nvSpPr>
          <p:cNvPr id="119" name="Shape 115"/>
          <p:cNvSpPr/>
          <p:nvPr/>
        </p:nvSpPr>
        <p:spPr>
          <a:xfrm>
            <a:off x="4417858" y="5663611"/>
            <a:ext cx="741970" cy="3749"/>
          </a:xfrm>
          <a:prstGeom prst="line">
            <a:avLst/>
          </a:prstGeom>
          <a:noFill/>
          <a:ln w="12700">
            <a:solidFill>
              <a:srgbClr val="2F6FF2"/>
            </a:solidFill>
            <a:prstDash val="solid"/>
          </a:ln>
        </p:spPr>
      </p:sp>
      <p:sp>
        <p:nvSpPr>
          <p:cNvPr id="120" name="Shape 116"/>
          <p:cNvSpPr/>
          <p:nvPr/>
        </p:nvSpPr>
        <p:spPr>
          <a:xfrm>
            <a:off x="5159829" y="5667360"/>
            <a:ext cx="741970" cy="1646"/>
          </a:xfrm>
          <a:prstGeom prst="line">
            <a:avLst/>
          </a:prstGeom>
          <a:noFill/>
          <a:ln w="12700">
            <a:solidFill>
              <a:srgbClr val="2F6FF2"/>
            </a:solidFill>
            <a:prstDash val="solid"/>
          </a:ln>
        </p:spPr>
      </p:sp>
      <p:sp>
        <p:nvSpPr>
          <p:cNvPr id="121" name="Shape 117"/>
          <p:cNvSpPr/>
          <p:nvPr/>
        </p:nvSpPr>
        <p:spPr>
          <a:xfrm>
            <a:off x="5901799" y="5669006"/>
            <a:ext cx="741970" cy="-41468"/>
          </a:xfrm>
          <a:prstGeom prst="line">
            <a:avLst/>
          </a:prstGeom>
          <a:noFill/>
          <a:ln w="12700">
            <a:solidFill>
              <a:srgbClr val="2F6FF2"/>
            </a:solidFill>
            <a:prstDash val="solid"/>
          </a:ln>
        </p:spPr>
      </p:sp>
      <p:sp>
        <p:nvSpPr>
          <p:cNvPr id="122" name="Shape 118"/>
          <p:cNvSpPr/>
          <p:nvPr/>
        </p:nvSpPr>
        <p:spPr>
          <a:xfrm>
            <a:off x="6643769" y="5627538"/>
            <a:ext cx="741970" cy="12162"/>
          </a:xfrm>
          <a:prstGeom prst="line">
            <a:avLst/>
          </a:prstGeom>
          <a:noFill/>
          <a:ln w="12700">
            <a:solidFill>
              <a:srgbClr val="2F6FF2"/>
            </a:solidFill>
            <a:prstDash val="solid"/>
          </a:ln>
        </p:spPr>
      </p:sp>
      <p:sp>
        <p:nvSpPr>
          <p:cNvPr id="123" name="Shape 119"/>
          <p:cNvSpPr/>
          <p:nvPr/>
        </p:nvSpPr>
        <p:spPr>
          <a:xfrm>
            <a:off x="7385739" y="5639699"/>
            <a:ext cx="741970" cy="19545"/>
          </a:xfrm>
          <a:prstGeom prst="line">
            <a:avLst/>
          </a:prstGeom>
          <a:noFill/>
          <a:ln w="12700">
            <a:solidFill>
              <a:srgbClr val="2F6FF2"/>
            </a:solidFill>
            <a:prstDash val="solid"/>
          </a:ln>
        </p:spPr>
      </p:sp>
      <p:sp>
        <p:nvSpPr>
          <p:cNvPr id="124" name="Shape 120"/>
          <p:cNvSpPr/>
          <p:nvPr/>
        </p:nvSpPr>
        <p:spPr>
          <a:xfrm>
            <a:off x="8127710" y="5659244"/>
            <a:ext cx="741970" cy="-3292"/>
          </a:xfrm>
          <a:prstGeom prst="line">
            <a:avLst/>
          </a:prstGeom>
          <a:noFill/>
          <a:ln w="12700">
            <a:solidFill>
              <a:srgbClr val="2F6FF2"/>
            </a:solidFill>
            <a:prstDash val="solid"/>
          </a:ln>
        </p:spPr>
      </p:sp>
      <p:sp>
        <p:nvSpPr>
          <p:cNvPr id="125" name="Shape 121"/>
          <p:cNvSpPr/>
          <p:nvPr/>
        </p:nvSpPr>
        <p:spPr>
          <a:xfrm>
            <a:off x="8869680" y="5655953"/>
            <a:ext cx="741970" cy="-11019"/>
          </a:xfrm>
          <a:prstGeom prst="line">
            <a:avLst/>
          </a:prstGeom>
          <a:noFill/>
          <a:ln w="12700">
            <a:solidFill>
              <a:srgbClr val="2F6FF2"/>
            </a:solidFill>
            <a:prstDash val="solid"/>
          </a:ln>
        </p:spPr>
      </p:sp>
      <p:sp>
        <p:nvSpPr>
          <p:cNvPr id="126" name="Shape 122"/>
          <p:cNvSpPr/>
          <p:nvPr/>
        </p:nvSpPr>
        <p:spPr>
          <a:xfrm>
            <a:off x="9611650" y="5644934"/>
            <a:ext cx="741970" cy="-5281"/>
          </a:xfrm>
          <a:prstGeom prst="line">
            <a:avLst/>
          </a:prstGeom>
          <a:noFill/>
          <a:ln w="12700">
            <a:solidFill>
              <a:srgbClr val="2F6FF2"/>
            </a:solidFill>
            <a:prstDash val="solid"/>
          </a:ln>
        </p:spPr>
      </p:sp>
      <p:sp>
        <p:nvSpPr>
          <p:cNvPr id="127" name="Shape 123"/>
          <p:cNvSpPr/>
          <p:nvPr/>
        </p:nvSpPr>
        <p:spPr>
          <a:xfrm>
            <a:off x="10353621" y="5639653"/>
            <a:ext cx="741970" cy="83668"/>
          </a:xfrm>
          <a:prstGeom prst="line">
            <a:avLst/>
          </a:prstGeom>
          <a:noFill/>
          <a:ln w="12700">
            <a:solidFill>
              <a:srgbClr val="2F6FF2"/>
            </a:solidFill>
            <a:prstDash val="solid"/>
          </a:ln>
        </p:spPr>
      </p:sp>
      <p:sp>
        <p:nvSpPr>
          <p:cNvPr id="128" name="Shape 124"/>
          <p:cNvSpPr/>
          <p:nvPr/>
        </p:nvSpPr>
        <p:spPr>
          <a:xfrm>
            <a:off x="1427117" y="5624634"/>
            <a:ext cx="45720" cy="45720"/>
          </a:xfrm>
          <a:prstGeom prst="ellipse">
            <a:avLst/>
          </a:prstGeom>
          <a:solidFill>
            <a:srgbClr val="2F6FF2"/>
          </a:solidFill>
          <a:ln w="12700">
            <a:solidFill>
              <a:srgbClr val="2F6FF2"/>
            </a:solidFill>
            <a:prstDash val="solid"/>
          </a:ln>
        </p:spPr>
      </p:sp>
      <p:sp>
        <p:nvSpPr>
          <p:cNvPr id="129" name="Shape 125"/>
          <p:cNvSpPr/>
          <p:nvPr/>
        </p:nvSpPr>
        <p:spPr>
          <a:xfrm>
            <a:off x="2169087" y="5567393"/>
            <a:ext cx="45720" cy="45720"/>
          </a:xfrm>
          <a:prstGeom prst="ellipse">
            <a:avLst/>
          </a:prstGeom>
          <a:solidFill>
            <a:srgbClr val="2F6FF2"/>
          </a:solidFill>
          <a:ln w="12700">
            <a:solidFill>
              <a:srgbClr val="2F6FF2"/>
            </a:solidFill>
            <a:prstDash val="solid"/>
          </a:ln>
        </p:spPr>
      </p:sp>
      <p:sp>
        <p:nvSpPr>
          <p:cNvPr id="130" name="Shape 126"/>
          <p:cNvSpPr/>
          <p:nvPr/>
        </p:nvSpPr>
        <p:spPr>
          <a:xfrm>
            <a:off x="2911058" y="5643517"/>
            <a:ext cx="45720" cy="45720"/>
          </a:xfrm>
          <a:prstGeom prst="ellipse">
            <a:avLst/>
          </a:prstGeom>
          <a:solidFill>
            <a:srgbClr val="2F6FF2"/>
          </a:solidFill>
          <a:ln w="12700">
            <a:solidFill>
              <a:srgbClr val="2F6FF2"/>
            </a:solidFill>
            <a:prstDash val="solid"/>
          </a:ln>
        </p:spPr>
      </p:sp>
      <p:sp>
        <p:nvSpPr>
          <p:cNvPr id="131" name="Shape 127"/>
          <p:cNvSpPr/>
          <p:nvPr/>
        </p:nvSpPr>
        <p:spPr>
          <a:xfrm>
            <a:off x="3653028" y="5623423"/>
            <a:ext cx="45720" cy="45720"/>
          </a:xfrm>
          <a:prstGeom prst="ellipse">
            <a:avLst/>
          </a:prstGeom>
          <a:solidFill>
            <a:srgbClr val="2F6FF2"/>
          </a:solidFill>
          <a:ln w="12700">
            <a:solidFill>
              <a:srgbClr val="2F6FF2"/>
            </a:solidFill>
            <a:prstDash val="solid"/>
          </a:ln>
        </p:spPr>
      </p:sp>
      <p:sp>
        <p:nvSpPr>
          <p:cNvPr id="132" name="Shape 128"/>
          <p:cNvSpPr/>
          <p:nvPr/>
        </p:nvSpPr>
        <p:spPr>
          <a:xfrm>
            <a:off x="4394998" y="5640751"/>
            <a:ext cx="45720" cy="45720"/>
          </a:xfrm>
          <a:prstGeom prst="ellipse">
            <a:avLst/>
          </a:prstGeom>
          <a:solidFill>
            <a:srgbClr val="2F6FF2"/>
          </a:solidFill>
          <a:ln w="12700">
            <a:solidFill>
              <a:srgbClr val="2F6FF2"/>
            </a:solidFill>
            <a:prstDash val="solid"/>
          </a:ln>
        </p:spPr>
      </p:sp>
      <p:sp>
        <p:nvSpPr>
          <p:cNvPr id="133" name="Shape 129"/>
          <p:cNvSpPr/>
          <p:nvPr/>
        </p:nvSpPr>
        <p:spPr>
          <a:xfrm>
            <a:off x="5136969" y="5644500"/>
            <a:ext cx="45720" cy="45720"/>
          </a:xfrm>
          <a:prstGeom prst="ellipse">
            <a:avLst/>
          </a:prstGeom>
          <a:solidFill>
            <a:srgbClr val="2F6FF2"/>
          </a:solidFill>
          <a:ln w="12700">
            <a:solidFill>
              <a:srgbClr val="2F6FF2"/>
            </a:solidFill>
            <a:prstDash val="solid"/>
          </a:ln>
        </p:spPr>
      </p:sp>
      <p:sp>
        <p:nvSpPr>
          <p:cNvPr id="134" name="Shape 130"/>
          <p:cNvSpPr/>
          <p:nvPr/>
        </p:nvSpPr>
        <p:spPr>
          <a:xfrm>
            <a:off x="5878939" y="5646146"/>
            <a:ext cx="45720" cy="45720"/>
          </a:xfrm>
          <a:prstGeom prst="ellipse">
            <a:avLst/>
          </a:prstGeom>
          <a:solidFill>
            <a:srgbClr val="2F6FF2"/>
          </a:solidFill>
          <a:ln w="12700">
            <a:solidFill>
              <a:srgbClr val="2F6FF2"/>
            </a:solidFill>
            <a:prstDash val="solid"/>
          </a:ln>
        </p:spPr>
      </p:sp>
      <p:sp>
        <p:nvSpPr>
          <p:cNvPr id="135" name="Shape 131"/>
          <p:cNvSpPr/>
          <p:nvPr/>
        </p:nvSpPr>
        <p:spPr>
          <a:xfrm>
            <a:off x="6620909" y="5604678"/>
            <a:ext cx="45720" cy="45720"/>
          </a:xfrm>
          <a:prstGeom prst="ellipse">
            <a:avLst/>
          </a:prstGeom>
          <a:solidFill>
            <a:srgbClr val="2F6FF2"/>
          </a:solidFill>
          <a:ln w="12700">
            <a:solidFill>
              <a:srgbClr val="2F6FF2"/>
            </a:solidFill>
            <a:prstDash val="solid"/>
          </a:ln>
        </p:spPr>
      </p:sp>
      <p:sp>
        <p:nvSpPr>
          <p:cNvPr id="136" name="Shape 132"/>
          <p:cNvSpPr/>
          <p:nvPr/>
        </p:nvSpPr>
        <p:spPr>
          <a:xfrm>
            <a:off x="7362879" y="5616839"/>
            <a:ext cx="45720" cy="45720"/>
          </a:xfrm>
          <a:prstGeom prst="ellipse">
            <a:avLst/>
          </a:prstGeom>
          <a:solidFill>
            <a:srgbClr val="2F6FF2"/>
          </a:solidFill>
          <a:ln w="12700">
            <a:solidFill>
              <a:srgbClr val="2F6FF2"/>
            </a:solidFill>
            <a:prstDash val="solid"/>
          </a:ln>
        </p:spPr>
      </p:sp>
      <p:sp>
        <p:nvSpPr>
          <p:cNvPr id="137" name="Shape 133"/>
          <p:cNvSpPr/>
          <p:nvPr/>
        </p:nvSpPr>
        <p:spPr>
          <a:xfrm>
            <a:off x="8104850" y="5636384"/>
            <a:ext cx="45720" cy="45720"/>
          </a:xfrm>
          <a:prstGeom prst="ellipse">
            <a:avLst/>
          </a:prstGeom>
          <a:solidFill>
            <a:srgbClr val="2F6FF2"/>
          </a:solidFill>
          <a:ln w="12700">
            <a:solidFill>
              <a:srgbClr val="2F6FF2"/>
            </a:solidFill>
            <a:prstDash val="solid"/>
          </a:ln>
        </p:spPr>
      </p:sp>
      <p:sp>
        <p:nvSpPr>
          <p:cNvPr id="138" name="Shape 134"/>
          <p:cNvSpPr/>
          <p:nvPr/>
        </p:nvSpPr>
        <p:spPr>
          <a:xfrm>
            <a:off x="8846820" y="5633093"/>
            <a:ext cx="45720" cy="45720"/>
          </a:xfrm>
          <a:prstGeom prst="ellipse">
            <a:avLst/>
          </a:prstGeom>
          <a:solidFill>
            <a:srgbClr val="2F6FF2"/>
          </a:solidFill>
          <a:ln w="12700">
            <a:solidFill>
              <a:srgbClr val="2F6FF2"/>
            </a:solidFill>
            <a:prstDash val="solid"/>
          </a:ln>
        </p:spPr>
      </p:sp>
      <p:sp>
        <p:nvSpPr>
          <p:cNvPr id="139" name="Shape 135"/>
          <p:cNvSpPr/>
          <p:nvPr/>
        </p:nvSpPr>
        <p:spPr>
          <a:xfrm>
            <a:off x="9588790" y="5622074"/>
            <a:ext cx="45720" cy="45720"/>
          </a:xfrm>
          <a:prstGeom prst="ellipse">
            <a:avLst/>
          </a:prstGeom>
          <a:solidFill>
            <a:srgbClr val="2F6FF2"/>
          </a:solidFill>
          <a:ln w="12700">
            <a:solidFill>
              <a:srgbClr val="2F6FF2"/>
            </a:solidFill>
            <a:prstDash val="solid"/>
          </a:ln>
        </p:spPr>
      </p:sp>
      <p:sp>
        <p:nvSpPr>
          <p:cNvPr id="140" name="Shape 136"/>
          <p:cNvSpPr/>
          <p:nvPr/>
        </p:nvSpPr>
        <p:spPr>
          <a:xfrm>
            <a:off x="10330761" y="5616793"/>
            <a:ext cx="45720" cy="45720"/>
          </a:xfrm>
          <a:prstGeom prst="ellipse">
            <a:avLst/>
          </a:prstGeom>
          <a:solidFill>
            <a:srgbClr val="2F6FF2"/>
          </a:solidFill>
          <a:ln w="12700">
            <a:solidFill>
              <a:srgbClr val="2F6FF2"/>
            </a:solidFill>
            <a:prstDash val="solid"/>
          </a:ln>
        </p:spPr>
      </p:sp>
      <p:sp>
        <p:nvSpPr>
          <p:cNvPr id="141" name="Shape 137"/>
          <p:cNvSpPr/>
          <p:nvPr/>
        </p:nvSpPr>
        <p:spPr>
          <a:xfrm>
            <a:off x="11072731" y="5700461"/>
            <a:ext cx="45720" cy="45720"/>
          </a:xfrm>
          <a:prstGeom prst="ellipse">
            <a:avLst/>
          </a:prstGeom>
          <a:solidFill>
            <a:srgbClr val="2F6FF2"/>
          </a:solidFill>
          <a:ln w="12700">
            <a:solidFill>
              <a:srgbClr val="2F6FF2"/>
            </a:solidFill>
            <a:prstDash val="solid"/>
          </a:ln>
        </p:spPr>
      </p:sp>
      <p:sp>
        <p:nvSpPr>
          <p:cNvPr id="142" name="Text 138"/>
          <p:cNvSpPr/>
          <p:nvPr/>
        </p:nvSpPr>
        <p:spPr>
          <a:xfrm>
            <a:off x="1093831"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2026-02-16</a:t>
            </a:r>
            <a:endParaRPr lang="en-US" sz="580" dirty="0"/>
          </a:p>
        </p:txBody>
      </p:sp>
      <p:sp>
        <p:nvSpPr>
          <p:cNvPr id="143" name="Text 139"/>
          <p:cNvSpPr/>
          <p:nvPr/>
        </p:nvSpPr>
        <p:spPr>
          <a:xfrm>
            <a:off x="1835802"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2026-02-23</a:t>
            </a:r>
            <a:endParaRPr lang="en-US" sz="580" dirty="0"/>
          </a:p>
        </p:txBody>
      </p:sp>
      <p:sp>
        <p:nvSpPr>
          <p:cNvPr id="144" name="Text 140"/>
          <p:cNvSpPr/>
          <p:nvPr/>
        </p:nvSpPr>
        <p:spPr>
          <a:xfrm>
            <a:off x="2577772"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2026-03-02</a:t>
            </a:r>
            <a:endParaRPr lang="en-US" sz="580" dirty="0"/>
          </a:p>
        </p:txBody>
      </p:sp>
      <p:sp>
        <p:nvSpPr>
          <p:cNvPr id="145" name="Text 141"/>
          <p:cNvSpPr/>
          <p:nvPr/>
        </p:nvSpPr>
        <p:spPr>
          <a:xfrm>
            <a:off x="3319742"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2026-03-09</a:t>
            </a:r>
            <a:endParaRPr lang="en-US" sz="580" dirty="0"/>
          </a:p>
        </p:txBody>
      </p:sp>
      <p:sp>
        <p:nvSpPr>
          <p:cNvPr id="146" name="Text 142"/>
          <p:cNvSpPr/>
          <p:nvPr/>
        </p:nvSpPr>
        <p:spPr>
          <a:xfrm>
            <a:off x="4061713"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2026-03-16</a:t>
            </a:r>
            <a:endParaRPr lang="en-US" sz="580" dirty="0"/>
          </a:p>
        </p:txBody>
      </p:sp>
      <p:sp>
        <p:nvSpPr>
          <p:cNvPr id="147" name="Text 143"/>
          <p:cNvSpPr/>
          <p:nvPr/>
        </p:nvSpPr>
        <p:spPr>
          <a:xfrm>
            <a:off x="4803683"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2026-03-23</a:t>
            </a:r>
            <a:endParaRPr lang="en-US" sz="580" dirty="0"/>
          </a:p>
        </p:txBody>
      </p:sp>
      <p:sp>
        <p:nvSpPr>
          <p:cNvPr id="148" name="Text 144"/>
          <p:cNvSpPr/>
          <p:nvPr/>
        </p:nvSpPr>
        <p:spPr>
          <a:xfrm>
            <a:off x="5545653"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2026-03-30</a:t>
            </a:r>
            <a:endParaRPr lang="en-US" sz="580" dirty="0"/>
          </a:p>
        </p:txBody>
      </p:sp>
      <p:sp>
        <p:nvSpPr>
          <p:cNvPr id="149" name="Text 145"/>
          <p:cNvSpPr/>
          <p:nvPr/>
        </p:nvSpPr>
        <p:spPr>
          <a:xfrm>
            <a:off x="6287623"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2026-04-06</a:t>
            </a:r>
            <a:endParaRPr lang="en-US" sz="580" dirty="0"/>
          </a:p>
        </p:txBody>
      </p:sp>
      <p:sp>
        <p:nvSpPr>
          <p:cNvPr id="150" name="Text 146"/>
          <p:cNvSpPr/>
          <p:nvPr/>
        </p:nvSpPr>
        <p:spPr>
          <a:xfrm>
            <a:off x="7029594"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2026-04-13</a:t>
            </a:r>
            <a:endParaRPr lang="en-US" sz="580" dirty="0"/>
          </a:p>
        </p:txBody>
      </p:sp>
      <p:sp>
        <p:nvSpPr>
          <p:cNvPr id="151" name="Text 147"/>
          <p:cNvSpPr/>
          <p:nvPr/>
        </p:nvSpPr>
        <p:spPr>
          <a:xfrm>
            <a:off x="7771564"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2026-04-20</a:t>
            </a:r>
            <a:endParaRPr lang="en-US" sz="580" dirty="0"/>
          </a:p>
        </p:txBody>
      </p:sp>
      <p:sp>
        <p:nvSpPr>
          <p:cNvPr id="152" name="Text 148"/>
          <p:cNvSpPr/>
          <p:nvPr/>
        </p:nvSpPr>
        <p:spPr>
          <a:xfrm>
            <a:off x="8513534"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2026-04-27</a:t>
            </a:r>
            <a:endParaRPr lang="en-US" sz="580" dirty="0"/>
          </a:p>
        </p:txBody>
      </p:sp>
      <p:sp>
        <p:nvSpPr>
          <p:cNvPr id="153" name="Text 149"/>
          <p:cNvSpPr/>
          <p:nvPr/>
        </p:nvSpPr>
        <p:spPr>
          <a:xfrm>
            <a:off x="9255505"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2026-05-04</a:t>
            </a:r>
            <a:endParaRPr lang="en-US" sz="580" dirty="0"/>
          </a:p>
        </p:txBody>
      </p:sp>
      <p:sp>
        <p:nvSpPr>
          <p:cNvPr id="154" name="Text 150"/>
          <p:cNvSpPr/>
          <p:nvPr/>
        </p:nvSpPr>
        <p:spPr>
          <a:xfrm>
            <a:off x="9997475"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2026-05-11</a:t>
            </a:r>
            <a:endParaRPr lang="en-US" sz="580" dirty="0"/>
          </a:p>
        </p:txBody>
      </p:sp>
      <p:sp>
        <p:nvSpPr>
          <p:cNvPr id="155" name="Text 151"/>
          <p:cNvSpPr/>
          <p:nvPr/>
        </p:nvSpPr>
        <p:spPr>
          <a:xfrm>
            <a:off x="10739445" y="5806440"/>
            <a:ext cx="712291" cy="137160"/>
          </a:xfrm>
          <a:prstGeom prst="rect">
            <a:avLst/>
          </a:prstGeom>
          <a:noFill/>
          <a:ln/>
        </p:spPr>
        <p:txBody>
          <a:bodyPr wrap="square" lIns="0" tIns="0" rIns="0" bIns="0" rtlCol="0" anchor="ctr"/>
          <a:lstStyle/>
          <a:p>
            <a:pPr algn="ctr" indent="0" marL="0">
              <a:buNone/>
            </a:pPr>
            <a:r>
              <a:rPr lang="en-US" sz="580" dirty="0">
                <a:solidFill>
                  <a:srgbClr val="5B6372"/>
                </a:solidFill>
                <a:latin typeface="Aptos" pitchFamily="34" charset="0"/>
                <a:ea typeface="Aptos" pitchFamily="34" charset="-122"/>
                <a:cs typeface="Aptos" pitchFamily="34" charset="-120"/>
              </a:rPr>
              <a:t>2026-05-18</a:t>
            </a:r>
            <a:endParaRPr lang="en-US" sz="580" dirty="0"/>
          </a:p>
        </p:txBody>
      </p:sp>
      <p:sp>
        <p:nvSpPr>
          <p:cNvPr id="156" name="Shape 152"/>
          <p:cNvSpPr/>
          <p:nvPr/>
        </p:nvSpPr>
        <p:spPr>
          <a:xfrm>
            <a:off x="3712464" y="6089904"/>
            <a:ext cx="137160" cy="45720"/>
          </a:xfrm>
          <a:prstGeom prst="rect">
            <a:avLst/>
          </a:prstGeom>
          <a:solidFill>
            <a:srgbClr val="2F6FF2"/>
          </a:solidFill>
          <a:ln w="12700">
            <a:solidFill>
              <a:srgbClr val="2F6FF2"/>
            </a:solidFill>
            <a:prstDash val="solid"/>
          </a:ln>
        </p:spPr>
      </p:sp>
      <p:sp>
        <p:nvSpPr>
          <p:cNvPr id="157" name="Text 153"/>
          <p:cNvSpPr/>
          <p:nvPr/>
        </p:nvSpPr>
        <p:spPr>
          <a:xfrm>
            <a:off x="3886200" y="6053328"/>
            <a:ext cx="841248" cy="146304"/>
          </a:xfrm>
          <a:prstGeom prst="rect">
            <a:avLst/>
          </a:prstGeom>
          <a:noFill/>
          <a:ln/>
        </p:spPr>
        <p:txBody>
          <a:bodyPr wrap="square" lIns="0" tIns="0" rIns="0" bIns="0" rtlCol="0" anchor="ctr"/>
          <a:lstStyle/>
          <a:p>
            <a:pPr indent="0" marL="0">
              <a:buNone/>
            </a:pPr>
            <a:r>
              <a:rPr lang="en-US" sz="640" dirty="0">
                <a:solidFill>
                  <a:srgbClr val="5B6372"/>
                </a:solidFill>
                <a:latin typeface="Aptos" pitchFamily="34" charset="0"/>
                <a:ea typeface="Aptos" pitchFamily="34" charset="-122"/>
                <a:cs typeface="Aptos" pitchFamily="34" charset="-120"/>
              </a:rPr>
              <a:t>Your Site</a:t>
            </a:r>
            <a:endParaRPr lang="en-US" sz="640" dirty="0"/>
          </a:p>
        </p:txBody>
      </p:sp>
      <p:sp>
        <p:nvSpPr>
          <p:cNvPr id="158" name="Shape 154"/>
          <p:cNvSpPr/>
          <p:nvPr/>
        </p:nvSpPr>
        <p:spPr>
          <a:xfrm>
            <a:off x="4736592" y="6117336"/>
            <a:ext cx="146304" cy="0"/>
          </a:xfrm>
          <a:prstGeom prst="line">
            <a:avLst/>
          </a:prstGeom>
          <a:noFill/>
          <a:ln w="12700">
            <a:solidFill>
              <a:srgbClr val="F28E2B"/>
            </a:solidFill>
            <a:prstDash val="solid"/>
          </a:ln>
        </p:spPr>
      </p:sp>
      <p:sp>
        <p:nvSpPr>
          <p:cNvPr id="159" name="Text 155"/>
          <p:cNvSpPr/>
          <p:nvPr/>
        </p:nvSpPr>
        <p:spPr>
          <a:xfrm>
            <a:off x="4910328" y="6053328"/>
            <a:ext cx="841248" cy="146304"/>
          </a:xfrm>
          <a:prstGeom prst="rect">
            <a:avLst/>
          </a:prstGeom>
          <a:noFill/>
          <a:ln/>
        </p:spPr>
        <p:txBody>
          <a:bodyPr wrap="square" lIns="0" tIns="0" rIns="0" bIns="0" rtlCol="0" anchor="ctr"/>
          <a:lstStyle/>
          <a:p>
            <a:pPr indent="0" marL="0">
              <a:buNone/>
            </a:pPr>
            <a:r>
              <a:rPr lang="en-US" sz="640" dirty="0">
                <a:solidFill>
                  <a:srgbClr val="5B6372"/>
                </a:solidFill>
                <a:latin typeface="Aptos" pitchFamily="34" charset="0"/>
                <a:ea typeface="Aptos" pitchFamily="34" charset="-122"/>
                <a:cs typeface="Aptos" pitchFamily="34" charset="-120"/>
              </a:rPr>
              <a:t>Publisher 1</a:t>
            </a:r>
            <a:endParaRPr lang="en-US" sz="640" dirty="0"/>
          </a:p>
        </p:txBody>
      </p:sp>
      <p:sp>
        <p:nvSpPr>
          <p:cNvPr id="160" name="Shape 156"/>
          <p:cNvSpPr/>
          <p:nvPr/>
        </p:nvSpPr>
        <p:spPr>
          <a:xfrm>
            <a:off x="5760720" y="6117336"/>
            <a:ext cx="146304" cy="0"/>
          </a:xfrm>
          <a:prstGeom prst="line">
            <a:avLst/>
          </a:prstGeom>
          <a:noFill/>
          <a:ln w="12700">
            <a:solidFill>
              <a:srgbClr val="9AA3AD"/>
            </a:solidFill>
            <a:prstDash val="solid"/>
          </a:ln>
        </p:spPr>
      </p:sp>
      <p:sp>
        <p:nvSpPr>
          <p:cNvPr id="161" name="Text 157"/>
          <p:cNvSpPr/>
          <p:nvPr/>
        </p:nvSpPr>
        <p:spPr>
          <a:xfrm>
            <a:off x="5934456" y="6053328"/>
            <a:ext cx="841248" cy="146304"/>
          </a:xfrm>
          <a:prstGeom prst="rect">
            <a:avLst/>
          </a:prstGeom>
          <a:noFill/>
          <a:ln/>
        </p:spPr>
        <p:txBody>
          <a:bodyPr wrap="square" lIns="0" tIns="0" rIns="0" bIns="0" rtlCol="0" anchor="ctr"/>
          <a:lstStyle/>
          <a:p>
            <a:pPr indent="0" marL="0">
              <a:buNone/>
            </a:pPr>
            <a:r>
              <a:rPr lang="en-US" sz="640" dirty="0">
                <a:solidFill>
                  <a:srgbClr val="5B6372"/>
                </a:solidFill>
                <a:latin typeface="Aptos" pitchFamily="34" charset="0"/>
                <a:ea typeface="Aptos" pitchFamily="34" charset="-122"/>
                <a:cs typeface="Aptos" pitchFamily="34" charset="-120"/>
              </a:rPr>
              <a:t>Publisher 2</a:t>
            </a:r>
            <a:endParaRPr lang="en-US" sz="640" dirty="0"/>
          </a:p>
        </p:txBody>
      </p:sp>
      <p:sp>
        <p:nvSpPr>
          <p:cNvPr id="162" name="Shape 158"/>
          <p:cNvSpPr/>
          <p:nvPr/>
        </p:nvSpPr>
        <p:spPr>
          <a:xfrm>
            <a:off x="6784848" y="6117336"/>
            <a:ext cx="146304" cy="0"/>
          </a:xfrm>
          <a:prstGeom prst="line">
            <a:avLst/>
          </a:prstGeom>
          <a:noFill/>
          <a:ln w="12700">
            <a:solidFill>
              <a:srgbClr val="F2C94C"/>
            </a:solidFill>
            <a:prstDash val="solid"/>
          </a:ln>
        </p:spPr>
      </p:sp>
      <p:sp>
        <p:nvSpPr>
          <p:cNvPr id="163" name="Text 159"/>
          <p:cNvSpPr/>
          <p:nvPr/>
        </p:nvSpPr>
        <p:spPr>
          <a:xfrm>
            <a:off x="6958584" y="6053328"/>
            <a:ext cx="841248" cy="146304"/>
          </a:xfrm>
          <a:prstGeom prst="rect">
            <a:avLst/>
          </a:prstGeom>
          <a:noFill/>
          <a:ln/>
        </p:spPr>
        <p:txBody>
          <a:bodyPr wrap="square" lIns="0" tIns="0" rIns="0" bIns="0" rtlCol="0" anchor="ctr"/>
          <a:lstStyle/>
          <a:p>
            <a:pPr indent="0" marL="0">
              <a:buNone/>
            </a:pPr>
            <a:r>
              <a:rPr lang="en-US" sz="640" dirty="0">
                <a:solidFill>
                  <a:srgbClr val="5B6372"/>
                </a:solidFill>
                <a:latin typeface="Aptos" pitchFamily="34" charset="0"/>
                <a:ea typeface="Aptos" pitchFamily="34" charset="-122"/>
                <a:cs typeface="Aptos" pitchFamily="34" charset="-120"/>
              </a:rPr>
              <a:t>Publisher 3</a:t>
            </a:r>
            <a:endParaRPr lang="en-US" sz="640" dirty="0"/>
          </a:p>
        </p:txBody>
      </p:sp>
      <p:sp>
        <p:nvSpPr>
          <p:cNvPr id="164" name="Shape 160"/>
          <p:cNvSpPr/>
          <p:nvPr/>
        </p:nvSpPr>
        <p:spPr>
          <a:xfrm>
            <a:off x="7808976" y="6117336"/>
            <a:ext cx="146304" cy="0"/>
          </a:xfrm>
          <a:prstGeom prst="line">
            <a:avLst/>
          </a:prstGeom>
          <a:noFill/>
          <a:ln w="12700">
            <a:solidFill>
              <a:srgbClr val="2F6FF2"/>
            </a:solidFill>
            <a:prstDash val="solid"/>
          </a:ln>
        </p:spPr>
      </p:sp>
      <p:sp>
        <p:nvSpPr>
          <p:cNvPr id="165" name="Text 161"/>
          <p:cNvSpPr/>
          <p:nvPr/>
        </p:nvSpPr>
        <p:spPr>
          <a:xfrm>
            <a:off x="7982712" y="6053328"/>
            <a:ext cx="841248" cy="146304"/>
          </a:xfrm>
          <a:prstGeom prst="rect">
            <a:avLst/>
          </a:prstGeom>
          <a:noFill/>
          <a:ln/>
        </p:spPr>
        <p:txBody>
          <a:bodyPr wrap="square" lIns="0" tIns="0" rIns="0" bIns="0" rtlCol="0" anchor="ctr"/>
          <a:lstStyle/>
          <a:p>
            <a:pPr indent="0" marL="0">
              <a:buNone/>
            </a:pPr>
            <a:r>
              <a:rPr lang="en-US" sz="640" dirty="0">
                <a:solidFill>
                  <a:srgbClr val="5B6372"/>
                </a:solidFill>
                <a:latin typeface="Aptos" pitchFamily="34" charset="0"/>
                <a:ea typeface="Aptos" pitchFamily="34" charset="-122"/>
                <a:cs typeface="Aptos" pitchFamily="34" charset="-120"/>
              </a:rPr>
              <a:t>Publisher 4</a:t>
            </a:r>
            <a:endParaRPr lang="en-US" sz="6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6"/>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2F333B"/>
                </a:solidFill>
                <a:latin typeface="Aptos" pitchFamily="34" charset="0"/>
                <a:ea typeface="Aptos" pitchFamily="34" charset="-122"/>
                <a:cs typeface="Aptos" pitchFamily="34" charset="-120"/>
              </a:rPr>
              <a:t>Partager au sein d’un groupe concurrent</a:t>
            </a:r>
            <a:endParaRPr lang="en-US" sz="2800" dirty="0"/>
          </a:p>
        </p:txBody>
      </p:sp>
      <p:sp>
        <p:nvSpPr>
          <p:cNvPr id="4" name="Text 1"/>
          <p:cNvSpPr/>
          <p:nvPr/>
        </p:nvSpPr>
        <p:spPr>
          <a:xfrm>
            <a:off x="640080" y="1316736"/>
            <a:ext cx="10972800" cy="310896"/>
          </a:xfrm>
          <a:prstGeom prst="rect">
            <a:avLst/>
          </a:prstGeom>
          <a:noFill/>
          <a:ln/>
        </p:spPr>
        <p:txBody>
          <a:bodyPr wrap="square" lIns="0" tIns="0" rIns="0" bIns="0" rtlCol="0" anchor="ctr"/>
          <a:lstStyle/>
          <a:p>
            <a:pPr algn="ctr" indent="0" marL="0">
              <a:buNone/>
            </a:pPr>
            <a:r>
              <a:rPr lang="en-US" sz="1100" dirty="0">
                <a:solidFill>
                  <a:srgbClr val="2F6FF2"/>
                </a:solidFill>
                <a:latin typeface="Aptos" pitchFamily="34" charset="0"/>
                <a:ea typeface="Aptos" pitchFamily="34" charset="-122"/>
                <a:cs typeface="Aptos" pitchFamily="34" charset="-120"/>
              </a:rPr>
              <a:t>Part de commission de l'éditeur pour l'éditeur principal et quatre éditeurs de comparaison.</a:t>
            </a:r>
            <a:endParaRPr lang="en-US" sz="1100" dirty="0"/>
          </a:p>
        </p:txBody>
      </p:sp>
      <p:sp>
        <p:nvSpPr>
          <p:cNvPr id="5" name="Text 2"/>
          <p:cNvSpPr/>
          <p:nvPr/>
        </p:nvSpPr>
        <p:spPr>
          <a:xfrm>
            <a:off x="713232" y="1645920"/>
            <a:ext cx="10771632" cy="256032"/>
          </a:xfrm>
          <a:prstGeom prst="rect">
            <a:avLst/>
          </a:prstGeom>
          <a:noFill/>
          <a:ln/>
        </p:spPr>
        <p:txBody>
          <a:bodyPr wrap="square" lIns="0" tIns="0" rIns="0" bIns="0" rtlCol="0" anchor="ctr"/>
          <a:lstStyle/>
          <a:p>
            <a:pPr algn="ctr" indent="0" marL="0">
              <a:buNone/>
            </a:pPr>
            <a:r>
              <a:rPr lang="en-US" sz="1200" dirty="0">
                <a:solidFill>
                  <a:srgbClr val="2F333B"/>
                </a:solidFill>
                <a:latin typeface="Aptos" pitchFamily="34" charset="0"/>
                <a:ea typeface="Aptos" pitchFamily="34" charset="-122"/>
                <a:cs typeface="Aptos" pitchFamily="34" charset="-120"/>
              </a:rPr>
              <a:t>Share of publisher commission within competitor group</a:t>
            </a:r>
            <a:endParaRPr lang="en-US" sz="1200" dirty="0"/>
          </a:p>
        </p:txBody>
      </p:sp>
      <p:sp>
        <p:nvSpPr>
          <p:cNvPr id="6" name="Shape 3"/>
          <p:cNvSpPr/>
          <p:nvPr/>
        </p:nvSpPr>
        <p:spPr>
          <a:xfrm>
            <a:off x="1207008" y="5513832"/>
            <a:ext cx="10058400" cy="0"/>
          </a:xfrm>
          <a:prstGeom prst="line">
            <a:avLst/>
          </a:prstGeom>
          <a:noFill/>
          <a:ln w="12700">
            <a:solidFill>
              <a:srgbClr val="AEB6C4"/>
            </a:solidFill>
            <a:prstDash val="solid"/>
          </a:ln>
        </p:spPr>
      </p:sp>
      <p:sp>
        <p:nvSpPr>
          <p:cNvPr id="7" name="Shape 4"/>
          <p:cNvSpPr/>
          <p:nvPr/>
        </p:nvSpPr>
        <p:spPr>
          <a:xfrm>
            <a:off x="1207008" y="4679442"/>
            <a:ext cx="10058400" cy="0"/>
          </a:xfrm>
          <a:prstGeom prst="line">
            <a:avLst/>
          </a:prstGeom>
          <a:noFill/>
          <a:ln w="12700">
            <a:solidFill>
              <a:srgbClr val="DDE3ED">
                <a:alpha val="82000"/>
              </a:srgbClr>
            </a:solidFill>
            <a:prstDash val="solid"/>
          </a:ln>
        </p:spPr>
      </p:sp>
      <p:sp>
        <p:nvSpPr>
          <p:cNvPr id="8" name="Shape 5"/>
          <p:cNvSpPr/>
          <p:nvPr/>
        </p:nvSpPr>
        <p:spPr>
          <a:xfrm>
            <a:off x="1207008" y="3845052"/>
            <a:ext cx="10058400" cy="0"/>
          </a:xfrm>
          <a:prstGeom prst="line">
            <a:avLst/>
          </a:prstGeom>
          <a:noFill/>
          <a:ln w="12700">
            <a:solidFill>
              <a:srgbClr val="DDE3ED">
                <a:alpha val="82000"/>
              </a:srgbClr>
            </a:solidFill>
            <a:prstDash val="solid"/>
          </a:ln>
        </p:spPr>
      </p:sp>
      <p:sp>
        <p:nvSpPr>
          <p:cNvPr id="9" name="Shape 6"/>
          <p:cNvSpPr/>
          <p:nvPr/>
        </p:nvSpPr>
        <p:spPr>
          <a:xfrm>
            <a:off x="1207008" y="3010662"/>
            <a:ext cx="10058400" cy="0"/>
          </a:xfrm>
          <a:prstGeom prst="line">
            <a:avLst/>
          </a:prstGeom>
          <a:noFill/>
          <a:ln w="12700">
            <a:solidFill>
              <a:srgbClr val="DDE3ED">
                <a:alpha val="82000"/>
              </a:srgbClr>
            </a:solidFill>
            <a:prstDash val="solid"/>
          </a:ln>
        </p:spPr>
      </p:sp>
      <p:sp>
        <p:nvSpPr>
          <p:cNvPr id="10" name="Shape 7"/>
          <p:cNvSpPr/>
          <p:nvPr/>
        </p:nvSpPr>
        <p:spPr>
          <a:xfrm>
            <a:off x="1207008" y="2176272"/>
            <a:ext cx="10058400" cy="0"/>
          </a:xfrm>
          <a:prstGeom prst="line">
            <a:avLst/>
          </a:prstGeom>
          <a:noFill/>
          <a:ln w="12700">
            <a:solidFill>
              <a:srgbClr val="DDE3ED">
                <a:alpha val="82000"/>
              </a:srgbClr>
            </a:solidFill>
            <a:prstDash val="solid"/>
          </a:ln>
        </p:spPr>
      </p:sp>
      <p:sp>
        <p:nvSpPr>
          <p:cNvPr id="11" name="Shape 8"/>
          <p:cNvSpPr/>
          <p:nvPr/>
        </p:nvSpPr>
        <p:spPr>
          <a:xfrm>
            <a:off x="1728216" y="3437870"/>
            <a:ext cx="438912" cy="2075962"/>
          </a:xfrm>
          <a:prstGeom prst="rect">
            <a:avLst/>
          </a:prstGeom>
          <a:solidFill>
            <a:srgbClr val="7CC8DE">
              <a:alpha val="92000"/>
            </a:srgbClr>
          </a:solidFill>
          <a:ln w="12700">
            <a:solidFill>
              <a:srgbClr val="7CC8DE"/>
            </a:solidFill>
            <a:prstDash val="solid"/>
          </a:ln>
        </p:spPr>
      </p:sp>
      <p:sp>
        <p:nvSpPr>
          <p:cNvPr id="12" name="Text 9"/>
          <p:cNvSpPr/>
          <p:nvPr/>
        </p:nvSpPr>
        <p:spPr>
          <a:xfrm>
            <a:off x="1618488" y="3181838"/>
            <a:ext cx="658368" cy="164592"/>
          </a:xfrm>
          <a:prstGeom prst="rect">
            <a:avLst/>
          </a:prstGeom>
          <a:noFill/>
          <a:ln/>
        </p:spPr>
        <p:txBody>
          <a:bodyPr wrap="square" lIns="0" tIns="0" rIns="0" bIns="0" rtlCol="0" anchor="ctr"/>
          <a:lstStyle/>
          <a:p>
            <a:pPr algn="ctr" indent="0" marL="0">
              <a:buNone/>
            </a:pPr>
            <a:r>
              <a:rPr lang="en-US" sz="850" dirty="0">
                <a:solidFill>
                  <a:srgbClr val="2F333B"/>
                </a:solidFill>
                <a:latin typeface="Aptos" pitchFamily="34" charset="0"/>
                <a:ea typeface="Aptos" pitchFamily="34" charset="-122"/>
                <a:cs typeface="Aptos" pitchFamily="34" charset="-120"/>
              </a:rPr>
              <a:t>62%</a:t>
            </a:r>
            <a:endParaRPr lang="en-US" sz="850" dirty="0"/>
          </a:p>
        </p:txBody>
      </p:sp>
      <p:sp>
        <p:nvSpPr>
          <p:cNvPr id="13" name="Shape 10"/>
          <p:cNvSpPr/>
          <p:nvPr/>
        </p:nvSpPr>
        <p:spPr>
          <a:xfrm>
            <a:off x="2258568" y="3444545"/>
            <a:ext cx="438912" cy="2069287"/>
          </a:xfrm>
          <a:prstGeom prst="rect">
            <a:avLst/>
          </a:prstGeom>
          <a:solidFill>
            <a:srgbClr val="2F6FF2"/>
          </a:solidFill>
          <a:ln w="12700">
            <a:solidFill>
              <a:srgbClr val="2F6FF2"/>
            </a:solidFill>
            <a:prstDash val="solid"/>
          </a:ln>
        </p:spPr>
      </p:sp>
      <p:sp>
        <p:nvSpPr>
          <p:cNvPr id="14" name="Text 11"/>
          <p:cNvSpPr/>
          <p:nvPr/>
        </p:nvSpPr>
        <p:spPr>
          <a:xfrm>
            <a:off x="2148840" y="3188513"/>
            <a:ext cx="658368" cy="164592"/>
          </a:xfrm>
          <a:prstGeom prst="rect">
            <a:avLst/>
          </a:prstGeom>
          <a:noFill/>
          <a:ln/>
        </p:spPr>
        <p:txBody>
          <a:bodyPr wrap="square" lIns="0" tIns="0" rIns="0" bIns="0" rtlCol="0" anchor="ctr"/>
          <a:lstStyle/>
          <a:p>
            <a:pPr algn="ctr" indent="0" marL="0">
              <a:buNone/>
            </a:pPr>
            <a:r>
              <a:rPr lang="en-US" sz="850" dirty="0">
                <a:solidFill>
                  <a:srgbClr val="2F333B"/>
                </a:solidFill>
                <a:latin typeface="Aptos" pitchFamily="34" charset="0"/>
                <a:ea typeface="Aptos" pitchFamily="34" charset="-122"/>
                <a:cs typeface="Aptos" pitchFamily="34" charset="-120"/>
              </a:rPr>
              <a:t>62%</a:t>
            </a:r>
            <a:endParaRPr lang="en-US" sz="850" dirty="0"/>
          </a:p>
        </p:txBody>
      </p:sp>
      <p:sp>
        <p:nvSpPr>
          <p:cNvPr id="15" name="Text 12"/>
          <p:cNvSpPr/>
          <p:nvPr/>
        </p:nvSpPr>
        <p:spPr>
          <a:xfrm>
            <a:off x="1225296" y="5660136"/>
            <a:ext cx="1975104" cy="182880"/>
          </a:xfrm>
          <a:prstGeom prst="rect">
            <a:avLst/>
          </a:prstGeom>
          <a:noFill/>
          <a:ln/>
        </p:spPr>
        <p:txBody>
          <a:bodyPr wrap="square" lIns="0" tIns="0" rIns="0" bIns="0" rtlCol="0" anchor="ctr">
            <a:normAutofit/>
          </a:bodyPr>
          <a:lstStyle/>
          <a:p>
            <a:pPr algn="ctr" indent="0" marL="0">
              <a:buNone/>
            </a:pPr>
            <a:r>
              <a:rPr lang="en-US" sz="860" dirty="0">
                <a:solidFill>
                  <a:srgbClr val="5B6372"/>
                </a:solidFill>
                <a:latin typeface="Aptos" pitchFamily="34" charset="0"/>
                <a:ea typeface="Aptos" pitchFamily="34" charset="-122"/>
                <a:cs typeface="Aptos" pitchFamily="34" charset="-120"/>
              </a:rPr>
              <a:t>Your Site</a:t>
            </a:r>
            <a:endParaRPr lang="en-US" sz="860" dirty="0"/>
          </a:p>
        </p:txBody>
      </p:sp>
      <p:sp>
        <p:nvSpPr>
          <p:cNvPr id="16" name="Shape 13"/>
          <p:cNvSpPr/>
          <p:nvPr/>
        </p:nvSpPr>
        <p:spPr>
          <a:xfrm>
            <a:off x="3739896" y="4883033"/>
            <a:ext cx="438912" cy="630799"/>
          </a:xfrm>
          <a:prstGeom prst="rect">
            <a:avLst/>
          </a:prstGeom>
          <a:solidFill>
            <a:srgbClr val="7CC8DE">
              <a:alpha val="92000"/>
            </a:srgbClr>
          </a:solidFill>
          <a:ln w="12700">
            <a:solidFill>
              <a:srgbClr val="7CC8DE"/>
            </a:solidFill>
            <a:prstDash val="solid"/>
          </a:ln>
        </p:spPr>
      </p:sp>
      <p:sp>
        <p:nvSpPr>
          <p:cNvPr id="17" name="Text 14"/>
          <p:cNvSpPr/>
          <p:nvPr/>
        </p:nvSpPr>
        <p:spPr>
          <a:xfrm>
            <a:off x="3630168" y="4627001"/>
            <a:ext cx="658368" cy="164592"/>
          </a:xfrm>
          <a:prstGeom prst="rect">
            <a:avLst/>
          </a:prstGeom>
          <a:noFill/>
          <a:ln/>
        </p:spPr>
        <p:txBody>
          <a:bodyPr wrap="square" lIns="0" tIns="0" rIns="0" bIns="0" rtlCol="0" anchor="ctr"/>
          <a:lstStyle/>
          <a:p>
            <a:pPr algn="ctr" indent="0" marL="0">
              <a:buNone/>
            </a:pPr>
            <a:r>
              <a:rPr lang="en-US" sz="850" dirty="0">
                <a:solidFill>
                  <a:srgbClr val="2F333B"/>
                </a:solidFill>
                <a:latin typeface="Aptos" pitchFamily="34" charset="0"/>
                <a:ea typeface="Aptos" pitchFamily="34" charset="-122"/>
                <a:cs typeface="Aptos" pitchFamily="34" charset="-120"/>
              </a:rPr>
              <a:t>19%</a:t>
            </a:r>
            <a:endParaRPr lang="en-US" sz="850" dirty="0"/>
          </a:p>
        </p:txBody>
      </p:sp>
      <p:sp>
        <p:nvSpPr>
          <p:cNvPr id="18" name="Shape 15"/>
          <p:cNvSpPr/>
          <p:nvPr/>
        </p:nvSpPr>
        <p:spPr>
          <a:xfrm>
            <a:off x="4270248" y="4976485"/>
            <a:ext cx="438912" cy="537347"/>
          </a:xfrm>
          <a:prstGeom prst="rect">
            <a:avLst/>
          </a:prstGeom>
          <a:solidFill>
            <a:srgbClr val="2F6FF2"/>
          </a:solidFill>
          <a:ln w="12700">
            <a:solidFill>
              <a:srgbClr val="2F6FF2"/>
            </a:solidFill>
            <a:prstDash val="solid"/>
          </a:ln>
        </p:spPr>
      </p:sp>
      <p:sp>
        <p:nvSpPr>
          <p:cNvPr id="19" name="Text 16"/>
          <p:cNvSpPr/>
          <p:nvPr/>
        </p:nvSpPr>
        <p:spPr>
          <a:xfrm>
            <a:off x="4160520" y="4720453"/>
            <a:ext cx="658368" cy="164592"/>
          </a:xfrm>
          <a:prstGeom prst="rect">
            <a:avLst/>
          </a:prstGeom>
          <a:noFill/>
          <a:ln/>
        </p:spPr>
        <p:txBody>
          <a:bodyPr wrap="square" lIns="0" tIns="0" rIns="0" bIns="0" rtlCol="0" anchor="ctr"/>
          <a:lstStyle/>
          <a:p>
            <a:pPr algn="ctr" indent="0" marL="0">
              <a:buNone/>
            </a:pPr>
            <a:r>
              <a:rPr lang="en-US" sz="850" dirty="0">
                <a:solidFill>
                  <a:srgbClr val="2F333B"/>
                </a:solidFill>
                <a:latin typeface="Aptos" pitchFamily="34" charset="0"/>
                <a:ea typeface="Aptos" pitchFamily="34" charset="-122"/>
                <a:cs typeface="Aptos" pitchFamily="34" charset="-120"/>
              </a:rPr>
              <a:t>16%</a:t>
            </a:r>
            <a:endParaRPr lang="en-US" sz="850" dirty="0"/>
          </a:p>
        </p:txBody>
      </p:sp>
      <p:sp>
        <p:nvSpPr>
          <p:cNvPr id="20" name="Text 17"/>
          <p:cNvSpPr/>
          <p:nvPr/>
        </p:nvSpPr>
        <p:spPr>
          <a:xfrm>
            <a:off x="3236976" y="5660136"/>
            <a:ext cx="1975104" cy="182880"/>
          </a:xfrm>
          <a:prstGeom prst="rect">
            <a:avLst/>
          </a:prstGeom>
          <a:noFill/>
          <a:ln/>
        </p:spPr>
        <p:txBody>
          <a:bodyPr wrap="square" lIns="0" tIns="0" rIns="0" bIns="0" rtlCol="0" anchor="ctr">
            <a:normAutofit/>
          </a:bodyPr>
          <a:lstStyle/>
          <a:p>
            <a:pPr algn="ctr" indent="0" marL="0">
              <a:buNone/>
            </a:pPr>
            <a:r>
              <a:rPr lang="en-US" sz="860" dirty="0">
                <a:solidFill>
                  <a:srgbClr val="5B6372"/>
                </a:solidFill>
                <a:latin typeface="Aptos" pitchFamily="34" charset="0"/>
                <a:ea typeface="Aptos" pitchFamily="34" charset="-122"/>
                <a:cs typeface="Aptos" pitchFamily="34" charset="-120"/>
              </a:rPr>
              <a:t>Comp. A</a:t>
            </a:r>
            <a:endParaRPr lang="en-US" sz="860" dirty="0"/>
          </a:p>
        </p:txBody>
      </p:sp>
      <p:sp>
        <p:nvSpPr>
          <p:cNvPr id="21" name="Shape 18"/>
          <p:cNvSpPr/>
          <p:nvPr/>
        </p:nvSpPr>
        <p:spPr>
          <a:xfrm>
            <a:off x="5751576" y="5140025"/>
            <a:ext cx="438912" cy="373807"/>
          </a:xfrm>
          <a:prstGeom prst="rect">
            <a:avLst/>
          </a:prstGeom>
          <a:solidFill>
            <a:srgbClr val="7CC8DE">
              <a:alpha val="92000"/>
            </a:srgbClr>
          </a:solidFill>
          <a:ln w="12700">
            <a:solidFill>
              <a:srgbClr val="7CC8DE"/>
            </a:solidFill>
            <a:prstDash val="solid"/>
          </a:ln>
        </p:spPr>
      </p:sp>
      <p:sp>
        <p:nvSpPr>
          <p:cNvPr id="22" name="Text 19"/>
          <p:cNvSpPr/>
          <p:nvPr/>
        </p:nvSpPr>
        <p:spPr>
          <a:xfrm>
            <a:off x="5641848" y="4883993"/>
            <a:ext cx="658368" cy="164592"/>
          </a:xfrm>
          <a:prstGeom prst="rect">
            <a:avLst/>
          </a:prstGeom>
          <a:noFill/>
          <a:ln/>
        </p:spPr>
        <p:txBody>
          <a:bodyPr wrap="square" lIns="0" tIns="0" rIns="0" bIns="0" rtlCol="0" anchor="ctr"/>
          <a:lstStyle/>
          <a:p>
            <a:pPr algn="ctr" indent="0" marL="0">
              <a:buNone/>
            </a:pPr>
            <a:r>
              <a:rPr lang="en-US" sz="850" dirty="0">
                <a:solidFill>
                  <a:srgbClr val="2F333B"/>
                </a:solidFill>
                <a:latin typeface="Aptos" pitchFamily="34" charset="0"/>
                <a:ea typeface="Aptos" pitchFamily="34" charset="-122"/>
                <a:cs typeface="Aptos" pitchFamily="34" charset="-120"/>
              </a:rPr>
              <a:t>11%</a:t>
            </a:r>
            <a:endParaRPr lang="en-US" sz="850" dirty="0"/>
          </a:p>
        </p:txBody>
      </p:sp>
      <p:sp>
        <p:nvSpPr>
          <p:cNvPr id="23" name="Shape 20"/>
          <p:cNvSpPr/>
          <p:nvPr/>
        </p:nvSpPr>
        <p:spPr>
          <a:xfrm>
            <a:off x="6281928" y="5099975"/>
            <a:ext cx="438912" cy="413857"/>
          </a:xfrm>
          <a:prstGeom prst="rect">
            <a:avLst/>
          </a:prstGeom>
          <a:solidFill>
            <a:srgbClr val="2F6FF2"/>
          </a:solidFill>
          <a:ln w="12700">
            <a:solidFill>
              <a:srgbClr val="2F6FF2"/>
            </a:solidFill>
            <a:prstDash val="solid"/>
          </a:ln>
        </p:spPr>
      </p:sp>
      <p:sp>
        <p:nvSpPr>
          <p:cNvPr id="24" name="Text 21"/>
          <p:cNvSpPr/>
          <p:nvPr/>
        </p:nvSpPr>
        <p:spPr>
          <a:xfrm>
            <a:off x="6172200" y="4843943"/>
            <a:ext cx="658368" cy="164592"/>
          </a:xfrm>
          <a:prstGeom prst="rect">
            <a:avLst/>
          </a:prstGeom>
          <a:noFill/>
          <a:ln/>
        </p:spPr>
        <p:txBody>
          <a:bodyPr wrap="square" lIns="0" tIns="0" rIns="0" bIns="0" rtlCol="0" anchor="ctr"/>
          <a:lstStyle/>
          <a:p>
            <a:pPr algn="ctr" indent="0" marL="0">
              <a:buNone/>
            </a:pPr>
            <a:r>
              <a:rPr lang="en-US" sz="850" dirty="0">
                <a:solidFill>
                  <a:srgbClr val="2F333B"/>
                </a:solidFill>
                <a:latin typeface="Aptos" pitchFamily="34" charset="0"/>
                <a:ea typeface="Aptos" pitchFamily="34" charset="-122"/>
                <a:cs typeface="Aptos" pitchFamily="34" charset="-120"/>
              </a:rPr>
              <a:t>12%</a:t>
            </a:r>
            <a:endParaRPr lang="en-US" sz="850" dirty="0"/>
          </a:p>
        </p:txBody>
      </p:sp>
      <p:sp>
        <p:nvSpPr>
          <p:cNvPr id="25" name="Text 22"/>
          <p:cNvSpPr/>
          <p:nvPr/>
        </p:nvSpPr>
        <p:spPr>
          <a:xfrm>
            <a:off x="5248656" y="5660136"/>
            <a:ext cx="1975104" cy="182880"/>
          </a:xfrm>
          <a:prstGeom prst="rect">
            <a:avLst/>
          </a:prstGeom>
          <a:noFill/>
          <a:ln/>
        </p:spPr>
        <p:txBody>
          <a:bodyPr wrap="square" lIns="0" tIns="0" rIns="0" bIns="0" rtlCol="0" anchor="ctr">
            <a:normAutofit/>
          </a:bodyPr>
          <a:lstStyle/>
          <a:p>
            <a:pPr algn="ctr" indent="0" marL="0">
              <a:buNone/>
            </a:pPr>
            <a:r>
              <a:rPr lang="en-US" sz="860" dirty="0">
                <a:solidFill>
                  <a:srgbClr val="5B6372"/>
                </a:solidFill>
                <a:latin typeface="Aptos" pitchFamily="34" charset="0"/>
                <a:ea typeface="Aptos" pitchFamily="34" charset="-122"/>
                <a:cs typeface="Aptos" pitchFamily="34" charset="-120"/>
              </a:rPr>
              <a:t>Comp. B</a:t>
            </a:r>
            <a:endParaRPr lang="en-US" sz="860" dirty="0"/>
          </a:p>
        </p:txBody>
      </p:sp>
      <p:sp>
        <p:nvSpPr>
          <p:cNvPr id="26" name="Shape 23"/>
          <p:cNvSpPr/>
          <p:nvPr/>
        </p:nvSpPr>
        <p:spPr>
          <a:xfrm>
            <a:off x="7763256" y="5397017"/>
            <a:ext cx="438912" cy="116815"/>
          </a:xfrm>
          <a:prstGeom prst="rect">
            <a:avLst/>
          </a:prstGeom>
          <a:solidFill>
            <a:srgbClr val="7CC8DE">
              <a:alpha val="92000"/>
            </a:srgbClr>
          </a:solidFill>
          <a:ln w="12700">
            <a:solidFill>
              <a:srgbClr val="7CC8DE"/>
            </a:solidFill>
            <a:prstDash val="solid"/>
          </a:ln>
        </p:spPr>
      </p:sp>
      <p:sp>
        <p:nvSpPr>
          <p:cNvPr id="27" name="Text 24"/>
          <p:cNvSpPr/>
          <p:nvPr/>
        </p:nvSpPr>
        <p:spPr>
          <a:xfrm>
            <a:off x="7653528" y="5140985"/>
            <a:ext cx="658368" cy="164592"/>
          </a:xfrm>
          <a:prstGeom prst="rect">
            <a:avLst/>
          </a:prstGeom>
          <a:noFill/>
          <a:ln/>
        </p:spPr>
        <p:txBody>
          <a:bodyPr wrap="square" lIns="0" tIns="0" rIns="0" bIns="0" rtlCol="0" anchor="ctr"/>
          <a:lstStyle/>
          <a:p>
            <a:pPr algn="ctr" indent="0" marL="0">
              <a:buNone/>
            </a:pPr>
            <a:r>
              <a:rPr lang="en-US" sz="850" dirty="0">
                <a:solidFill>
                  <a:srgbClr val="2F333B"/>
                </a:solidFill>
                <a:latin typeface="Aptos" pitchFamily="34" charset="0"/>
                <a:ea typeface="Aptos" pitchFamily="34" charset="-122"/>
                <a:cs typeface="Aptos" pitchFamily="34" charset="-120"/>
              </a:rPr>
              <a:t>4%</a:t>
            </a:r>
            <a:endParaRPr lang="en-US" sz="850" dirty="0"/>
          </a:p>
        </p:txBody>
      </p:sp>
      <p:sp>
        <p:nvSpPr>
          <p:cNvPr id="28" name="Shape 25"/>
          <p:cNvSpPr/>
          <p:nvPr/>
        </p:nvSpPr>
        <p:spPr>
          <a:xfrm>
            <a:off x="8293608" y="5340279"/>
            <a:ext cx="438912" cy="173553"/>
          </a:xfrm>
          <a:prstGeom prst="rect">
            <a:avLst/>
          </a:prstGeom>
          <a:solidFill>
            <a:srgbClr val="2F6FF2"/>
          </a:solidFill>
          <a:ln w="12700">
            <a:solidFill>
              <a:srgbClr val="2F6FF2"/>
            </a:solidFill>
            <a:prstDash val="solid"/>
          </a:ln>
        </p:spPr>
      </p:sp>
      <p:sp>
        <p:nvSpPr>
          <p:cNvPr id="29" name="Text 26"/>
          <p:cNvSpPr/>
          <p:nvPr/>
        </p:nvSpPr>
        <p:spPr>
          <a:xfrm>
            <a:off x="8183880" y="5084247"/>
            <a:ext cx="658368" cy="164592"/>
          </a:xfrm>
          <a:prstGeom prst="rect">
            <a:avLst/>
          </a:prstGeom>
          <a:noFill/>
          <a:ln/>
        </p:spPr>
        <p:txBody>
          <a:bodyPr wrap="square" lIns="0" tIns="0" rIns="0" bIns="0" rtlCol="0" anchor="ctr"/>
          <a:lstStyle/>
          <a:p>
            <a:pPr algn="ctr" indent="0" marL="0">
              <a:buNone/>
            </a:pPr>
            <a:r>
              <a:rPr lang="en-US" sz="850" dirty="0">
                <a:solidFill>
                  <a:srgbClr val="2F333B"/>
                </a:solidFill>
                <a:latin typeface="Aptos" pitchFamily="34" charset="0"/>
                <a:ea typeface="Aptos" pitchFamily="34" charset="-122"/>
                <a:cs typeface="Aptos" pitchFamily="34" charset="-120"/>
              </a:rPr>
              <a:t>5%</a:t>
            </a:r>
            <a:endParaRPr lang="en-US" sz="850" dirty="0"/>
          </a:p>
        </p:txBody>
      </p:sp>
      <p:sp>
        <p:nvSpPr>
          <p:cNvPr id="30" name="Text 27"/>
          <p:cNvSpPr/>
          <p:nvPr/>
        </p:nvSpPr>
        <p:spPr>
          <a:xfrm>
            <a:off x="7260336" y="5660136"/>
            <a:ext cx="1975104" cy="182880"/>
          </a:xfrm>
          <a:prstGeom prst="rect">
            <a:avLst/>
          </a:prstGeom>
          <a:noFill/>
          <a:ln/>
        </p:spPr>
        <p:txBody>
          <a:bodyPr wrap="square" lIns="0" tIns="0" rIns="0" bIns="0" rtlCol="0" anchor="ctr">
            <a:normAutofit/>
          </a:bodyPr>
          <a:lstStyle/>
          <a:p>
            <a:pPr algn="ctr" indent="0" marL="0">
              <a:buNone/>
            </a:pPr>
            <a:r>
              <a:rPr lang="en-US" sz="860" dirty="0">
                <a:solidFill>
                  <a:srgbClr val="5B6372"/>
                </a:solidFill>
                <a:latin typeface="Aptos" pitchFamily="34" charset="0"/>
                <a:ea typeface="Aptos" pitchFamily="34" charset="-122"/>
                <a:cs typeface="Aptos" pitchFamily="34" charset="-120"/>
              </a:rPr>
              <a:t>Comp. C</a:t>
            </a:r>
            <a:endParaRPr lang="en-US" sz="860" dirty="0"/>
          </a:p>
        </p:txBody>
      </p:sp>
      <p:sp>
        <p:nvSpPr>
          <p:cNvPr id="31" name="Shape 28"/>
          <p:cNvSpPr/>
          <p:nvPr/>
        </p:nvSpPr>
        <p:spPr>
          <a:xfrm>
            <a:off x="9774936" y="5373654"/>
            <a:ext cx="438912" cy="140178"/>
          </a:xfrm>
          <a:prstGeom prst="rect">
            <a:avLst/>
          </a:prstGeom>
          <a:solidFill>
            <a:srgbClr val="7CC8DE">
              <a:alpha val="92000"/>
            </a:srgbClr>
          </a:solidFill>
          <a:ln w="12700">
            <a:solidFill>
              <a:srgbClr val="7CC8DE"/>
            </a:solidFill>
            <a:prstDash val="solid"/>
          </a:ln>
        </p:spPr>
      </p:sp>
      <p:sp>
        <p:nvSpPr>
          <p:cNvPr id="32" name="Text 29"/>
          <p:cNvSpPr/>
          <p:nvPr/>
        </p:nvSpPr>
        <p:spPr>
          <a:xfrm>
            <a:off x="9665208" y="5117622"/>
            <a:ext cx="658368" cy="164592"/>
          </a:xfrm>
          <a:prstGeom prst="rect">
            <a:avLst/>
          </a:prstGeom>
          <a:noFill/>
          <a:ln/>
        </p:spPr>
        <p:txBody>
          <a:bodyPr wrap="square" lIns="0" tIns="0" rIns="0" bIns="0" rtlCol="0" anchor="ctr"/>
          <a:lstStyle/>
          <a:p>
            <a:pPr algn="ctr" indent="0" marL="0">
              <a:buNone/>
            </a:pPr>
            <a:r>
              <a:rPr lang="en-US" sz="850" dirty="0">
                <a:solidFill>
                  <a:srgbClr val="2F333B"/>
                </a:solidFill>
                <a:latin typeface="Aptos" pitchFamily="34" charset="0"/>
                <a:ea typeface="Aptos" pitchFamily="34" charset="-122"/>
                <a:cs typeface="Aptos" pitchFamily="34" charset="-120"/>
              </a:rPr>
              <a:t>4%</a:t>
            </a:r>
            <a:endParaRPr lang="en-US" sz="850" dirty="0"/>
          </a:p>
        </p:txBody>
      </p:sp>
      <p:sp>
        <p:nvSpPr>
          <p:cNvPr id="33" name="Shape 30"/>
          <p:cNvSpPr/>
          <p:nvPr/>
        </p:nvSpPr>
        <p:spPr>
          <a:xfrm>
            <a:off x="10305288" y="5370317"/>
            <a:ext cx="438912" cy="143515"/>
          </a:xfrm>
          <a:prstGeom prst="rect">
            <a:avLst/>
          </a:prstGeom>
          <a:solidFill>
            <a:srgbClr val="2F6FF2"/>
          </a:solidFill>
          <a:ln w="12700">
            <a:solidFill>
              <a:srgbClr val="2F6FF2"/>
            </a:solidFill>
            <a:prstDash val="solid"/>
          </a:ln>
        </p:spPr>
      </p:sp>
      <p:sp>
        <p:nvSpPr>
          <p:cNvPr id="34" name="Text 31"/>
          <p:cNvSpPr/>
          <p:nvPr/>
        </p:nvSpPr>
        <p:spPr>
          <a:xfrm>
            <a:off x="10195560" y="5114285"/>
            <a:ext cx="658368" cy="164592"/>
          </a:xfrm>
          <a:prstGeom prst="rect">
            <a:avLst/>
          </a:prstGeom>
          <a:noFill/>
          <a:ln/>
        </p:spPr>
        <p:txBody>
          <a:bodyPr wrap="square" lIns="0" tIns="0" rIns="0" bIns="0" rtlCol="0" anchor="ctr"/>
          <a:lstStyle/>
          <a:p>
            <a:pPr algn="ctr" indent="0" marL="0">
              <a:buNone/>
            </a:pPr>
            <a:r>
              <a:rPr lang="en-US" sz="850" dirty="0">
                <a:solidFill>
                  <a:srgbClr val="2F333B"/>
                </a:solidFill>
                <a:latin typeface="Aptos" pitchFamily="34" charset="0"/>
                <a:ea typeface="Aptos" pitchFamily="34" charset="-122"/>
                <a:cs typeface="Aptos" pitchFamily="34" charset="-120"/>
              </a:rPr>
              <a:t>4%</a:t>
            </a:r>
            <a:endParaRPr lang="en-US" sz="850" dirty="0"/>
          </a:p>
        </p:txBody>
      </p:sp>
      <p:sp>
        <p:nvSpPr>
          <p:cNvPr id="35" name="Text 32"/>
          <p:cNvSpPr/>
          <p:nvPr/>
        </p:nvSpPr>
        <p:spPr>
          <a:xfrm>
            <a:off x="9272016" y="5660136"/>
            <a:ext cx="1975104" cy="182880"/>
          </a:xfrm>
          <a:prstGeom prst="rect">
            <a:avLst/>
          </a:prstGeom>
          <a:noFill/>
          <a:ln/>
        </p:spPr>
        <p:txBody>
          <a:bodyPr wrap="square" lIns="0" tIns="0" rIns="0" bIns="0" rtlCol="0" anchor="ctr">
            <a:normAutofit/>
          </a:bodyPr>
          <a:lstStyle/>
          <a:p>
            <a:pPr algn="ctr" indent="0" marL="0">
              <a:buNone/>
            </a:pPr>
            <a:r>
              <a:rPr lang="en-US" sz="860" dirty="0">
                <a:solidFill>
                  <a:srgbClr val="5B6372"/>
                </a:solidFill>
                <a:latin typeface="Aptos" pitchFamily="34" charset="0"/>
                <a:ea typeface="Aptos" pitchFamily="34" charset="-122"/>
                <a:cs typeface="Aptos" pitchFamily="34" charset="-120"/>
              </a:rPr>
              <a:t>Comp. D</a:t>
            </a:r>
            <a:endParaRPr lang="en-US" sz="860" dirty="0"/>
          </a:p>
        </p:txBody>
      </p:sp>
      <p:sp>
        <p:nvSpPr>
          <p:cNvPr id="36" name="Shape 33"/>
          <p:cNvSpPr/>
          <p:nvPr/>
        </p:nvSpPr>
        <p:spPr>
          <a:xfrm>
            <a:off x="4608576" y="5884164"/>
            <a:ext cx="137160" cy="64008"/>
          </a:xfrm>
          <a:prstGeom prst="rect">
            <a:avLst/>
          </a:prstGeom>
          <a:solidFill>
            <a:srgbClr val="7CC8DE"/>
          </a:solidFill>
          <a:ln w="12700">
            <a:solidFill>
              <a:srgbClr val="7CC8DE"/>
            </a:solidFill>
            <a:prstDash val="solid"/>
          </a:ln>
        </p:spPr>
      </p:sp>
      <p:sp>
        <p:nvSpPr>
          <p:cNvPr id="37" name="Text 34"/>
          <p:cNvSpPr/>
          <p:nvPr/>
        </p:nvSpPr>
        <p:spPr>
          <a:xfrm>
            <a:off x="4791456" y="5843016"/>
            <a:ext cx="1426464" cy="164592"/>
          </a:xfrm>
          <a:prstGeom prst="rect">
            <a:avLst/>
          </a:prstGeom>
          <a:noFill/>
          <a:ln/>
        </p:spPr>
        <p:txBody>
          <a:bodyPr wrap="square" lIns="0" tIns="0" rIns="0" bIns="0" rtlCol="0" anchor="ctr"/>
          <a:lstStyle/>
          <a:p>
            <a:pPr indent="0" marL="0">
              <a:buNone/>
            </a:pPr>
            <a:r>
              <a:rPr lang="en-US" sz="760" dirty="0">
                <a:solidFill>
                  <a:srgbClr val="5B6372"/>
                </a:solidFill>
                <a:latin typeface="Aptos" pitchFamily="34" charset="0"/>
                <a:ea typeface="Aptos" pitchFamily="34" charset="-122"/>
                <a:cs typeface="Aptos" pitchFamily="34" charset="-120"/>
              </a:rPr>
              <a:t>% of Site Group PP</a:t>
            </a:r>
            <a:endParaRPr lang="en-US" sz="760" dirty="0"/>
          </a:p>
        </p:txBody>
      </p:sp>
      <p:sp>
        <p:nvSpPr>
          <p:cNvPr id="38" name="Shape 35"/>
          <p:cNvSpPr/>
          <p:nvPr/>
        </p:nvSpPr>
        <p:spPr>
          <a:xfrm>
            <a:off x="6236208" y="5884164"/>
            <a:ext cx="137160" cy="64008"/>
          </a:xfrm>
          <a:prstGeom prst="rect">
            <a:avLst/>
          </a:prstGeom>
          <a:solidFill>
            <a:srgbClr val="2F6FF2"/>
          </a:solidFill>
          <a:ln w="12700">
            <a:solidFill>
              <a:srgbClr val="2F6FF2"/>
            </a:solidFill>
            <a:prstDash val="solid"/>
          </a:ln>
        </p:spPr>
      </p:sp>
      <p:sp>
        <p:nvSpPr>
          <p:cNvPr id="39" name="Text 36"/>
          <p:cNvSpPr/>
          <p:nvPr/>
        </p:nvSpPr>
        <p:spPr>
          <a:xfrm>
            <a:off x="6419088" y="5843016"/>
            <a:ext cx="1426464" cy="164592"/>
          </a:xfrm>
          <a:prstGeom prst="rect">
            <a:avLst/>
          </a:prstGeom>
          <a:noFill/>
          <a:ln/>
        </p:spPr>
        <p:txBody>
          <a:bodyPr wrap="square" lIns="0" tIns="0" rIns="0" bIns="0" rtlCol="0" anchor="ctr"/>
          <a:lstStyle/>
          <a:p>
            <a:pPr indent="0" marL="0">
              <a:buNone/>
            </a:pPr>
            <a:r>
              <a:rPr lang="en-US" sz="760" dirty="0">
                <a:solidFill>
                  <a:srgbClr val="5B6372"/>
                </a:solidFill>
                <a:latin typeface="Aptos" pitchFamily="34" charset="0"/>
                <a:ea typeface="Aptos" pitchFamily="34" charset="-122"/>
                <a:cs typeface="Aptos" pitchFamily="34" charset="-120"/>
              </a:rPr>
              <a:t>% of Site Group</a:t>
            </a:r>
            <a:endParaRPr lang="en-US" sz="7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6"/>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2F333B"/>
                </a:solidFill>
                <a:latin typeface="Aptos" pitchFamily="34" charset="0"/>
                <a:ea typeface="Aptos" pitchFamily="34" charset="-122"/>
                <a:cs typeface="Aptos" pitchFamily="34" charset="-120"/>
              </a:rPr>
              <a:t>Performance des concurrents des meilleurs programmes</a:t>
            </a:r>
            <a:endParaRPr lang="en-US" sz="2800" dirty="0"/>
          </a:p>
        </p:txBody>
      </p:sp>
      <p:sp>
        <p:nvSpPr>
          <p:cNvPr id="4" name="Text 1"/>
          <p:cNvSpPr/>
          <p:nvPr/>
        </p:nvSpPr>
        <p:spPr>
          <a:xfrm>
            <a:off x="640080" y="1316736"/>
            <a:ext cx="10972800" cy="310896"/>
          </a:xfrm>
          <a:prstGeom prst="rect">
            <a:avLst/>
          </a:prstGeom>
          <a:noFill/>
          <a:ln/>
        </p:spPr>
        <p:txBody>
          <a:bodyPr wrap="square" lIns="0" tIns="0" rIns="0" bIns="0" rtlCol="0" anchor="ctr"/>
          <a:lstStyle/>
          <a:p>
            <a:pPr algn="ctr" indent="0" marL="0">
              <a:buNone/>
            </a:pPr>
            <a:r>
              <a:rPr lang="en-US" sz="1100" dirty="0">
                <a:solidFill>
                  <a:srgbClr val="2F6FF2"/>
                </a:solidFill>
                <a:latin typeface="Aptos" pitchFamily="34" charset="0"/>
                <a:ea typeface="Aptos" pitchFamily="34" charset="-122"/>
                <a:cs typeface="Aptos" pitchFamily="34" charset="-120"/>
              </a:rPr>
              <a:t>Part des commissions des éditeurs par programme pour l'éditeur principal et les quatre éditeurs de comparaison.</a:t>
            </a:r>
            <a:endParaRPr lang="en-US" sz="1100" dirty="0"/>
          </a:p>
        </p:txBody>
      </p:sp>
      <p:sp>
        <p:nvSpPr>
          <p:cNvPr id="5" name="Shape 2"/>
          <p:cNvSpPr/>
          <p:nvPr/>
        </p:nvSpPr>
        <p:spPr>
          <a:xfrm>
            <a:off x="365760" y="1700784"/>
            <a:ext cx="11430000" cy="4583887"/>
          </a:xfrm>
          <a:prstGeom prst="rect">
            <a:avLst/>
          </a:prstGeom>
          <a:solidFill>
            <a:srgbClr val="F3F4F6"/>
          </a:solidFill>
          <a:ln w="12700">
            <a:solidFill>
              <a:srgbClr val="D6DAE3"/>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75488" y="1792224"/>
          <a:ext cx="11210544" cy="4437583"/>
        </p:xfrm>
        <a:graphic>
          <a:graphicData uri="http://schemas.openxmlformats.org/drawingml/2006/table">
            <a:tbl>
              <a:tblPr/>
              <a:tblGrid>
                <a:gridCol w="3993185"/>
                <a:gridCol w="1688897"/>
                <a:gridCol w="1382573"/>
                <a:gridCol w="1382573"/>
                <a:gridCol w="1382573"/>
                <a:gridCol w="1382573"/>
              </a:tblGrid>
              <a:tr h="432511">
                <a:tc>
                  <a:txBody>
                    <a:bodyPr/>
                    <a:lstStyle/>
                    <a:p>
                      <a:pPr algn="ctr" indent="0" marL="0">
                        <a:buNone/>
                      </a:pPr>
                      <a:r>
                        <a:rPr lang="en-US" sz="900" b="1" dirty="0">
                          <a:solidFill>
                            <a:srgbClr val="2F333B"/>
                          </a:solidFill>
                          <a:latin typeface="Aptos" pitchFamily="34" charset="0"/>
                          <a:ea typeface="Aptos" pitchFamily="34" charset="-122"/>
                          <a:cs typeface="Aptos" pitchFamily="34" charset="-120"/>
                        </a:rPr>
                        <a:t>Nom du programme</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900" b="1" dirty="0">
                          <a:solidFill>
                            <a:srgbClr val="2F333B"/>
                          </a:solidFill>
                          <a:latin typeface="Aptos" pitchFamily="34" charset="0"/>
                          <a:ea typeface="Aptos" pitchFamily="34" charset="-122"/>
                          <a:cs typeface="Aptos" pitchFamily="34" charset="-120"/>
                        </a:rPr>
                        <a:t>topcashback</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900" b="1" dirty="0">
                          <a:solidFill>
                            <a:srgbClr val="2F333B"/>
                          </a:solidFill>
                          <a:latin typeface="Aptos" pitchFamily="34" charset="0"/>
                          <a:ea typeface="Aptos" pitchFamily="34" charset="-122"/>
                          <a:cs typeface="Aptos" pitchFamily="34" charset="-120"/>
                        </a:rPr>
                        <a:t>Comp. UN</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900" b="1" dirty="0">
                          <a:solidFill>
                            <a:srgbClr val="2F333B"/>
                          </a:solidFill>
                          <a:latin typeface="Aptos" pitchFamily="34" charset="0"/>
                          <a:ea typeface="Aptos" pitchFamily="34" charset="-122"/>
                          <a:cs typeface="Aptos" pitchFamily="34" charset="-120"/>
                        </a:rPr>
                        <a:t>Comp. B</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900" b="1" dirty="0">
                          <a:solidFill>
                            <a:srgbClr val="2F333B"/>
                          </a:solidFill>
                          <a:latin typeface="Aptos" pitchFamily="34" charset="0"/>
                          <a:ea typeface="Aptos" pitchFamily="34" charset="-122"/>
                          <a:cs typeface="Aptos" pitchFamily="34" charset="-120"/>
                        </a:rPr>
                        <a:t>Comp. C</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900" b="1" dirty="0">
                          <a:solidFill>
                            <a:srgbClr val="2F333B"/>
                          </a:solidFill>
                          <a:latin typeface="Aptos" pitchFamily="34" charset="0"/>
                          <a:ea typeface="Aptos" pitchFamily="34" charset="-122"/>
                          <a:cs typeface="Aptos" pitchFamily="34" charset="-120"/>
                        </a:rPr>
                        <a:t>Comp. D</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r>
              <a:tr h="400507">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getyourguide.co.uk</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75%</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C8F7D2"/>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15%</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10%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400507">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Restez sûr</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71%</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C8F7D2"/>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23%</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4%</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2%</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400507">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Épicerie Morrisons</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57%</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C8F7D2"/>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7%</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36%</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400507">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Sixt Rent a Car Royaume-Uni</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67%</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C8F7D2"/>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25%</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6%</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2%</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400507">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Assurance voyage Avanti</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70%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C8F7D2"/>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21%</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7%</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2%</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400507">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Ligne murale</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62%</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C8F7D2"/>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23%</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15%</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400507">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Direct Ferries Royaume-Uni</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68%</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C8F7D2"/>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13%</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19%</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400507">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Assurer et partir</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71%</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C8F7D2"/>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16%</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8%</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5%</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400507">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Disneyland Paris FR</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65%</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C8F7D2"/>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22%</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13%</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0%</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400507">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eFlorist Royaume-Uni</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53%</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C8F7D2"/>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22%</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7%</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2%</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900" dirty="0">
                          <a:solidFill>
                            <a:srgbClr val="2F333B"/>
                          </a:solidFill>
                          <a:latin typeface="Aptos" pitchFamily="34" charset="0"/>
                          <a:ea typeface="Aptos" pitchFamily="34" charset="-122"/>
                          <a:cs typeface="Aptos" pitchFamily="34" charset="-120"/>
                        </a:rPr>
                        <a:t>16%</a:t>
                      </a:r>
                      <a:endParaRPr lang="en-US" sz="9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F6FF2"/>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blu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F3F4F6"/>
                </a:solidFill>
                <a:latin typeface="Aptos" pitchFamily="34" charset="0"/>
                <a:ea typeface="Aptos" pitchFamily="34" charset="-122"/>
                <a:cs typeface="Aptos" pitchFamily="34" charset="-120"/>
              </a:rPr>
              <a:t>Points saillants des KPI et implications commerciales</a:t>
            </a:r>
            <a:endParaRPr lang="en-US" sz="2800" dirty="0"/>
          </a:p>
        </p:txBody>
      </p:sp>
      <p:sp>
        <p:nvSpPr>
          <p:cNvPr id="4" name="Text 1"/>
          <p:cNvSpPr/>
          <p:nvPr/>
        </p:nvSpPr>
        <p:spPr>
          <a:xfrm>
            <a:off x="640080" y="1316736"/>
            <a:ext cx="10972800" cy="310896"/>
          </a:xfrm>
          <a:prstGeom prst="rect">
            <a:avLst/>
          </a:prstGeom>
          <a:noFill/>
          <a:ln/>
        </p:spPr>
        <p:txBody>
          <a:bodyPr wrap="square" lIns="0" tIns="0" rIns="0" bIns="0" rtlCol="0" anchor="ctr"/>
          <a:lstStyle/>
          <a:p>
            <a:pPr algn="ctr" indent="0" marL="0">
              <a:buNone/>
            </a:pPr>
            <a:r>
              <a:rPr lang="en-US" sz="1100" dirty="0">
                <a:solidFill>
                  <a:srgbClr val="F3F4F6"/>
                </a:solidFill>
                <a:latin typeface="Aptos" pitchFamily="34" charset="0"/>
                <a:ea typeface="Aptos" pitchFamily="34" charset="-122"/>
                <a:cs typeface="Aptos" pitchFamily="34" charset="-120"/>
              </a:rPr>
              <a:t>Ce que les chiffres signifient pour l'entreprise : signaux clés et contexte.</a:t>
            </a:r>
            <a:endParaRPr lang="en-US" sz="1100" dirty="0"/>
          </a:p>
        </p:txBody>
      </p:sp>
      <p:sp>
        <p:nvSpPr>
          <p:cNvPr id="5" name="Text 2"/>
          <p:cNvSpPr/>
          <p:nvPr/>
        </p:nvSpPr>
        <p:spPr>
          <a:xfrm>
            <a:off x="731520" y="1700784"/>
            <a:ext cx="10972800" cy="274320"/>
          </a:xfrm>
          <a:prstGeom prst="rect">
            <a:avLst/>
          </a:prstGeom>
          <a:noFill/>
          <a:ln/>
        </p:spPr>
        <p:txBody>
          <a:bodyPr wrap="square" lIns="0" tIns="0" rIns="0" bIns="0" rtlCol="0" anchor="t"/>
          <a:lstStyle/>
          <a:p>
            <a:pPr algn="l" indent="0" marL="0">
              <a:buNone/>
            </a:pPr>
            <a:r>
              <a:rPr lang="en-US" sz="1320" b="1" dirty="0">
                <a:solidFill>
                  <a:srgbClr val="F3F4F6"/>
                </a:solidFill>
                <a:latin typeface="Aptos" pitchFamily="34" charset="0"/>
                <a:ea typeface="Aptos" pitchFamily="34" charset="-122"/>
                <a:cs typeface="Aptos" pitchFamily="34" charset="-120"/>
              </a:rPr>
              <a:t>• Mouvement du taux de conversion</a:t>
            </a:r>
            <a:endParaRPr lang="en-US" sz="1320" dirty="0"/>
          </a:p>
        </p:txBody>
      </p:sp>
      <p:sp>
        <p:nvSpPr>
          <p:cNvPr id="6" name="Text 3"/>
          <p:cNvSpPr/>
          <p:nvPr/>
        </p:nvSpPr>
        <p:spPr>
          <a:xfrm>
            <a:off x="960120" y="1984248"/>
            <a:ext cx="10652760" cy="786384"/>
          </a:xfrm>
          <a:prstGeom prst="rect">
            <a:avLst/>
          </a:prstGeom>
          <a:noFill/>
          <a:ln/>
        </p:spPr>
        <p:txBody>
          <a:bodyPr wrap="square" lIns="0" tIns="0" rIns="0" bIns="0" rtlCol="0" anchor="t"/>
          <a:lstStyle/>
          <a:p>
            <a:pPr algn="l" indent="0" marL="0">
              <a:buNone/>
            </a:pPr>
            <a:r>
              <a:rPr lang="en-US" sz="1110" dirty="0">
                <a:solidFill>
                  <a:srgbClr val="F3F4F6"/>
                </a:solidFill>
                <a:latin typeface="Aptos" pitchFamily="34" charset="0"/>
                <a:ea typeface="Aptos" pitchFamily="34" charset="-122"/>
                <a:cs typeface="Aptos" pitchFamily="34" charset="-120"/>
              </a:rPr>
              <a:t>le taux de conversion a augmenté de +9,8 % (de 23,4 % à 25,6 %). Les conversions ont diminué de -5,6 % (-5 564), démontrant l'efficacité avec laquelle les programmes ont converti le trafic en résultats.</a:t>
            </a:r>
            <a:endParaRPr lang="en-US" sz="1110" dirty="0"/>
          </a:p>
        </p:txBody>
      </p:sp>
      <p:sp>
        <p:nvSpPr>
          <p:cNvPr id="7" name="Text 4"/>
          <p:cNvSpPr/>
          <p:nvPr/>
        </p:nvSpPr>
        <p:spPr>
          <a:xfrm>
            <a:off x="731520" y="2743200"/>
            <a:ext cx="10972800" cy="274320"/>
          </a:xfrm>
          <a:prstGeom prst="rect">
            <a:avLst/>
          </a:prstGeom>
          <a:noFill/>
          <a:ln/>
        </p:spPr>
        <p:txBody>
          <a:bodyPr wrap="square" lIns="0" tIns="0" rIns="0" bIns="0" rtlCol="0" anchor="t"/>
          <a:lstStyle/>
          <a:p>
            <a:pPr algn="l" indent="0" marL="0">
              <a:buNone/>
            </a:pPr>
            <a:r>
              <a:rPr lang="en-US" sz="1320" b="1" dirty="0">
                <a:solidFill>
                  <a:srgbClr val="F3F4F6"/>
                </a:solidFill>
                <a:latin typeface="Aptos" pitchFamily="34" charset="0"/>
                <a:ea typeface="Aptos" pitchFamily="34" charset="-122"/>
                <a:cs typeface="Aptos" pitchFamily="34" charset="-120"/>
              </a:rPr>
              <a:t>• Volume de conversion</a:t>
            </a:r>
            <a:endParaRPr lang="en-US" sz="1320" dirty="0"/>
          </a:p>
        </p:txBody>
      </p:sp>
      <p:sp>
        <p:nvSpPr>
          <p:cNvPr id="8" name="Text 5"/>
          <p:cNvSpPr/>
          <p:nvPr/>
        </p:nvSpPr>
        <p:spPr>
          <a:xfrm>
            <a:off x="960120" y="3026664"/>
            <a:ext cx="10652760" cy="658368"/>
          </a:xfrm>
          <a:prstGeom prst="rect">
            <a:avLst/>
          </a:prstGeom>
          <a:noFill/>
          <a:ln/>
        </p:spPr>
        <p:txBody>
          <a:bodyPr wrap="square" lIns="0" tIns="0" rIns="0" bIns="0" rtlCol="0" anchor="t"/>
          <a:lstStyle/>
          <a:p>
            <a:pPr algn="l" indent="0" marL="0">
              <a:buNone/>
            </a:pPr>
            <a:r>
              <a:rPr lang="en-US" sz="1110" dirty="0">
                <a:solidFill>
                  <a:srgbClr val="F3F4F6"/>
                </a:solidFill>
                <a:latin typeface="Aptos" pitchFamily="34" charset="0"/>
                <a:ea typeface="Aptos" pitchFamily="34" charset="-122"/>
                <a:cs typeface="Aptos" pitchFamily="34" charset="-120"/>
              </a:rPr>
              <a:t>le total des conversions a diminué de -5,6 % (-5 564). La contribution du programme en baisse la plus importante nécessite une confirmation des tables de déménagement.</a:t>
            </a:r>
            <a:endParaRPr lang="en-US" sz="1110" dirty="0"/>
          </a:p>
        </p:txBody>
      </p:sp>
      <p:sp>
        <p:nvSpPr>
          <p:cNvPr id="9" name="Text 6"/>
          <p:cNvSpPr/>
          <p:nvPr/>
        </p:nvSpPr>
        <p:spPr>
          <a:xfrm>
            <a:off x="731520" y="3657600"/>
            <a:ext cx="10972800" cy="274320"/>
          </a:xfrm>
          <a:prstGeom prst="rect">
            <a:avLst/>
          </a:prstGeom>
          <a:noFill/>
          <a:ln/>
        </p:spPr>
        <p:txBody>
          <a:bodyPr wrap="square" lIns="0" tIns="0" rIns="0" bIns="0" rtlCol="0" anchor="t"/>
          <a:lstStyle/>
          <a:p>
            <a:pPr algn="l" indent="0" marL="0">
              <a:buNone/>
            </a:pPr>
            <a:r>
              <a:rPr lang="en-US" sz="1320" b="1" dirty="0">
                <a:solidFill>
                  <a:srgbClr val="F3F4F6"/>
                </a:solidFill>
                <a:latin typeface="Aptos" pitchFamily="34" charset="0"/>
                <a:ea typeface="Aptos" pitchFamily="34" charset="-122"/>
                <a:cs typeface="Aptos" pitchFamily="34" charset="-120"/>
              </a:rPr>
              <a:t>• Valeur de la commande</a:t>
            </a:r>
            <a:endParaRPr lang="en-US" sz="1320" dirty="0"/>
          </a:p>
        </p:txBody>
      </p:sp>
      <p:sp>
        <p:nvSpPr>
          <p:cNvPr id="10" name="Text 7"/>
          <p:cNvSpPr/>
          <p:nvPr/>
        </p:nvSpPr>
        <p:spPr>
          <a:xfrm>
            <a:off x="960120" y="3941064"/>
            <a:ext cx="10652760" cy="786384"/>
          </a:xfrm>
          <a:prstGeom prst="rect">
            <a:avLst/>
          </a:prstGeom>
          <a:noFill/>
          <a:ln/>
        </p:spPr>
        <p:txBody>
          <a:bodyPr wrap="square" lIns="0" tIns="0" rIns="0" bIns="0" rtlCol="0" anchor="t"/>
          <a:lstStyle/>
          <a:p>
            <a:pPr algn="l" indent="0" marL="0">
              <a:buNone/>
            </a:pPr>
            <a:r>
              <a:rPr lang="en-US" sz="1110" dirty="0">
                <a:solidFill>
                  <a:srgbClr val="F3F4F6"/>
                </a:solidFill>
                <a:latin typeface="Aptos" pitchFamily="34" charset="0"/>
                <a:ea typeface="Aptos" pitchFamily="34" charset="-122"/>
                <a:cs typeface="Aptos" pitchFamily="34" charset="-120"/>
              </a:rPr>
              <a:t>La valeur totale des commandes a diminué de -35,4 % (de 24 652 989 € à 15 923 430 €). La génération de valeur a évolué parallèlement au volume de conversions et aux performances des bénéfices.</a:t>
            </a:r>
            <a:endParaRPr lang="en-US" sz="1110" dirty="0"/>
          </a:p>
        </p:txBody>
      </p:sp>
      <p:sp>
        <p:nvSpPr>
          <p:cNvPr id="11" name="Text 8"/>
          <p:cNvSpPr/>
          <p:nvPr/>
        </p:nvSpPr>
        <p:spPr>
          <a:xfrm>
            <a:off x="731520" y="4700016"/>
            <a:ext cx="10972800" cy="274320"/>
          </a:xfrm>
          <a:prstGeom prst="rect">
            <a:avLst/>
          </a:prstGeom>
          <a:noFill/>
          <a:ln/>
        </p:spPr>
        <p:txBody>
          <a:bodyPr wrap="square" lIns="0" tIns="0" rIns="0" bIns="0" rtlCol="0" anchor="t"/>
          <a:lstStyle/>
          <a:p>
            <a:pPr algn="l" indent="0" marL="0">
              <a:buNone/>
            </a:pPr>
            <a:r>
              <a:rPr lang="en-US" sz="1320" b="1" dirty="0">
                <a:solidFill>
                  <a:srgbClr val="F3F4F6"/>
                </a:solidFill>
                <a:latin typeface="Aptos" pitchFamily="34" charset="0"/>
                <a:ea typeface="Aptos" pitchFamily="34" charset="-122"/>
                <a:cs typeface="Aptos" pitchFamily="34" charset="-120"/>
              </a:rPr>
              <a:t>• Commission éditeur</a:t>
            </a:r>
            <a:endParaRPr lang="en-US" sz="1320" dirty="0"/>
          </a:p>
        </p:txBody>
      </p:sp>
      <p:sp>
        <p:nvSpPr>
          <p:cNvPr id="12" name="Text 9"/>
          <p:cNvSpPr/>
          <p:nvPr/>
        </p:nvSpPr>
        <p:spPr>
          <a:xfrm>
            <a:off x="960120" y="4983480"/>
            <a:ext cx="10652760" cy="658368"/>
          </a:xfrm>
          <a:prstGeom prst="rect">
            <a:avLst/>
          </a:prstGeom>
          <a:noFill/>
          <a:ln/>
        </p:spPr>
        <p:txBody>
          <a:bodyPr wrap="square" lIns="0" tIns="0" rIns="0" bIns="0" rtlCol="0" anchor="t"/>
          <a:lstStyle/>
          <a:p>
            <a:pPr algn="l" indent="0" marL="0">
              <a:buNone/>
            </a:pPr>
            <a:r>
              <a:rPr lang="en-US" sz="1110" dirty="0">
                <a:solidFill>
                  <a:srgbClr val="F3F4F6"/>
                </a:solidFill>
                <a:latin typeface="Aptos" pitchFamily="34" charset="0"/>
                <a:ea typeface="Aptos" pitchFamily="34" charset="-122"/>
                <a:cs typeface="Aptos" pitchFamily="34" charset="-120"/>
              </a:rPr>
              <a:t>La commission éditeur a diminué de -26,8% (de 966 077 € à 707 424 €). Les commissions restent la principale composante des revenus du programme.</a:t>
            </a:r>
            <a:endParaRPr lang="en-US" sz="1110" dirty="0"/>
          </a:p>
        </p:txBody>
      </p:sp>
      <p:sp>
        <p:nvSpPr>
          <p:cNvPr id="13" name="Text 10"/>
          <p:cNvSpPr/>
          <p:nvPr/>
        </p:nvSpPr>
        <p:spPr>
          <a:xfrm>
            <a:off x="731520" y="5614416"/>
            <a:ext cx="10972800" cy="274320"/>
          </a:xfrm>
          <a:prstGeom prst="rect">
            <a:avLst/>
          </a:prstGeom>
          <a:noFill/>
          <a:ln/>
        </p:spPr>
        <p:txBody>
          <a:bodyPr wrap="square" lIns="0" tIns="0" rIns="0" bIns="0" rtlCol="0" anchor="t"/>
          <a:lstStyle/>
          <a:p>
            <a:pPr algn="l" indent="0" marL="0">
              <a:buNone/>
            </a:pPr>
            <a:r>
              <a:rPr lang="en-US" sz="1320" b="1" dirty="0">
                <a:solidFill>
                  <a:srgbClr val="F3F4F6"/>
                </a:solidFill>
                <a:latin typeface="Aptos" pitchFamily="34" charset="0"/>
                <a:ea typeface="Aptos" pitchFamily="34" charset="-122"/>
                <a:cs typeface="Aptos" pitchFamily="34" charset="-120"/>
              </a:rPr>
              <a:t>• Gains totaux</a:t>
            </a:r>
            <a:endParaRPr lang="en-US" sz="1320" dirty="0"/>
          </a:p>
        </p:txBody>
      </p:sp>
      <p:sp>
        <p:nvSpPr>
          <p:cNvPr id="14" name="Text 11"/>
          <p:cNvSpPr/>
          <p:nvPr/>
        </p:nvSpPr>
        <p:spPr>
          <a:xfrm>
            <a:off x="960120" y="5897880"/>
            <a:ext cx="10652760" cy="786384"/>
          </a:xfrm>
          <a:prstGeom prst="rect">
            <a:avLst/>
          </a:prstGeom>
          <a:noFill/>
          <a:ln/>
        </p:spPr>
        <p:txBody>
          <a:bodyPr wrap="square" lIns="0" tIns="0" rIns="0" bIns="0" rtlCol="0" anchor="t"/>
          <a:lstStyle/>
          <a:p>
            <a:pPr algn="l" indent="0" marL="0">
              <a:buNone/>
            </a:pPr>
            <a:r>
              <a:rPr lang="en-US" sz="1110" dirty="0">
                <a:solidFill>
                  <a:srgbClr val="F3F4F6"/>
                </a:solidFill>
                <a:latin typeface="Aptos" pitchFamily="34" charset="0"/>
                <a:ea typeface="Aptos" pitchFamily="34" charset="-122"/>
                <a:cs typeface="Aptos" pitchFamily="34" charset="-120"/>
              </a:rPr>
              <a:t>Les gains totaux ont diminué de -31,1% (de 1 124 837 € à 775 002 €). La contribution du portefeuille numérique était de 67 578 € (-57,4 %), de sorte que les revenus totaux combinent les commissions et les revenus du portefeuille.</a:t>
            </a:r>
            <a:endParaRPr lang="en-US" sz="11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F6"/>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530352"/>
            <a:ext cx="10789920" cy="566928"/>
          </a:xfrm>
          <a:prstGeom prst="rect">
            <a:avLst/>
          </a:prstGeom>
          <a:noFill/>
          <a:ln/>
        </p:spPr>
        <p:txBody>
          <a:bodyPr wrap="square" lIns="0" tIns="0" rIns="0" bIns="0" rtlCol="0" anchor="ctr"/>
          <a:lstStyle/>
          <a:p>
            <a:pPr indent="0" marL="0">
              <a:buNone/>
            </a:pPr>
            <a:r>
              <a:rPr lang="en-US" sz="2800" dirty="0">
                <a:solidFill>
                  <a:srgbClr val="2F333B"/>
                </a:solidFill>
                <a:latin typeface="Aptos" pitchFamily="34" charset="0"/>
                <a:ea typeface="Aptos" pitchFamily="34" charset="-122"/>
                <a:cs typeface="Aptos" pitchFamily="34" charset="-120"/>
              </a:rPr>
              <a:t>Risques et dépendances</a:t>
            </a:r>
            <a:endParaRPr lang="en-US" sz="2800" dirty="0"/>
          </a:p>
        </p:txBody>
      </p:sp>
      <p:sp>
        <p:nvSpPr>
          <p:cNvPr id="4" name="Text 1"/>
          <p:cNvSpPr/>
          <p:nvPr/>
        </p:nvSpPr>
        <p:spPr>
          <a:xfrm>
            <a:off x="640080" y="1316736"/>
            <a:ext cx="10972800" cy="310896"/>
          </a:xfrm>
          <a:prstGeom prst="rect">
            <a:avLst/>
          </a:prstGeom>
          <a:noFill/>
          <a:ln/>
        </p:spPr>
        <p:txBody>
          <a:bodyPr wrap="square" lIns="0" tIns="0" rIns="0" bIns="0" rtlCol="0" anchor="ctr"/>
          <a:lstStyle/>
          <a:p>
            <a:pPr algn="ctr" indent="0" marL="0">
              <a:buNone/>
            </a:pPr>
            <a:r>
              <a:rPr lang="en-US" sz="1100" dirty="0">
                <a:solidFill>
                  <a:srgbClr val="2F6FF2"/>
                </a:solidFill>
                <a:latin typeface="Aptos" pitchFamily="34" charset="0"/>
                <a:ea typeface="Aptos" pitchFamily="34" charset="-122"/>
                <a:cs typeface="Aptos" pitchFamily="34" charset="-120"/>
              </a:rPr>
              <a:t>Principaux risques pour la performance du programme, dépendances externes et responsables des actions assignés pour le prochain cycle d'examen.</a:t>
            </a:r>
            <a:endParaRPr lang="en-US" sz="1100" dirty="0"/>
          </a:p>
        </p:txBody>
      </p:sp>
      <p:sp>
        <p:nvSpPr>
          <p:cNvPr id="5" name="Shape 2"/>
          <p:cNvSpPr/>
          <p:nvPr/>
        </p:nvSpPr>
        <p:spPr>
          <a:xfrm>
            <a:off x="365760" y="1783080"/>
            <a:ext cx="11430000" cy="4201668"/>
          </a:xfrm>
          <a:prstGeom prst="rect">
            <a:avLst/>
          </a:prstGeom>
          <a:solidFill>
            <a:srgbClr val="F3F4F6"/>
          </a:solidFill>
          <a:ln w="12700">
            <a:solidFill>
              <a:srgbClr val="D6DAE3"/>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75488" y="1874520"/>
          <a:ext cx="11210544" cy="4055364"/>
        </p:xfrm>
        <a:graphic>
          <a:graphicData uri="http://schemas.openxmlformats.org/drawingml/2006/table">
            <a:tbl>
              <a:tblPr/>
              <a:tblGrid>
                <a:gridCol w="4215384"/>
                <a:gridCol w="1121054"/>
                <a:gridCol w="5874106"/>
              </a:tblGrid>
              <a:tr h="763524">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Risque/justification</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Impact</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c>
                  <a:txBody>
                    <a:bodyPr/>
                    <a:lstStyle/>
                    <a:p>
                      <a:pPr algn="ctr" indent="0" marL="0">
                        <a:buNone/>
                      </a:pPr>
                      <a:r>
                        <a:rPr lang="en-US" sz="1050" b="1" dirty="0">
                          <a:solidFill>
                            <a:srgbClr val="2F333B"/>
                          </a:solidFill>
                          <a:latin typeface="Aptos" pitchFamily="34" charset="0"/>
                          <a:ea typeface="Aptos" pitchFamily="34" charset="-122"/>
                          <a:cs typeface="Aptos" pitchFamily="34" charset="-120"/>
                        </a:rPr>
                        <a:t>Atténuation</a:t>
                      </a:r>
                      <a:endParaRPr lang="en-US" sz="105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1F3F7"/>
                    </a:solidFill>
                  </a:tcPr>
                </a:tc>
              </a:tr>
              <a:tr h="658368">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Faible - Concentration de la valeur de commande. Preuve : Morrisons Grocery contribue à hauteur de 35,5 % de la valeur actuelle des commandes (5 651 204 € sur 15 923 430 €). Cela signifie que les performances du QBR sont fortement exposées à une seule relation de programme ; tout changement de taux de commission, problème de suivi, fermeture, changement de compétitivité de l'offre ou retard d'approbation sur Morrisons Grocery affecterait considérablement la valeur de la commande de l'éditeur pour la période. L'évolution annuelle actuelle de ce programme est de 5 651 204 €, ce qui doit donc être traité comme une dépendance du portefeuille d'éditeurs plutôt que comme une tendance générale du marché.</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Moyen</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Réduisez la dépendance à l’égard du programme exposé défini en créant un deuxième niveau de contributeurs.</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658368">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Moyen - Dépendance de conversion. Preuve : Morrisons Grocery contribue à 57,3 % des conversions actuelles (53 388 sur 93 165). Cela signifie que les performances du QBR sont fortement exposées à une seule relation de programme ; tout changement de taux de commission, problème de suivi, fermeture, changement de compétitivité de l'offre ou retard d'approbation sur Morrisons Grocery affecterait considérablement les conversions des éditeurs pour la période. Le mouvement actuel d'une année sur l'autre pour ce programme est de 53 388, ce qui doit donc être traité comme une dépendance du portefeuille d'éditeurs plutôt que comme une tendance générale du marché.</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Moyen</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Réduisez la dépendance à l’égard du programme exposé défini en créant un deuxième niveau de contributeurs.</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658368">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Moyen – Concentration du portefeuille numérique. Preuve : MoneyFarm contribue à hauteur de 51,9 % au portefeuille numérique actuel (35 065 € sur 67 578 €). Cela signifie que les performances du QBR sont fortement exposées à une seule relation de programme ; tout changement de taux de commission, problème de suivi, fermeture, changement de compétitivité de l'offre ou retard d'approbation sur MoneyFarm affecterait considérablement le portefeuille numérique de l'éditeur pour la période. Le mouvement actuel d'une année sur l'autre pour ce programme est de 35 065 €, ce qui doit donc être traité comme une dépendance du portefeuille d'éditeurs plutôt que comme une tendance générale du marché.</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Moyen</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Réduisez la dépendance à l’égard du programme exposé défini en créant un deuxième niveau de contributeurs.</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r h="658368">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Élevé - Travel Republic (Fermé le 17.09.2025) Détérioration sur un an. Preuve : Travel Republic (fermé le 17.09.2025) a diminué de 1 119 conversions (-100,0 %), de 2 982 317 € de valeur de commande (-100,0 %) et de 49 458 € de revenus totaux (-100,0 %) sur un an. Le problème n’est pas seulement la baisse du volume ; la valeur commerciale et les revenus de l'éditeur ont chuté là où des valeurs négatives sont affichées, ce qui en fait un risque de performance prioritaire au niveau du programme pour l'éditeur QBR. La contribution actuelle est de 0 € de revenus totaux issus de 0 conversions.</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Moyen</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Confirmez la cause première avec le propriétaire du programme, puis convenez d'une action de récupération pour la métrique perdue la plus importante.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ECEDEF"/>
                    </a:solidFill>
                  </a:tcPr>
                </a:tc>
              </a:tr>
              <a:tr h="658368">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Élevé – Détérioration de MoneyFarm sur un an. Preuve : MoneyFarm a diminué de 261 conversions (-73,1 %), de valeur de commande de 2 655 425 € (-86,5 %) et de revenus totaux de 78 222 € (-61,5 %) sur un an. Le problème n’est pas seulement la baisse du volume ; la valeur commerciale et les revenus de l'éditeur ont chuté là où des valeurs négatives sont affichées, ce qui en fait un risque de performance prioritaire au niveau du programme pour l'éditeur QBR. La contribution actuelle est de 48 885 € de revenus totaux provenant de 96 conversions.</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Moyen</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2F333B"/>
                          </a:solidFill>
                          <a:latin typeface="Aptos" pitchFamily="34" charset="0"/>
                          <a:ea typeface="Aptos" pitchFamily="34" charset="-122"/>
                          <a:cs typeface="Aptos" pitchFamily="34" charset="-120"/>
                        </a:rPr>
                        <a:t>Confirmez la cause première avec le propriétaire du programme, puis convenez d'une action de récupération pour la métrique perdue la plus importante.</a:t>
                      </a:r>
                      <a:endParaRPr lang="en-US" sz="1000" dirty="0">
                        <a:latin typeface="Aptos" charset="0"/>
                        <a:ea typeface="Aptos" charset="0"/>
                        <a:cs typeface="Aptos" charset="0"/>
                      </a:endParaRPr>
                    </a:p>
                  </a:txBody>
                  <a:tcPr marL="41148" marR="41148" marT="41148" marB="41148" anchor="mid">
                    <a:lnL w="3810" cap="flat" cmpd="sng" algn="ctr">
                      <a:solidFill>
                        <a:srgbClr val="E3E6EC"/>
                      </a:solidFill>
                      <a:prstDash val="solid"/>
                      <a:round/>
                      <a:headEnd type="none" w="med" len="med"/>
                      <a:tailEnd type="none" w="med" len="med"/>
                    </a:lnL>
                    <a:lnR w="3810" cap="flat" cmpd="sng" algn="ctr">
                      <a:solidFill>
                        <a:srgbClr val="E3E6EC"/>
                      </a:solidFill>
                      <a:prstDash val="solid"/>
                      <a:round/>
                      <a:headEnd type="none" w="med" len="med"/>
                      <a:tailEnd type="none" w="med" len="med"/>
                    </a:lnR>
                    <a:lnT w="3810" cap="flat" cmpd="sng" algn="ctr">
                      <a:solidFill>
                        <a:srgbClr val="E3E6EC"/>
                      </a:solidFill>
                      <a:prstDash val="solid"/>
                      <a:round/>
                      <a:headEnd type="none" w="med" len="med"/>
                      <a:tailEnd type="none" w="med" len="med"/>
                    </a:lnT>
                    <a:lnB w="3810" cap="flat" cmpd="sng" algn="ctr">
                      <a:solidFill>
                        <a:srgbClr val="E3E6EC"/>
                      </a:solidFill>
                      <a:prstDash val="solid"/>
                      <a:round/>
                      <a:headEnd type="none" w="med" len="med"/>
                      <a:tailEnd type="none" w="med" len="med"/>
                    </a:lnB>
                    <a:solidFill>
                      <a:srgbClr val="F4F5F7"/>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F6FF2"/>
        </a:solidFill>
      </p:bgPr>
    </p:bg>
    <p:spTree>
      <p:nvGrpSpPr>
        <p:cNvPr id="1" name=""/>
        <p:cNvGrpSpPr/>
        <p:nvPr/>
      </p:nvGrpSpPr>
      <p:grpSpPr>
        <a:xfrm>
          <a:off x="0" y="0"/>
          <a:ext cx="0" cy="0"/>
          <a:chOff x="0" y="0"/>
          <a:chExt cx="0" cy="0"/>
        </a:xfrm>
      </p:grpSpPr>
      <p:pic>
        <p:nvPicPr>
          <p:cNvPr id="2" name="Image 0" descr="C:\Users\harcol\Workflows\Publisher QBR\ai-agent-agenthub\qbr-pptx-service\assets\qbr-bg-blue.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harcol\Workflows\Publisher QBR\ai-agent-agenthub\qbr-pptx-service\assets\fifth-element-wireframe-cyan.png">    </p:cNvPr>
          <p:cNvPicPr>
            <a:picLocks noChangeAspect="1"/>
          </p:cNvPicPr>
          <p:nvPr/>
        </p:nvPicPr>
        <p:blipFill>
          <a:blip r:embed="rId2"/>
          <a:stretch>
            <a:fillRect/>
          </a:stretch>
        </p:blipFill>
        <p:spPr>
          <a:xfrm>
            <a:off x="5230368" y="73152"/>
            <a:ext cx="6309360" cy="6309360"/>
          </a:xfrm>
          <a:prstGeom prst="rect">
            <a:avLst/>
          </a:prstGeom>
        </p:spPr>
      </p:pic>
      <p:sp>
        <p:nvSpPr>
          <p:cNvPr id="4" name="Text 0"/>
          <p:cNvSpPr/>
          <p:nvPr/>
        </p:nvSpPr>
        <p:spPr>
          <a:xfrm>
            <a:off x="640080" y="1325880"/>
            <a:ext cx="9875520" cy="566928"/>
          </a:xfrm>
          <a:prstGeom prst="rect">
            <a:avLst/>
          </a:prstGeom>
          <a:noFill/>
          <a:ln/>
        </p:spPr>
        <p:txBody>
          <a:bodyPr wrap="square" lIns="0" tIns="0" rIns="0" bIns="0" rtlCol="0" anchor="ctr"/>
          <a:lstStyle/>
          <a:p>
            <a:pPr indent="0" marL="0">
              <a:buNone/>
            </a:pPr>
            <a:r>
              <a:rPr lang="en-US" sz="2500" dirty="0">
                <a:solidFill>
                  <a:srgbClr val="F3F4F6"/>
                </a:solidFill>
                <a:latin typeface="Aptos" pitchFamily="34" charset="0"/>
                <a:ea typeface="Aptos" pitchFamily="34" charset="-122"/>
                <a:cs typeface="Aptos" pitchFamily="34" charset="-120"/>
              </a:rPr>
              <a:t>Topcashback - Merci.</a:t>
            </a:r>
            <a:endParaRPr lang="en-US" sz="2500" dirty="0"/>
          </a:p>
        </p:txBody>
      </p:sp>
      <p:sp>
        <p:nvSpPr>
          <p:cNvPr id="5" name="Shape 1"/>
          <p:cNvSpPr/>
          <p:nvPr/>
        </p:nvSpPr>
        <p:spPr>
          <a:xfrm>
            <a:off x="640080" y="2331720"/>
            <a:ext cx="2578608" cy="1024128"/>
          </a:xfrm>
          <a:prstGeom prst="roundRect">
            <a:avLst/>
          </a:prstGeom>
          <a:solidFill>
            <a:srgbClr val="F3F4F6">
              <a:alpha val="58000"/>
            </a:srgbClr>
          </a:solidFill>
          <a:ln w="12700">
            <a:solidFill>
              <a:srgbClr val="F3F4F6">
                <a:alpha val="45000"/>
              </a:srgbClr>
            </a:solidFill>
            <a:prstDash val="solid"/>
          </a:ln>
        </p:spPr>
      </p:sp>
      <p:sp>
        <p:nvSpPr>
          <p:cNvPr id="6" name="Text 2"/>
          <p:cNvSpPr/>
          <p:nvPr/>
        </p:nvSpPr>
        <p:spPr>
          <a:xfrm>
            <a:off x="640080" y="2331720"/>
            <a:ext cx="2578608" cy="1024128"/>
          </a:xfrm>
          <a:prstGeom prst="rect">
            <a:avLst/>
          </a:prstGeom>
          <a:noFill/>
          <a:ln/>
        </p:spPr>
        <p:txBody>
          <a:bodyPr wrap="square" lIns="0" tIns="0" rIns="0" bIns="0" rtlCol="0" anchor="ctr"/>
          <a:lstStyle/>
          <a:p>
            <a:pPr algn="ctr" indent="0" marL="0">
              <a:buNone/>
            </a:pPr>
            <a:r>
              <a:rPr lang="en-US" sz="1750" dirty="0">
                <a:solidFill>
                  <a:srgbClr val="F3F4F6"/>
                </a:solidFill>
                <a:latin typeface="Aptos" pitchFamily="34" charset="0"/>
                <a:ea typeface="Aptos" pitchFamily="34" charset="-122"/>
                <a:cs typeface="Aptos" pitchFamily="34" charset="-120"/>
              </a:rPr>
              <a:t>Des questions ?</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Tradedoubler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QBR - topcashback</dc:title>
  <dc:subject>Quarterly business review</dc:subject>
  <dc:creator>QBR PPTX Service</dc:creator>
  <cp:lastModifiedBy>QBR PPTX Service</cp:lastModifiedBy>
  <cp:revision>1</cp:revision>
  <dcterms:created xsi:type="dcterms:W3CDTF">2026-05-19T10:10:31Z</dcterms:created>
  <dcterms:modified xsi:type="dcterms:W3CDTF">2026-05-19T10:10:31Z</dcterms:modified>
</cp:coreProperties>
</file>