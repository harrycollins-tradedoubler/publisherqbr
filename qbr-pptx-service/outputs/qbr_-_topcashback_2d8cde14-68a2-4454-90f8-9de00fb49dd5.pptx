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Przegląd wydajności Topcashback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Skoncentrowany, roczny przegląd wydajności wydawców topcashback, dynamiki konwersji, zarobków i priorytetów strategicznych w celu stymulowania wzrostu i optymalizacji wyników.</a:t>
            </a:r>
            <a:endParaRPr lang="en-US" sz="1220" dirty="0"/>
          </a:p>
        </p:txBody>
      </p:sp>
      <p:pic>
        <p:nvPicPr>
          <p:cNvPr id="5" name="Image 1" descr="C:\Users\harcol\Workflows\Publisher QBR\ai-agent-agenthub\qbr-pptx-service\assets\td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58768"/>
            <a:ext cx="1965960" cy="1591056"/>
          </a:xfrm>
          <a:prstGeom prst="rect">
            <a:avLst/>
          </a:prstGeom>
        </p:spPr>
      </p:pic>
      <p:pic>
        <p:nvPicPr>
          <p:cNvPr id="6" name="Image 2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542032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Okres raportowania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26187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and YoY comparison windows</a:t>
            </a:r>
            <a:endParaRPr lang="en-US" sz="1020" dirty="0"/>
          </a:p>
        </p:txBody>
      </p:sp>
      <p:sp>
        <p:nvSpPr>
          <p:cNvPr id="5" name="Text 2"/>
          <p:cNvSpPr/>
          <p:nvPr/>
        </p:nvSpPr>
        <p:spPr>
          <a:xfrm>
            <a:off x="658368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Bieżący okres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Okres raportowania: 19.02.2026 do 19.05.2026</a:t>
            </a:r>
            <a:endParaRPr lang="en-US" sz="980" dirty="0"/>
          </a:p>
        </p:txBody>
      </p:sp>
      <p:sp>
        <p:nvSpPr>
          <p:cNvPr id="7" name="Text 4"/>
          <p:cNvSpPr/>
          <p:nvPr/>
        </p:nvSpPr>
        <p:spPr>
          <a:xfrm>
            <a:off x="658368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Dane na dzień: 19.02.2026 do 19.05.2026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5989320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Okres porównawczy (r/r)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89320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Okres porównawczy: 19 lutego 2025 – 19 maja 2025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5989320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Podstawa: rok do roku (r/r)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58368" y="3273552"/>
            <a:ext cx="10927080" cy="804672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55701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Wszystkie wartości raportowane są w walucie PLN, o ile nie wskazano inaczej. Zmiana r/r jest liczona jako bieżący okres względem okresu porównawczego.</a:t>
            </a:r>
            <a:endParaRPr lang="en-US" sz="9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Wyniki programu: Podsumowanie wykonawcze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67712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Konwersje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41248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93 185 vs 98 729 PY -5,6%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4352544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80176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53712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Całkowita wartość zamówienia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53712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67 863 331 zł vs 105 053 638 zł PY -35,4%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8065008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92640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266176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Komisja wydawcy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266176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3 014 749 zł vs 4 116 736 zł PY -26,8%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640080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0080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139696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267712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41248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Cyfrowy portfel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841248" y="4544568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68 128 zł vs 158 760 zł PY -57,1%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4352544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352544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852160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80176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553712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Całkowite zarobki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4553712" y="4544568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3 082 877 zł vs 4 275 496 zł PY -27,9%</a:t>
            </a:r>
            <a:endParaRPr lang="en-US" sz="1020" dirty="0"/>
          </a:p>
        </p:txBody>
      </p:sp>
      <p:sp>
        <p:nvSpPr>
          <p:cNvPr id="34" name="Shape 31"/>
          <p:cNvSpPr/>
          <p:nvPr/>
        </p:nvSpPr>
        <p:spPr>
          <a:xfrm>
            <a:off x="8065008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065008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564624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92640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8266176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Współczynnik konwersji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8266176" y="4544568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25,6% vs 23,4% PY +9,7%</a:t>
            </a:r>
            <a:endParaRPr lang="en-US" sz="1020" dirty="0"/>
          </a:p>
        </p:txBody>
      </p:sp>
      <p:sp>
        <p:nvSpPr>
          <p:cNvPr id="40" name="Text 37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wszystkich programach związanych z topcashback wyniki w okresie od lutego 2026 r. do maja 2026 r. były zróżnicowane. Konwersje wzrosły o -5,6% do 93 185, a współczynnik konwersji o +9,7% do 25,6%. Prowizja wydawcy spadła o -26,8% do 3 014 749 zł, podczas gdy zarobki w portfelu cyfrowym spadły o -57,1% do 68 128 zł. Łączne zarobki wyniosły 3 082 877 zł (-27,9%), a łączna wartość zamówień spadła o -35,4% do 67 863 331 zł.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Tabela podsumowująca KPI: Konwersje i zarobki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Ujednolicony podział KPI w porównaniu z rokiem poprzednim.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458480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438498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46085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Metryczny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Ostatni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Poprzedni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Różnica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 wariancji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Konwersje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93,185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98,729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-5,544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Współczynnik konwersji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Kliknięcia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363,470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422,612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-59,142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-14.0%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Zarobki na kliknięcie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zł8.48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zł10.12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-zł1.64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-16.2%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Zarobki na konwersję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zł32,35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zł41,70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-zł9,35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-22,4%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Całkowita wartość zamówienia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zł67,863,331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zł105,053,638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-zł37,190,307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-35.4%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Komisja wydawcy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zł3,014,749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zł4,116,736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-zł1,101,987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-26.8%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Cyfrowy portfel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zł68,128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zł158,760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-zł90,632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-57.1%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Całkowite zarobki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zł3,082,877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zł4,275,496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-zł1,192,619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-27.9%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Aktywne programy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626729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Całkowite zarobki = Prowizja wydawcy + Portfel cyfrowy. Współczynnik konwersji wykorzystuje współczynnik konwersji źródłowego interfejsu API.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Status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89904" y="1298448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89904" y="3794760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424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288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47088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248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847088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Joined programs</a:t>
            </a:r>
            <a:endParaRPr lang="en-US" sz="1360" dirty="0"/>
          </a:p>
        </p:txBody>
      </p:sp>
      <p:sp>
        <p:nvSpPr>
          <p:cNvPr id="10" name="Text 7"/>
          <p:cNvSpPr/>
          <p:nvPr/>
        </p:nvSpPr>
        <p:spPr>
          <a:xfrm>
            <a:off x="1847088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1847088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69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3566160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3566160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28%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7278624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247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7278624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clicks</a:t>
            </a:r>
            <a:endParaRPr lang="en-US" sz="1360" dirty="0"/>
          </a:p>
        </p:txBody>
      </p:sp>
      <p:sp>
        <p:nvSpPr>
          <p:cNvPr id="16" name="Text 13"/>
          <p:cNvSpPr/>
          <p:nvPr/>
        </p:nvSpPr>
        <p:spPr>
          <a:xfrm>
            <a:off x="7278624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7278624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8997696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8997696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28%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1847088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155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1847088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commission</a:t>
            </a:r>
            <a:endParaRPr lang="en-US" sz="1360" dirty="0"/>
          </a:p>
        </p:txBody>
      </p:sp>
      <p:sp>
        <p:nvSpPr>
          <p:cNvPr id="22" name="Text 19"/>
          <p:cNvSpPr/>
          <p:nvPr/>
        </p:nvSpPr>
        <p:spPr>
          <a:xfrm>
            <a:off x="1847088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847088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1420" dirty="0"/>
          </a:p>
        </p:txBody>
      </p:sp>
      <p:sp>
        <p:nvSpPr>
          <p:cNvPr id="24" name="Text 21"/>
          <p:cNvSpPr/>
          <p:nvPr/>
        </p:nvSpPr>
        <p:spPr>
          <a:xfrm>
            <a:off x="3566160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3566160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</a:t>
            </a:r>
            <a:endParaRPr lang="en-US" sz="1420" dirty="0"/>
          </a:p>
        </p:txBody>
      </p:sp>
      <p:sp>
        <p:nvSpPr>
          <p:cNvPr id="26" name="Text 23"/>
          <p:cNvSpPr/>
          <p:nvPr/>
        </p:nvSpPr>
        <p:spPr>
          <a:xfrm>
            <a:off x="7278624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93</a:t>
            </a:r>
            <a:endParaRPr lang="en-US" sz="3800" dirty="0"/>
          </a:p>
        </p:txBody>
      </p:sp>
      <p:sp>
        <p:nvSpPr>
          <p:cNvPr id="27" name="Text 24"/>
          <p:cNvSpPr/>
          <p:nvPr/>
        </p:nvSpPr>
        <p:spPr>
          <a:xfrm>
            <a:off x="7278624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Inactive</a:t>
            </a:r>
            <a:endParaRPr lang="en-US" sz="1360" dirty="0"/>
          </a:p>
        </p:txBody>
      </p:sp>
      <p:sp>
        <p:nvSpPr>
          <p:cNvPr id="28" name="Text 25"/>
          <p:cNvSpPr/>
          <p:nvPr/>
        </p:nvSpPr>
        <p:spPr>
          <a:xfrm>
            <a:off x="7278624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7278624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</a:t>
            </a:r>
            <a:endParaRPr lang="en-US" sz="1420" dirty="0"/>
          </a:p>
        </p:txBody>
      </p:sp>
      <p:sp>
        <p:nvSpPr>
          <p:cNvPr id="30" name="Text 27"/>
          <p:cNvSpPr/>
          <p:nvPr/>
        </p:nvSpPr>
        <p:spPr>
          <a:xfrm>
            <a:off x="8997696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8997696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48%</a:t>
            </a:r>
            <a:endParaRPr lang="en-US" sz="1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Analiza na poziomie programu: Komisja wydawcy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Widok według programu zamówiony przez prowizję wydawcy.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504291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896612"/>
        </p:xfrm>
        <a:graphic>
          <a:graphicData uri="http://schemas.openxmlformats.org/drawingml/2006/table">
            <a:tbl>
              <a:tblPr/>
              <a:tblGrid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</a:tblGrid>
              <a:tr h="430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Identyfikator programu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Nazwa programu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Komisja wydawcy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Cyfrowy portfel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Całkowite zarobki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Konwersje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Wartość zamówienia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Prowizja wydawcy% r/r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Zyski r/r%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Konwersje r/r%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300817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getyourguide.co.uk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zł544,234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zł3,000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zł547,234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11,450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zł7,271,044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+89.5%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+87.3%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+52.7%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359210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Zachowaj pewność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zł470,436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zł2,041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zł472,476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2,057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zł1,772,038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+47.7%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+47.6%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+61.2%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246156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Sklep spożywczy Morrisons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zł334,690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zł2,000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zł336,690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53,403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zł24,087,575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-64.8%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-65.5%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254701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Sixt Rent a Car Wielka Brytania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zł169,155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zł1,538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zł170,692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1,087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zł1,668,150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+79.6%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+77.8%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+68.8%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359223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Ubezpieczenie podróżne Avanti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zł152,014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zł117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zł152,131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489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zł587,656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+83.6%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+83.8%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+83.8%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122083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Linia ściany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zł116,529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zł116,529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1,405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zł2,310,893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-44.9%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-44.9%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-43.6%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324849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Bezpośrednie promy w Wielkiej Brytanii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zł82,303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zł82,303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1,512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zł2,075,550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+102.8%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+102.8%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+103.2%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324414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Ubezpiecz iGo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zł75,919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zł75,919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850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zł347,083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-40.1%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-51.1%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-22.2%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8854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Disneyland Paryż GB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zł73,941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zł73,941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885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zł3,461,032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-60.1%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-60.8%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-22.9%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236409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eFlorist Wielka Brytania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zł61,964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zł61,964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2,802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zł368,083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-40.1%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-40.1%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-44.5%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329603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Farma pieniędzy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zł58,893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zł35,065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zł93,958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zł1,763,680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-83.7%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-76.8%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-73.1%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381677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Gwarancja Czerwonej Róży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zł40,957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zł40,957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zł1,474,549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Nie dotyczy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Nie dotyczy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Nie dotyczy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Komisja wydawcy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najważniejszych pozytywnych i 10 największych negatywnych zmian prowizji wydawcy okres po okresie.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30352" y="12984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 with most change in publisher commission period-on-period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4050792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21858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92924" y="1591056"/>
            <a:ext cx="0" cy="4846320"/>
          </a:xfrm>
          <a:prstGeom prst="line">
            <a:avLst/>
          </a:prstGeom>
          <a:noFill/>
          <a:ln w="12700">
            <a:solidFill>
              <a:srgbClr val="7B81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063990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35056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162205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getyourguide.co.uk (+89.5%)</a:t>
            </a:r>
            <a:endParaRPr lang="en-US" sz="580" dirty="0"/>
          </a:p>
        </p:txBody>
      </p:sp>
      <p:sp>
        <p:nvSpPr>
          <p:cNvPr id="12" name="Shape 9"/>
          <p:cNvSpPr/>
          <p:nvPr/>
        </p:nvSpPr>
        <p:spPr>
          <a:xfrm>
            <a:off x="7392924" y="1654058"/>
            <a:ext cx="1395034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33678" y="164034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zł257,016</a:t>
            </a:r>
            <a:endParaRPr lang="en-US" sz="570" dirty="0"/>
          </a:p>
        </p:txBody>
      </p:sp>
      <p:sp>
        <p:nvSpPr>
          <p:cNvPr id="14" name="Text 11"/>
          <p:cNvSpPr/>
          <p:nvPr/>
        </p:nvSpPr>
        <p:spPr>
          <a:xfrm>
            <a:off x="530352" y="186437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Staysure (+47.7%)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7392924" y="1896374"/>
            <a:ext cx="824720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63364" y="188265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zł151,943</a:t>
            </a:r>
            <a:endParaRPr lang="en-US" sz="570" dirty="0"/>
          </a:p>
        </p:txBody>
      </p:sp>
      <p:sp>
        <p:nvSpPr>
          <p:cNvPr id="17" name="Text 14"/>
          <p:cNvSpPr/>
          <p:nvPr/>
        </p:nvSpPr>
        <p:spPr>
          <a:xfrm>
            <a:off x="530352" y="210668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Sixt Rent a Car UK (+79.6%)</a:t>
            </a:r>
            <a:endParaRPr lang="en-US" sz="580" dirty="0"/>
          </a:p>
        </p:txBody>
      </p:sp>
      <p:sp>
        <p:nvSpPr>
          <p:cNvPr id="18" name="Shape 15"/>
          <p:cNvSpPr/>
          <p:nvPr/>
        </p:nvSpPr>
        <p:spPr>
          <a:xfrm>
            <a:off x="7392924" y="2138690"/>
            <a:ext cx="406923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45567" y="212497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zł74,970</a:t>
            </a:r>
            <a:endParaRPr lang="en-US" sz="570" dirty="0"/>
          </a:p>
        </p:txBody>
      </p:sp>
      <p:sp>
        <p:nvSpPr>
          <p:cNvPr id="20" name="Text 17"/>
          <p:cNvSpPr/>
          <p:nvPr/>
        </p:nvSpPr>
        <p:spPr>
          <a:xfrm>
            <a:off x="530352" y="234900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Avanti Travel Insurance (+83.6%)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7392924" y="2381006"/>
            <a:ext cx="375725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14369" y="236729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zł69,222</a:t>
            </a:r>
            <a:endParaRPr lang="en-US" sz="570" dirty="0"/>
          </a:p>
        </p:txBody>
      </p:sp>
      <p:sp>
        <p:nvSpPr>
          <p:cNvPr id="23" name="Text 20"/>
          <p:cNvSpPr/>
          <p:nvPr/>
        </p:nvSpPr>
        <p:spPr>
          <a:xfrm>
            <a:off x="530352" y="259131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Ferries UK (+102.8%)</a:t>
            </a:r>
            <a:endParaRPr lang="en-US" sz="580" dirty="0"/>
          </a:p>
        </p:txBody>
      </p:sp>
      <p:sp>
        <p:nvSpPr>
          <p:cNvPr id="24" name="Shape 21"/>
          <p:cNvSpPr/>
          <p:nvPr/>
        </p:nvSpPr>
        <p:spPr>
          <a:xfrm>
            <a:off x="7392924" y="2623322"/>
            <a:ext cx="226434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665078" y="260960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zł41,717</a:t>
            </a:r>
            <a:endParaRPr lang="en-US" sz="570" dirty="0"/>
          </a:p>
        </p:txBody>
      </p:sp>
      <p:sp>
        <p:nvSpPr>
          <p:cNvPr id="26" name="Text 23"/>
          <p:cNvSpPr/>
          <p:nvPr/>
        </p:nvSpPr>
        <p:spPr>
          <a:xfrm>
            <a:off x="530352" y="283363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 Rose Assurance (N/A)</a:t>
            </a:r>
            <a:endParaRPr lang="en-US" sz="580" dirty="0"/>
          </a:p>
        </p:txBody>
      </p:sp>
      <p:sp>
        <p:nvSpPr>
          <p:cNvPr id="27" name="Shape 24"/>
          <p:cNvSpPr/>
          <p:nvPr/>
        </p:nvSpPr>
        <p:spPr>
          <a:xfrm>
            <a:off x="7392924" y="2865638"/>
            <a:ext cx="222310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660954" y="285192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zł40,957</a:t>
            </a:r>
            <a:endParaRPr lang="en-US" sz="570" dirty="0"/>
          </a:p>
        </p:txBody>
      </p:sp>
      <p:sp>
        <p:nvSpPr>
          <p:cNvPr id="29" name="Text 26"/>
          <p:cNvSpPr/>
          <p:nvPr/>
        </p:nvSpPr>
        <p:spPr>
          <a:xfrm>
            <a:off x="530352" y="307595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Petgevity (+259.9%)</a:t>
            </a:r>
            <a:endParaRPr lang="en-US" sz="580" dirty="0"/>
          </a:p>
        </p:txBody>
      </p:sp>
      <p:sp>
        <p:nvSpPr>
          <p:cNvPr id="30" name="Shape 27"/>
          <p:cNvSpPr/>
          <p:nvPr/>
        </p:nvSpPr>
        <p:spPr>
          <a:xfrm>
            <a:off x="7392924" y="3107954"/>
            <a:ext cx="143209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581853" y="309423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zł26,384</a:t>
            </a:r>
            <a:endParaRPr lang="en-US" sz="570" dirty="0"/>
          </a:p>
        </p:txBody>
      </p:sp>
      <p:sp>
        <p:nvSpPr>
          <p:cNvPr id="32" name="Text 29"/>
          <p:cNvSpPr/>
          <p:nvPr/>
        </p:nvSpPr>
        <p:spPr>
          <a:xfrm>
            <a:off x="530352" y="331826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Mortgage Genie (+145.9%)</a:t>
            </a:r>
            <a:endParaRPr lang="en-US" sz="580" dirty="0"/>
          </a:p>
        </p:txBody>
      </p:sp>
      <p:sp>
        <p:nvSpPr>
          <p:cNvPr id="33" name="Shape 30"/>
          <p:cNvSpPr/>
          <p:nvPr/>
        </p:nvSpPr>
        <p:spPr>
          <a:xfrm>
            <a:off x="7392924" y="3350270"/>
            <a:ext cx="131516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570160" y="333655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zł24,230</a:t>
            </a:r>
            <a:endParaRPr lang="en-US" sz="570" dirty="0"/>
          </a:p>
        </p:txBody>
      </p:sp>
      <p:sp>
        <p:nvSpPr>
          <p:cNvPr id="35" name="Text 32"/>
          <p:cNvSpPr/>
          <p:nvPr/>
        </p:nvSpPr>
        <p:spPr>
          <a:xfrm>
            <a:off x="530352" y="356058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Serenata Flowers (N/A)</a:t>
            </a:r>
            <a:endParaRPr lang="en-US" sz="580" dirty="0"/>
          </a:p>
        </p:txBody>
      </p:sp>
      <p:sp>
        <p:nvSpPr>
          <p:cNvPr id="36" name="Shape 33"/>
          <p:cNvSpPr/>
          <p:nvPr/>
        </p:nvSpPr>
        <p:spPr>
          <a:xfrm>
            <a:off x="7392924" y="3592586"/>
            <a:ext cx="122391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561035" y="357887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zł22,549</a:t>
            </a:r>
            <a:endParaRPr lang="en-US" sz="570" dirty="0"/>
          </a:p>
        </p:txBody>
      </p:sp>
      <p:sp>
        <p:nvSpPr>
          <p:cNvPr id="38" name="Text 35"/>
          <p:cNvSpPr/>
          <p:nvPr/>
        </p:nvSpPr>
        <p:spPr>
          <a:xfrm>
            <a:off x="530352" y="380289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Eurowings UK (+288.6%)</a:t>
            </a:r>
            <a:endParaRPr lang="en-US" sz="580" dirty="0"/>
          </a:p>
        </p:txBody>
      </p:sp>
      <p:sp>
        <p:nvSpPr>
          <p:cNvPr id="39" name="Shape 36"/>
          <p:cNvSpPr/>
          <p:nvPr/>
        </p:nvSpPr>
        <p:spPr>
          <a:xfrm>
            <a:off x="7392924" y="3834902"/>
            <a:ext cx="106530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545174" y="382118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zł19,627</a:t>
            </a:r>
            <a:endParaRPr lang="en-US" sz="570" dirty="0"/>
          </a:p>
        </p:txBody>
      </p:sp>
      <p:sp>
        <p:nvSpPr>
          <p:cNvPr id="41" name="Text 38"/>
          <p:cNvSpPr/>
          <p:nvPr/>
        </p:nvSpPr>
        <p:spPr>
          <a:xfrm>
            <a:off x="530352" y="404521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eFlorist UK (-40.1%)</a:t>
            </a:r>
            <a:endParaRPr lang="en-US" sz="580" dirty="0"/>
          </a:p>
        </p:txBody>
      </p:sp>
      <p:sp>
        <p:nvSpPr>
          <p:cNvPr id="42" name="Shape 39"/>
          <p:cNvSpPr/>
          <p:nvPr/>
        </p:nvSpPr>
        <p:spPr>
          <a:xfrm>
            <a:off x="7167904" y="4077218"/>
            <a:ext cx="225020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280936" y="406350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-zł41,457</a:t>
            </a:r>
            <a:endParaRPr lang="en-US" sz="570" dirty="0"/>
          </a:p>
        </p:txBody>
      </p:sp>
      <p:sp>
        <p:nvSpPr>
          <p:cNvPr id="44" name="Text 41"/>
          <p:cNvSpPr/>
          <p:nvPr/>
        </p:nvSpPr>
        <p:spPr>
          <a:xfrm>
            <a:off x="530352" y="428753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Lycamobile (-75.3%)</a:t>
            </a:r>
            <a:endParaRPr lang="en-US" sz="580" dirty="0"/>
          </a:p>
        </p:txBody>
      </p:sp>
      <p:sp>
        <p:nvSpPr>
          <p:cNvPr id="45" name="Shape 42"/>
          <p:cNvSpPr/>
          <p:nvPr/>
        </p:nvSpPr>
        <p:spPr>
          <a:xfrm>
            <a:off x="7165810" y="4319534"/>
            <a:ext cx="227114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278842" y="430581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-zł41,843</a:t>
            </a:r>
            <a:endParaRPr lang="en-US" sz="570" dirty="0"/>
          </a:p>
        </p:txBody>
      </p:sp>
      <p:sp>
        <p:nvSpPr>
          <p:cNvPr id="47" name="Text 44"/>
          <p:cNvSpPr/>
          <p:nvPr/>
        </p:nvSpPr>
        <p:spPr>
          <a:xfrm>
            <a:off x="530352" y="452984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Lufthansa UK (-100.0%)</a:t>
            </a:r>
            <a:endParaRPr lang="en-US" sz="580" dirty="0"/>
          </a:p>
        </p:txBody>
      </p:sp>
      <p:sp>
        <p:nvSpPr>
          <p:cNvPr id="48" name="Shape 45"/>
          <p:cNvSpPr/>
          <p:nvPr/>
        </p:nvSpPr>
        <p:spPr>
          <a:xfrm>
            <a:off x="7125066" y="4561850"/>
            <a:ext cx="267858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238098" y="454813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-zł49,349</a:t>
            </a:r>
            <a:endParaRPr lang="en-US" sz="570" dirty="0"/>
          </a:p>
        </p:txBody>
      </p:sp>
      <p:sp>
        <p:nvSpPr>
          <p:cNvPr id="50" name="Text 47"/>
          <p:cNvSpPr/>
          <p:nvPr/>
        </p:nvSpPr>
        <p:spPr>
          <a:xfrm>
            <a:off x="530352" y="477216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InsureandGo (-40.1%)</a:t>
            </a:r>
            <a:endParaRPr lang="en-US" sz="580" dirty="0"/>
          </a:p>
        </p:txBody>
      </p:sp>
      <p:sp>
        <p:nvSpPr>
          <p:cNvPr id="51" name="Shape 48"/>
          <p:cNvSpPr/>
          <p:nvPr/>
        </p:nvSpPr>
        <p:spPr>
          <a:xfrm>
            <a:off x="7116812" y="4804166"/>
            <a:ext cx="276112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229844" y="479045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-zł50,870</a:t>
            </a:r>
            <a:endParaRPr lang="en-US" sz="570" dirty="0"/>
          </a:p>
        </p:txBody>
      </p:sp>
      <p:sp>
        <p:nvSpPr>
          <p:cNvPr id="53" name="Text 50"/>
          <p:cNvSpPr/>
          <p:nvPr/>
        </p:nvSpPr>
        <p:spPr>
          <a:xfrm>
            <a:off x="530352" y="501447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Marks Electrical (-56.7%)</a:t>
            </a:r>
            <a:endParaRPr lang="en-US" sz="580" dirty="0"/>
          </a:p>
        </p:txBody>
      </p:sp>
      <p:sp>
        <p:nvSpPr>
          <p:cNvPr id="54" name="Shape 51"/>
          <p:cNvSpPr/>
          <p:nvPr/>
        </p:nvSpPr>
        <p:spPr>
          <a:xfrm>
            <a:off x="7114392" y="5046482"/>
            <a:ext cx="278532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227424" y="503276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-zł51,316</a:t>
            </a:r>
            <a:endParaRPr lang="en-US" sz="570" dirty="0"/>
          </a:p>
        </p:txBody>
      </p:sp>
      <p:sp>
        <p:nvSpPr>
          <p:cNvPr id="56" name="Text 53"/>
          <p:cNvSpPr/>
          <p:nvPr/>
        </p:nvSpPr>
        <p:spPr>
          <a:xfrm>
            <a:off x="530352" y="525679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Stena Line (-44.9%)</a:t>
            </a:r>
            <a:endParaRPr lang="en-US" sz="580" dirty="0"/>
          </a:p>
        </p:txBody>
      </p:sp>
      <p:sp>
        <p:nvSpPr>
          <p:cNvPr id="57" name="Shape 54"/>
          <p:cNvSpPr/>
          <p:nvPr/>
        </p:nvSpPr>
        <p:spPr>
          <a:xfrm>
            <a:off x="6876487" y="5288798"/>
            <a:ext cx="516437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989519" y="527508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-zł95,146</a:t>
            </a:r>
            <a:endParaRPr lang="en-US" sz="570" dirty="0"/>
          </a:p>
        </p:txBody>
      </p:sp>
      <p:sp>
        <p:nvSpPr>
          <p:cNvPr id="59" name="Text 56"/>
          <p:cNvSpPr/>
          <p:nvPr/>
        </p:nvSpPr>
        <p:spPr>
          <a:xfrm>
            <a:off x="530352" y="549911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Disneyland Paris GB (-60.1%)</a:t>
            </a:r>
            <a:endParaRPr lang="en-US" sz="580" dirty="0"/>
          </a:p>
        </p:txBody>
      </p:sp>
      <p:sp>
        <p:nvSpPr>
          <p:cNvPr id="60" name="Shape 57"/>
          <p:cNvSpPr/>
          <p:nvPr/>
        </p:nvSpPr>
        <p:spPr>
          <a:xfrm>
            <a:off x="6787821" y="5531114"/>
            <a:ext cx="605103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900853" y="551739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-zł111,482</a:t>
            </a:r>
            <a:endParaRPr lang="en-US" sz="570" dirty="0"/>
          </a:p>
        </p:txBody>
      </p:sp>
      <p:sp>
        <p:nvSpPr>
          <p:cNvPr id="62" name="Text 59"/>
          <p:cNvSpPr/>
          <p:nvPr/>
        </p:nvSpPr>
        <p:spPr>
          <a:xfrm>
            <a:off x="530352" y="574142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 Republic (Closed 17.09.2025) (-100.0%)</a:t>
            </a:r>
            <a:endParaRPr lang="en-US" sz="580" dirty="0"/>
          </a:p>
        </p:txBody>
      </p:sp>
      <p:sp>
        <p:nvSpPr>
          <p:cNvPr id="63" name="Shape 60"/>
          <p:cNvSpPr/>
          <p:nvPr/>
        </p:nvSpPr>
        <p:spPr>
          <a:xfrm>
            <a:off x="6271709" y="5773430"/>
            <a:ext cx="1121215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5384741" y="575971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-zł206,569</a:t>
            </a:r>
            <a:endParaRPr lang="en-US" sz="570" dirty="0"/>
          </a:p>
        </p:txBody>
      </p:sp>
      <p:sp>
        <p:nvSpPr>
          <p:cNvPr id="65" name="Text 62"/>
          <p:cNvSpPr/>
          <p:nvPr/>
        </p:nvSpPr>
        <p:spPr>
          <a:xfrm>
            <a:off x="530352" y="598374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MoneyFarm (-83.7%)</a:t>
            </a:r>
            <a:endParaRPr lang="en-US" sz="580" dirty="0"/>
          </a:p>
        </p:txBody>
      </p:sp>
      <p:sp>
        <p:nvSpPr>
          <p:cNvPr id="66" name="Shape 63"/>
          <p:cNvSpPr/>
          <p:nvPr/>
        </p:nvSpPr>
        <p:spPr>
          <a:xfrm>
            <a:off x="5747555" y="6015746"/>
            <a:ext cx="1645369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4860587" y="600203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-zł303,137</a:t>
            </a:r>
            <a:endParaRPr lang="en-US" sz="570" dirty="0"/>
          </a:p>
        </p:txBody>
      </p:sp>
      <p:sp>
        <p:nvSpPr>
          <p:cNvPr id="68" name="Text 65"/>
          <p:cNvSpPr/>
          <p:nvPr/>
        </p:nvSpPr>
        <p:spPr>
          <a:xfrm>
            <a:off x="530352" y="622605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Morrisons Grocery (-64.8%)</a:t>
            </a:r>
            <a:endParaRPr lang="en-US" sz="580" dirty="0"/>
          </a:p>
        </p:txBody>
      </p:sp>
      <p:sp>
        <p:nvSpPr>
          <p:cNvPr id="69" name="Shape 66"/>
          <p:cNvSpPr/>
          <p:nvPr/>
        </p:nvSpPr>
        <p:spPr>
          <a:xfrm>
            <a:off x="4050792" y="6258062"/>
            <a:ext cx="3342132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3959352" y="624434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-zł615,742</a:t>
            </a:r>
            <a:endParaRPr lang="en-US" sz="5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najlepszych nowych programów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Programy, które dołączyły do ​​głównego wydawcy lub były po raz pierwszy aktywne w bieżącym okresie.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440192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255618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4425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Identyfikator programu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Nazwa programu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Konwersje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Wartość zamówienia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Komisja wydawcy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Cyfrowy portfel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Całkowite zarobki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381677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Gwarancja Czerwonej Róży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zł1,474,549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zł40,957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zł40,957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391591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Kwiaty Serenaty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838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zł128,318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zł22,549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zł22,549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377698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Ferryhopper w Wielkiej Brytanii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376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zł270,480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zł8,114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zł8,114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396847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Nieszczęśliwy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zł77,241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zł7,724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zł7,724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393448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Okazyjny sprzęt w Wielkiej Brytanii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zł42,414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zł2,506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zł2,506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380893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Esdemarca w Wielkiej Brytanii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zł22,840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zł2,122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zł2,122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353828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Vinatis w Wielkiej Brytanii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zł25,625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zł1,338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zł19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zł1,356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391396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Vogel’s w Wielkiej Brytanii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zł3,314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zł297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zł550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zł847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377545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Pałac Blenheim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zł41,850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zł837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zł837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382842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Clickrent w Wielkiej Brytanii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zł12,889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zł773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zł773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Analiza konkurencji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Anonimowe porównanie pokrycia prowizji wydawcy i programów typu white-space.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64208"/>
            <a:ext cx="11430000" cy="119695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55648"/>
          <a:ext cx="11210544" cy="1050646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2935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Podsumowanie grupy konkurentów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Twoja witryna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Wydawca 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Wydawca 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Wydawca 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Wydawca 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Wyraźny komp. wałówka. #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Programy z Pub Comm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 czego masz 0 Pub Comm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nie dotyczy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 Comm z powyższych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nie dotyczy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zł13,952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zł24,433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zł11,799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zł10,256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zł60,441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12064" y="31272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 comm by week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078992" y="34472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12064" y="33832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500 000</a:t>
            </a:r>
            <a:endParaRPr lang="en-US" sz="620" dirty="0"/>
          </a:p>
        </p:txBody>
      </p:sp>
      <p:sp>
        <p:nvSpPr>
          <p:cNvPr id="10" name="Shape 6"/>
          <p:cNvSpPr/>
          <p:nvPr/>
        </p:nvSpPr>
        <p:spPr>
          <a:xfrm>
            <a:off x="1078992" y="39044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12064" y="38404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400 000</a:t>
            </a:r>
            <a:endParaRPr lang="en-US" sz="620" dirty="0"/>
          </a:p>
        </p:txBody>
      </p:sp>
      <p:sp>
        <p:nvSpPr>
          <p:cNvPr id="12" name="Shape 8"/>
          <p:cNvSpPr/>
          <p:nvPr/>
        </p:nvSpPr>
        <p:spPr>
          <a:xfrm>
            <a:off x="1078992" y="43616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12064" y="42976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300 000</a:t>
            </a:r>
            <a:endParaRPr lang="en-US" sz="620" dirty="0"/>
          </a:p>
        </p:txBody>
      </p:sp>
      <p:sp>
        <p:nvSpPr>
          <p:cNvPr id="14" name="Shape 10"/>
          <p:cNvSpPr/>
          <p:nvPr/>
        </p:nvSpPr>
        <p:spPr>
          <a:xfrm>
            <a:off x="1078992" y="48188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2064" y="47548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200 000</a:t>
            </a:r>
            <a:endParaRPr lang="en-US" sz="620" dirty="0"/>
          </a:p>
        </p:txBody>
      </p:sp>
      <p:sp>
        <p:nvSpPr>
          <p:cNvPr id="16" name="Shape 12"/>
          <p:cNvSpPr/>
          <p:nvPr/>
        </p:nvSpPr>
        <p:spPr>
          <a:xfrm>
            <a:off x="1078992" y="52760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12064" y="52120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100 000</a:t>
            </a:r>
            <a:endParaRPr lang="en-US" sz="620" dirty="0"/>
          </a:p>
        </p:txBody>
      </p:sp>
      <p:sp>
        <p:nvSpPr>
          <p:cNvPr id="18" name="Shape 14"/>
          <p:cNvSpPr/>
          <p:nvPr/>
        </p:nvSpPr>
        <p:spPr>
          <a:xfrm>
            <a:off x="1078992" y="57332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12064" y="56692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620" dirty="0"/>
          </a:p>
        </p:txBody>
      </p:sp>
      <p:sp>
        <p:nvSpPr>
          <p:cNvPr id="20" name="Shape 16"/>
          <p:cNvSpPr/>
          <p:nvPr/>
        </p:nvSpPr>
        <p:spPr>
          <a:xfrm>
            <a:off x="1358537" y="5102567"/>
            <a:ext cx="182880" cy="630721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100507" y="4665310"/>
            <a:ext cx="182880" cy="1067978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2842478" y="4521040"/>
            <a:ext cx="182880" cy="1212248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584448" y="4389234"/>
            <a:ext cx="182880" cy="1344054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326418" y="4638335"/>
            <a:ext cx="182880" cy="1094953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068389" y="4582657"/>
            <a:ext cx="182880" cy="1150631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810359" y="4706403"/>
            <a:ext cx="182880" cy="1026885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552329" y="4817512"/>
            <a:ext cx="182880" cy="915776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294299" y="4780703"/>
            <a:ext cx="182880" cy="952585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036270" y="4862893"/>
            <a:ext cx="182880" cy="870395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778240" y="4504174"/>
            <a:ext cx="182880" cy="1229114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9520210" y="4636438"/>
            <a:ext cx="182880" cy="1096850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10262181" y="4730539"/>
            <a:ext cx="182880" cy="100274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11004151" y="5544789"/>
            <a:ext cx="182880" cy="18849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1449977" y="5598391"/>
            <a:ext cx="741970" cy="-122296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2191947" y="5476095"/>
            <a:ext cx="741970" cy="-51421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2933918" y="5424673"/>
            <a:ext cx="741970" cy="4860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3675888" y="5429533"/>
            <a:ext cx="741970" cy="-16711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4417858" y="5412823"/>
            <a:ext cx="741970" cy="37404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5159829" y="5450226"/>
            <a:ext cx="741970" cy="26312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5901799" y="5476538"/>
            <a:ext cx="741970" cy="700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6643769" y="5477238"/>
            <a:ext cx="741970" cy="8984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7385739" y="5486222"/>
            <a:ext cx="741970" cy="-2556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8127710" y="5483666"/>
            <a:ext cx="741970" cy="-46986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8869680" y="5436680"/>
            <a:ext cx="741970" cy="-3891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9611650" y="5432789"/>
            <a:ext cx="741970" cy="-13282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10353621" y="5419507"/>
            <a:ext cx="741970" cy="267261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1427117" y="5575531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2169087" y="5453235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2911058" y="5401813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3653028" y="5406673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4394998" y="5389963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5136969" y="5427366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5878939" y="5453678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6620909" y="5454378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7362879" y="5463362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8104850" y="5460806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8846820" y="5413819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9588790" y="5409929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10330761" y="5396647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11072731" y="5663908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1449977" y="5618366"/>
            <a:ext cx="741970" cy="-102344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2191947" y="5516022"/>
            <a:ext cx="741970" cy="2528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2933918" y="5518550"/>
            <a:ext cx="741970" cy="-22330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3675888" y="5496221"/>
            <a:ext cx="741970" cy="-21219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4417858" y="5475002"/>
            <a:ext cx="741970" cy="20190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5159829" y="5495192"/>
            <a:ext cx="741970" cy="46950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5901799" y="5542142"/>
            <a:ext cx="741970" cy="-8431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6643769" y="5533711"/>
            <a:ext cx="741970" cy="-8755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7385739" y="5524956"/>
            <a:ext cx="741970" cy="4074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8127710" y="5529029"/>
            <a:ext cx="741970" cy="-5601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8869680" y="5523429"/>
            <a:ext cx="741970" cy="-14676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2" name="Shape 68"/>
          <p:cNvSpPr/>
          <p:nvPr/>
        </p:nvSpPr>
        <p:spPr>
          <a:xfrm>
            <a:off x="9611650" y="5508753"/>
            <a:ext cx="741970" cy="18393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3" name="Shape 69"/>
          <p:cNvSpPr/>
          <p:nvPr/>
        </p:nvSpPr>
        <p:spPr>
          <a:xfrm>
            <a:off x="10353621" y="5527146"/>
            <a:ext cx="741970" cy="162471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1427117" y="5595506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2169087" y="5493162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>
            <a:off x="2911058" y="5495690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3653028" y="5473361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4394998" y="5452142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5136969" y="5472332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0" name="Shape 76"/>
          <p:cNvSpPr/>
          <p:nvPr/>
        </p:nvSpPr>
        <p:spPr>
          <a:xfrm>
            <a:off x="5878939" y="5519282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6620909" y="5510851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7362879" y="5502096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3" name="Shape 79"/>
          <p:cNvSpPr/>
          <p:nvPr/>
        </p:nvSpPr>
        <p:spPr>
          <a:xfrm>
            <a:off x="8104850" y="5506169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4" name="Shape 80"/>
          <p:cNvSpPr/>
          <p:nvPr/>
        </p:nvSpPr>
        <p:spPr>
          <a:xfrm>
            <a:off x="8846820" y="5500569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9588790" y="5485893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>
            <a:off x="10330761" y="5504286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7" name="Shape 83"/>
          <p:cNvSpPr/>
          <p:nvPr/>
        </p:nvSpPr>
        <p:spPr>
          <a:xfrm>
            <a:off x="11072731" y="5666756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8" name="Shape 84"/>
          <p:cNvSpPr/>
          <p:nvPr/>
        </p:nvSpPr>
        <p:spPr>
          <a:xfrm>
            <a:off x="1449977" y="5678127"/>
            <a:ext cx="741970" cy="-24053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89" name="Shape 85"/>
          <p:cNvSpPr/>
          <p:nvPr/>
        </p:nvSpPr>
        <p:spPr>
          <a:xfrm>
            <a:off x="2191947" y="5654074"/>
            <a:ext cx="741970" cy="1495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0" name="Shape 86"/>
          <p:cNvSpPr/>
          <p:nvPr/>
        </p:nvSpPr>
        <p:spPr>
          <a:xfrm>
            <a:off x="2933918" y="5655569"/>
            <a:ext cx="741970" cy="9903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1" name="Shape 87"/>
          <p:cNvSpPr/>
          <p:nvPr/>
        </p:nvSpPr>
        <p:spPr>
          <a:xfrm>
            <a:off x="3675888" y="5665472"/>
            <a:ext cx="741970" cy="-3904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2" name="Shape 88"/>
          <p:cNvSpPr/>
          <p:nvPr/>
        </p:nvSpPr>
        <p:spPr>
          <a:xfrm>
            <a:off x="4417858" y="5661567"/>
            <a:ext cx="741970" cy="-16372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3" name="Shape 89"/>
          <p:cNvSpPr/>
          <p:nvPr/>
        </p:nvSpPr>
        <p:spPr>
          <a:xfrm>
            <a:off x="5159829" y="5645195"/>
            <a:ext cx="741970" cy="-16825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4" name="Shape 90"/>
          <p:cNvSpPr/>
          <p:nvPr/>
        </p:nvSpPr>
        <p:spPr>
          <a:xfrm>
            <a:off x="5901799" y="5628370"/>
            <a:ext cx="741970" cy="-17076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5" name="Shape 91"/>
          <p:cNvSpPr/>
          <p:nvPr/>
        </p:nvSpPr>
        <p:spPr>
          <a:xfrm>
            <a:off x="6643769" y="5611293"/>
            <a:ext cx="741970" cy="31149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6" name="Shape 92"/>
          <p:cNvSpPr/>
          <p:nvPr/>
        </p:nvSpPr>
        <p:spPr>
          <a:xfrm>
            <a:off x="7385739" y="5642442"/>
            <a:ext cx="741970" cy="2085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7" name="Shape 93"/>
          <p:cNvSpPr/>
          <p:nvPr/>
        </p:nvSpPr>
        <p:spPr>
          <a:xfrm>
            <a:off x="8127710" y="5644527"/>
            <a:ext cx="741970" cy="-14324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8" name="Shape 94"/>
          <p:cNvSpPr/>
          <p:nvPr/>
        </p:nvSpPr>
        <p:spPr>
          <a:xfrm>
            <a:off x="8869680" y="5630203"/>
            <a:ext cx="741970" cy="11019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9" name="Shape 95"/>
          <p:cNvSpPr/>
          <p:nvPr/>
        </p:nvSpPr>
        <p:spPr>
          <a:xfrm>
            <a:off x="9611650" y="5641222"/>
            <a:ext cx="741970" cy="-2990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00" name="Shape 96"/>
          <p:cNvSpPr/>
          <p:nvPr/>
        </p:nvSpPr>
        <p:spPr>
          <a:xfrm>
            <a:off x="10353621" y="5638232"/>
            <a:ext cx="741970" cy="79658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01" name="Shape 97"/>
          <p:cNvSpPr/>
          <p:nvPr/>
        </p:nvSpPr>
        <p:spPr>
          <a:xfrm>
            <a:off x="1427117" y="5655267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2" name="Shape 98"/>
          <p:cNvSpPr/>
          <p:nvPr/>
        </p:nvSpPr>
        <p:spPr>
          <a:xfrm>
            <a:off x="2169087" y="5631214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3" name="Shape 99"/>
          <p:cNvSpPr/>
          <p:nvPr/>
        </p:nvSpPr>
        <p:spPr>
          <a:xfrm>
            <a:off x="2911058" y="5632709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4" name="Shape 100"/>
          <p:cNvSpPr/>
          <p:nvPr/>
        </p:nvSpPr>
        <p:spPr>
          <a:xfrm>
            <a:off x="3653028" y="5642612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5" name="Shape 101"/>
          <p:cNvSpPr/>
          <p:nvPr/>
        </p:nvSpPr>
        <p:spPr>
          <a:xfrm>
            <a:off x="4394998" y="5638707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6" name="Shape 102"/>
          <p:cNvSpPr/>
          <p:nvPr/>
        </p:nvSpPr>
        <p:spPr>
          <a:xfrm>
            <a:off x="5136969" y="5622335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7" name="Shape 103"/>
          <p:cNvSpPr/>
          <p:nvPr/>
        </p:nvSpPr>
        <p:spPr>
          <a:xfrm>
            <a:off x="5878939" y="5605510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8" name="Shape 104"/>
          <p:cNvSpPr/>
          <p:nvPr/>
        </p:nvSpPr>
        <p:spPr>
          <a:xfrm>
            <a:off x="6620909" y="5588433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9" name="Shape 105"/>
          <p:cNvSpPr/>
          <p:nvPr/>
        </p:nvSpPr>
        <p:spPr>
          <a:xfrm>
            <a:off x="7362879" y="5619582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0" name="Shape 106"/>
          <p:cNvSpPr/>
          <p:nvPr/>
        </p:nvSpPr>
        <p:spPr>
          <a:xfrm>
            <a:off x="8104850" y="5621667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1" name="Shape 107"/>
          <p:cNvSpPr/>
          <p:nvPr/>
        </p:nvSpPr>
        <p:spPr>
          <a:xfrm>
            <a:off x="8846820" y="5607343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2" name="Shape 108"/>
          <p:cNvSpPr/>
          <p:nvPr/>
        </p:nvSpPr>
        <p:spPr>
          <a:xfrm>
            <a:off x="9588790" y="5618362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3" name="Shape 109"/>
          <p:cNvSpPr/>
          <p:nvPr/>
        </p:nvSpPr>
        <p:spPr>
          <a:xfrm>
            <a:off x="10330761" y="5615372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4" name="Shape 110"/>
          <p:cNvSpPr/>
          <p:nvPr/>
        </p:nvSpPr>
        <p:spPr>
          <a:xfrm>
            <a:off x="11072731" y="5695030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5" name="Shape 111"/>
          <p:cNvSpPr/>
          <p:nvPr/>
        </p:nvSpPr>
        <p:spPr>
          <a:xfrm>
            <a:off x="1449977" y="5660173"/>
            <a:ext cx="741970" cy="-48797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16" name="Shape 112"/>
          <p:cNvSpPr/>
          <p:nvPr/>
        </p:nvSpPr>
        <p:spPr>
          <a:xfrm>
            <a:off x="2191947" y="5611376"/>
            <a:ext cx="741970" cy="64895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17" name="Shape 113"/>
          <p:cNvSpPr/>
          <p:nvPr/>
        </p:nvSpPr>
        <p:spPr>
          <a:xfrm>
            <a:off x="2933918" y="5676271"/>
            <a:ext cx="741970" cy="-17127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18" name="Shape 114"/>
          <p:cNvSpPr/>
          <p:nvPr/>
        </p:nvSpPr>
        <p:spPr>
          <a:xfrm>
            <a:off x="3675888" y="5659144"/>
            <a:ext cx="741970" cy="14754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19" name="Shape 115"/>
          <p:cNvSpPr/>
          <p:nvPr/>
        </p:nvSpPr>
        <p:spPr>
          <a:xfrm>
            <a:off x="4417858" y="5673898"/>
            <a:ext cx="741970" cy="3196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0" name="Shape 116"/>
          <p:cNvSpPr/>
          <p:nvPr/>
        </p:nvSpPr>
        <p:spPr>
          <a:xfrm>
            <a:off x="5159829" y="5677094"/>
            <a:ext cx="741970" cy="1399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1" name="Shape 117"/>
          <p:cNvSpPr/>
          <p:nvPr/>
        </p:nvSpPr>
        <p:spPr>
          <a:xfrm>
            <a:off x="5901799" y="5678493"/>
            <a:ext cx="741970" cy="-35332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2" name="Shape 118"/>
          <p:cNvSpPr/>
          <p:nvPr/>
        </p:nvSpPr>
        <p:spPr>
          <a:xfrm>
            <a:off x="6643769" y="5643160"/>
            <a:ext cx="741970" cy="10374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3" name="Shape 119"/>
          <p:cNvSpPr/>
          <p:nvPr/>
        </p:nvSpPr>
        <p:spPr>
          <a:xfrm>
            <a:off x="7385739" y="5653534"/>
            <a:ext cx="741970" cy="16651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4" name="Shape 120"/>
          <p:cNvSpPr/>
          <p:nvPr/>
        </p:nvSpPr>
        <p:spPr>
          <a:xfrm>
            <a:off x="8127710" y="5670185"/>
            <a:ext cx="741970" cy="-2803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5" name="Shape 121"/>
          <p:cNvSpPr/>
          <p:nvPr/>
        </p:nvSpPr>
        <p:spPr>
          <a:xfrm>
            <a:off x="8869680" y="5667383"/>
            <a:ext cx="741970" cy="-9395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6" name="Shape 122"/>
          <p:cNvSpPr/>
          <p:nvPr/>
        </p:nvSpPr>
        <p:spPr>
          <a:xfrm>
            <a:off x="9611650" y="5657987"/>
            <a:ext cx="741970" cy="-4499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7" name="Shape 123"/>
          <p:cNvSpPr/>
          <p:nvPr/>
        </p:nvSpPr>
        <p:spPr>
          <a:xfrm>
            <a:off x="10353621" y="5653488"/>
            <a:ext cx="741970" cy="70907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8" name="Shape 124"/>
          <p:cNvSpPr/>
          <p:nvPr/>
        </p:nvSpPr>
        <p:spPr>
          <a:xfrm>
            <a:off x="1427117" y="5637313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9" name="Shape 125"/>
          <p:cNvSpPr/>
          <p:nvPr/>
        </p:nvSpPr>
        <p:spPr>
          <a:xfrm>
            <a:off x="2169087" y="5588516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0" name="Shape 126"/>
          <p:cNvSpPr/>
          <p:nvPr/>
        </p:nvSpPr>
        <p:spPr>
          <a:xfrm>
            <a:off x="2911058" y="5653411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1" name="Shape 127"/>
          <p:cNvSpPr/>
          <p:nvPr/>
        </p:nvSpPr>
        <p:spPr>
          <a:xfrm>
            <a:off x="3653028" y="5636284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2" name="Shape 128"/>
          <p:cNvSpPr/>
          <p:nvPr/>
        </p:nvSpPr>
        <p:spPr>
          <a:xfrm>
            <a:off x="4394998" y="5651038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3" name="Shape 129"/>
          <p:cNvSpPr/>
          <p:nvPr/>
        </p:nvSpPr>
        <p:spPr>
          <a:xfrm>
            <a:off x="5136969" y="5654234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4" name="Shape 130"/>
          <p:cNvSpPr/>
          <p:nvPr/>
        </p:nvSpPr>
        <p:spPr>
          <a:xfrm>
            <a:off x="5878939" y="5655633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5" name="Shape 131"/>
          <p:cNvSpPr/>
          <p:nvPr/>
        </p:nvSpPr>
        <p:spPr>
          <a:xfrm>
            <a:off x="6620909" y="5620300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6" name="Shape 132"/>
          <p:cNvSpPr/>
          <p:nvPr/>
        </p:nvSpPr>
        <p:spPr>
          <a:xfrm>
            <a:off x="7362879" y="5630674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7" name="Shape 133"/>
          <p:cNvSpPr/>
          <p:nvPr/>
        </p:nvSpPr>
        <p:spPr>
          <a:xfrm>
            <a:off x="8104850" y="5647325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8" name="Shape 134"/>
          <p:cNvSpPr/>
          <p:nvPr/>
        </p:nvSpPr>
        <p:spPr>
          <a:xfrm>
            <a:off x="8846820" y="5644523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9" name="Shape 135"/>
          <p:cNvSpPr/>
          <p:nvPr/>
        </p:nvSpPr>
        <p:spPr>
          <a:xfrm>
            <a:off x="9588790" y="5635127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0" name="Shape 136"/>
          <p:cNvSpPr/>
          <p:nvPr/>
        </p:nvSpPr>
        <p:spPr>
          <a:xfrm>
            <a:off x="10330761" y="5630628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1" name="Shape 137"/>
          <p:cNvSpPr/>
          <p:nvPr/>
        </p:nvSpPr>
        <p:spPr>
          <a:xfrm>
            <a:off x="11072731" y="5701535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2" name="Text 138"/>
          <p:cNvSpPr/>
          <p:nvPr/>
        </p:nvSpPr>
        <p:spPr>
          <a:xfrm>
            <a:off x="1093831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2026-02-16</a:t>
            </a:r>
            <a:endParaRPr lang="en-US" sz="580" dirty="0"/>
          </a:p>
        </p:txBody>
      </p:sp>
      <p:sp>
        <p:nvSpPr>
          <p:cNvPr id="143" name="Text 139"/>
          <p:cNvSpPr/>
          <p:nvPr/>
        </p:nvSpPr>
        <p:spPr>
          <a:xfrm>
            <a:off x="1835802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2026-02-23</a:t>
            </a:r>
            <a:endParaRPr lang="en-US" sz="580" dirty="0"/>
          </a:p>
        </p:txBody>
      </p:sp>
      <p:sp>
        <p:nvSpPr>
          <p:cNvPr id="144" name="Text 140"/>
          <p:cNvSpPr/>
          <p:nvPr/>
        </p:nvSpPr>
        <p:spPr>
          <a:xfrm>
            <a:off x="2577772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2026-03-02</a:t>
            </a:r>
            <a:endParaRPr lang="en-US" sz="580" dirty="0"/>
          </a:p>
        </p:txBody>
      </p:sp>
      <p:sp>
        <p:nvSpPr>
          <p:cNvPr id="145" name="Text 141"/>
          <p:cNvSpPr/>
          <p:nvPr/>
        </p:nvSpPr>
        <p:spPr>
          <a:xfrm>
            <a:off x="3319742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2026-03-09</a:t>
            </a:r>
            <a:endParaRPr lang="en-US" sz="580" dirty="0"/>
          </a:p>
        </p:txBody>
      </p:sp>
      <p:sp>
        <p:nvSpPr>
          <p:cNvPr id="146" name="Text 142"/>
          <p:cNvSpPr/>
          <p:nvPr/>
        </p:nvSpPr>
        <p:spPr>
          <a:xfrm>
            <a:off x="4061713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2026-03-16</a:t>
            </a:r>
            <a:endParaRPr lang="en-US" sz="580" dirty="0"/>
          </a:p>
        </p:txBody>
      </p:sp>
      <p:sp>
        <p:nvSpPr>
          <p:cNvPr id="147" name="Text 143"/>
          <p:cNvSpPr/>
          <p:nvPr/>
        </p:nvSpPr>
        <p:spPr>
          <a:xfrm>
            <a:off x="4803683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2026-03-23</a:t>
            </a:r>
            <a:endParaRPr lang="en-US" sz="580" dirty="0"/>
          </a:p>
        </p:txBody>
      </p:sp>
      <p:sp>
        <p:nvSpPr>
          <p:cNvPr id="148" name="Text 144"/>
          <p:cNvSpPr/>
          <p:nvPr/>
        </p:nvSpPr>
        <p:spPr>
          <a:xfrm>
            <a:off x="5545653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2026-03-30</a:t>
            </a:r>
            <a:endParaRPr lang="en-US" sz="580" dirty="0"/>
          </a:p>
        </p:txBody>
      </p:sp>
      <p:sp>
        <p:nvSpPr>
          <p:cNvPr id="149" name="Text 145"/>
          <p:cNvSpPr/>
          <p:nvPr/>
        </p:nvSpPr>
        <p:spPr>
          <a:xfrm>
            <a:off x="6287623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2026-04-06</a:t>
            </a:r>
            <a:endParaRPr lang="en-US" sz="580" dirty="0"/>
          </a:p>
        </p:txBody>
      </p:sp>
      <p:sp>
        <p:nvSpPr>
          <p:cNvPr id="150" name="Text 146"/>
          <p:cNvSpPr/>
          <p:nvPr/>
        </p:nvSpPr>
        <p:spPr>
          <a:xfrm>
            <a:off x="7029594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2026-04-13</a:t>
            </a:r>
            <a:endParaRPr lang="en-US" sz="580" dirty="0"/>
          </a:p>
        </p:txBody>
      </p:sp>
      <p:sp>
        <p:nvSpPr>
          <p:cNvPr id="151" name="Text 147"/>
          <p:cNvSpPr/>
          <p:nvPr/>
        </p:nvSpPr>
        <p:spPr>
          <a:xfrm>
            <a:off x="7771564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2026-04-20</a:t>
            </a:r>
            <a:endParaRPr lang="en-US" sz="580" dirty="0"/>
          </a:p>
        </p:txBody>
      </p:sp>
      <p:sp>
        <p:nvSpPr>
          <p:cNvPr id="152" name="Text 148"/>
          <p:cNvSpPr/>
          <p:nvPr/>
        </p:nvSpPr>
        <p:spPr>
          <a:xfrm>
            <a:off x="8513534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2026-04-27</a:t>
            </a:r>
            <a:endParaRPr lang="en-US" sz="580" dirty="0"/>
          </a:p>
        </p:txBody>
      </p:sp>
      <p:sp>
        <p:nvSpPr>
          <p:cNvPr id="153" name="Text 149"/>
          <p:cNvSpPr/>
          <p:nvPr/>
        </p:nvSpPr>
        <p:spPr>
          <a:xfrm>
            <a:off x="9255505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2026-05-04</a:t>
            </a:r>
            <a:endParaRPr lang="en-US" sz="580" dirty="0"/>
          </a:p>
        </p:txBody>
      </p:sp>
      <p:sp>
        <p:nvSpPr>
          <p:cNvPr id="154" name="Text 150"/>
          <p:cNvSpPr/>
          <p:nvPr/>
        </p:nvSpPr>
        <p:spPr>
          <a:xfrm>
            <a:off x="9997475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2026-05-11</a:t>
            </a:r>
            <a:endParaRPr lang="en-US" sz="580" dirty="0"/>
          </a:p>
        </p:txBody>
      </p:sp>
      <p:sp>
        <p:nvSpPr>
          <p:cNvPr id="155" name="Text 151"/>
          <p:cNvSpPr/>
          <p:nvPr/>
        </p:nvSpPr>
        <p:spPr>
          <a:xfrm>
            <a:off x="10739445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2026-05-18</a:t>
            </a:r>
            <a:endParaRPr lang="en-US" sz="580" dirty="0"/>
          </a:p>
        </p:txBody>
      </p:sp>
      <p:sp>
        <p:nvSpPr>
          <p:cNvPr id="156" name="Shape 152"/>
          <p:cNvSpPr/>
          <p:nvPr/>
        </p:nvSpPr>
        <p:spPr>
          <a:xfrm>
            <a:off x="3712464" y="6089904"/>
            <a:ext cx="137160" cy="4572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7" name="Text 153"/>
          <p:cNvSpPr/>
          <p:nvPr/>
        </p:nvSpPr>
        <p:spPr>
          <a:xfrm>
            <a:off x="3886200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Site</a:t>
            </a:r>
            <a:endParaRPr lang="en-US" sz="640" dirty="0"/>
          </a:p>
        </p:txBody>
      </p:sp>
      <p:sp>
        <p:nvSpPr>
          <p:cNvPr id="158" name="Shape 154"/>
          <p:cNvSpPr/>
          <p:nvPr/>
        </p:nvSpPr>
        <p:spPr>
          <a:xfrm>
            <a:off x="4736592" y="6117336"/>
            <a:ext cx="146304" cy="0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159" name="Text 155"/>
          <p:cNvSpPr/>
          <p:nvPr/>
        </p:nvSpPr>
        <p:spPr>
          <a:xfrm>
            <a:off x="4910328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1</a:t>
            </a:r>
            <a:endParaRPr lang="en-US" sz="640" dirty="0"/>
          </a:p>
        </p:txBody>
      </p:sp>
      <p:sp>
        <p:nvSpPr>
          <p:cNvPr id="160" name="Shape 156"/>
          <p:cNvSpPr/>
          <p:nvPr/>
        </p:nvSpPr>
        <p:spPr>
          <a:xfrm>
            <a:off x="5760720" y="6117336"/>
            <a:ext cx="146304" cy="0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161" name="Text 157"/>
          <p:cNvSpPr/>
          <p:nvPr/>
        </p:nvSpPr>
        <p:spPr>
          <a:xfrm>
            <a:off x="5934456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2</a:t>
            </a:r>
            <a:endParaRPr lang="en-US" sz="640" dirty="0"/>
          </a:p>
        </p:txBody>
      </p:sp>
      <p:sp>
        <p:nvSpPr>
          <p:cNvPr id="162" name="Shape 158"/>
          <p:cNvSpPr/>
          <p:nvPr/>
        </p:nvSpPr>
        <p:spPr>
          <a:xfrm>
            <a:off x="6784848" y="6117336"/>
            <a:ext cx="146304" cy="0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63" name="Text 159"/>
          <p:cNvSpPr/>
          <p:nvPr/>
        </p:nvSpPr>
        <p:spPr>
          <a:xfrm>
            <a:off x="6958584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3</a:t>
            </a:r>
            <a:endParaRPr lang="en-US" sz="640" dirty="0"/>
          </a:p>
        </p:txBody>
      </p:sp>
      <p:sp>
        <p:nvSpPr>
          <p:cNvPr id="164" name="Shape 160"/>
          <p:cNvSpPr/>
          <p:nvPr/>
        </p:nvSpPr>
        <p:spPr>
          <a:xfrm>
            <a:off x="7808976" y="6117336"/>
            <a:ext cx="146304" cy="0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65" name="Text 161"/>
          <p:cNvSpPr/>
          <p:nvPr/>
        </p:nvSpPr>
        <p:spPr>
          <a:xfrm>
            <a:off x="7982712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4</a:t>
            </a:r>
            <a:endParaRPr lang="en-US" sz="6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Udostępnij w grupie konkurencji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Udział w prowizji wydawcy dla głównego wydawcy i czterech wydawców porównawczych.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13232" y="1645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within competitor group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207008" y="5513832"/>
            <a:ext cx="10058400" cy="0"/>
          </a:xfrm>
          <a:prstGeom prst="line">
            <a:avLst/>
          </a:prstGeom>
          <a:noFill/>
          <a:ln w="12700">
            <a:solidFill>
              <a:srgbClr val="AEB6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7008" y="467944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7008" y="384505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07008" y="301066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07008" y="217627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28216" y="3437870"/>
            <a:ext cx="438912" cy="2075962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18488" y="318183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62%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258568" y="3444545"/>
            <a:ext cx="438912" cy="2069287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48840" y="3188513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62%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22529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Site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3739896" y="4883033"/>
            <a:ext cx="438912" cy="630799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30168" y="4627001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19%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270248" y="4976485"/>
            <a:ext cx="438912" cy="537347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60520" y="4720453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16%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23697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A</a:t>
            </a:r>
            <a:endParaRPr lang="en-US" sz="860" dirty="0"/>
          </a:p>
        </p:txBody>
      </p:sp>
      <p:sp>
        <p:nvSpPr>
          <p:cNvPr id="21" name="Shape 18"/>
          <p:cNvSpPr/>
          <p:nvPr/>
        </p:nvSpPr>
        <p:spPr>
          <a:xfrm>
            <a:off x="5751576" y="5140025"/>
            <a:ext cx="438912" cy="373807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41848" y="4883993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11%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281928" y="5099975"/>
            <a:ext cx="438912" cy="413857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72200" y="4843943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12%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24865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B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7763256" y="5397017"/>
            <a:ext cx="438912" cy="116815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53528" y="5140985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4%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8293608" y="5340279"/>
            <a:ext cx="438912" cy="173553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83880" y="5084247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726033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C</a:t>
            </a:r>
            <a:endParaRPr lang="en-US" sz="860" dirty="0"/>
          </a:p>
        </p:txBody>
      </p:sp>
      <p:sp>
        <p:nvSpPr>
          <p:cNvPr id="31" name="Shape 28"/>
          <p:cNvSpPr/>
          <p:nvPr/>
        </p:nvSpPr>
        <p:spPr>
          <a:xfrm>
            <a:off x="9774936" y="5373654"/>
            <a:ext cx="438912" cy="140178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5208" y="511762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4%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10305288" y="5370317"/>
            <a:ext cx="438912" cy="143515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195560" y="5114285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4%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927201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D</a:t>
            </a:r>
            <a:endParaRPr lang="en-US" sz="860" dirty="0"/>
          </a:p>
        </p:txBody>
      </p:sp>
      <p:sp>
        <p:nvSpPr>
          <p:cNvPr id="36" name="Shape 33"/>
          <p:cNvSpPr/>
          <p:nvPr/>
        </p:nvSpPr>
        <p:spPr>
          <a:xfrm>
            <a:off x="4608576" y="5884164"/>
            <a:ext cx="137160" cy="64008"/>
          </a:xfrm>
          <a:prstGeom prst="rect">
            <a:avLst/>
          </a:prstGeom>
          <a:solidFill>
            <a:srgbClr val="7CC8DE"/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791456" y="58430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of Site Group PP</a:t>
            </a:r>
            <a:endParaRPr lang="en-US" sz="760" dirty="0"/>
          </a:p>
        </p:txBody>
      </p:sp>
      <p:sp>
        <p:nvSpPr>
          <p:cNvPr id="38" name="Shape 35"/>
          <p:cNvSpPr/>
          <p:nvPr/>
        </p:nvSpPr>
        <p:spPr>
          <a:xfrm>
            <a:off x="6236208" y="5884164"/>
            <a:ext cx="137160" cy="64008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19088" y="58430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of Site Group</a:t>
            </a:r>
            <a:endParaRPr lang="en-US" sz="7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Najlepsze wyniki konkurencji w programach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Udział prowizji wydawcy według programu u głównego wydawcy i czterech wydawców porównawczych.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00784"/>
            <a:ext cx="11430000" cy="458388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92224"/>
          <a:ext cx="11210544" cy="4437583"/>
        </p:xfrm>
        <a:graphic>
          <a:graphicData uri="http://schemas.openxmlformats.org/drawingml/2006/table">
            <a:tbl>
              <a:tblPr/>
              <a:tblGrid>
                <a:gridCol w="3993185"/>
                <a:gridCol w="1688897"/>
                <a:gridCol w="1382573"/>
                <a:gridCol w="1382573"/>
                <a:gridCol w="1382573"/>
                <a:gridCol w="1382573"/>
              </a:tblGrid>
              <a:tr h="4325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Nazwa programu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topcashback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komp. 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komp. 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komp. 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komp. 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getyourguide.co.uk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Zachowaj pewność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Sklep spożywczy Morrisons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Sixt Rent a Car Wielka Brytania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Ubezpieczenie podróżne Avanti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Linia ściany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Bezpośrednie promy w Wielkiej Brytanii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Ubezpiecz iGo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Disneyland Paryż GB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eFlorist Wielka Brytania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Najważniejsze wskaźniki KPI i implikacje biznesowe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 liczby oznaczają dla biznesu – kluczowe sygnały i kontekst.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Zmiana współczynnika konwersji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współczynnik konwersji wzrósł o +9,7% (23,4% do 25,6%). Liczba konwersji spadła o -5,6% (-5544), co pokazuje, jak skutecznie programy przekształcały ruch w wyniki.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Liczba konwersji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łączna liczba konwersji spadła o -5,6% (-5544). Największy spadek wkładu programu wymaga potwierdzenia w tabelach zmian.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Wartość zamówienia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8130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Całkowita wartość zamówienia spadła o -35,4% (105 053 638 zł do 67 863 331 zł). Generowanie wartości zmieniało się wraz z liczbą konwersji i wynikami zarobków.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4439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Prowizja wydawcy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7274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Prowizja wydawcy spadła o -26,8% (4 116 736 zł do 3 014 749 zł). Prowizja pozostaje głównym składnikiem zarobkowym programu.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358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Całkowite zarobki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641848"/>
            <a:ext cx="10652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Całkowite zarobki spadły o -27,9% (4 275 496 zł do 3 082 877 zł). Wkład portfela cyfrowego wyniósł 68 128 zł (-57,1%), więc całkowite zarobki obejmują prowizję i dochód z portfela.</a:t>
            </a:r>
            <a:endParaRPr lang="en-US" sz="111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Ryzyka i zależności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99048" y="1783080"/>
            <a:ext cx="0" cy="4434840"/>
          </a:xfrm>
          <a:prstGeom prst="line">
            <a:avLst/>
          </a:prstGeom>
          <a:noFill/>
          <a:ln w="12700">
            <a:solidFill>
              <a:srgbClr val="FFFFFF">
                <a:alpha val="92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13232" y="4000500"/>
            <a:ext cx="10771632" cy="0"/>
          </a:xfrm>
          <a:prstGeom prst="line">
            <a:avLst/>
          </a:prstGeom>
          <a:noFill/>
          <a:ln w="12700">
            <a:solidFill>
              <a:srgbClr val="FFFFFF">
                <a:alpha val="92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87552" y="2075688"/>
            <a:ext cx="4837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Niski - stężenie wartości zamówienia</a:t>
            </a:r>
            <a:endParaRPr lang="en-US" sz="1440" dirty="0"/>
          </a:p>
        </p:txBody>
      </p:sp>
      <p:sp>
        <p:nvSpPr>
          <p:cNvPr id="7" name="Text 4"/>
          <p:cNvSpPr/>
          <p:nvPr/>
        </p:nvSpPr>
        <p:spPr>
          <a:xfrm>
            <a:off x="987552" y="2532888"/>
            <a:ext cx="4782312" cy="1248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Morrisons Grocery pokrywa 35,5% bieżącej wartości zamówienia (24 087 575 zł z 67 863 331 zł). Oznacza to QBR…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373368" y="2075688"/>
            <a:ext cx="4837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Średni — zależność od konwersji</a:t>
            </a:r>
            <a:endParaRPr lang="en-US" sz="1440" dirty="0"/>
          </a:p>
        </p:txBody>
      </p:sp>
      <p:sp>
        <p:nvSpPr>
          <p:cNvPr id="9" name="Text 6"/>
          <p:cNvSpPr/>
          <p:nvPr/>
        </p:nvSpPr>
        <p:spPr>
          <a:xfrm>
            <a:off x="6373368" y="2532888"/>
            <a:ext cx="4782312" cy="1248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Morrisons Grocery generuje 57,3% bieżących konwersji (53 403 z 93 185). Oznacza to, że wydajność QBR jest bardzo…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87552" y="4293108"/>
            <a:ext cx="4837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Średnie – koncentracja portfela cyfrowego</a:t>
            </a:r>
            <a:endParaRPr lang="en-US" sz="1440" dirty="0"/>
          </a:p>
        </p:txBody>
      </p:sp>
      <p:sp>
        <p:nvSpPr>
          <p:cNvPr id="11" name="Text 8"/>
          <p:cNvSpPr/>
          <p:nvPr/>
        </p:nvSpPr>
        <p:spPr>
          <a:xfrm>
            <a:off x="987552" y="4750308"/>
            <a:ext cx="4782312" cy="1248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MoneyFarm wnosi 51,5% obecnego portfela cyfrowego (35 065 zł z 68 128 zł). Oznacza to, że wydajność QBR…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373368" y="4293108"/>
            <a:ext cx="4837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- Travel Republic (zamknięte 17</a:t>
            </a:r>
            <a:endParaRPr lang="en-US" sz="1440" dirty="0"/>
          </a:p>
        </p:txBody>
      </p:sp>
      <p:sp>
        <p:nvSpPr>
          <p:cNvPr id="13" name="Text 10"/>
          <p:cNvSpPr/>
          <p:nvPr/>
        </p:nvSpPr>
        <p:spPr>
          <a:xfrm>
            <a:off x="6373368" y="4750308"/>
            <a:ext cx="4782312" cy="1248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09.2025) Pogorszenie rok do roku. Travel Republic (zamknięte 17.09.2025) spadło o 1119 konwersji (-100,0%),…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73152"/>
            <a:ext cx="6309360" cy="6309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Topcashback - Dziękuję.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640080" y="2331720"/>
            <a:ext cx="2578608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2331720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Pytania?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topcashback</dc:title>
  <dc:subject>Quarterly business review</dc:subject>
  <dc:creator>QBR PPTX Service</dc:creator>
  <cp:lastModifiedBy>QBR PPTX Service</cp:lastModifiedBy>
  <cp:revision>1</cp:revision>
  <dcterms:created xsi:type="dcterms:W3CDTF">2026-05-19T10:35:08Z</dcterms:created>
  <dcterms:modified xsi:type="dcterms:W3CDTF">2026-05-19T10:35:08Z</dcterms:modified>
</cp:coreProperties>
</file>