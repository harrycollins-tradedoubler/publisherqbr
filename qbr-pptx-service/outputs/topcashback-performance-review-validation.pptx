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792" y="621792"/>
            <a:ext cx="105613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topcashback performance review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621792" y="1828800"/>
            <a:ext cx="10378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focused year-over-year review of topcashback publisher performance, conversion dynamics, earnings and strategic priorities to drive growth and optimise outcomes.</a:t>
            </a:r>
            <a:endParaRPr lang="en-US" sz="1220" dirty="0"/>
          </a:p>
        </p:txBody>
      </p:sp>
      <p:sp>
        <p:nvSpPr>
          <p:cNvPr id="5" name="Shape 2"/>
          <p:cNvSpPr/>
          <p:nvPr/>
        </p:nvSpPr>
        <p:spPr>
          <a:xfrm>
            <a:off x="621792" y="2743200"/>
            <a:ext cx="1170432" cy="329184"/>
          </a:xfrm>
          <a:prstGeom prst="roundRect">
            <a:avLst/>
          </a:prstGeom>
          <a:solidFill>
            <a:srgbClr val="F3F4F6">
              <a:alpha val="7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58952" y="28163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QBR Report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1883664" y="2743200"/>
            <a:ext cx="2423160" cy="329184"/>
          </a:xfrm>
          <a:prstGeom prst="roundRect">
            <a:avLst/>
          </a:prstGeom>
          <a:solidFill>
            <a:srgbClr val="2F6FF2">
              <a:alpha val="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993392" y="281635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0D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Jan 2026 – Apr 2026 Analysis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66928" y="3858768"/>
            <a:ext cx="196596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td</a:t>
            </a:r>
            <a:endParaRPr lang="en-US" sz="11800" dirty="0"/>
          </a:p>
        </p:txBody>
      </p:sp>
      <p:sp>
        <p:nvSpPr>
          <p:cNvPr id="10" name="Text 7"/>
          <p:cNvSpPr/>
          <p:nvPr/>
        </p:nvSpPr>
        <p:spPr>
          <a:xfrm>
            <a:off x="694944" y="587959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tradedoubler</a:t>
            </a:r>
            <a:endParaRPr lang="en-US" sz="10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Period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Selected period from the QBR request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640080" y="2057400"/>
            <a:ext cx="10927080" cy="1920240"/>
          </a:xfrm>
          <a:prstGeom prst="roundRect">
            <a:avLst/>
          </a:prstGeom>
          <a:solidFill>
            <a:srgbClr val="AFC4F5">
              <a:alpha val="90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8680" y="2514600"/>
            <a:ext cx="10378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Period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68680" y="2926080"/>
            <a:ext cx="10378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 January 2026 – 15 April 2026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Performance: Executive Summary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640080" y="1965960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40080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139696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267712" y="18470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☰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41248" y="242316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41248" y="275234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125 vs 100 PY - </a:t>
            </a:r>
            <a:pPr indent="0" marL="0">
              <a:buNone/>
            </a:pPr>
            <a:r>
              <a:rPr lang="en-US" sz="10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+25.0%</a:t>
            </a:r>
            <a:endParaRPr lang="en-US" sz="1020" dirty="0"/>
          </a:p>
        </p:txBody>
      </p:sp>
      <p:sp>
        <p:nvSpPr>
          <p:cNvPr id="10" name="Shape 7"/>
          <p:cNvSpPr/>
          <p:nvPr/>
        </p:nvSpPr>
        <p:spPr>
          <a:xfrm>
            <a:off x="4352544" y="1965960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352544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852160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80176" y="18470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53712" y="242316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Order Value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553712" y="275234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GBP 12,500 vs GBP 10,000 PY - </a:t>
            </a:r>
            <a:pPr indent="0" marL="0">
              <a:buNone/>
            </a:pPr>
            <a:r>
              <a:rPr lang="en-US" sz="10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+25.0%</a:t>
            </a:r>
            <a:endParaRPr lang="en-US" sz="1020" dirty="0"/>
          </a:p>
        </p:txBody>
      </p:sp>
      <p:sp>
        <p:nvSpPr>
          <p:cNvPr id="16" name="Shape 13"/>
          <p:cNvSpPr/>
          <p:nvPr/>
        </p:nvSpPr>
        <p:spPr>
          <a:xfrm>
            <a:off x="8065008" y="1965960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065008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564624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692640" y="18470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£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266176" y="242316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8266176" y="275234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GBP 900 vs GBP 800 PY - </a:t>
            </a:r>
            <a:pPr indent="0" marL="0">
              <a:buNone/>
            </a:pPr>
            <a:r>
              <a:rPr lang="en-US" sz="10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+12.5%</a:t>
            </a:r>
            <a:endParaRPr lang="en-US" sz="1020" dirty="0"/>
          </a:p>
        </p:txBody>
      </p:sp>
      <p:sp>
        <p:nvSpPr>
          <p:cNvPr id="22" name="Shape 19"/>
          <p:cNvSpPr/>
          <p:nvPr/>
        </p:nvSpPr>
        <p:spPr>
          <a:xfrm>
            <a:off x="2496312" y="3758184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496312" y="3758184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995928" y="3511296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123944" y="363931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2697480" y="4215384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 Rate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2697480" y="4544568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5.0% vs 4.0% PY - </a:t>
            </a:r>
            <a:pPr indent="0" marL="0">
              <a:buNone/>
            </a:pPr>
            <a:r>
              <a:rPr lang="en-US" sz="10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+25.0%</a:t>
            </a:r>
            <a:endParaRPr lang="en-US" sz="1020" dirty="0"/>
          </a:p>
        </p:txBody>
      </p:sp>
      <p:sp>
        <p:nvSpPr>
          <p:cNvPr id="28" name="Shape 25"/>
          <p:cNvSpPr/>
          <p:nvPr/>
        </p:nvSpPr>
        <p:spPr>
          <a:xfrm>
            <a:off x="6208776" y="3758184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208776" y="3758184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708392" y="3511296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836408" y="363931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£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6409944" y="4215384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6409944" y="4544568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GBP 650 vs GBP 700 PY - </a:t>
            </a:r>
            <a:pPr indent="0" marL="0">
              <a:buNone/>
            </a:pPr>
            <a:r>
              <a:rPr lang="en-US" sz="1020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-7.1%</a:t>
            </a:r>
            <a:endParaRPr lang="en-US" sz="1020" dirty="0"/>
          </a:p>
        </p:txBody>
      </p:sp>
      <p:sp>
        <p:nvSpPr>
          <p:cNvPr id="34" name="Text 31"/>
          <p:cNvSpPr/>
          <p:nvPr/>
        </p:nvSpPr>
        <p:spPr>
          <a:xfrm>
            <a:off x="749808" y="536752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topcashback performance was mixed in Jan 2026 – Apr 2026. Conversions moved +25.0% to 125 and conversion rate moved +25.0% to 5.0%. Publisher commission decreased -7.1% to GBP 650, while digital wallet earnings increased +150.0% to GBP 250. Total earnings ended at GBP 900 (+12.5%) and total order value increased +25.0% to GBP 12,500.</a:t>
            </a:r>
            <a:endParaRPr lang="en-US" sz="11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Summary Table: Conversions &amp; Earnings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Unified KPI breakdown vs prior year.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27632"/>
            <a:ext cx="11430000" cy="4578401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19072"/>
          <a:ext cx="11210544" cy="4432097"/>
        </p:xfrm>
        <a:graphic>
          <a:graphicData uri="http://schemas.openxmlformats.org/drawingml/2006/table">
            <a:tbl>
              <a:tblPr/>
              <a:tblGrid>
                <a:gridCol w="2242109"/>
                <a:gridCol w="2242109"/>
                <a:gridCol w="2242109"/>
                <a:gridCol w="2242109"/>
                <a:gridCol w="2242109"/>
              </a:tblGrid>
              <a:tr h="63002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Current Period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Prior Year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Change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% Variance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54315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+25.0%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54315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 Rate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+25.0%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54315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Order Value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GBP 12,500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GBP 10,000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GBP 2,500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+25.0%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54315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GBP 650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GBP 700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GBP -50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-7.1%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54315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Digital Wallet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GBP 250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GBP 100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GBP 150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+150.0%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54315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Earnings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GBP 900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GBP 800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GBP 100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+12.5%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54315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Active Programs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2C94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2C94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75488" y="6260897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 = Publisher Commission + Digital Wallet. Conversion rate uses the source API's conversion-rate basis.</a:t>
            </a:r>
            <a:endParaRPr lang="en-US" sz="10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Program-Level Breakdown: Volume &amp; Conversion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Per-program view for selected request scope.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27632"/>
            <a:ext cx="11430000" cy="1568196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19072"/>
          <a:ext cx="11210544" cy="1421892"/>
        </p:xfrm>
        <a:graphic>
          <a:graphicData uri="http://schemas.openxmlformats.org/drawingml/2006/table">
            <a:tbl>
              <a:tblPr/>
              <a:tblGrid>
                <a:gridCol w="1245616"/>
                <a:gridCol w="1245616"/>
                <a:gridCol w="1245616"/>
                <a:gridCol w="1245616"/>
                <a:gridCol w="1245616"/>
                <a:gridCol w="1245616"/>
                <a:gridCol w="1245616"/>
                <a:gridCol w="1245616"/>
                <a:gridCol w="1245616"/>
              </a:tblGrid>
              <a:tr h="7635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ID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Market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Clicks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Impressions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Sales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 Rate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AOV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Order Value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YoY Change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Highlights &amp; Business Implications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numbers mean for the business - key signals and context.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31520" y="17007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Conversion Rate Movement</a:t>
            </a:r>
            <a:endParaRPr lang="en-US" sz="1320" dirty="0"/>
          </a:p>
        </p:txBody>
      </p:sp>
      <p:sp>
        <p:nvSpPr>
          <p:cNvPr id="6" name="Text 3"/>
          <p:cNvSpPr/>
          <p:nvPr/>
        </p:nvSpPr>
        <p:spPr>
          <a:xfrm>
            <a:off x="960120" y="19842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 rate increased +25.0% (4.0% to 5.0%). Conversions increased +25.0% (25), showing how efficiently the publisher converted traffic into outcomes.</a:t>
            </a:r>
            <a:endParaRPr lang="en-US" sz="1110" dirty="0"/>
          </a:p>
        </p:txBody>
      </p:sp>
      <p:sp>
        <p:nvSpPr>
          <p:cNvPr id="7" name="Text 4"/>
          <p:cNvSpPr/>
          <p:nvPr/>
        </p:nvSpPr>
        <p:spPr>
          <a:xfrm>
            <a:off x="731520" y="26151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Conversion Volume</a:t>
            </a:r>
            <a:endParaRPr lang="en-US" sz="1320" dirty="0"/>
          </a:p>
        </p:txBody>
      </p:sp>
      <p:sp>
        <p:nvSpPr>
          <p:cNvPr id="8" name="Text 5"/>
          <p:cNvSpPr/>
          <p:nvPr/>
        </p:nvSpPr>
        <p:spPr>
          <a:xfrm>
            <a:off x="960120" y="28986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conversions increased +25.0% (25). Largest declining publisher contribution requires confirmation from mover tables.</a:t>
            </a:r>
            <a:endParaRPr lang="en-US" sz="1110" dirty="0"/>
          </a:p>
        </p:txBody>
      </p:sp>
      <p:sp>
        <p:nvSpPr>
          <p:cNvPr id="9" name="Text 6"/>
          <p:cNvSpPr/>
          <p:nvPr/>
        </p:nvSpPr>
        <p:spPr>
          <a:xfrm>
            <a:off x="731520" y="35295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Order Value</a:t>
            </a:r>
            <a:endParaRPr lang="en-US" sz="1320" dirty="0"/>
          </a:p>
        </p:txBody>
      </p:sp>
      <p:sp>
        <p:nvSpPr>
          <p:cNvPr id="10" name="Text 7"/>
          <p:cNvSpPr/>
          <p:nvPr/>
        </p:nvSpPr>
        <p:spPr>
          <a:xfrm>
            <a:off x="960120" y="38130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order value increased +25.0% (GBP 10,000 to GBP 12,500). Value generation moved alongside conversion volume and earnings performance.</a:t>
            </a:r>
            <a:endParaRPr lang="en-US" sz="1110" dirty="0"/>
          </a:p>
        </p:txBody>
      </p:sp>
      <p:sp>
        <p:nvSpPr>
          <p:cNvPr id="11" name="Text 8"/>
          <p:cNvSpPr/>
          <p:nvPr/>
        </p:nvSpPr>
        <p:spPr>
          <a:xfrm>
            <a:off x="731520" y="44439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Publisher Commission</a:t>
            </a:r>
            <a:endParaRPr lang="en-US" sz="1320" dirty="0"/>
          </a:p>
        </p:txBody>
      </p:sp>
      <p:sp>
        <p:nvSpPr>
          <p:cNvPr id="12" name="Text 9"/>
          <p:cNvSpPr/>
          <p:nvPr/>
        </p:nvSpPr>
        <p:spPr>
          <a:xfrm>
            <a:off x="960120" y="47274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 decreased -7.1% (GBP 700 to GBP 650). Commission remains the core publisher earning component.</a:t>
            </a:r>
            <a:endParaRPr lang="en-US" sz="1110" dirty="0"/>
          </a:p>
        </p:txBody>
      </p:sp>
      <p:sp>
        <p:nvSpPr>
          <p:cNvPr id="13" name="Text 10"/>
          <p:cNvSpPr/>
          <p:nvPr/>
        </p:nvSpPr>
        <p:spPr>
          <a:xfrm>
            <a:off x="731520" y="53583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Total Earnings</a:t>
            </a:r>
            <a:endParaRPr lang="en-US" sz="1320" dirty="0"/>
          </a:p>
        </p:txBody>
      </p:sp>
      <p:sp>
        <p:nvSpPr>
          <p:cNvPr id="14" name="Text 11"/>
          <p:cNvSpPr/>
          <p:nvPr/>
        </p:nvSpPr>
        <p:spPr>
          <a:xfrm>
            <a:off x="960120" y="56418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 increased +12.5% (GBP 800 to GBP 900). Digital wallet contribution was GBP 250 (+150.0%), so total earnings combine commission and wallet income.</a:t>
            </a:r>
            <a:endParaRPr lang="en-US" sz="111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</a:t>
            </a:r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 Overview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High-level summary of publisher activity, segmentation and YoY movement.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320040" y="1865376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Activity by Segment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715000" y="1865376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Observations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724144" y="2340864"/>
            <a:ext cx="4773168" cy="43342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Driver not confirmed from available segment and publisher data.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No stable top publisher concentration signal available in current extract.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New publisher contribution could not be quantified from available data.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Review source publisher tables to confirm movement drivers.</a:t>
            </a:r>
            <a:endParaRPr lang="en-US" sz="11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Segment Performance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12064" y="1408176"/>
            <a:ext cx="5349240" cy="1737360"/>
          </a:xfrm>
          <a:prstGeom prst="roundRect">
            <a:avLst>
              <a:gd name="adj" fmla="val 2195"/>
            </a:avLst>
          </a:prstGeom>
          <a:solidFill>
            <a:srgbClr val="F3F4F6"/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13232" y="1536192"/>
            <a:ext cx="5020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Segment-level trend not available from current data extract.</a:t>
            </a:r>
            <a:endParaRPr lang="en-US" sz="1240" dirty="0"/>
          </a:p>
        </p:txBody>
      </p:sp>
      <p:sp>
        <p:nvSpPr>
          <p:cNvPr id="6" name="Text 3"/>
          <p:cNvSpPr/>
          <p:nvPr/>
        </p:nvSpPr>
        <p:spPr>
          <a:xfrm>
            <a:off x="713232" y="1847088"/>
            <a:ext cx="502005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Detailed movement not available from this extract.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236208" y="1408176"/>
            <a:ext cx="5349240" cy="1737360"/>
          </a:xfrm>
          <a:prstGeom prst="roundRect">
            <a:avLst>
              <a:gd name="adj" fmla="val 2195"/>
            </a:avLst>
          </a:prstGeom>
          <a:solidFill>
            <a:srgbClr val="F3F4F6"/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37376" y="1536192"/>
            <a:ext cx="5020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segment table to confirm YoY movement drivers before actioning.</a:t>
            </a:r>
            <a:endParaRPr lang="en-US" sz="1240" dirty="0"/>
          </a:p>
        </p:txBody>
      </p:sp>
      <p:sp>
        <p:nvSpPr>
          <p:cNvPr id="9" name="Text 6"/>
          <p:cNvSpPr/>
          <p:nvPr/>
        </p:nvSpPr>
        <p:spPr>
          <a:xfrm>
            <a:off x="6437376" y="1847088"/>
            <a:ext cx="502005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Detailed movement not available from this extract.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12064" y="3255264"/>
            <a:ext cx="5349240" cy="1737360"/>
          </a:xfrm>
          <a:prstGeom prst="roundRect">
            <a:avLst>
              <a:gd name="adj" fmla="val 2195"/>
            </a:avLst>
          </a:prstGeom>
          <a:solidFill>
            <a:srgbClr val="F3F4F6"/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13232" y="3383280"/>
            <a:ext cx="5020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Cross-check top publishers per segment for concentration effects.</a:t>
            </a:r>
            <a:endParaRPr lang="en-US" sz="1240" dirty="0"/>
          </a:p>
        </p:txBody>
      </p:sp>
      <p:sp>
        <p:nvSpPr>
          <p:cNvPr id="12" name="Text 9"/>
          <p:cNvSpPr/>
          <p:nvPr/>
        </p:nvSpPr>
        <p:spPr>
          <a:xfrm>
            <a:off x="713232" y="3694176"/>
            <a:ext cx="502005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Detailed movement not available from this extract.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236208" y="3255264"/>
            <a:ext cx="5349240" cy="1737360"/>
          </a:xfrm>
          <a:prstGeom prst="roundRect">
            <a:avLst>
              <a:gd name="adj" fmla="val 2195"/>
            </a:avLst>
          </a:prstGeom>
          <a:solidFill>
            <a:srgbClr val="F3F4F6"/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37376" y="3383280"/>
            <a:ext cx="5020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Segment signal not available.</a:t>
            </a:r>
            <a:endParaRPr lang="en-US" sz="1240" dirty="0"/>
          </a:p>
        </p:txBody>
      </p:sp>
      <p:sp>
        <p:nvSpPr>
          <p:cNvPr id="15" name="Text 12"/>
          <p:cNvSpPr/>
          <p:nvPr/>
        </p:nvSpPr>
        <p:spPr>
          <a:xfrm>
            <a:off x="6437376" y="3694176"/>
            <a:ext cx="502005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Detailed movement not available from this extract.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12064" y="5102352"/>
            <a:ext cx="11073384" cy="1572768"/>
          </a:xfrm>
          <a:prstGeom prst="roundRect">
            <a:avLst>
              <a:gd name="adj" fmla="val 2424"/>
            </a:avLst>
          </a:prstGeom>
          <a:solidFill>
            <a:srgbClr val="F3F4F6"/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13232" y="5230368"/>
            <a:ext cx="10744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Segment signal not available.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13232" y="5541264"/>
            <a:ext cx="1074420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Detailed movement not available from this extract.</a:t>
            </a:r>
            <a:endParaRPr lang="en-US" sz="9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Movers &amp; Shakers: Sales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Largest YoY sales movers and decliners.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83080"/>
            <a:ext cx="11430000" cy="3543300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874520"/>
          <a:ext cx="11210544" cy="3396996"/>
        </p:xfrm>
        <a:graphic>
          <a:graphicData uri="http://schemas.openxmlformats.org/drawingml/2006/table">
            <a:tbl>
              <a:tblPr/>
              <a:tblGrid>
                <a:gridCol w="3567074"/>
                <a:gridCol w="1834286"/>
                <a:gridCol w="2140610"/>
                <a:gridCol w="2140610"/>
                <a:gridCol w="1528877"/>
              </a:tblGrid>
              <a:tr h="7635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Site ID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Current Sales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YoY Change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Top 5 Up (by YoY %)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 qualifying publishers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Top 5 Down (by YoY %)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 qualifying publishers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Movers &amp; Shakers: Order Value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Largest YoY order value movers and decliners.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83080"/>
            <a:ext cx="11430000" cy="3543300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874520"/>
          <a:ext cx="11210544" cy="3396996"/>
        </p:xfrm>
        <a:graphic>
          <a:graphicData uri="http://schemas.openxmlformats.org/drawingml/2006/table">
            <a:tbl>
              <a:tblPr/>
              <a:tblGrid>
                <a:gridCol w="3567074"/>
                <a:gridCol w="1834286"/>
                <a:gridCol w="2140610"/>
                <a:gridCol w="2140610"/>
                <a:gridCol w="1528877"/>
              </a:tblGrid>
              <a:tr h="7635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Site ID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Current OV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YoY Change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Top 5 Up (by YoY %)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 qualifying publishers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Top 5 Down (by YoY %)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 qualifying publishers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Movers &amp; Shakers: Clicks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Largest YoY click movers and decliners.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83080"/>
            <a:ext cx="11430000" cy="3543300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874520"/>
          <a:ext cx="11210544" cy="3396996"/>
        </p:xfrm>
        <a:graphic>
          <a:graphicData uri="http://schemas.openxmlformats.org/drawingml/2006/table">
            <a:tbl>
              <a:tblPr/>
              <a:tblGrid>
                <a:gridCol w="3567074"/>
                <a:gridCol w="1834286"/>
                <a:gridCol w="2140610"/>
                <a:gridCol w="2140610"/>
                <a:gridCol w="1528877"/>
              </a:tblGrid>
              <a:tr h="7635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Site ID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Current Clicks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YoY Change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Top 5 Up (by YoY %)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 qualifying publishers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Top 5 Down (by YoY %)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 qualifying publishers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Brand New </a:t>
            </a:r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Publishers activated for the first time in the current period.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83080"/>
            <a:ext cx="11430000" cy="1568196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874520"/>
          <a:ext cx="11210544" cy="1421892"/>
        </p:xfrm>
        <a:graphic>
          <a:graphicData uri="http://schemas.openxmlformats.org/drawingml/2006/table">
            <a:tbl>
              <a:tblPr/>
              <a:tblGrid>
                <a:gridCol w="2242109"/>
                <a:gridCol w="2242109"/>
                <a:gridCol w="2242109"/>
                <a:gridCol w="2242109"/>
                <a:gridCol w="2242109"/>
              </a:tblGrid>
              <a:tr h="7635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Segment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Current Sales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Current OV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CPA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 Growth Signals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Factual observations from the data relevant to the programme's sales performance - 2026-01-16 to 2026-04-15.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658368" y="1773936"/>
            <a:ext cx="310896" cy="310896"/>
          </a:xfrm>
          <a:prstGeom prst="roundRect">
            <a:avLst/>
          </a:prstGeom>
          <a:solidFill>
            <a:srgbClr val="F3F4F6">
              <a:alpha val="7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8096" y="1847088"/>
            <a:ext cx="9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078992" y="171907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Voucher Segment: Highest YoY Sales Growth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78992" y="2029968"/>
            <a:ext cx="10469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Voucher growth signal is not fully available in the current extract.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658368" y="2761488"/>
            <a:ext cx="310896" cy="310896"/>
          </a:xfrm>
          <a:prstGeom prst="roundRect">
            <a:avLst/>
          </a:prstGeom>
          <a:solidFill>
            <a:srgbClr val="F3F4F6">
              <a:alpha val="7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68096" y="2834640"/>
            <a:ext cx="9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78992" y="2706624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 Rate: Improved to 5.0%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078992" y="3017520"/>
            <a:ext cx="10469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Programme conversion rate moved from 4.0% to 5.0% (+25.0%). Sales changed N/A while clicks changed N/A, indicating the quality shift in converting traffic.</a:t>
            </a:r>
            <a:endParaRPr lang="en-US" sz="1080" dirty="0"/>
          </a:p>
        </p:txBody>
      </p:sp>
      <p:sp>
        <p:nvSpPr>
          <p:cNvPr id="13" name="Shape 10"/>
          <p:cNvSpPr/>
          <p:nvPr/>
        </p:nvSpPr>
        <p:spPr>
          <a:xfrm>
            <a:off x="658368" y="3749040"/>
            <a:ext cx="310896" cy="310896"/>
          </a:xfrm>
          <a:prstGeom prst="roundRect">
            <a:avLst/>
          </a:prstGeom>
          <a:solidFill>
            <a:srgbClr val="F3F4F6">
              <a:alpha val="7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68096" y="3822192"/>
            <a:ext cx="9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078992" y="3694176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AOV Growth Across Multiple Publishers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078992" y="4005072"/>
            <a:ext cx="10469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Programme AOV moved N/A to N/A.</a:t>
            </a:r>
            <a:endParaRPr lang="en-US" sz="1080" dirty="0"/>
          </a:p>
        </p:txBody>
      </p:sp>
      <p:sp>
        <p:nvSpPr>
          <p:cNvPr id="17" name="Shape 14"/>
          <p:cNvSpPr/>
          <p:nvPr/>
        </p:nvSpPr>
        <p:spPr>
          <a:xfrm>
            <a:off x="658368" y="4736592"/>
            <a:ext cx="310896" cy="310896"/>
          </a:xfrm>
          <a:prstGeom prst="roundRect">
            <a:avLst/>
          </a:prstGeom>
          <a:solidFill>
            <a:srgbClr val="F3F4F6">
              <a:alpha val="7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68096" y="4809744"/>
            <a:ext cx="9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078992" y="4681728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Cashback Segment: Largest Volume Base with Sales Decline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078992" y="4992624"/>
            <a:ext cx="10469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Cashback segment-level signal is not fully available in the current extract.</a:t>
            </a:r>
            <a:endParaRPr lang="en-US" sz="1080" dirty="0"/>
          </a:p>
        </p:txBody>
      </p:sp>
      <p:sp>
        <p:nvSpPr>
          <p:cNvPr id="21" name="Shape 18"/>
          <p:cNvSpPr/>
          <p:nvPr/>
        </p:nvSpPr>
        <p:spPr>
          <a:xfrm>
            <a:off x="658368" y="5724144"/>
            <a:ext cx="310896" cy="310896"/>
          </a:xfrm>
          <a:prstGeom prst="roundRect">
            <a:avLst/>
          </a:prstGeom>
          <a:solidFill>
            <a:srgbClr val="F3F4F6">
              <a:alpha val="7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68096" y="5797296"/>
            <a:ext cx="9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1078992" y="566928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 Volume Decline Concentrated in Two Publishers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078992" y="5980176"/>
            <a:ext cx="10469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click decline concentration could not be confirmed from available movers data.</a:t>
            </a:r>
            <a:endParaRPr lang="en-US" sz="10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Risks &amp; Dependencies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risks to programme performance, external dependencies, and assigned action owners for the next review cycle.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83080"/>
            <a:ext cx="11430000" cy="4201668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874520"/>
          <a:ext cx="11210544" cy="4055364"/>
        </p:xfrm>
        <a:graphic>
          <a:graphicData uri="http://schemas.openxmlformats.org/drawingml/2006/table">
            <a:tbl>
              <a:tblPr/>
              <a:tblGrid>
                <a:gridCol w="2510942"/>
                <a:gridCol w="1121054"/>
                <a:gridCol w="7578547"/>
              </a:tblGrid>
              <a:tr h="7635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Risk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Impact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Mitigation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Performance variance risk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Medium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Driver not confirmed from available segment and publisher data.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concentration risk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Medium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 stable top publisher concentration signal available in current extract.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Performance variance risk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Medium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New publisher contribution could not be quantified from available data.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Performance variance risk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Medium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Review source publisher tables to confirm movement drivers.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Traffic decline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Medium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 Rate Movement: Conversion rate increased +25.0% (4.0% to 5.0%). Conversions increased +25.0% (25), showing how efficiently the publisher converted traffic into outcomes.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325880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topcashback - Thank you.</a:t>
            </a:r>
            <a:endParaRPr lang="en-US" sz="2500" dirty="0"/>
          </a:p>
        </p:txBody>
      </p:sp>
      <p:sp>
        <p:nvSpPr>
          <p:cNvPr id="4" name="Shape 1"/>
          <p:cNvSpPr/>
          <p:nvPr/>
        </p:nvSpPr>
        <p:spPr>
          <a:xfrm>
            <a:off x="566928" y="2331720"/>
            <a:ext cx="11018520" cy="1024128"/>
          </a:xfrm>
          <a:prstGeom prst="roundRect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>
                <a:alpha val="45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68680" y="2596896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Any Questions?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868680" y="2898648"/>
            <a:ext cx="9875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3F4F6">
                    <a:alpha val="85000"/>
                  </a:srgb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TD Publisher Performance Review - 2026-01-16 to 2026-04-15</a:t>
            </a:r>
            <a:endParaRPr lang="en-US" sz="10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Tradedoubler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QBR - topcashback</dc:title>
  <dc:subject>Quarterly business review</dc:subject>
  <dc:creator>QBR PPTX Service</dc:creator>
  <cp:lastModifiedBy>QBR PPTX Service</cp:lastModifiedBy>
  <cp:revision>1</cp:revision>
  <dcterms:created xsi:type="dcterms:W3CDTF">2026-05-05T08:11:38Z</dcterms:created>
  <dcterms:modified xsi:type="dcterms:W3CDTF">2026-05-05T08:11:38Z</dcterms:modified>
</cp:coreProperties>
</file>