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mvcaccount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3,718 vs 4,502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-17.4%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£959,252 vs £1,596,526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-39.9%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£44,500 vs £55,923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-20.4%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£10,033 vs £15,000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-33.1%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£54,533 vs £70,923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-23.1%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 vs 4.8%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+7.7%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mvcaccount, performance was mixed in Jan 2026 – Mar 2026. Conversions moved -17.4% to 3,718 and conversion rate moved +7.7% to 5.1%. Publisher commission decreased -20.4% to £44,500, while digital wallet earnings decreased -33.1% to £10,033. Total earnings ended at £54,533 (-23.1%) and total order value decreased -39.9% to £959,252.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3,718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£11.97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£12.42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£959,252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£1,596,526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-£637,274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-£11,423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-£4,967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£54,533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£70,923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-£16,390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£277,539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346429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£258,645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+642.9%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330561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£3,720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£58,520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306840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£3,341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£71,662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329522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£32,774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274133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277729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£35,166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248069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Wightlink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Irish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Village (+642.9%)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334213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85248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£10,439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Feather &amp; Black (+115.8%)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63910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77752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£1,996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Luton (N/A)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521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3858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£1,266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(+33.9%)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7079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9441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£846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Caledonian Travel (+69.8%)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5874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739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£808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KRCS Apple Premium Reseller (+189.8%)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0661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45263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£645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(N/A)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675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5394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£458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(+21.9%)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8652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2517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£270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With Us (+63.2%)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510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89734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£160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(N/A)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4725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85898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Shoes UK (-84.8%)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372683" y="4077218"/>
            <a:ext cx="202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85715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-£63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(-82.5%)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368479" y="4319534"/>
            <a:ext cx="2444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81511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-£76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Euromaster (-89.6%)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345286" y="4561850"/>
            <a:ext cx="4763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5831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-£149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Med (-34.2%)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340784" y="4804166"/>
            <a:ext cx="521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53816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-£163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Ferries UK (-30.8%)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323790" y="5046482"/>
            <a:ext cx="691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6822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-£216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(-77.3%)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275422" y="5288798"/>
            <a:ext cx="11750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88454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-£367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(-100.0%)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923817" y="5531114"/>
            <a:ext cx="4691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36849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-£1,465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(-68.8%)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671289" y="5773430"/>
            <a:ext cx="72163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8432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-£2,254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(-97.9%)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395978" y="6015746"/>
            <a:ext cx="19969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9010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-£6,237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(-35.6%)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938070" y="6258062"/>
            <a:ext cx="245485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05110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-£7,667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£9,167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£1,845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361169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View from The Shard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 (Parts &amp; Accessories)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Manchester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357041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O'Neill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Royal Mail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Virgin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1/2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64531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1330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46208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392853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Professional UK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43573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81086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15964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43573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50842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385720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20597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55475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490353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43573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 New York Jazz experience tickets by The Lost Estate | London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243573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243573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43573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8404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3159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3035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93" name="Text 90"/>
          <p:cNvSpPr/>
          <p:nvPr/>
        </p:nvSpPr>
        <p:spPr>
          <a:xfrm>
            <a:off x="98755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243573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300723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Aqron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505891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505891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505891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505891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392903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Velvet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505891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505891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00" dirty="0"/>
          </a:p>
        </p:txBody>
      </p:sp>
      <p:sp>
        <p:nvSpPr>
          <p:cNvPr id="131" name="Text 128"/>
          <p:cNvSpPr/>
          <p:nvPr/>
        </p:nvSpPr>
        <p:spPr>
          <a:xfrm>
            <a:off x="505891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505891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392876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Shuttle EUR</a:t>
            </a:r>
            <a:endParaRPr lang="en-US" sz="600" dirty="0"/>
          </a:p>
        </p:txBody>
      </p:sp>
      <p:sp>
        <p:nvSpPr>
          <p:cNvPr id="141" name="Text 138"/>
          <p:cNvSpPr/>
          <p:nvPr/>
        </p:nvSpPr>
        <p:spPr>
          <a:xfrm>
            <a:off x="505891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 Paris Cabaret experience tickets by The Lost Estate | London</a:t>
            </a:r>
            <a:endParaRPr lang="en-US" sz="550" dirty="0"/>
          </a:p>
        </p:txBody>
      </p:sp>
      <p:sp>
        <p:nvSpPr>
          <p:cNvPr id="146" name="Text 143"/>
          <p:cNvSpPr/>
          <p:nvPr/>
        </p:nvSpPr>
        <p:spPr>
          <a:xfrm>
            <a:off x="505891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398489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for any occasion</a:t>
            </a:r>
            <a:endParaRPr lang="en-US" sz="600" dirty="0"/>
          </a:p>
        </p:txBody>
      </p:sp>
      <p:sp>
        <p:nvSpPr>
          <p:cNvPr id="151" name="Text 148"/>
          <p:cNvSpPr/>
          <p:nvPr/>
        </p:nvSpPr>
        <p:spPr>
          <a:xfrm>
            <a:off x="505891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00" dirty="0"/>
          </a:p>
        </p:txBody>
      </p:sp>
      <p:sp>
        <p:nvSpPr>
          <p:cNvPr id="156" name="Text 153"/>
          <p:cNvSpPr/>
          <p:nvPr/>
        </p:nvSpPr>
        <p:spPr>
          <a:xfrm>
            <a:off x="505891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300723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05478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15353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160" name="Text 157"/>
          <p:cNvSpPr/>
          <p:nvPr/>
        </p:nvSpPr>
        <p:spPr>
          <a:xfrm>
            <a:off x="361073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161" name="Text 158"/>
          <p:cNvSpPr/>
          <p:nvPr/>
        </p:nvSpPr>
        <p:spPr>
          <a:xfrm>
            <a:off x="505891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2" name="Shape 159"/>
          <p:cNvSpPr/>
          <p:nvPr/>
        </p:nvSpPr>
        <p:spPr>
          <a:xfrm>
            <a:off x="300723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05478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15353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392673</a:t>
            </a:r>
            <a:endParaRPr lang="en-US" sz="640" dirty="0"/>
          </a:p>
        </p:txBody>
      </p:sp>
      <p:sp>
        <p:nvSpPr>
          <p:cNvPr id="165" name="Text 162"/>
          <p:cNvSpPr/>
          <p:nvPr/>
        </p:nvSpPr>
        <p:spPr>
          <a:xfrm>
            <a:off x="361073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eSIMCrew</a:t>
            </a:r>
            <a:endParaRPr lang="en-US" sz="640" dirty="0"/>
          </a:p>
        </p:txBody>
      </p:sp>
      <p:sp>
        <p:nvSpPr>
          <p:cNvPr id="166" name="Text 163"/>
          <p:cNvSpPr/>
          <p:nvPr/>
        </p:nvSpPr>
        <p:spPr>
          <a:xfrm>
            <a:off x="505891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7" name="Shape 16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69" name="Shape 166"/>
          <p:cNvSpPr/>
          <p:nvPr/>
        </p:nvSpPr>
        <p:spPr>
          <a:xfrm>
            <a:off x="563041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00" dirty="0"/>
          </a:p>
        </p:txBody>
      </p:sp>
      <p:sp>
        <p:nvSpPr>
          <p:cNvPr id="173" name="Text 170"/>
          <p:cNvSpPr/>
          <p:nvPr/>
        </p:nvSpPr>
        <p:spPr>
          <a:xfrm>
            <a:off x="768210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68210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68210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188" name="Text 185"/>
          <p:cNvSpPr/>
          <p:nvPr/>
        </p:nvSpPr>
        <p:spPr>
          <a:xfrm>
            <a:off x="768210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3" name="Text 190"/>
          <p:cNvSpPr/>
          <p:nvPr/>
        </p:nvSpPr>
        <p:spPr>
          <a:xfrm>
            <a:off x="768210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8" name="Text 195"/>
          <p:cNvSpPr/>
          <p:nvPr/>
        </p:nvSpPr>
        <p:spPr>
          <a:xfrm>
            <a:off x="768210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203" name="Text 200"/>
          <p:cNvSpPr/>
          <p:nvPr/>
        </p:nvSpPr>
        <p:spPr>
          <a:xfrm>
            <a:off x="768210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00" dirty="0"/>
          </a:p>
        </p:txBody>
      </p:sp>
      <p:sp>
        <p:nvSpPr>
          <p:cNvPr id="208" name="Text 205"/>
          <p:cNvSpPr/>
          <p:nvPr/>
        </p:nvSpPr>
        <p:spPr>
          <a:xfrm>
            <a:off x="768210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00" dirty="0"/>
          </a:p>
        </p:txBody>
      </p:sp>
      <p:sp>
        <p:nvSpPr>
          <p:cNvPr id="213" name="Text 210"/>
          <p:cNvSpPr/>
          <p:nvPr/>
        </p:nvSpPr>
        <p:spPr>
          <a:xfrm>
            <a:off x="768210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 Education</a:t>
            </a:r>
            <a:endParaRPr lang="en-US" sz="550" dirty="0"/>
          </a:p>
        </p:txBody>
      </p:sp>
      <p:sp>
        <p:nvSpPr>
          <p:cNvPr id="218" name="Text 215"/>
          <p:cNvSpPr/>
          <p:nvPr/>
        </p:nvSpPr>
        <p:spPr>
          <a:xfrm>
            <a:off x="768210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00" dirty="0"/>
          </a:p>
        </p:txBody>
      </p:sp>
      <p:sp>
        <p:nvSpPr>
          <p:cNvPr id="223" name="Text 220"/>
          <p:cNvSpPr/>
          <p:nvPr/>
        </p:nvSpPr>
        <p:spPr>
          <a:xfrm>
            <a:off x="768210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563041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67796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577672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227" name="Text 224"/>
          <p:cNvSpPr/>
          <p:nvPr/>
        </p:nvSpPr>
        <p:spPr>
          <a:xfrm>
            <a:off x="623392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 Times Square Ticket Office UK</a:t>
            </a:r>
            <a:endParaRPr lang="en-US" sz="550" dirty="0"/>
          </a:p>
        </p:txBody>
      </p:sp>
      <p:sp>
        <p:nvSpPr>
          <p:cNvPr id="228" name="Text 225"/>
          <p:cNvSpPr/>
          <p:nvPr/>
        </p:nvSpPr>
        <p:spPr>
          <a:xfrm>
            <a:off x="768210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9" name="Shape 226"/>
          <p:cNvSpPr/>
          <p:nvPr/>
        </p:nvSpPr>
        <p:spPr>
          <a:xfrm>
            <a:off x="563041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67796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77672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232" name="Text 229"/>
          <p:cNvSpPr/>
          <p:nvPr/>
        </p:nvSpPr>
        <p:spPr>
          <a:xfrm>
            <a:off x="623392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233" name="Text 230"/>
          <p:cNvSpPr/>
          <p:nvPr/>
        </p:nvSpPr>
        <p:spPr>
          <a:xfrm>
            <a:off x="768210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4" name="Shape 231"/>
          <p:cNvSpPr/>
          <p:nvPr/>
        </p:nvSpPr>
        <p:spPr>
          <a:xfrm>
            <a:off x="563041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567796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77672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392454</a:t>
            </a:r>
            <a:endParaRPr lang="en-US" sz="640" dirty="0"/>
          </a:p>
        </p:txBody>
      </p:sp>
      <p:sp>
        <p:nvSpPr>
          <p:cNvPr id="237" name="Text 234"/>
          <p:cNvSpPr/>
          <p:nvPr/>
        </p:nvSpPr>
        <p:spPr>
          <a:xfrm>
            <a:off x="623392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Matilda, The Musical UK NEW</a:t>
            </a:r>
            <a:endParaRPr lang="en-US" sz="600" dirty="0"/>
          </a:p>
        </p:txBody>
      </p:sp>
      <p:sp>
        <p:nvSpPr>
          <p:cNvPr id="238" name="Text 235"/>
          <p:cNvSpPr/>
          <p:nvPr/>
        </p:nvSpPr>
        <p:spPr>
          <a:xfrm>
            <a:off x="768210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9" name="Shape 23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41" name="Shape 238"/>
          <p:cNvSpPr/>
          <p:nvPr/>
        </p:nvSpPr>
        <p:spPr>
          <a:xfrm>
            <a:off x="825360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393173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Nutrition UK</a:t>
            </a:r>
            <a:endParaRPr lang="en-US" sz="600" dirty="0"/>
          </a:p>
        </p:txBody>
      </p:sp>
      <p:sp>
        <p:nvSpPr>
          <p:cNvPr id="245" name="Text 242"/>
          <p:cNvSpPr/>
          <p:nvPr/>
        </p:nvSpPr>
        <p:spPr>
          <a:xfrm>
            <a:off x="1030528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00" dirty="0"/>
          </a:p>
        </p:txBody>
      </p:sp>
      <p:sp>
        <p:nvSpPr>
          <p:cNvPr id="250" name="Text 247"/>
          <p:cNvSpPr/>
          <p:nvPr/>
        </p:nvSpPr>
        <p:spPr>
          <a:xfrm>
            <a:off x="1030528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30528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393335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Baby Hampers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30528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393197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Ferry UK</a:t>
            </a:r>
            <a:endParaRPr lang="en-US" sz="640" dirty="0"/>
          </a:p>
        </p:txBody>
      </p:sp>
      <p:sp>
        <p:nvSpPr>
          <p:cNvPr id="265" name="Text 262"/>
          <p:cNvSpPr/>
          <p:nvPr/>
        </p:nvSpPr>
        <p:spPr>
          <a:xfrm>
            <a:off x="1030528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392841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Performance</a:t>
            </a:r>
            <a:endParaRPr lang="en-US" sz="600" dirty="0"/>
          </a:p>
        </p:txBody>
      </p:sp>
      <p:sp>
        <p:nvSpPr>
          <p:cNvPr id="270" name="Text 267"/>
          <p:cNvSpPr/>
          <p:nvPr/>
        </p:nvSpPr>
        <p:spPr>
          <a:xfrm>
            <a:off x="1030528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 University - MSc Healthcare Mgt</a:t>
            </a:r>
            <a:endParaRPr lang="en-US" sz="550" dirty="0"/>
          </a:p>
        </p:txBody>
      </p:sp>
      <p:sp>
        <p:nvSpPr>
          <p:cNvPr id="275" name="Text 272"/>
          <p:cNvSpPr/>
          <p:nvPr/>
        </p:nvSpPr>
        <p:spPr>
          <a:xfrm>
            <a:off x="1030528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392486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Roads Challenge</a:t>
            </a:r>
            <a:endParaRPr lang="en-US" sz="600" dirty="0"/>
          </a:p>
        </p:txBody>
      </p:sp>
      <p:sp>
        <p:nvSpPr>
          <p:cNvPr id="280" name="Text 277"/>
          <p:cNvSpPr/>
          <p:nvPr/>
        </p:nvSpPr>
        <p:spPr>
          <a:xfrm>
            <a:off x="1030528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30528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6" name="Shape 283"/>
          <p:cNvSpPr/>
          <p:nvPr/>
        </p:nvSpPr>
        <p:spPr>
          <a:xfrm>
            <a:off x="825360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0115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39990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289" name="Text 286"/>
          <p:cNvSpPr/>
          <p:nvPr/>
        </p:nvSpPr>
        <p:spPr>
          <a:xfrm>
            <a:off x="885710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290" name="Text 287"/>
          <p:cNvSpPr/>
          <p:nvPr/>
        </p:nvSpPr>
        <p:spPr>
          <a:xfrm>
            <a:off x="1030528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1" name="Shape 288"/>
          <p:cNvSpPr/>
          <p:nvPr/>
        </p:nvSpPr>
        <p:spPr>
          <a:xfrm>
            <a:off x="825360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830115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3" name="Text 290"/>
          <p:cNvSpPr/>
          <p:nvPr/>
        </p:nvSpPr>
        <p:spPr>
          <a:xfrm>
            <a:off x="839990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94" name="Text 291"/>
          <p:cNvSpPr/>
          <p:nvPr/>
        </p:nvSpPr>
        <p:spPr>
          <a:xfrm>
            <a:off x="885710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00" dirty="0"/>
          </a:p>
        </p:txBody>
      </p:sp>
      <p:sp>
        <p:nvSpPr>
          <p:cNvPr id="295" name="Text 292"/>
          <p:cNvSpPr/>
          <p:nvPr/>
        </p:nvSpPr>
        <p:spPr>
          <a:xfrm>
            <a:off x="1030528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6" name="Shape 293"/>
          <p:cNvSpPr/>
          <p:nvPr/>
        </p:nvSpPr>
        <p:spPr>
          <a:xfrm>
            <a:off x="825360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830115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39990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299" name="Text 296"/>
          <p:cNvSpPr/>
          <p:nvPr/>
        </p:nvSpPr>
        <p:spPr>
          <a:xfrm>
            <a:off x="885710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300" name="Text 297"/>
          <p:cNvSpPr/>
          <p:nvPr/>
        </p:nvSpPr>
        <p:spPr>
          <a:xfrm>
            <a:off x="1030528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1" name="Shape 298"/>
          <p:cNvSpPr/>
          <p:nvPr/>
        </p:nvSpPr>
        <p:spPr>
          <a:xfrm>
            <a:off x="825360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30115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839990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304" name="Text 301"/>
          <p:cNvSpPr/>
          <p:nvPr/>
        </p:nvSpPr>
        <p:spPr>
          <a:xfrm>
            <a:off x="885710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305" name="Text 302"/>
          <p:cNvSpPr/>
          <p:nvPr/>
        </p:nvSpPr>
        <p:spPr>
          <a:xfrm>
            <a:off x="1030528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6" name="Shape 303"/>
          <p:cNvSpPr/>
          <p:nvPr/>
        </p:nvSpPr>
        <p:spPr>
          <a:xfrm>
            <a:off x="825360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30115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39990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309" name="Text 306"/>
          <p:cNvSpPr/>
          <p:nvPr/>
        </p:nvSpPr>
        <p:spPr>
          <a:xfrm>
            <a:off x="885710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00" dirty="0"/>
          </a:p>
        </p:txBody>
      </p:sp>
      <p:sp>
        <p:nvSpPr>
          <p:cNvPr id="310" name="Text 307"/>
          <p:cNvSpPr/>
          <p:nvPr/>
        </p:nvSpPr>
        <p:spPr>
          <a:xfrm>
            <a:off x="1030528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2/2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392789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Producers Musical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848356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301432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6893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6893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8689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255264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42122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7583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393233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7583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JP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2435733" y="32758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662172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82813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82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392757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8274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UK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2435733" y="368274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4069080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2350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408965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408965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59" name="Text 56"/>
          <p:cNvSpPr/>
          <p:nvPr/>
        </p:nvSpPr>
        <p:spPr>
          <a:xfrm>
            <a:off x="2435733" y="40896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475988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64195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49656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49656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2435733" y="449656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882896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50488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90347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393125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90347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Xtreme Apparel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9034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5289804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545576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531037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531037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 Science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2435733" y="531037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7" name="Shape 7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9" name="Shape 7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358537" y="5482971"/>
            <a:ext cx="182880" cy="2503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100507" y="4087139"/>
            <a:ext cx="182880" cy="164614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842478" y="5325237"/>
            <a:ext cx="182880" cy="40805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84448" y="5365699"/>
            <a:ext cx="182880" cy="36758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26418" y="5305349"/>
            <a:ext cx="182880" cy="42793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68389" y="4511192"/>
            <a:ext cx="182880" cy="122209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10359" y="5277917"/>
            <a:ext cx="182880" cy="45537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2329" y="5107838"/>
            <a:ext cx="182880" cy="62545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294299" y="5178019"/>
            <a:ext cx="182880" cy="55526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36270" y="4911014"/>
            <a:ext cx="182880" cy="82227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778240" y="4662754"/>
            <a:ext cx="182880" cy="107053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520210" y="4571543"/>
            <a:ext cx="182880" cy="116174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262181" y="4824832"/>
            <a:ext cx="182880" cy="90845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004151" y="5481371"/>
            <a:ext cx="182880" cy="2519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449977" y="5013884"/>
            <a:ext cx="741970" cy="-10767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191947" y="4906213"/>
            <a:ext cx="741970" cy="-18310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933918" y="4723105"/>
            <a:ext cx="741970" cy="8595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675888" y="4809058"/>
            <a:ext cx="741970" cy="31135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417858" y="5120411"/>
            <a:ext cx="741970" cy="-32209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159829" y="4798314"/>
            <a:ext cx="741970" cy="22334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01799" y="5021656"/>
            <a:ext cx="741970" cy="10012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643769" y="5121783"/>
            <a:ext cx="741970" cy="-16024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385739" y="4961534"/>
            <a:ext cx="741970" cy="-1005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127710" y="4951476"/>
            <a:ext cx="741970" cy="-63185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869680" y="4319626"/>
            <a:ext cx="741970" cy="34587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611650" y="4665497"/>
            <a:ext cx="741970" cy="-16710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353621" y="4498391"/>
            <a:ext cx="741970" cy="86250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427117" y="499102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169087" y="488335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2911058" y="47002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653028" y="478619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394998" y="509755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136969" y="477545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878939" y="499879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620909" y="509892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362879" y="493867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104850" y="492861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8846820" y="429676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588790" y="464263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330761" y="447553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1072731" y="533803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449977" y="5702884"/>
            <a:ext cx="741970" cy="-2811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191947" y="5674766"/>
            <a:ext cx="741970" cy="365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2933918" y="5711342"/>
            <a:ext cx="741970" cy="-20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675888" y="5709285"/>
            <a:ext cx="741970" cy="-333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17858" y="5675909"/>
            <a:ext cx="741970" cy="-27889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159829" y="5397017"/>
            <a:ext cx="741970" cy="12618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901799" y="5523205"/>
            <a:ext cx="741970" cy="-297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643769" y="5520233"/>
            <a:ext cx="741970" cy="-1440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385739" y="5505831"/>
            <a:ext cx="741970" cy="-23545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127710" y="5270373"/>
            <a:ext cx="741970" cy="-91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869680" y="5269459"/>
            <a:ext cx="741970" cy="754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611650" y="5277002"/>
            <a:ext cx="741970" cy="6309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0353621" y="5340096"/>
            <a:ext cx="741970" cy="29352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427117" y="568002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169087" y="565190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2911058" y="568848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3653028" y="568642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394998" y="565304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5136969" y="537415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878939" y="550034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620909" y="549737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362879" y="548297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8104850" y="524751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846820" y="524659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9588790" y="525414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0330761" y="531723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1072731" y="561075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449977" y="5405247"/>
            <a:ext cx="741970" cy="-13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191947" y="5403875"/>
            <a:ext cx="741970" cy="45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933918" y="5408447"/>
            <a:ext cx="741970" cy="10538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3675888" y="5513832"/>
            <a:ext cx="741970" cy="-21717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4417858" y="5492115"/>
            <a:ext cx="741970" cy="-1485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5159829" y="5477256"/>
            <a:ext cx="741970" cy="3429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901799" y="5511546"/>
            <a:ext cx="741970" cy="-274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6643769" y="5508803"/>
            <a:ext cx="741970" cy="-23271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7385739" y="5276088"/>
            <a:ext cx="741970" cy="-14333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8127710" y="5132756"/>
            <a:ext cx="741970" cy="14196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8869680" y="5274716"/>
            <a:ext cx="741970" cy="1211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9611650" y="5286832"/>
            <a:ext cx="741970" cy="-7955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10353621" y="5207279"/>
            <a:ext cx="741970" cy="45079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1427117" y="53823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169087" y="538101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2911058" y="53855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3653028" y="5490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394998" y="546925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136969" y="54543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878939" y="548868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620909" y="5485943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362879" y="525322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8104850" y="51098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846820" y="525185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9588790" y="5263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10330761" y="51844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11072731" y="56352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449977" y="5562295"/>
            <a:ext cx="741970" cy="4572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2191947" y="5608015"/>
            <a:ext cx="741970" cy="-3497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2933918" y="5573039"/>
            <a:ext cx="741970" cy="5257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3675888" y="5625617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4417858" y="5668823"/>
            <a:ext cx="741970" cy="-2057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5159829" y="5648249"/>
            <a:ext cx="741970" cy="-823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5901799" y="5640019"/>
            <a:ext cx="741970" cy="-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6643769" y="5596814"/>
            <a:ext cx="741970" cy="-4869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7385739" y="5548122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8127710" y="5591327"/>
            <a:ext cx="741970" cy="-7246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8869680" y="5518861"/>
            <a:ext cx="741970" cy="9212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9611650" y="5610987"/>
            <a:ext cx="741970" cy="3406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10353621" y="5645048"/>
            <a:ext cx="741970" cy="7429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1427117" y="553943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2169087" y="558515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2911058" y="555017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3653028" y="560275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4394998" y="564596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136969" y="562538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5878939" y="561715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6620909" y="557395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7362879" y="5525262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104850" y="556846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8846820" y="549600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9588790" y="55881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10330761" y="562218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11072731" y="569648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1093831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2025-12-29</a:t>
            </a:r>
            <a:endParaRPr lang="en-US" sz="580" dirty="0"/>
          </a:p>
        </p:txBody>
      </p:sp>
      <p:sp>
        <p:nvSpPr>
          <p:cNvPr id="143" name="Text 139"/>
          <p:cNvSpPr/>
          <p:nvPr/>
        </p:nvSpPr>
        <p:spPr>
          <a:xfrm>
            <a:off x="183580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144" name="Text 140"/>
          <p:cNvSpPr/>
          <p:nvPr/>
        </p:nvSpPr>
        <p:spPr>
          <a:xfrm>
            <a:off x="257777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145" name="Text 141"/>
          <p:cNvSpPr/>
          <p:nvPr/>
        </p:nvSpPr>
        <p:spPr>
          <a:xfrm>
            <a:off x="331974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146" name="Text 142"/>
          <p:cNvSpPr/>
          <p:nvPr/>
        </p:nvSpPr>
        <p:spPr>
          <a:xfrm>
            <a:off x="406171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147" name="Text 143"/>
          <p:cNvSpPr/>
          <p:nvPr/>
        </p:nvSpPr>
        <p:spPr>
          <a:xfrm>
            <a:off x="480368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2026-02-02</a:t>
            </a:r>
            <a:endParaRPr lang="en-US" sz="580" dirty="0"/>
          </a:p>
        </p:txBody>
      </p:sp>
      <p:sp>
        <p:nvSpPr>
          <p:cNvPr id="148" name="Text 144"/>
          <p:cNvSpPr/>
          <p:nvPr/>
        </p:nvSpPr>
        <p:spPr>
          <a:xfrm>
            <a:off x="554565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2026-02-09</a:t>
            </a:r>
            <a:endParaRPr lang="en-US" sz="580" dirty="0"/>
          </a:p>
        </p:txBody>
      </p:sp>
      <p:sp>
        <p:nvSpPr>
          <p:cNvPr id="149" name="Text 145"/>
          <p:cNvSpPr/>
          <p:nvPr/>
        </p:nvSpPr>
        <p:spPr>
          <a:xfrm>
            <a:off x="628762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150" name="Text 146"/>
          <p:cNvSpPr/>
          <p:nvPr/>
        </p:nvSpPr>
        <p:spPr>
          <a:xfrm>
            <a:off x="702959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151" name="Text 147"/>
          <p:cNvSpPr/>
          <p:nvPr/>
        </p:nvSpPr>
        <p:spPr>
          <a:xfrm>
            <a:off x="777156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152" name="Text 148"/>
          <p:cNvSpPr/>
          <p:nvPr/>
        </p:nvSpPr>
        <p:spPr>
          <a:xfrm>
            <a:off x="851353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153" name="Text 149"/>
          <p:cNvSpPr/>
          <p:nvPr/>
        </p:nvSpPr>
        <p:spPr>
          <a:xfrm>
            <a:off x="925550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54" name="Text 150"/>
          <p:cNvSpPr/>
          <p:nvPr/>
        </p:nvSpPr>
        <p:spPr>
          <a:xfrm>
            <a:off x="999747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55" name="Text 151"/>
          <p:cNvSpPr/>
          <p:nvPr/>
        </p:nvSpPr>
        <p:spPr>
          <a:xfrm>
            <a:off x="1073944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56" name="Shape 15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7" name="Text 15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58" name="Shape 15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59" name="Text 15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160" name="Shape 15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161" name="Text 15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162" name="Shape 15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164" name="Shape 16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4472513"/>
            <a:ext cx="438912" cy="104131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421648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4442475"/>
            <a:ext cx="438912" cy="107135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18644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3881765"/>
            <a:ext cx="438912" cy="163206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362573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248897"/>
            <a:ext cx="438912" cy="126493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399286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90089"/>
            <a:ext cx="438912" cy="32374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3405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173401"/>
            <a:ext cx="438912" cy="340431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491736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016536"/>
            <a:ext cx="438912" cy="497296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7605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193426"/>
            <a:ext cx="438912" cy="32040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493739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33604"/>
            <a:ext cx="438912" cy="18022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0775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mvcaccount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+7.7% (4.8% to 5.1%). Conversions decreased -17.4% (-784),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-17.4% (-784).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-39.9% (£1,596,526 to £959,252).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-20.4% (£55,923 to £44,500).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-23.1% (£70,923 to £54,533). Digital wallet contribution was £10,033 (-33.1%),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contributes 49.8% of current digital wallet (£5,000 of £10,033).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Stena Line YoY deterioration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declined by 482 conversions (-40.0%), £153,346 order value (-35.6%), and £7,667 total earnings (-35.6%) YoY.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Dreams YoY deterioration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declined by 201 conversions (-67.0%), £112,693 order value (-68.8%), and £2,254 total earnings (-68.8%) YoY.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mvcaccount</dc:title>
  <dc:subject>Quarterly business review</dc:subject>
  <dc:creator>QBR PPTX Service</dc:creator>
  <cp:lastModifiedBy>QBR PPTX Service</cp:lastModifiedBy>
  <cp:revision>1</cp:revision>
  <dcterms:created xsi:type="dcterms:W3CDTF">2026-05-20T08:36:04Z</dcterms:created>
  <dcterms:modified xsi:type="dcterms:W3CDTF">2026-05-20T08:36:04Z</dcterms:modified>
</cp:coreProperties>
</file>