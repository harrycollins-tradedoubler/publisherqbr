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Topcashback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topcashback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January 2026 – 11 May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11 May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January 2025 – 11 May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140,839 vs 151,294 PY -6.9%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53712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£22,294,705 vs £31,966,933 PY -30.3%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266176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£996,681 vs £1,343,387 PY -25.8%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640080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139696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267712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41248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41248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£149,751 vs £249,919 PY -40.1%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352544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52544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852160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80176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553712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553712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£1,146,432 vs £1,593,306 PY -28.0%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8065008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065008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564624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92640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266176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8266176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25.2% vs 24.1% PY +4.3%</a:t>
            </a:r>
            <a:endParaRPr lang="en-US" sz="1020" dirty="0"/>
          </a:p>
        </p:txBody>
      </p:sp>
      <p:sp>
        <p:nvSpPr>
          <p:cNvPr id="40" name="Text 37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topcashback, performance was mixed in Jan 2026 – May 2026. Conversions moved -6.9% to 140,839 and conversion rate moved +4.3% to 25.2%. Publisher commission decreased -25.8% to £996,681, while digital wallet earnings decreased -40.1% to £149,751. Total earnings ended at £1,146,432 (-28.0%) and total order value decreased -30.3% to £22,294,705.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8480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8498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140,839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151,294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-10,455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559,596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627,082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-67,486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Click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£2.05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£2.54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-£0.49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1.15x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1.19x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-0.04x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£22,294,705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£31,966,933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-£9,672,228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£996,681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£1,343,387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-£346,705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-25.8%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£149,751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£249,919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-£100,169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£1,146,432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£1,593,306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-£446,874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-28.0%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Programs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729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254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253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29%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168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14%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59%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504291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89661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430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300817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£175,240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£181,240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16,535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£2,244,172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+115.5%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+84.2%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+57.9%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Staysure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£126,623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£6,441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£133,064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2,559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£477,447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+17.5%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+27.0%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246156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Morrisons Grocery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£125,516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£17,150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£142,666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79,754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£7,433,089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-64.7%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-65.1%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£43,803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£1,617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£45,420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651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£168,986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+79.7%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+51.0%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254701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£43,381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£2,863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£46,244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1,385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£426,198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+78.2%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+57.4%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122083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£39,583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£39,583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2,313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£787,658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-38.3%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-38.3%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-36.3%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Disneyland Paris GB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£33,802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£3,250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£37,052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1,714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£1,473,859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-53.4%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-53.0%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-17.7%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329603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MoneyFarm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£31,401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£48,815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£80,216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£1,152,229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-45.4%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-62.5%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324414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InsureandGo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£28,379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£28,379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1,324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£129,325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-38.4%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-68.4%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220196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Club Med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£22,701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£6,134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£28,835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£477,573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+19.9%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236409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eFlorist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£22,520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£22,520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4,794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£130,630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-28.6%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-28.6%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324849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 Ferries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2,027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£557,589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+41.6%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+41.6%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+63.6%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62205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getyourguide.co.uk (+115.5%)</a:t>
            </a:r>
            <a:endParaRPr lang="en-US" sz="580" dirty="0"/>
          </a:p>
        </p:txBody>
      </p:sp>
      <p:sp>
        <p:nvSpPr>
          <p:cNvPr id="12" name="Shape 9"/>
          <p:cNvSpPr/>
          <p:nvPr/>
        </p:nvSpPr>
        <p:spPr>
          <a:xfrm>
            <a:off x="7392924" y="1654058"/>
            <a:ext cx="136384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02490" y="164034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£93,920</a:t>
            </a:r>
            <a:endParaRPr lang="en-US" sz="570" dirty="0"/>
          </a:p>
        </p:txBody>
      </p:sp>
      <p:sp>
        <p:nvSpPr>
          <p:cNvPr id="14" name="Text 11"/>
          <p:cNvSpPr/>
          <p:nvPr/>
        </p:nvSpPr>
        <p:spPr>
          <a:xfrm>
            <a:off x="530352" y="186437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Sixt Rent a Car UK (+79.8%)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7392924" y="1896374"/>
            <a:ext cx="27964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18290" y="188265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£19,257</a:t>
            </a:r>
            <a:endParaRPr lang="en-US" sz="570" dirty="0"/>
          </a:p>
        </p:txBody>
      </p:sp>
      <p:sp>
        <p:nvSpPr>
          <p:cNvPr id="17" name="Text 14"/>
          <p:cNvSpPr/>
          <p:nvPr/>
        </p:nvSpPr>
        <p:spPr>
          <a:xfrm>
            <a:off x="530352" y="210668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Staysure (+17.5%)</a:t>
            </a:r>
            <a:endParaRPr lang="en-US" sz="580" dirty="0"/>
          </a:p>
        </p:txBody>
      </p:sp>
      <p:sp>
        <p:nvSpPr>
          <p:cNvPr id="18" name="Shape 15"/>
          <p:cNvSpPr/>
          <p:nvPr/>
        </p:nvSpPr>
        <p:spPr>
          <a:xfrm>
            <a:off x="7392924" y="2138690"/>
            <a:ext cx="273671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12315" y="212497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£18,846</a:t>
            </a:r>
            <a:endParaRPr lang="en-US" sz="570" dirty="0"/>
          </a:p>
        </p:txBody>
      </p:sp>
      <p:sp>
        <p:nvSpPr>
          <p:cNvPr id="20" name="Text 17"/>
          <p:cNvSpPr/>
          <p:nvPr/>
        </p:nvSpPr>
        <p:spPr>
          <a:xfrm>
            <a:off x="530352" y="234900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Avanti Travel Insurance (+73.3%)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7392924" y="2381006"/>
            <a:ext cx="26899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07640" y="236729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£18,524</a:t>
            </a:r>
            <a:endParaRPr lang="en-US" sz="570" dirty="0"/>
          </a:p>
        </p:txBody>
      </p:sp>
      <p:sp>
        <p:nvSpPr>
          <p:cNvPr id="23" name="Text 20"/>
          <p:cNvSpPr/>
          <p:nvPr/>
        </p:nvSpPr>
        <p:spPr>
          <a:xfrm>
            <a:off x="530352" y="259131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Eurowings UK (+640.2%)</a:t>
            </a:r>
            <a:endParaRPr lang="en-US" sz="580" dirty="0"/>
          </a:p>
        </p:txBody>
      </p:sp>
      <p:sp>
        <p:nvSpPr>
          <p:cNvPr id="24" name="Shape 21"/>
          <p:cNvSpPr/>
          <p:nvPr/>
        </p:nvSpPr>
        <p:spPr>
          <a:xfrm>
            <a:off x="7392924" y="2623322"/>
            <a:ext cx="17570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14348" y="260960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£12,100</a:t>
            </a:r>
            <a:endParaRPr lang="en-US" sz="570" dirty="0"/>
          </a:p>
        </p:txBody>
      </p:sp>
      <p:sp>
        <p:nvSpPr>
          <p:cNvPr id="26" name="Text 23"/>
          <p:cNvSpPr/>
          <p:nvPr/>
        </p:nvSpPr>
        <p:spPr>
          <a:xfrm>
            <a:off x="530352" y="283363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Rose Assurance (N/A)</a:t>
            </a:r>
            <a:endParaRPr lang="en-US" sz="580" dirty="0"/>
          </a:p>
        </p:txBody>
      </p:sp>
      <p:sp>
        <p:nvSpPr>
          <p:cNvPr id="27" name="Shape 24"/>
          <p:cNvSpPr/>
          <p:nvPr/>
        </p:nvSpPr>
        <p:spPr>
          <a:xfrm>
            <a:off x="7392924" y="2865638"/>
            <a:ext cx="13897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77614" y="285192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£9,570</a:t>
            </a:r>
            <a:endParaRPr lang="en-US" sz="570" dirty="0"/>
          </a:p>
        </p:txBody>
      </p:sp>
      <p:sp>
        <p:nvSpPr>
          <p:cNvPr id="29" name="Text 26"/>
          <p:cNvSpPr/>
          <p:nvPr/>
        </p:nvSpPr>
        <p:spPr>
          <a:xfrm>
            <a:off x="530352" y="307595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Mortgage Genie (+263.9%)</a:t>
            </a:r>
            <a:endParaRPr lang="en-US" sz="580" dirty="0"/>
          </a:p>
        </p:txBody>
      </p:sp>
      <p:sp>
        <p:nvSpPr>
          <p:cNvPr id="30" name="Shape 27"/>
          <p:cNvSpPr/>
          <p:nvPr/>
        </p:nvSpPr>
        <p:spPr>
          <a:xfrm>
            <a:off x="7392924" y="3107954"/>
            <a:ext cx="127425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66069" y="309423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£8,775</a:t>
            </a:r>
            <a:endParaRPr lang="en-US" sz="570" dirty="0"/>
          </a:p>
        </p:txBody>
      </p:sp>
      <p:sp>
        <p:nvSpPr>
          <p:cNvPr id="32" name="Text 29"/>
          <p:cNvSpPr/>
          <p:nvPr/>
        </p:nvSpPr>
        <p:spPr>
          <a:xfrm>
            <a:off x="530352" y="331826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Serenata Flowers (N/A)</a:t>
            </a:r>
            <a:endParaRPr lang="en-US" sz="580" dirty="0"/>
          </a:p>
        </p:txBody>
      </p:sp>
      <p:sp>
        <p:nvSpPr>
          <p:cNvPr id="33" name="Shape 30"/>
          <p:cNvSpPr/>
          <p:nvPr/>
        </p:nvSpPr>
        <p:spPr>
          <a:xfrm>
            <a:off x="7392924" y="3350270"/>
            <a:ext cx="112898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51542" y="333655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£7,775</a:t>
            </a:r>
            <a:endParaRPr lang="en-US" sz="570" dirty="0"/>
          </a:p>
        </p:txBody>
      </p:sp>
      <p:sp>
        <p:nvSpPr>
          <p:cNvPr id="35" name="Text 32"/>
          <p:cNvSpPr/>
          <p:nvPr/>
        </p:nvSpPr>
        <p:spPr>
          <a:xfrm>
            <a:off x="530352" y="356058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Ferries UK (+41.6%)</a:t>
            </a:r>
            <a:endParaRPr lang="en-US" sz="580" dirty="0"/>
          </a:p>
        </p:txBody>
      </p:sp>
      <p:sp>
        <p:nvSpPr>
          <p:cNvPr id="36" name="Shape 33"/>
          <p:cNvSpPr/>
          <p:nvPr/>
        </p:nvSpPr>
        <p:spPr>
          <a:xfrm>
            <a:off x="7392924" y="3592586"/>
            <a:ext cx="9427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532918" y="357887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£6,492</a:t>
            </a:r>
            <a:endParaRPr lang="en-US" sz="570" dirty="0"/>
          </a:p>
        </p:txBody>
      </p:sp>
      <p:sp>
        <p:nvSpPr>
          <p:cNvPr id="38" name="Text 35"/>
          <p:cNvSpPr/>
          <p:nvPr/>
        </p:nvSpPr>
        <p:spPr>
          <a:xfrm>
            <a:off x="530352" y="380289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AutoEurope UK (+180.6%)</a:t>
            </a:r>
            <a:endParaRPr lang="en-US" sz="580" dirty="0"/>
          </a:p>
        </p:txBody>
      </p:sp>
      <p:sp>
        <p:nvSpPr>
          <p:cNvPr id="39" name="Shape 36"/>
          <p:cNvSpPr/>
          <p:nvPr/>
        </p:nvSpPr>
        <p:spPr>
          <a:xfrm>
            <a:off x="7392924" y="3834902"/>
            <a:ext cx="76988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515632" y="382118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£5,302</a:t>
            </a:r>
            <a:endParaRPr lang="en-US" sz="570" dirty="0"/>
          </a:p>
        </p:txBody>
      </p:sp>
      <p:sp>
        <p:nvSpPr>
          <p:cNvPr id="41" name="Text 38"/>
          <p:cNvSpPr/>
          <p:nvPr/>
        </p:nvSpPr>
        <p:spPr>
          <a:xfrm>
            <a:off x="530352" y="404521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Lenstore UK Contact Lenses (-51.9%)</a:t>
            </a:r>
            <a:endParaRPr lang="en-US" sz="580" dirty="0"/>
          </a:p>
        </p:txBody>
      </p:sp>
      <p:sp>
        <p:nvSpPr>
          <p:cNvPr id="42" name="Shape 39"/>
          <p:cNvSpPr/>
          <p:nvPr/>
        </p:nvSpPr>
        <p:spPr>
          <a:xfrm>
            <a:off x="7265112" y="4077218"/>
            <a:ext cx="12781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378144" y="406350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-£8,802</a:t>
            </a:r>
            <a:endParaRPr lang="en-US" sz="570" dirty="0"/>
          </a:p>
        </p:txBody>
      </p:sp>
      <p:sp>
        <p:nvSpPr>
          <p:cNvPr id="44" name="Text 41"/>
          <p:cNvSpPr/>
          <p:nvPr/>
        </p:nvSpPr>
        <p:spPr>
          <a:xfrm>
            <a:off x="530352" y="428753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eFlorist UK (-28.6%)</a:t>
            </a:r>
            <a:endParaRPr lang="en-US" sz="580" dirty="0"/>
          </a:p>
        </p:txBody>
      </p:sp>
      <p:sp>
        <p:nvSpPr>
          <p:cNvPr id="45" name="Shape 42"/>
          <p:cNvSpPr/>
          <p:nvPr/>
        </p:nvSpPr>
        <p:spPr>
          <a:xfrm>
            <a:off x="7261750" y="4319534"/>
            <a:ext cx="13117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374782" y="430581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-£9,033</a:t>
            </a:r>
            <a:endParaRPr lang="en-US" sz="570" dirty="0"/>
          </a:p>
        </p:txBody>
      </p:sp>
      <p:sp>
        <p:nvSpPr>
          <p:cNvPr id="47" name="Text 44"/>
          <p:cNvSpPr/>
          <p:nvPr/>
        </p:nvSpPr>
        <p:spPr>
          <a:xfrm>
            <a:off x="530352" y="452984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 Electrical (-46.1%)</a:t>
            </a:r>
            <a:endParaRPr lang="en-US" sz="580" dirty="0"/>
          </a:p>
        </p:txBody>
      </p:sp>
      <p:sp>
        <p:nvSpPr>
          <p:cNvPr id="48" name="Shape 45"/>
          <p:cNvSpPr/>
          <p:nvPr/>
        </p:nvSpPr>
        <p:spPr>
          <a:xfrm>
            <a:off x="7210930" y="4561850"/>
            <a:ext cx="18199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323962" y="454813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-£12,533</a:t>
            </a:r>
            <a:endParaRPr lang="en-US" sz="570" dirty="0"/>
          </a:p>
        </p:txBody>
      </p:sp>
      <p:sp>
        <p:nvSpPr>
          <p:cNvPr id="50" name="Text 47"/>
          <p:cNvSpPr/>
          <p:nvPr/>
        </p:nvSpPr>
        <p:spPr>
          <a:xfrm>
            <a:off x="530352" y="477216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Lufthansa UK (-100.0%)</a:t>
            </a:r>
            <a:endParaRPr lang="en-US" sz="580" dirty="0"/>
          </a:p>
        </p:txBody>
      </p:sp>
      <p:sp>
        <p:nvSpPr>
          <p:cNvPr id="51" name="Shape 48"/>
          <p:cNvSpPr/>
          <p:nvPr/>
        </p:nvSpPr>
        <p:spPr>
          <a:xfrm>
            <a:off x="7139849" y="4804166"/>
            <a:ext cx="25307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252881" y="479045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-£17,428</a:t>
            </a:r>
            <a:endParaRPr lang="en-US" sz="570" dirty="0"/>
          </a:p>
        </p:txBody>
      </p:sp>
      <p:sp>
        <p:nvSpPr>
          <p:cNvPr id="53" name="Text 50"/>
          <p:cNvSpPr/>
          <p:nvPr/>
        </p:nvSpPr>
        <p:spPr>
          <a:xfrm>
            <a:off x="530352" y="501447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InsureandGo (-38.4%)</a:t>
            </a:r>
            <a:endParaRPr lang="en-US" sz="580" dirty="0"/>
          </a:p>
        </p:txBody>
      </p:sp>
      <p:sp>
        <p:nvSpPr>
          <p:cNvPr id="54" name="Shape 51"/>
          <p:cNvSpPr/>
          <p:nvPr/>
        </p:nvSpPr>
        <p:spPr>
          <a:xfrm>
            <a:off x="7135883" y="5046482"/>
            <a:ext cx="257041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248915" y="503276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-£17,701</a:t>
            </a:r>
            <a:endParaRPr lang="en-US" sz="570" dirty="0"/>
          </a:p>
        </p:txBody>
      </p:sp>
      <p:sp>
        <p:nvSpPr>
          <p:cNvPr id="56" name="Text 53"/>
          <p:cNvSpPr/>
          <p:nvPr/>
        </p:nvSpPr>
        <p:spPr>
          <a:xfrm>
            <a:off x="530352" y="525679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(-38.3%)</a:t>
            </a:r>
            <a:endParaRPr lang="en-US" sz="580" dirty="0"/>
          </a:p>
        </p:txBody>
      </p:sp>
      <p:sp>
        <p:nvSpPr>
          <p:cNvPr id="57" name="Shape 54"/>
          <p:cNvSpPr/>
          <p:nvPr/>
        </p:nvSpPr>
        <p:spPr>
          <a:xfrm>
            <a:off x="7035701" y="5288798"/>
            <a:ext cx="357223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148733" y="527508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-£24,600</a:t>
            </a:r>
            <a:endParaRPr lang="en-US" sz="570" dirty="0"/>
          </a:p>
        </p:txBody>
      </p:sp>
      <p:sp>
        <p:nvSpPr>
          <p:cNvPr id="59" name="Text 56"/>
          <p:cNvSpPr/>
          <p:nvPr/>
        </p:nvSpPr>
        <p:spPr>
          <a:xfrm>
            <a:off x="530352" y="549911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Disneyland Paris GB (-53.4%)</a:t>
            </a:r>
            <a:endParaRPr lang="en-US" sz="580" dirty="0"/>
          </a:p>
        </p:txBody>
      </p:sp>
      <p:sp>
        <p:nvSpPr>
          <p:cNvPr id="60" name="Shape 57"/>
          <p:cNvSpPr/>
          <p:nvPr/>
        </p:nvSpPr>
        <p:spPr>
          <a:xfrm>
            <a:off x="6829825" y="5531114"/>
            <a:ext cx="563099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942857" y="551739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-£38,777</a:t>
            </a:r>
            <a:endParaRPr lang="en-US" sz="570" dirty="0"/>
          </a:p>
        </p:txBody>
      </p:sp>
      <p:sp>
        <p:nvSpPr>
          <p:cNvPr id="62" name="Text 59"/>
          <p:cNvSpPr/>
          <p:nvPr/>
        </p:nvSpPr>
        <p:spPr>
          <a:xfrm>
            <a:off x="530352" y="574142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MoneyFarm (-65.0%)</a:t>
            </a:r>
            <a:endParaRPr lang="en-US" sz="580" dirty="0"/>
          </a:p>
        </p:txBody>
      </p:sp>
      <p:sp>
        <p:nvSpPr>
          <p:cNvPr id="63" name="Shape 60"/>
          <p:cNvSpPr/>
          <p:nvPr/>
        </p:nvSpPr>
        <p:spPr>
          <a:xfrm>
            <a:off x="6544359" y="5773430"/>
            <a:ext cx="84856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657391" y="575971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-£58,435</a:t>
            </a:r>
            <a:endParaRPr lang="en-US" sz="570" dirty="0"/>
          </a:p>
        </p:txBody>
      </p:sp>
      <p:sp>
        <p:nvSpPr>
          <p:cNvPr id="65" name="Text 62"/>
          <p:cNvSpPr/>
          <p:nvPr/>
        </p:nvSpPr>
        <p:spPr>
          <a:xfrm>
            <a:off x="530352" y="598374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Republic (Closed 17.09.2025) (-100.0%)</a:t>
            </a:r>
            <a:endParaRPr lang="en-US" sz="580" dirty="0"/>
          </a:p>
        </p:txBody>
      </p:sp>
      <p:sp>
        <p:nvSpPr>
          <p:cNvPr id="66" name="Shape 63"/>
          <p:cNvSpPr/>
          <p:nvPr/>
        </p:nvSpPr>
        <p:spPr>
          <a:xfrm>
            <a:off x="6138717" y="6015746"/>
            <a:ext cx="1254207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251749" y="600203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-£86,369</a:t>
            </a:r>
            <a:endParaRPr lang="en-US" sz="570" dirty="0"/>
          </a:p>
        </p:txBody>
      </p:sp>
      <p:sp>
        <p:nvSpPr>
          <p:cNvPr id="68" name="Text 65"/>
          <p:cNvSpPr/>
          <p:nvPr/>
        </p:nvSpPr>
        <p:spPr>
          <a:xfrm>
            <a:off x="530352" y="622605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(-64.7%)</a:t>
            </a:r>
            <a:endParaRPr lang="en-US" sz="580" dirty="0"/>
          </a:p>
        </p:txBody>
      </p:sp>
      <p:sp>
        <p:nvSpPr>
          <p:cNvPr id="69" name="Shape 66"/>
          <p:cNvSpPr/>
          <p:nvPr/>
        </p:nvSpPr>
        <p:spPr>
          <a:xfrm>
            <a:off x="4050792" y="6258062"/>
            <a:ext cx="334213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959352" y="624434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-£230,152</a:t>
            </a:r>
            <a:endParaRPr lang="en-US" sz="5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92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55618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442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308269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Huawei Tenancies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£10,200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£10,200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381677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Rose Assurance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£339,888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£9,570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£9,570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391591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Serenata Flowers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£38,754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£7,775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£7,775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377698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Ferryhopper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£57,014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£1,710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£1,710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396847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Merach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£11,880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£1,188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£1,188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393448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Bargain Hardware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£14,499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380893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Esdemarca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£7,182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382614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Heathrow Airport - Tidy Parking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£1,959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353828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Vinatis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£8,680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£436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382842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Clickrent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£3,010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2935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Programs with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 which you have 0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 of the above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£3,676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£6,690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£4,138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£3,473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£17,977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12064" y="31272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 comm by week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078992" y="3447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3383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100,000</a:t>
            </a:r>
            <a:endParaRPr lang="en-US" sz="620" dirty="0"/>
          </a:p>
        </p:txBody>
      </p:sp>
      <p:sp>
        <p:nvSpPr>
          <p:cNvPr id="10" name="Shape 6"/>
          <p:cNvSpPr/>
          <p:nvPr/>
        </p:nvSpPr>
        <p:spPr>
          <a:xfrm>
            <a:off x="1078992" y="39044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12064" y="38404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80,000</a:t>
            </a:r>
            <a:endParaRPr lang="en-US" sz="620" dirty="0"/>
          </a:p>
        </p:txBody>
      </p:sp>
      <p:sp>
        <p:nvSpPr>
          <p:cNvPr id="12" name="Shape 8"/>
          <p:cNvSpPr/>
          <p:nvPr/>
        </p:nvSpPr>
        <p:spPr>
          <a:xfrm>
            <a:off x="1078992" y="43616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2064" y="42976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60,000</a:t>
            </a:r>
            <a:endParaRPr lang="en-US" sz="620" dirty="0"/>
          </a:p>
        </p:txBody>
      </p:sp>
      <p:sp>
        <p:nvSpPr>
          <p:cNvPr id="14" name="Shape 10"/>
          <p:cNvSpPr/>
          <p:nvPr/>
        </p:nvSpPr>
        <p:spPr>
          <a:xfrm>
            <a:off x="1078992" y="48188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2064" y="47548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40,000</a:t>
            </a:r>
            <a:endParaRPr lang="en-US" sz="620" dirty="0"/>
          </a:p>
        </p:txBody>
      </p:sp>
      <p:sp>
        <p:nvSpPr>
          <p:cNvPr id="16" name="Shape 12"/>
          <p:cNvSpPr/>
          <p:nvPr/>
        </p:nvSpPr>
        <p:spPr>
          <a:xfrm>
            <a:off x="1078992" y="52760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064" y="52120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20,000</a:t>
            </a:r>
            <a:endParaRPr lang="en-US" sz="620" dirty="0"/>
          </a:p>
        </p:txBody>
      </p:sp>
      <p:sp>
        <p:nvSpPr>
          <p:cNvPr id="18" name="Shape 14"/>
          <p:cNvSpPr/>
          <p:nvPr/>
        </p:nvSpPr>
        <p:spPr>
          <a:xfrm>
            <a:off x="1078992" y="5733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2064" y="5669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20" dirty="0"/>
          </a:p>
        </p:txBody>
      </p:sp>
      <p:sp>
        <p:nvSpPr>
          <p:cNvPr id="20" name="Shape 16"/>
          <p:cNvSpPr/>
          <p:nvPr/>
        </p:nvSpPr>
        <p:spPr>
          <a:xfrm>
            <a:off x="1255581" y="4823414"/>
            <a:ext cx="166201" cy="909874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774960" y="4243227"/>
            <a:ext cx="166201" cy="149006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294339" y="4282478"/>
            <a:ext cx="166201" cy="1450810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813719" y="4408300"/>
            <a:ext cx="166201" cy="1324988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333098" y="4368112"/>
            <a:ext cx="166201" cy="1365176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852477" y="4336679"/>
            <a:ext cx="166201" cy="139660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371856" y="4377301"/>
            <a:ext cx="166201" cy="135598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891235" y="4580092"/>
            <a:ext cx="166201" cy="1153196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410615" y="4646409"/>
            <a:ext cx="166201" cy="108687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929994" y="4500745"/>
            <a:ext cx="166201" cy="1232543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449373" y="4368089"/>
            <a:ext cx="166201" cy="136519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968752" y="4619709"/>
            <a:ext cx="166201" cy="111357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488131" y="4562970"/>
            <a:ext cx="166201" cy="1170318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007511" y="4690049"/>
            <a:ext cx="166201" cy="104323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526890" y="4802383"/>
            <a:ext cx="166201" cy="93090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9046269" y="4764481"/>
            <a:ext cx="166201" cy="96880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9565648" y="4849360"/>
            <a:ext cx="166201" cy="883928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0085027" y="4483669"/>
            <a:ext cx="166201" cy="124961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0604407" y="4618086"/>
            <a:ext cx="166201" cy="1115202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1123786" y="5556123"/>
            <a:ext cx="166201" cy="17716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338682" y="5633550"/>
            <a:ext cx="519379" cy="-15556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858061" y="5477988"/>
            <a:ext cx="519379" cy="8343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2377440" y="5561427"/>
            <a:ext cx="519379" cy="-2393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2896819" y="5537492"/>
            <a:ext cx="519379" cy="34496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3416198" y="5571988"/>
            <a:ext cx="519379" cy="-12477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3935578" y="5447218"/>
            <a:ext cx="519379" cy="-2891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4454957" y="5418300"/>
            <a:ext cx="519379" cy="9294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4974336" y="5511249"/>
            <a:ext cx="519379" cy="-3934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5493715" y="5471907"/>
            <a:ext cx="519379" cy="-5230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6013094" y="5419603"/>
            <a:ext cx="519379" cy="502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6532474" y="5424632"/>
            <a:ext cx="519379" cy="-16871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7051853" y="5407762"/>
            <a:ext cx="519379" cy="3762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7571232" y="5445389"/>
            <a:ext cx="519379" cy="26906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8090611" y="5472295"/>
            <a:ext cx="519379" cy="75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8609990" y="5473050"/>
            <a:ext cx="519379" cy="8893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9129370" y="5481942"/>
            <a:ext cx="519379" cy="-233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9648749" y="5479611"/>
            <a:ext cx="519379" cy="-50246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10168128" y="5429364"/>
            <a:ext cx="519379" cy="-1463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10687507" y="5427901"/>
            <a:ext cx="519379" cy="25927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315822" y="5610690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1835201" y="545512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2354580" y="5538567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2873959" y="5514632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3393338" y="554912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3912718" y="542435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4432097" y="5395440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4951476" y="5488389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5470855" y="5449047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5990234" y="539674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6509614" y="5401772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7028993" y="5384902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7548372" y="5422529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8067751" y="5449435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8587130" y="5450190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9106510" y="5459082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9625889" y="5456751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10145268" y="540650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10664647" y="5405041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11184026" y="5664319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1338682" y="5578297"/>
            <a:ext cx="519379" cy="-50795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1858061" y="5527502"/>
            <a:ext cx="519379" cy="22357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2377440" y="5549859"/>
            <a:ext cx="519379" cy="-4364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2896819" y="5506220"/>
            <a:ext cx="519379" cy="-13419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3416198" y="5492801"/>
            <a:ext cx="519379" cy="-2052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3935578" y="5472273"/>
            <a:ext cx="519379" cy="41377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4454957" y="5513649"/>
            <a:ext cx="519379" cy="-3909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4974336" y="5509740"/>
            <a:ext cx="519379" cy="2743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5493715" y="5512483"/>
            <a:ext cx="519379" cy="1989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6013094" y="5514472"/>
            <a:ext cx="519379" cy="-2210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6532474" y="5492366"/>
            <a:ext cx="519379" cy="-2162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7051853" y="5470741"/>
            <a:ext cx="519379" cy="20505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7571232" y="5491246"/>
            <a:ext cx="519379" cy="47389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8090611" y="5538635"/>
            <a:ext cx="519379" cy="-4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8609990" y="5538589"/>
            <a:ext cx="519379" cy="-17191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9129370" y="5521399"/>
            <a:ext cx="519379" cy="384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9648749" y="5525239"/>
            <a:ext cx="519379" cy="-5441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10168128" y="5519798"/>
            <a:ext cx="519379" cy="-1543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10687507" y="5504368"/>
            <a:ext cx="519379" cy="19856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1315822" y="5555437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1835201" y="5504642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2354580" y="552699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2873959" y="5483360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3393338" y="5469941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3912718" y="544941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4432097" y="549078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4951476" y="5486880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5470855" y="548962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5990234" y="5491612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6509614" y="546950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7028993" y="5447881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7548372" y="546838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8067751" y="5515775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8587130" y="551572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9106510" y="549853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9625889" y="550237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10145268" y="5496938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10664647" y="5481508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11184026" y="5680070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1338682" y="5618416"/>
            <a:ext cx="519379" cy="-31981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1858061" y="5586435"/>
            <a:ext cx="519379" cy="55664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2377440" y="5642099"/>
            <a:ext cx="519379" cy="-541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2896819" y="5636682"/>
            <a:ext cx="519379" cy="11796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3416198" y="5648477"/>
            <a:ext cx="519379" cy="-2622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3935578" y="5622257"/>
            <a:ext cx="519379" cy="29284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>
            <a:off x="4454957" y="5651541"/>
            <a:ext cx="519379" cy="-2624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4974336" y="5625297"/>
            <a:ext cx="519379" cy="2775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5493715" y="5653049"/>
            <a:ext cx="519379" cy="224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6013094" y="5655290"/>
            <a:ext cx="519379" cy="907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6532474" y="5664365"/>
            <a:ext cx="519379" cy="-395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7051853" y="5660410"/>
            <a:ext cx="519379" cy="-1664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7571232" y="5643768"/>
            <a:ext cx="519379" cy="-1712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8090611" y="5626646"/>
            <a:ext cx="519379" cy="-1732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8609990" y="5609318"/>
            <a:ext cx="519379" cy="3163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9129370" y="5640956"/>
            <a:ext cx="519379" cy="2126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9648749" y="5643082"/>
            <a:ext cx="519379" cy="-1456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5" name="Shape 131"/>
          <p:cNvSpPr/>
          <p:nvPr/>
        </p:nvSpPr>
        <p:spPr>
          <a:xfrm>
            <a:off x="10168128" y="5628521"/>
            <a:ext cx="519379" cy="11201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10687507" y="5639722"/>
            <a:ext cx="519379" cy="72809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1315822" y="559555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>
            <a:off x="1835201" y="556357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>
            <a:off x="2354580" y="561923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2873959" y="561382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>
            <a:off x="3393338" y="562561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2" name="Shape 138"/>
          <p:cNvSpPr/>
          <p:nvPr/>
        </p:nvSpPr>
        <p:spPr>
          <a:xfrm>
            <a:off x="3912718" y="559939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3" name="Shape 139"/>
          <p:cNvSpPr/>
          <p:nvPr/>
        </p:nvSpPr>
        <p:spPr>
          <a:xfrm>
            <a:off x="4432097" y="5628681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4" name="Shape 140"/>
          <p:cNvSpPr/>
          <p:nvPr/>
        </p:nvSpPr>
        <p:spPr>
          <a:xfrm>
            <a:off x="4951476" y="560243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5" name="Shape 141"/>
          <p:cNvSpPr/>
          <p:nvPr/>
        </p:nvSpPr>
        <p:spPr>
          <a:xfrm>
            <a:off x="5470855" y="563018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6" name="Shape 142"/>
          <p:cNvSpPr/>
          <p:nvPr/>
        </p:nvSpPr>
        <p:spPr>
          <a:xfrm>
            <a:off x="5990234" y="5632430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7" name="Shape 143"/>
          <p:cNvSpPr/>
          <p:nvPr/>
        </p:nvSpPr>
        <p:spPr>
          <a:xfrm>
            <a:off x="6509614" y="564150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8" name="Shape 144"/>
          <p:cNvSpPr/>
          <p:nvPr/>
        </p:nvSpPr>
        <p:spPr>
          <a:xfrm>
            <a:off x="7028993" y="5637550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9" name="Shape 145"/>
          <p:cNvSpPr/>
          <p:nvPr/>
        </p:nvSpPr>
        <p:spPr>
          <a:xfrm>
            <a:off x="7548372" y="5620908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0" name="Shape 146"/>
          <p:cNvSpPr/>
          <p:nvPr/>
        </p:nvSpPr>
        <p:spPr>
          <a:xfrm>
            <a:off x="8067751" y="560378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1" name="Shape 147"/>
          <p:cNvSpPr/>
          <p:nvPr/>
        </p:nvSpPr>
        <p:spPr>
          <a:xfrm>
            <a:off x="8587130" y="5586458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2" name="Shape 148"/>
          <p:cNvSpPr/>
          <p:nvPr/>
        </p:nvSpPr>
        <p:spPr>
          <a:xfrm>
            <a:off x="9106510" y="561809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3" name="Shape 149"/>
          <p:cNvSpPr/>
          <p:nvPr/>
        </p:nvSpPr>
        <p:spPr>
          <a:xfrm>
            <a:off x="9625889" y="562022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4" name="Shape 150"/>
          <p:cNvSpPr/>
          <p:nvPr/>
        </p:nvSpPr>
        <p:spPr>
          <a:xfrm>
            <a:off x="10145268" y="5605661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5" name="Shape 151"/>
          <p:cNvSpPr/>
          <p:nvPr/>
        </p:nvSpPr>
        <p:spPr>
          <a:xfrm>
            <a:off x="10664647" y="561686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6" name="Shape 152"/>
          <p:cNvSpPr/>
          <p:nvPr/>
        </p:nvSpPr>
        <p:spPr>
          <a:xfrm>
            <a:off x="11184026" y="5689671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7" name="Shape 153"/>
          <p:cNvSpPr/>
          <p:nvPr/>
        </p:nvSpPr>
        <p:spPr>
          <a:xfrm>
            <a:off x="1338682" y="5606575"/>
            <a:ext cx="519379" cy="5669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58" name="Shape 154"/>
          <p:cNvSpPr/>
          <p:nvPr/>
        </p:nvSpPr>
        <p:spPr>
          <a:xfrm>
            <a:off x="1858061" y="5612244"/>
            <a:ext cx="519379" cy="25603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59" name="Shape 155"/>
          <p:cNvSpPr/>
          <p:nvPr/>
        </p:nvSpPr>
        <p:spPr>
          <a:xfrm>
            <a:off x="2377440" y="5637847"/>
            <a:ext cx="519379" cy="-1943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0" name="Shape 156"/>
          <p:cNvSpPr/>
          <p:nvPr/>
        </p:nvSpPr>
        <p:spPr>
          <a:xfrm>
            <a:off x="2896819" y="5635904"/>
            <a:ext cx="519379" cy="2478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1" name="Shape 157"/>
          <p:cNvSpPr/>
          <p:nvPr/>
        </p:nvSpPr>
        <p:spPr>
          <a:xfrm>
            <a:off x="3416198" y="5660685"/>
            <a:ext cx="519379" cy="-57424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2" name="Shape 158"/>
          <p:cNvSpPr/>
          <p:nvPr/>
        </p:nvSpPr>
        <p:spPr>
          <a:xfrm>
            <a:off x="3935578" y="5603260"/>
            <a:ext cx="519379" cy="41102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3" name="Shape 159"/>
          <p:cNvSpPr/>
          <p:nvPr/>
        </p:nvSpPr>
        <p:spPr>
          <a:xfrm>
            <a:off x="4454957" y="5644363"/>
            <a:ext cx="519379" cy="-2078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4" name="Shape 160"/>
          <p:cNvSpPr/>
          <p:nvPr/>
        </p:nvSpPr>
        <p:spPr>
          <a:xfrm>
            <a:off x="4974336" y="5623583"/>
            <a:ext cx="519379" cy="-1419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5" name="Shape 161"/>
          <p:cNvSpPr/>
          <p:nvPr/>
        </p:nvSpPr>
        <p:spPr>
          <a:xfrm>
            <a:off x="5493715" y="5609387"/>
            <a:ext cx="519379" cy="6906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6" name="Shape 162"/>
          <p:cNvSpPr/>
          <p:nvPr/>
        </p:nvSpPr>
        <p:spPr>
          <a:xfrm>
            <a:off x="6013094" y="5678447"/>
            <a:ext cx="519379" cy="-18197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7" name="Shape 163"/>
          <p:cNvSpPr/>
          <p:nvPr/>
        </p:nvSpPr>
        <p:spPr>
          <a:xfrm>
            <a:off x="6532474" y="5660250"/>
            <a:ext cx="519379" cy="12687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8" name="Shape 164"/>
          <p:cNvSpPr/>
          <p:nvPr/>
        </p:nvSpPr>
        <p:spPr>
          <a:xfrm>
            <a:off x="7051853" y="5672938"/>
            <a:ext cx="519379" cy="324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9" name="Shape 165"/>
          <p:cNvSpPr/>
          <p:nvPr/>
        </p:nvSpPr>
        <p:spPr>
          <a:xfrm>
            <a:off x="7571232" y="5676184"/>
            <a:ext cx="519379" cy="1417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70" name="Shape 166"/>
          <p:cNvSpPr/>
          <p:nvPr/>
        </p:nvSpPr>
        <p:spPr>
          <a:xfrm>
            <a:off x="8090611" y="5677601"/>
            <a:ext cx="519379" cy="-35913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71" name="Shape 167"/>
          <p:cNvSpPr/>
          <p:nvPr/>
        </p:nvSpPr>
        <p:spPr>
          <a:xfrm>
            <a:off x="8609990" y="5641688"/>
            <a:ext cx="519379" cy="10538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72" name="Shape 168"/>
          <p:cNvSpPr/>
          <p:nvPr/>
        </p:nvSpPr>
        <p:spPr>
          <a:xfrm>
            <a:off x="9129370" y="5652226"/>
            <a:ext cx="519379" cy="16939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73" name="Shape 169"/>
          <p:cNvSpPr/>
          <p:nvPr/>
        </p:nvSpPr>
        <p:spPr>
          <a:xfrm>
            <a:off x="9648749" y="5669166"/>
            <a:ext cx="519379" cy="-2857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74" name="Shape 170"/>
          <p:cNvSpPr/>
          <p:nvPr/>
        </p:nvSpPr>
        <p:spPr>
          <a:xfrm>
            <a:off x="10168128" y="5666308"/>
            <a:ext cx="519379" cy="-955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75" name="Shape 171"/>
          <p:cNvSpPr/>
          <p:nvPr/>
        </p:nvSpPr>
        <p:spPr>
          <a:xfrm>
            <a:off x="10687507" y="5656753"/>
            <a:ext cx="519379" cy="5635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76" name="Shape 172"/>
          <p:cNvSpPr/>
          <p:nvPr/>
        </p:nvSpPr>
        <p:spPr>
          <a:xfrm>
            <a:off x="1315822" y="5583715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7" name="Shape 173"/>
          <p:cNvSpPr/>
          <p:nvPr/>
        </p:nvSpPr>
        <p:spPr>
          <a:xfrm>
            <a:off x="1835201" y="558938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8" name="Shape 174"/>
          <p:cNvSpPr/>
          <p:nvPr/>
        </p:nvSpPr>
        <p:spPr>
          <a:xfrm>
            <a:off x="2354580" y="561498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9" name="Shape 175"/>
          <p:cNvSpPr/>
          <p:nvPr/>
        </p:nvSpPr>
        <p:spPr>
          <a:xfrm>
            <a:off x="2873959" y="561304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0" name="Shape 176"/>
          <p:cNvSpPr/>
          <p:nvPr/>
        </p:nvSpPr>
        <p:spPr>
          <a:xfrm>
            <a:off x="3393338" y="5637825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1" name="Shape 177"/>
          <p:cNvSpPr/>
          <p:nvPr/>
        </p:nvSpPr>
        <p:spPr>
          <a:xfrm>
            <a:off x="3912718" y="5580400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2" name="Shape 178"/>
          <p:cNvSpPr/>
          <p:nvPr/>
        </p:nvSpPr>
        <p:spPr>
          <a:xfrm>
            <a:off x="4432097" y="562150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3" name="Shape 179"/>
          <p:cNvSpPr/>
          <p:nvPr/>
        </p:nvSpPr>
        <p:spPr>
          <a:xfrm>
            <a:off x="4951476" y="560072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4" name="Shape 180"/>
          <p:cNvSpPr/>
          <p:nvPr/>
        </p:nvSpPr>
        <p:spPr>
          <a:xfrm>
            <a:off x="5470855" y="558652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5" name="Shape 181"/>
          <p:cNvSpPr/>
          <p:nvPr/>
        </p:nvSpPr>
        <p:spPr>
          <a:xfrm>
            <a:off x="5990234" y="565558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6" name="Shape 182"/>
          <p:cNvSpPr/>
          <p:nvPr/>
        </p:nvSpPr>
        <p:spPr>
          <a:xfrm>
            <a:off x="6509614" y="5637390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7" name="Shape 183"/>
          <p:cNvSpPr/>
          <p:nvPr/>
        </p:nvSpPr>
        <p:spPr>
          <a:xfrm>
            <a:off x="7028993" y="5650078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8" name="Shape 184"/>
          <p:cNvSpPr/>
          <p:nvPr/>
        </p:nvSpPr>
        <p:spPr>
          <a:xfrm>
            <a:off x="7548372" y="565332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9" name="Shape 185"/>
          <p:cNvSpPr/>
          <p:nvPr/>
        </p:nvSpPr>
        <p:spPr>
          <a:xfrm>
            <a:off x="8067751" y="5654741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0" name="Shape 186"/>
          <p:cNvSpPr/>
          <p:nvPr/>
        </p:nvSpPr>
        <p:spPr>
          <a:xfrm>
            <a:off x="8587130" y="5618828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1" name="Shape 187"/>
          <p:cNvSpPr/>
          <p:nvPr/>
        </p:nvSpPr>
        <p:spPr>
          <a:xfrm>
            <a:off x="9106510" y="5629366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2" name="Shape 188"/>
          <p:cNvSpPr/>
          <p:nvPr/>
        </p:nvSpPr>
        <p:spPr>
          <a:xfrm>
            <a:off x="9625889" y="5646306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3" name="Shape 189"/>
          <p:cNvSpPr/>
          <p:nvPr/>
        </p:nvSpPr>
        <p:spPr>
          <a:xfrm>
            <a:off x="10145268" y="5643448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4" name="Shape 190"/>
          <p:cNvSpPr/>
          <p:nvPr/>
        </p:nvSpPr>
        <p:spPr>
          <a:xfrm>
            <a:off x="10664647" y="563389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5" name="Shape 191"/>
          <p:cNvSpPr/>
          <p:nvPr/>
        </p:nvSpPr>
        <p:spPr>
          <a:xfrm>
            <a:off x="11184026" y="569024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6" name="Text 192"/>
          <p:cNvSpPr/>
          <p:nvPr/>
        </p:nvSpPr>
        <p:spPr>
          <a:xfrm>
            <a:off x="1089380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2025-12-29</a:t>
            </a:r>
            <a:endParaRPr lang="en-US" sz="580" dirty="0"/>
          </a:p>
        </p:txBody>
      </p:sp>
      <p:sp>
        <p:nvSpPr>
          <p:cNvPr id="197" name="Text 193"/>
          <p:cNvSpPr/>
          <p:nvPr/>
        </p:nvSpPr>
        <p:spPr>
          <a:xfrm>
            <a:off x="1608759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2026-01-05</a:t>
            </a:r>
            <a:endParaRPr lang="en-US" sz="580" dirty="0"/>
          </a:p>
        </p:txBody>
      </p:sp>
      <p:sp>
        <p:nvSpPr>
          <p:cNvPr id="198" name="Text 194"/>
          <p:cNvSpPr/>
          <p:nvPr/>
        </p:nvSpPr>
        <p:spPr>
          <a:xfrm>
            <a:off x="2128138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2026-01-12</a:t>
            </a:r>
            <a:endParaRPr lang="en-US" sz="580" dirty="0"/>
          </a:p>
        </p:txBody>
      </p:sp>
      <p:sp>
        <p:nvSpPr>
          <p:cNvPr id="199" name="Text 195"/>
          <p:cNvSpPr/>
          <p:nvPr/>
        </p:nvSpPr>
        <p:spPr>
          <a:xfrm>
            <a:off x="2647517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2026-01-19</a:t>
            </a:r>
            <a:endParaRPr lang="en-US" sz="580" dirty="0"/>
          </a:p>
        </p:txBody>
      </p:sp>
      <p:sp>
        <p:nvSpPr>
          <p:cNvPr id="200" name="Text 196"/>
          <p:cNvSpPr/>
          <p:nvPr/>
        </p:nvSpPr>
        <p:spPr>
          <a:xfrm>
            <a:off x="3166896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2026-01-26</a:t>
            </a:r>
            <a:endParaRPr lang="en-US" sz="580" dirty="0"/>
          </a:p>
        </p:txBody>
      </p:sp>
      <p:sp>
        <p:nvSpPr>
          <p:cNvPr id="201" name="Text 197"/>
          <p:cNvSpPr/>
          <p:nvPr/>
        </p:nvSpPr>
        <p:spPr>
          <a:xfrm>
            <a:off x="3686276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2026-02-02</a:t>
            </a:r>
            <a:endParaRPr lang="en-US" sz="580" dirty="0"/>
          </a:p>
        </p:txBody>
      </p:sp>
      <p:sp>
        <p:nvSpPr>
          <p:cNvPr id="202" name="Text 198"/>
          <p:cNvSpPr/>
          <p:nvPr/>
        </p:nvSpPr>
        <p:spPr>
          <a:xfrm>
            <a:off x="4205655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2026-02-09</a:t>
            </a:r>
            <a:endParaRPr lang="en-US" sz="580" dirty="0"/>
          </a:p>
        </p:txBody>
      </p:sp>
      <p:sp>
        <p:nvSpPr>
          <p:cNvPr id="203" name="Text 199"/>
          <p:cNvSpPr/>
          <p:nvPr/>
        </p:nvSpPr>
        <p:spPr>
          <a:xfrm>
            <a:off x="4725034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2026-02-16</a:t>
            </a:r>
            <a:endParaRPr lang="en-US" sz="580" dirty="0"/>
          </a:p>
        </p:txBody>
      </p:sp>
      <p:sp>
        <p:nvSpPr>
          <p:cNvPr id="204" name="Text 200"/>
          <p:cNvSpPr/>
          <p:nvPr/>
        </p:nvSpPr>
        <p:spPr>
          <a:xfrm>
            <a:off x="5244413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2026-02-23</a:t>
            </a:r>
            <a:endParaRPr lang="en-US" sz="580" dirty="0"/>
          </a:p>
        </p:txBody>
      </p:sp>
      <p:sp>
        <p:nvSpPr>
          <p:cNvPr id="205" name="Text 201"/>
          <p:cNvSpPr/>
          <p:nvPr/>
        </p:nvSpPr>
        <p:spPr>
          <a:xfrm>
            <a:off x="5763792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2026-03-02</a:t>
            </a:r>
            <a:endParaRPr lang="en-US" sz="580" dirty="0"/>
          </a:p>
        </p:txBody>
      </p:sp>
      <p:sp>
        <p:nvSpPr>
          <p:cNvPr id="206" name="Text 202"/>
          <p:cNvSpPr/>
          <p:nvPr/>
        </p:nvSpPr>
        <p:spPr>
          <a:xfrm>
            <a:off x="6283172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2026-03-09</a:t>
            </a:r>
            <a:endParaRPr lang="en-US" sz="580" dirty="0"/>
          </a:p>
        </p:txBody>
      </p:sp>
      <p:sp>
        <p:nvSpPr>
          <p:cNvPr id="207" name="Text 203"/>
          <p:cNvSpPr/>
          <p:nvPr/>
        </p:nvSpPr>
        <p:spPr>
          <a:xfrm>
            <a:off x="6802551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2026-03-16</a:t>
            </a:r>
            <a:endParaRPr lang="en-US" sz="580" dirty="0"/>
          </a:p>
        </p:txBody>
      </p:sp>
      <p:sp>
        <p:nvSpPr>
          <p:cNvPr id="208" name="Text 204"/>
          <p:cNvSpPr/>
          <p:nvPr/>
        </p:nvSpPr>
        <p:spPr>
          <a:xfrm>
            <a:off x="7321930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2026-03-23</a:t>
            </a:r>
            <a:endParaRPr lang="en-US" sz="580" dirty="0"/>
          </a:p>
        </p:txBody>
      </p:sp>
      <p:sp>
        <p:nvSpPr>
          <p:cNvPr id="209" name="Text 205"/>
          <p:cNvSpPr/>
          <p:nvPr/>
        </p:nvSpPr>
        <p:spPr>
          <a:xfrm>
            <a:off x="7841309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2026-03-30</a:t>
            </a:r>
            <a:endParaRPr lang="en-US" sz="580" dirty="0"/>
          </a:p>
        </p:txBody>
      </p:sp>
      <p:sp>
        <p:nvSpPr>
          <p:cNvPr id="210" name="Text 206"/>
          <p:cNvSpPr/>
          <p:nvPr/>
        </p:nvSpPr>
        <p:spPr>
          <a:xfrm>
            <a:off x="8360688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2026-04-06</a:t>
            </a:r>
            <a:endParaRPr lang="en-US" sz="580" dirty="0"/>
          </a:p>
        </p:txBody>
      </p:sp>
      <p:sp>
        <p:nvSpPr>
          <p:cNvPr id="211" name="Text 207"/>
          <p:cNvSpPr/>
          <p:nvPr/>
        </p:nvSpPr>
        <p:spPr>
          <a:xfrm>
            <a:off x="8880068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2026-04-13</a:t>
            </a:r>
            <a:endParaRPr lang="en-US" sz="580" dirty="0"/>
          </a:p>
        </p:txBody>
      </p:sp>
      <p:sp>
        <p:nvSpPr>
          <p:cNvPr id="212" name="Text 208"/>
          <p:cNvSpPr/>
          <p:nvPr/>
        </p:nvSpPr>
        <p:spPr>
          <a:xfrm>
            <a:off x="9399447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2026-04-20</a:t>
            </a:r>
            <a:endParaRPr lang="en-US" sz="580" dirty="0"/>
          </a:p>
        </p:txBody>
      </p:sp>
      <p:sp>
        <p:nvSpPr>
          <p:cNvPr id="213" name="Text 209"/>
          <p:cNvSpPr/>
          <p:nvPr/>
        </p:nvSpPr>
        <p:spPr>
          <a:xfrm>
            <a:off x="9918826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2026-04-27</a:t>
            </a:r>
            <a:endParaRPr lang="en-US" sz="580" dirty="0"/>
          </a:p>
        </p:txBody>
      </p:sp>
      <p:sp>
        <p:nvSpPr>
          <p:cNvPr id="214" name="Text 210"/>
          <p:cNvSpPr/>
          <p:nvPr/>
        </p:nvSpPr>
        <p:spPr>
          <a:xfrm>
            <a:off x="10438205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2026-05-04</a:t>
            </a:r>
            <a:endParaRPr lang="en-US" sz="580" dirty="0"/>
          </a:p>
        </p:txBody>
      </p:sp>
      <p:sp>
        <p:nvSpPr>
          <p:cNvPr id="215" name="Text 211"/>
          <p:cNvSpPr/>
          <p:nvPr/>
        </p:nvSpPr>
        <p:spPr>
          <a:xfrm>
            <a:off x="10957584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2026-05-11</a:t>
            </a:r>
            <a:endParaRPr lang="en-US" sz="580" dirty="0"/>
          </a:p>
        </p:txBody>
      </p:sp>
      <p:sp>
        <p:nvSpPr>
          <p:cNvPr id="216" name="Shape 212"/>
          <p:cNvSpPr/>
          <p:nvPr/>
        </p:nvSpPr>
        <p:spPr>
          <a:xfrm>
            <a:off x="3712464" y="6089904"/>
            <a:ext cx="137160" cy="4572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7" name="Text 213"/>
          <p:cNvSpPr/>
          <p:nvPr/>
        </p:nvSpPr>
        <p:spPr>
          <a:xfrm>
            <a:off x="3886200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640" dirty="0"/>
          </a:p>
        </p:txBody>
      </p:sp>
      <p:sp>
        <p:nvSpPr>
          <p:cNvPr id="218" name="Shape 214"/>
          <p:cNvSpPr/>
          <p:nvPr/>
        </p:nvSpPr>
        <p:spPr>
          <a:xfrm>
            <a:off x="4736592" y="6117336"/>
            <a:ext cx="146304" cy="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219" name="Text 215"/>
          <p:cNvSpPr/>
          <p:nvPr/>
        </p:nvSpPr>
        <p:spPr>
          <a:xfrm>
            <a:off x="4910328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1</a:t>
            </a:r>
            <a:endParaRPr lang="en-US" sz="640" dirty="0"/>
          </a:p>
        </p:txBody>
      </p:sp>
      <p:sp>
        <p:nvSpPr>
          <p:cNvPr id="220" name="Shape 216"/>
          <p:cNvSpPr/>
          <p:nvPr/>
        </p:nvSpPr>
        <p:spPr>
          <a:xfrm>
            <a:off x="5760720" y="6117336"/>
            <a:ext cx="146304" cy="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221" name="Text 217"/>
          <p:cNvSpPr/>
          <p:nvPr/>
        </p:nvSpPr>
        <p:spPr>
          <a:xfrm>
            <a:off x="5934456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2</a:t>
            </a:r>
            <a:endParaRPr lang="en-US" sz="640" dirty="0"/>
          </a:p>
        </p:txBody>
      </p:sp>
      <p:sp>
        <p:nvSpPr>
          <p:cNvPr id="222" name="Shape 218"/>
          <p:cNvSpPr/>
          <p:nvPr/>
        </p:nvSpPr>
        <p:spPr>
          <a:xfrm>
            <a:off x="6784848" y="6117336"/>
            <a:ext cx="146304" cy="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223" name="Text 219"/>
          <p:cNvSpPr/>
          <p:nvPr/>
        </p:nvSpPr>
        <p:spPr>
          <a:xfrm>
            <a:off x="6958584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3</a:t>
            </a:r>
            <a:endParaRPr lang="en-US" sz="640" dirty="0"/>
          </a:p>
        </p:txBody>
      </p:sp>
      <p:sp>
        <p:nvSpPr>
          <p:cNvPr id="224" name="Shape 220"/>
          <p:cNvSpPr/>
          <p:nvPr/>
        </p:nvSpPr>
        <p:spPr>
          <a:xfrm>
            <a:off x="7808976" y="6117336"/>
            <a:ext cx="146304" cy="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225" name="Text 221"/>
          <p:cNvSpPr/>
          <p:nvPr/>
        </p:nvSpPr>
        <p:spPr>
          <a:xfrm>
            <a:off x="7982712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4</a:t>
            </a:r>
            <a:endParaRPr lang="en-US" sz="6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28216" y="3411169"/>
            <a:ext cx="438912" cy="2102663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18488" y="315513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258568" y="3364443"/>
            <a:ext cx="438912" cy="2149389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48840" y="310841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64%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22529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3739896" y="4906396"/>
            <a:ext cx="438912" cy="607436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0168" y="465036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270248" y="5053249"/>
            <a:ext cx="438912" cy="460583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479721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14%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3697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5751576" y="5143363"/>
            <a:ext cx="438912" cy="370469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41848" y="488733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81928" y="5120000"/>
            <a:ext cx="438912" cy="39383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86396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12%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24865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7763256" y="5403693"/>
            <a:ext cx="438912" cy="110139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53528" y="514766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3%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93608" y="5340279"/>
            <a:ext cx="438912" cy="173553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508424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26033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9774936" y="5370317"/>
            <a:ext cx="438912" cy="143515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5208" y="511428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10305288" y="5356967"/>
            <a:ext cx="438912" cy="156865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95560" y="510093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927201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4608576" y="5884164"/>
            <a:ext cx="137160" cy="64008"/>
          </a:xfrm>
          <a:prstGeom prst="rect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91456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 PP</a:t>
            </a:r>
            <a:endParaRPr lang="en-US" sz="760" dirty="0"/>
          </a:p>
        </p:txBody>
      </p:sp>
      <p:sp>
        <p:nvSpPr>
          <p:cNvPr id="38" name="Shape 35"/>
          <p:cNvSpPr/>
          <p:nvPr/>
        </p:nvSpPr>
        <p:spPr>
          <a:xfrm>
            <a:off x="6236208" y="5884164"/>
            <a:ext cx="137160" cy="6400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19088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</a:t>
            </a:r>
            <a:endParaRPr lang="en-US" sz="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458388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4437583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325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topcashback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Staysure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Morrisons Grocery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Disneyland Paris GB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MoneyFarm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InsureandGo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Club Med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+4.3% (24.1% to 25.2%). Conversions decreased -6.9% (-10,455),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-6.9% (-10,455).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-30.3% (£31,966,933 to £22,294,705).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-25.8% (£1,343,387 to £996,681).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-28.0% (£1,593,306 to £1,146,432). Digital wallet contribution was £149,751 (-40.1%),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risks to programme performance, external dependencies, and assigned action owners for the next review cycle.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20166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055364"/>
        </p:xfrm>
        <a:graphic>
          <a:graphicData uri="http://schemas.openxmlformats.org/drawingml/2006/table">
            <a:tbl>
              <a:tblPr/>
              <a:tblGrid>
                <a:gridCol w="4215384"/>
                <a:gridCol w="1121054"/>
                <a:gridCol w="58741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 / rationale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Impact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Mitigation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 - Conversion dependency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Reduce reliance on the exposed program set by building a second tier of contributors.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- Travel Republic (Closed 17.09.2025) YoY deterioration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Assign an owner to validate the evidence and confirm the next action before the next review.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- MoneyFarm YoY deterioration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Assign an owner to validate the evidence and confirm the next action before the next review.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- Lufthansa UK YoY deterioration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Assign an owner to validate the evidence and confirm the next action before the next review.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- Morrisons Grocery YoY deterioration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Assign an owner to validate the evidence and confirm the next action before the next review.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Topcashback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topcashback</dc:title>
  <dc:subject>Quarterly business review</dc:subject>
  <dc:creator>QBR PPTX Service</dc:creator>
  <cp:lastModifiedBy>QBR PPTX Service</cp:lastModifiedBy>
  <cp:revision>1</cp:revision>
  <dcterms:created xsi:type="dcterms:W3CDTF">2026-05-13T13:35:48Z</dcterms:created>
  <dcterms:modified xsi:type="dcterms:W3CDTF">2026-05-13T13:35:48Z</dcterms:modified>
</cp:coreProperties>
</file>