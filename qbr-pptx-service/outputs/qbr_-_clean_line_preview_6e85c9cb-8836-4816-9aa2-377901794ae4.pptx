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621792"/>
            <a:ext cx="10561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Line Preview Performance Review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621792" y="1828800"/>
            <a:ext cx="10378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focused year-over-year review of Clean Line Preview publisher performance, conversion dynamics, earnings and strategic priorities to drive growth and optimise outcomes.</a:t>
            </a:r>
            <a:endParaRPr lang="en-US" sz="1220" dirty="0"/>
          </a:p>
        </p:txBody>
      </p:sp>
      <p:pic>
        <p:nvPicPr>
          <p:cNvPr id="5" name="Image 1" descr="C:\Users\harcol\Workflows\Publisher QBR\ai-agent-agenthub\qbr-pptx-service\assets\td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58768"/>
            <a:ext cx="1965960" cy="1591056"/>
          </a:xfrm>
          <a:prstGeom prst="rect">
            <a:avLst/>
          </a:prstGeom>
        </p:spPr>
      </p:pic>
      <p:pic>
        <p:nvPicPr>
          <p:cNvPr id="6" name="Image 2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542032"/>
            <a:ext cx="40233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58368" y="126187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and YoY comparison windows</a:t>
            </a:r>
            <a:endParaRPr lang="en-US" sz="1020" dirty="0"/>
          </a:p>
        </p:txBody>
      </p:sp>
      <p:sp>
        <p:nvSpPr>
          <p:cNvPr id="5" name="Text 2"/>
          <p:cNvSpPr/>
          <p:nvPr/>
        </p:nvSpPr>
        <p:spPr>
          <a:xfrm>
            <a:off x="658368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Period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58368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Period: 1 January 2026 – 31 March 2026</a:t>
            </a:r>
            <a:endParaRPr lang="en-US" sz="980" dirty="0"/>
          </a:p>
        </p:txBody>
      </p:sp>
      <p:sp>
        <p:nvSpPr>
          <p:cNvPr id="7" name="Text 4"/>
          <p:cNvSpPr/>
          <p:nvPr/>
        </p:nvSpPr>
        <p:spPr>
          <a:xfrm>
            <a:off x="658368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as of: 31 March 2026</a:t>
            </a:r>
            <a:endParaRPr lang="en-US" sz="980" dirty="0"/>
          </a:p>
        </p:txBody>
      </p:sp>
      <p:sp>
        <p:nvSpPr>
          <p:cNvPr id="8" name="Text 5"/>
          <p:cNvSpPr/>
          <p:nvPr/>
        </p:nvSpPr>
        <p:spPr>
          <a:xfrm>
            <a:off x="5989320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 (YoY)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89320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Period: 1 January 2025 – 31 March 2025</a:t>
            </a:r>
            <a:endParaRPr lang="en-US" sz="980" dirty="0"/>
          </a:p>
        </p:txBody>
      </p:sp>
      <p:sp>
        <p:nvSpPr>
          <p:cNvPr id="10" name="Text 7"/>
          <p:cNvSpPr/>
          <p:nvPr/>
        </p:nvSpPr>
        <p:spPr>
          <a:xfrm>
            <a:off x="5989320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Basis: Year-over-Year (YoY)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658368" y="3273552"/>
            <a:ext cx="10927080" cy="804672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355701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figures are reported in GBP unless otherwise stated. YoY variance is calculated as Current Period vs Comparison Period.</a:t>
            </a:r>
            <a:endParaRPr lang="en-US" sz="9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Performance: Executive Summary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749808" y="536752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Across all programs connected to Clean Line Preview, performance was mixed in Jan 2026 – Mar 2026. Conversions moved N/A to - and conversion rate moved N/A to -. Publisher commission changed N/A to -, while digital wallet earnings changed N/A to -. Total earnings ended at - (N/A) and total order value changed N/A to -.</a:t>
            </a:r>
            <a:endParaRPr lang="en-US" sz="11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Summary Table: Conversions &amp; Earnings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KPI breakdown vs prior year.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156819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1421892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7635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Previous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Difference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% Variance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75488" y="3250692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= Publisher Commission + Digital Wallet. Conversion rate uses the source API's conversion-rate basis.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9260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Activation Status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089904" y="1298448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89904" y="3794760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424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288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47088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1847088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Joined programs</a:t>
            </a:r>
            <a:endParaRPr lang="en-US" sz="1360" dirty="0"/>
          </a:p>
        </p:txBody>
      </p:sp>
      <p:sp>
        <p:nvSpPr>
          <p:cNvPr id="10" name="Text 7"/>
          <p:cNvSpPr/>
          <p:nvPr/>
        </p:nvSpPr>
        <p:spPr>
          <a:xfrm>
            <a:off x="1847088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1847088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12" name="Text 9"/>
          <p:cNvSpPr/>
          <p:nvPr/>
        </p:nvSpPr>
        <p:spPr>
          <a:xfrm>
            <a:off x="3566160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3566160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14" name="Text 11"/>
          <p:cNvSpPr/>
          <p:nvPr/>
        </p:nvSpPr>
        <p:spPr>
          <a:xfrm>
            <a:off x="7278624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7278624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clicks</a:t>
            </a:r>
            <a:endParaRPr lang="en-US" sz="1360" dirty="0"/>
          </a:p>
        </p:txBody>
      </p:sp>
      <p:sp>
        <p:nvSpPr>
          <p:cNvPr id="16" name="Text 13"/>
          <p:cNvSpPr/>
          <p:nvPr/>
        </p:nvSpPr>
        <p:spPr>
          <a:xfrm>
            <a:off x="7278624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7" name="Text 14"/>
          <p:cNvSpPr/>
          <p:nvPr/>
        </p:nvSpPr>
        <p:spPr>
          <a:xfrm>
            <a:off x="7278624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18" name="Text 15"/>
          <p:cNvSpPr/>
          <p:nvPr/>
        </p:nvSpPr>
        <p:spPr>
          <a:xfrm>
            <a:off x="8997696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8997696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20" name="Text 17"/>
          <p:cNvSpPr/>
          <p:nvPr/>
        </p:nvSpPr>
        <p:spPr>
          <a:xfrm>
            <a:off x="1847088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21" name="Text 18"/>
          <p:cNvSpPr/>
          <p:nvPr/>
        </p:nvSpPr>
        <p:spPr>
          <a:xfrm>
            <a:off x="1847088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 commission</a:t>
            </a:r>
            <a:endParaRPr lang="en-US" sz="1360" dirty="0"/>
          </a:p>
        </p:txBody>
      </p:sp>
      <p:sp>
        <p:nvSpPr>
          <p:cNvPr id="22" name="Text 19"/>
          <p:cNvSpPr/>
          <p:nvPr/>
        </p:nvSpPr>
        <p:spPr>
          <a:xfrm>
            <a:off x="1847088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1847088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24" name="Text 21"/>
          <p:cNvSpPr/>
          <p:nvPr/>
        </p:nvSpPr>
        <p:spPr>
          <a:xfrm>
            <a:off x="3566160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25" name="Text 22"/>
          <p:cNvSpPr/>
          <p:nvPr/>
        </p:nvSpPr>
        <p:spPr>
          <a:xfrm>
            <a:off x="3566160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26" name="Text 23"/>
          <p:cNvSpPr/>
          <p:nvPr/>
        </p:nvSpPr>
        <p:spPr>
          <a:xfrm>
            <a:off x="7278624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27" name="Text 24"/>
          <p:cNvSpPr/>
          <p:nvPr/>
        </p:nvSpPr>
        <p:spPr>
          <a:xfrm>
            <a:off x="7278624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Inactive</a:t>
            </a:r>
            <a:endParaRPr lang="en-US" sz="1360" dirty="0"/>
          </a:p>
        </p:txBody>
      </p:sp>
      <p:sp>
        <p:nvSpPr>
          <p:cNvPr id="28" name="Text 25"/>
          <p:cNvSpPr/>
          <p:nvPr/>
        </p:nvSpPr>
        <p:spPr>
          <a:xfrm>
            <a:off x="7278624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9" name="Text 26"/>
          <p:cNvSpPr/>
          <p:nvPr/>
        </p:nvSpPr>
        <p:spPr>
          <a:xfrm>
            <a:off x="7278624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30" name="Text 27"/>
          <p:cNvSpPr/>
          <p:nvPr/>
        </p:nvSpPr>
        <p:spPr>
          <a:xfrm>
            <a:off x="8997696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31" name="Text 28"/>
          <p:cNvSpPr/>
          <p:nvPr/>
        </p:nvSpPr>
        <p:spPr>
          <a:xfrm>
            <a:off x="8997696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Program-Level Analysis: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Per-program view ordered by publisher commission.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156819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1421892"/>
        </p:xfrm>
        <a:graphic>
          <a:graphicData uri="http://schemas.openxmlformats.org/drawingml/2006/table">
            <a:tbl>
              <a:tblPr/>
              <a:tblGrid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</a:tblGrid>
              <a:tr h="7635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Movers &amp; Shakers: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positive and top 10 negative period-on-period publisher commission changes.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30352" y="1298448"/>
            <a:ext cx="11137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Partners with most change in publisher commission period-on-period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4050792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21858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92924" y="1591056"/>
            <a:ext cx="0" cy="4846320"/>
          </a:xfrm>
          <a:prstGeom prst="line">
            <a:avLst/>
          </a:prstGeom>
          <a:noFill/>
          <a:ln w="12700">
            <a:solidFill>
              <a:srgbClr val="7B819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063990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735056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" y="3922776"/>
            <a:ext cx="3264408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qualifying program movement</a:t>
            </a:r>
            <a:endParaRPr lang="en-US" sz="640" dirty="0"/>
          </a:p>
        </p:txBody>
      </p:sp>
      <p:sp>
        <p:nvSpPr>
          <p:cNvPr id="12" name="Shape 9"/>
          <p:cNvSpPr/>
          <p:nvPr/>
        </p:nvSpPr>
        <p:spPr>
          <a:xfrm>
            <a:off x="7392924" y="3954780"/>
            <a:ext cx="18288" cy="11887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56932" y="3941064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6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New Programs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Programs joined or first active for the primary publisher in the current period.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156819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1421892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7635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Analysis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Anonymous comparison of publisher commission coverage and white-space programmes.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64208"/>
            <a:ext cx="11430000" cy="119695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55648"/>
          <a:ext cx="11210544" cy="1050646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29352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Competitor Group Summary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Distinct comp. prog. #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Your Site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4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Programs with Pub Comm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of which you have 0 Pub Comm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 Comm of the above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19,879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5,514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1,408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364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12,593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12064" y="3127248"/>
            <a:ext cx="11137392" cy="312724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005840" y="3383280"/>
            <a:ext cx="10533888" cy="2414016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12064" y="3127248"/>
            <a:ext cx="11137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 comm by week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1078992" y="34472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12064" y="33832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5,000</a:t>
            </a:r>
            <a:endParaRPr lang="en-US" sz="620" dirty="0"/>
          </a:p>
        </p:txBody>
      </p:sp>
      <p:sp>
        <p:nvSpPr>
          <p:cNvPr id="12" name="Shape 8"/>
          <p:cNvSpPr/>
          <p:nvPr/>
        </p:nvSpPr>
        <p:spPr>
          <a:xfrm>
            <a:off x="1078992" y="39044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12064" y="38404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4,000</a:t>
            </a:r>
            <a:endParaRPr lang="en-US" sz="620" dirty="0"/>
          </a:p>
        </p:txBody>
      </p:sp>
      <p:sp>
        <p:nvSpPr>
          <p:cNvPr id="14" name="Shape 10"/>
          <p:cNvSpPr/>
          <p:nvPr/>
        </p:nvSpPr>
        <p:spPr>
          <a:xfrm>
            <a:off x="1078992" y="43616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12064" y="42976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3,000</a:t>
            </a:r>
            <a:endParaRPr lang="en-US" sz="620" dirty="0"/>
          </a:p>
        </p:txBody>
      </p:sp>
      <p:sp>
        <p:nvSpPr>
          <p:cNvPr id="16" name="Shape 12"/>
          <p:cNvSpPr/>
          <p:nvPr/>
        </p:nvSpPr>
        <p:spPr>
          <a:xfrm>
            <a:off x="1078992" y="48188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12064" y="47548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2,000</a:t>
            </a:r>
            <a:endParaRPr lang="en-US" sz="620" dirty="0"/>
          </a:p>
        </p:txBody>
      </p:sp>
      <p:sp>
        <p:nvSpPr>
          <p:cNvPr id="18" name="Shape 14"/>
          <p:cNvSpPr/>
          <p:nvPr/>
        </p:nvSpPr>
        <p:spPr>
          <a:xfrm>
            <a:off x="1078992" y="52760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12064" y="52120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1,000</a:t>
            </a:r>
            <a:endParaRPr lang="en-US" sz="620" dirty="0"/>
          </a:p>
        </p:txBody>
      </p:sp>
      <p:sp>
        <p:nvSpPr>
          <p:cNvPr id="20" name="Shape 16"/>
          <p:cNvSpPr/>
          <p:nvPr/>
        </p:nvSpPr>
        <p:spPr>
          <a:xfrm>
            <a:off x="1078992" y="57332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9000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12064" y="56692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620" dirty="0"/>
          </a:p>
        </p:txBody>
      </p:sp>
      <p:sp>
        <p:nvSpPr>
          <p:cNvPr id="22" name="Shape 18"/>
          <p:cNvSpPr/>
          <p:nvPr/>
        </p:nvSpPr>
        <p:spPr>
          <a:xfrm>
            <a:off x="2286000" y="5276088"/>
            <a:ext cx="182880" cy="457200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882896" y="5001768"/>
            <a:ext cx="182880" cy="731520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479792" y="4727448"/>
            <a:ext cx="182880" cy="1005840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10076688" y="4910328"/>
            <a:ext cx="182880" cy="822960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2377440" y="5687568"/>
            <a:ext cx="2596896" cy="-91440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4974336" y="5596128"/>
            <a:ext cx="5193792" cy="-91440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2377440" y="5504688"/>
            <a:ext cx="5193792" cy="-182880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7571232" y="5321808"/>
            <a:ext cx="2596896" cy="-91440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2377440" y="5632704"/>
            <a:ext cx="2596896" cy="-18288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4974336" y="5614416"/>
            <a:ext cx="2596896" cy="-18288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7571232" y="5596128"/>
            <a:ext cx="2596896" cy="-4572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2377440" y="5596128"/>
            <a:ext cx="2596896" cy="-68580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4974336" y="5527548"/>
            <a:ext cx="2596896" cy="13716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7571232" y="5541264"/>
            <a:ext cx="2596896" cy="-45720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1130930" y="5806440"/>
            <a:ext cx="24930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2026-01-05</a:t>
            </a:r>
            <a:endParaRPr lang="en-US" sz="580" dirty="0"/>
          </a:p>
        </p:txBody>
      </p:sp>
      <p:sp>
        <p:nvSpPr>
          <p:cNvPr id="37" name="Text 33"/>
          <p:cNvSpPr/>
          <p:nvPr/>
        </p:nvSpPr>
        <p:spPr>
          <a:xfrm>
            <a:off x="3727826" y="5806440"/>
            <a:ext cx="24930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2026-01-12</a:t>
            </a:r>
            <a:endParaRPr lang="en-US" sz="580" dirty="0"/>
          </a:p>
        </p:txBody>
      </p:sp>
      <p:sp>
        <p:nvSpPr>
          <p:cNvPr id="38" name="Text 34"/>
          <p:cNvSpPr/>
          <p:nvPr/>
        </p:nvSpPr>
        <p:spPr>
          <a:xfrm>
            <a:off x="6324722" y="5806440"/>
            <a:ext cx="24930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2026-01-19</a:t>
            </a:r>
            <a:endParaRPr lang="en-US" sz="580" dirty="0"/>
          </a:p>
        </p:txBody>
      </p:sp>
      <p:sp>
        <p:nvSpPr>
          <p:cNvPr id="39" name="Text 35"/>
          <p:cNvSpPr/>
          <p:nvPr/>
        </p:nvSpPr>
        <p:spPr>
          <a:xfrm>
            <a:off x="8921618" y="5806440"/>
            <a:ext cx="24930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2026-01-26</a:t>
            </a:r>
            <a:endParaRPr lang="en-US" sz="580" dirty="0"/>
          </a:p>
        </p:txBody>
      </p:sp>
      <p:sp>
        <p:nvSpPr>
          <p:cNvPr id="40" name="Shape 36"/>
          <p:cNvSpPr/>
          <p:nvPr/>
        </p:nvSpPr>
        <p:spPr>
          <a:xfrm>
            <a:off x="3712464" y="6089904"/>
            <a:ext cx="137160" cy="4572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3886200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Site</a:t>
            </a:r>
            <a:endParaRPr lang="en-US" sz="640" dirty="0"/>
          </a:p>
        </p:txBody>
      </p:sp>
      <p:sp>
        <p:nvSpPr>
          <p:cNvPr id="42" name="Shape 38"/>
          <p:cNvSpPr/>
          <p:nvPr/>
        </p:nvSpPr>
        <p:spPr>
          <a:xfrm>
            <a:off x="4736592" y="6117336"/>
            <a:ext cx="146304" cy="0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4910328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2</a:t>
            </a:r>
            <a:endParaRPr lang="en-US" sz="640" dirty="0"/>
          </a:p>
        </p:txBody>
      </p:sp>
      <p:sp>
        <p:nvSpPr>
          <p:cNvPr id="44" name="Shape 40"/>
          <p:cNvSpPr/>
          <p:nvPr/>
        </p:nvSpPr>
        <p:spPr>
          <a:xfrm>
            <a:off x="5760720" y="6117336"/>
            <a:ext cx="146304" cy="0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5934456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1</a:t>
            </a:r>
            <a:endParaRPr lang="en-US" sz="640" dirty="0"/>
          </a:p>
        </p:txBody>
      </p:sp>
      <p:sp>
        <p:nvSpPr>
          <p:cNvPr id="46" name="Shape 42"/>
          <p:cNvSpPr/>
          <p:nvPr/>
        </p:nvSpPr>
        <p:spPr>
          <a:xfrm>
            <a:off x="6784848" y="6117336"/>
            <a:ext cx="146304" cy="0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6958584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4</a:t>
            </a:r>
            <a:endParaRPr lang="en-US" sz="640" dirty="0"/>
          </a:p>
        </p:txBody>
      </p:sp>
      <p:sp>
        <p:nvSpPr>
          <p:cNvPr id="48" name="Shape 44"/>
          <p:cNvSpPr/>
          <p:nvPr/>
        </p:nvSpPr>
        <p:spPr>
          <a:xfrm>
            <a:off x="7808976" y="6117336"/>
            <a:ext cx="146304" cy="0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7982712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3</a:t>
            </a:r>
            <a:endParaRPr lang="en-US" sz="6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Within Competitor Group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share for the primary publisher and four comparison publishers.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13232" y="1645920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within competitor group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207008" y="5513832"/>
            <a:ext cx="10058400" cy="0"/>
          </a:xfrm>
          <a:prstGeom prst="line">
            <a:avLst/>
          </a:prstGeom>
          <a:noFill/>
          <a:ln w="12700">
            <a:solidFill>
              <a:srgbClr val="AEB6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07008" y="467944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07008" y="384505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07008" y="301066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07008" y="217627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993392" y="5513832"/>
            <a:ext cx="438912" cy="18288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883664" y="525780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22529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Site</a:t>
            </a:r>
            <a:endParaRPr lang="en-US" sz="860" dirty="0"/>
          </a:p>
        </p:txBody>
      </p:sp>
      <p:sp>
        <p:nvSpPr>
          <p:cNvPr id="14" name="Shape 11"/>
          <p:cNvSpPr/>
          <p:nvPr/>
        </p:nvSpPr>
        <p:spPr>
          <a:xfrm>
            <a:off x="4005072" y="4822957"/>
            <a:ext cx="438912" cy="690875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895344" y="4566925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21%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23697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A</a:t>
            </a:r>
            <a:endParaRPr lang="en-US" sz="860" dirty="0"/>
          </a:p>
        </p:txBody>
      </p:sp>
      <p:sp>
        <p:nvSpPr>
          <p:cNvPr id="17" name="Shape 14"/>
          <p:cNvSpPr/>
          <p:nvPr/>
        </p:nvSpPr>
        <p:spPr>
          <a:xfrm>
            <a:off x="6016752" y="5053249"/>
            <a:ext cx="438912" cy="460583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07024" y="4797217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14%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24865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B</a:t>
            </a:r>
            <a:endParaRPr lang="en-US" sz="860" dirty="0"/>
          </a:p>
        </p:txBody>
      </p:sp>
      <p:sp>
        <p:nvSpPr>
          <p:cNvPr id="20" name="Shape 17"/>
          <p:cNvSpPr/>
          <p:nvPr/>
        </p:nvSpPr>
        <p:spPr>
          <a:xfrm>
            <a:off x="8028432" y="5283540"/>
            <a:ext cx="438912" cy="230292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918704" y="502750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7%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726033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C</a:t>
            </a:r>
            <a:endParaRPr lang="en-US" sz="860" dirty="0"/>
          </a:p>
        </p:txBody>
      </p:sp>
      <p:sp>
        <p:nvSpPr>
          <p:cNvPr id="23" name="Shape 20"/>
          <p:cNvSpPr/>
          <p:nvPr/>
        </p:nvSpPr>
        <p:spPr>
          <a:xfrm>
            <a:off x="10040112" y="3558022"/>
            <a:ext cx="438912" cy="1955810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930384" y="330199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59%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927201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D</a:t>
            </a:r>
            <a:endParaRPr lang="en-US" sz="860" dirty="0"/>
          </a:p>
        </p:txBody>
      </p:sp>
      <p:sp>
        <p:nvSpPr>
          <p:cNvPr id="26" name="Shape 23"/>
          <p:cNvSpPr/>
          <p:nvPr/>
        </p:nvSpPr>
        <p:spPr>
          <a:xfrm>
            <a:off x="5422392" y="5884164"/>
            <a:ext cx="137160" cy="64008"/>
          </a:xfrm>
          <a:prstGeom prst="rect">
            <a:avLst/>
          </a:prstGeom>
          <a:solidFill>
            <a:srgbClr val="7CC8DE"/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605272" y="5843016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% of Site Group</a:t>
            </a:r>
            <a:endParaRPr lang="en-US" sz="7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Programs Competitor Performance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by program across the primary publisher and four comparison publishers.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00784"/>
            <a:ext cx="11430000" cy="1021385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92224"/>
          <a:ext cx="11210544" cy="875081"/>
        </p:xfrm>
        <a:graphic>
          <a:graphicData uri="http://schemas.openxmlformats.org/drawingml/2006/table">
            <a:tbl>
              <a:tblPr/>
              <a:tblGrid>
                <a:gridCol w="3993185"/>
                <a:gridCol w="1688897"/>
                <a:gridCol w="1382573"/>
                <a:gridCol w="1382573"/>
                <a:gridCol w="1382573"/>
                <a:gridCol w="1382573"/>
              </a:tblGrid>
              <a:tr h="4544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 Publisher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A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B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C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Highlights &amp; Business Implications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numbers mean for the business - key signals and context.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1520" y="17007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Rate Movement</a:t>
            </a:r>
            <a:endParaRPr lang="en-US" sz="1320" dirty="0"/>
          </a:p>
        </p:txBody>
      </p:sp>
      <p:sp>
        <p:nvSpPr>
          <p:cNvPr id="6" name="Text 3"/>
          <p:cNvSpPr/>
          <p:nvPr/>
        </p:nvSpPr>
        <p:spPr>
          <a:xfrm>
            <a:off x="960120" y="19842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rate: data not available. Conversions changed N/A (-), showing how efficiently programs converted traffic into outcomes.</a:t>
            </a:r>
            <a:endParaRPr lang="en-US" sz="1110" dirty="0"/>
          </a:p>
        </p:txBody>
      </p:sp>
      <p:sp>
        <p:nvSpPr>
          <p:cNvPr id="7" name="Text 4"/>
          <p:cNvSpPr/>
          <p:nvPr/>
        </p:nvSpPr>
        <p:spPr>
          <a:xfrm>
            <a:off x="731520" y="26151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Volume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960120" y="28986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conversions changed N/A (-). Largest declining program contribution requires confirmation from mover tables.</a:t>
            </a:r>
            <a:endParaRPr lang="en-US" sz="1110" dirty="0"/>
          </a:p>
        </p:txBody>
      </p:sp>
      <p:sp>
        <p:nvSpPr>
          <p:cNvPr id="9" name="Text 6"/>
          <p:cNvSpPr/>
          <p:nvPr/>
        </p:nvSpPr>
        <p:spPr>
          <a:xfrm>
            <a:off x="731520" y="35295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 Value</a:t>
            </a:r>
            <a:endParaRPr lang="en-US" sz="1320" dirty="0"/>
          </a:p>
        </p:txBody>
      </p:sp>
      <p:sp>
        <p:nvSpPr>
          <p:cNvPr id="10" name="Text 7"/>
          <p:cNvSpPr/>
          <p:nvPr/>
        </p:nvSpPr>
        <p:spPr>
          <a:xfrm>
            <a:off x="960120" y="38130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value: data not available. Value generation moved alongside conversion volume and earnings performance.</a:t>
            </a:r>
            <a:endParaRPr lang="en-US" sz="1110" dirty="0"/>
          </a:p>
        </p:txBody>
      </p:sp>
      <p:sp>
        <p:nvSpPr>
          <p:cNvPr id="11" name="Text 8"/>
          <p:cNvSpPr/>
          <p:nvPr/>
        </p:nvSpPr>
        <p:spPr>
          <a:xfrm>
            <a:off x="731520" y="44439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Publisher Commission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960120" y="47274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commission: data not available. Commission remains the core earning component for the program.</a:t>
            </a:r>
            <a:endParaRPr lang="en-US" sz="1110" dirty="0"/>
          </a:p>
        </p:txBody>
      </p:sp>
      <p:sp>
        <p:nvSpPr>
          <p:cNvPr id="13" name="Text 10"/>
          <p:cNvSpPr/>
          <p:nvPr/>
        </p:nvSpPr>
        <p:spPr>
          <a:xfrm>
            <a:off x="731520" y="53583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Total Earnings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960120" y="56418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earnings: data not available. Digital wallet contribution was - (N/A), so total earnings combine commission and wallet income.</a:t>
            </a:r>
            <a:endParaRPr lang="en-US" sz="111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 &amp; Dependencies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132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058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variance risk</a:t>
            </a:r>
            <a:endParaRPr lang="en-US" sz="1140" dirty="0"/>
          </a:p>
        </p:txBody>
      </p:sp>
      <p:sp>
        <p:nvSpPr>
          <p:cNvPr id="6" name="Text 3"/>
          <p:cNvSpPr/>
          <p:nvPr/>
        </p:nvSpPr>
        <p:spPr>
          <a:xfrm>
            <a:off x="10058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7" name="Text 4"/>
          <p:cNvSpPr/>
          <p:nvPr/>
        </p:nvSpPr>
        <p:spPr>
          <a:xfrm>
            <a:off x="10058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Driver not confirmed from available segment and program data.</a:t>
            </a:r>
            <a:endParaRPr lang="en-US" sz="810" dirty="0"/>
          </a:p>
        </p:txBody>
      </p:sp>
      <p:sp>
        <p:nvSpPr>
          <p:cNvPr id="8" name="Text 5"/>
          <p:cNvSpPr/>
          <p:nvPr/>
        </p:nvSpPr>
        <p:spPr>
          <a:xfrm>
            <a:off x="10058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9" name="Text 6"/>
          <p:cNvSpPr/>
          <p:nvPr/>
        </p:nvSpPr>
        <p:spPr>
          <a:xfrm>
            <a:off x="10058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the finding into one controlled publisher test with a named program, target metric, start date, and success threshold for the next review.</a:t>
            </a:r>
            <a:endParaRPr lang="en-US" sz="770" dirty="0"/>
          </a:p>
        </p:txBody>
      </p:sp>
      <p:sp>
        <p:nvSpPr>
          <p:cNvPr id="10" name="Shape 7"/>
          <p:cNvSpPr/>
          <p:nvPr/>
        </p:nvSpPr>
        <p:spPr>
          <a:xfrm>
            <a:off x="43708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concentration risk</a:t>
            </a:r>
            <a:endParaRPr lang="en-US" sz="1140" dirty="0"/>
          </a:p>
        </p:txBody>
      </p:sp>
      <p:sp>
        <p:nvSpPr>
          <p:cNvPr id="12" name="Text 9"/>
          <p:cNvSpPr/>
          <p:nvPr/>
        </p:nvSpPr>
        <p:spPr>
          <a:xfrm>
            <a:off x="46634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13" name="Text 10"/>
          <p:cNvSpPr/>
          <p:nvPr/>
        </p:nvSpPr>
        <p:spPr>
          <a:xfrm>
            <a:off x="46634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stable top program concentration signal available in current extract.</a:t>
            </a:r>
            <a:endParaRPr lang="en-US" sz="810" dirty="0"/>
          </a:p>
        </p:txBody>
      </p:sp>
      <p:sp>
        <p:nvSpPr>
          <p:cNvPr id="14" name="Text 11"/>
          <p:cNvSpPr/>
          <p:nvPr/>
        </p:nvSpPr>
        <p:spPr>
          <a:xfrm>
            <a:off x="46634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15" name="Text 12"/>
          <p:cNvSpPr/>
          <p:nvPr/>
        </p:nvSpPr>
        <p:spPr>
          <a:xfrm>
            <a:off x="46634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the leading program's placement while adding two similar programs into the next campaign rotation so commission is not dependent on one partner.</a:t>
            </a:r>
            <a:endParaRPr lang="en-US" sz="770" dirty="0"/>
          </a:p>
        </p:txBody>
      </p:sp>
      <p:sp>
        <p:nvSpPr>
          <p:cNvPr id="16" name="Shape 13"/>
          <p:cNvSpPr/>
          <p:nvPr/>
        </p:nvSpPr>
        <p:spPr>
          <a:xfrm>
            <a:off x="80284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210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variance risk</a:t>
            </a:r>
            <a:endParaRPr lang="en-US" sz="1140" dirty="0"/>
          </a:p>
        </p:txBody>
      </p:sp>
      <p:sp>
        <p:nvSpPr>
          <p:cNvPr id="18" name="Text 15"/>
          <p:cNvSpPr/>
          <p:nvPr/>
        </p:nvSpPr>
        <p:spPr>
          <a:xfrm>
            <a:off x="83210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19" name="Text 16"/>
          <p:cNvSpPr/>
          <p:nvPr/>
        </p:nvSpPr>
        <p:spPr>
          <a:xfrm>
            <a:off x="83210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program contribution could not be quantified from available data.</a:t>
            </a:r>
            <a:endParaRPr lang="en-US" sz="810" dirty="0"/>
          </a:p>
        </p:txBody>
      </p:sp>
      <p:sp>
        <p:nvSpPr>
          <p:cNvPr id="20" name="Text 17"/>
          <p:cNvSpPr/>
          <p:nvPr/>
        </p:nvSpPr>
        <p:spPr>
          <a:xfrm>
            <a:off x="83210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21" name="Text 18"/>
          <p:cNvSpPr/>
          <p:nvPr/>
        </p:nvSpPr>
        <p:spPr>
          <a:xfrm>
            <a:off x="83210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the finding into one controlled publisher test with a named program, target metric, start date, and success threshold for the next review.</a:t>
            </a:r>
            <a:endParaRPr lang="en-US" sz="77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73152"/>
            <a:ext cx="6309360" cy="63093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13258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Line Preview - Thank you.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640080" y="2331720"/>
            <a:ext cx="2578608" cy="1024128"/>
          </a:xfrm>
          <a:prstGeom prst="roundRect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>
                <a:alpha val="4500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40080" y="2331720"/>
            <a:ext cx="2578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Questions?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Tradedoubler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- Clean Line Preview</dc:title>
  <dc:subject>Quarterly business review</dc:subject>
  <dc:creator>QBR PPTX Service</dc:creator>
  <cp:lastModifiedBy>QBR PPTX Service</cp:lastModifiedBy>
  <cp:revision>1</cp:revision>
  <dcterms:created xsi:type="dcterms:W3CDTF">2026-05-20T09:25:51Z</dcterms:created>
  <dcterms:modified xsi:type="dcterms:W3CDTF">2026-05-20T09:25:51Z</dcterms:modified>
</cp:coreProperties>
</file>