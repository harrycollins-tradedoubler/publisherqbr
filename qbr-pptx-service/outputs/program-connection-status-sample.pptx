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621792"/>
            <a:ext cx="10561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HP Store Performance Review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21792" y="1828800"/>
            <a:ext cx="10378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 year-over-year review of HP Store publisher performance, conversion dynamics, earnings and strategic priorities to drive growth and optimise outcomes.</a:t>
            </a:r>
            <a:endParaRPr lang="en-US" sz="1220" dirty="0"/>
          </a:p>
        </p:txBody>
      </p:sp>
      <p:pic>
        <p:nvPicPr>
          <p:cNvPr id="5" name="Image 1" descr="C:\Users\harcol\Workflows\Publisher QBR\ai-agent-agenthub\qbr-pptx-service\assets\td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58768"/>
            <a:ext cx="1965960" cy="1591056"/>
          </a:xfrm>
          <a:prstGeom prst="rect">
            <a:avLst/>
          </a:prstGeom>
        </p:spPr>
      </p:pic>
      <p:pic>
        <p:nvPicPr>
          <p:cNvPr id="6" name="Image 2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542032"/>
            <a:ext cx="40233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26187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and YoY comparison windows</a:t>
            </a:r>
            <a:endParaRPr lang="en-US" sz="1020" dirty="0"/>
          </a:p>
        </p:txBody>
      </p:sp>
      <p:sp>
        <p:nvSpPr>
          <p:cNvPr id="5" name="Text 2"/>
          <p:cNvSpPr/>
          <p:nvPr/>
        </p:nvSpPr>
        <p:spPr>
          <a:xfrm>
            <a:off x="658368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Period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58368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Period: 1 December 2025 – 25 March 2026</a:t>
            </a:r>
            <a:endParaRPr lang="en-US" sz="980" dirty="0"/>
          </a:p>
        </p:txBody>
      </p:sp>
      <p:sp>
        <p:nvSpPr>
          <p:cNvPr id="7" name="Text 4"/>
          <p:cNvSpPr/>
          <p:nvPr/>
        </p:nvSpPr>
        <p:spPr>
          <a:xfrm>
            <a:off x="658368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as of: 25 March 2026</a:t>
            </a:r>
            <a:endParaRPr lang="en-US" sz="980" dirty="0"/>
          </a:p>
        </p:txBody>
      </p:sp>
      <p:sp>
        <p:nvSpPr>
          <p:cNvPr id="8" name="Text 5"/>
          <p:cNvSpPr/>
          <p:nvPr/>
        </p:nvSpPr>
        <p:spPr>
          <a:xfrm>
            <a:off x="5989320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 (YoY)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89320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Period: 1 December 2024 – 25 March 2025</a:t>
            </a:r>
            <a:endParaRPr lang="en-US" sz="980" dirty="0"/>
          </a:p>
        </p:txBody>
      </p:sp>
      <p:sp>
        <p:nvSpPr>
          <p:cNvPr id="10" name="Text 7"/>
          <p:cNvSpPr/>
          <p:nvPr/>
        </p:nvSpPr>
        <p:spPr>
          <a:xfrm>
            <a:off x="5989320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Basis: Year-over-Year (YoY)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658368" y="3273552"/>
            <a:ext cx="10927080" cy="804672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355701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figures are reported in GBP unless otherwise stated. YoY variance is calculated as Current Period vs Comparison Period.</a:t>
            </a:r>
            <a:endParaRPr lang="en-US" sz="9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Performance: Executive Summary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139696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67712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☰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41248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41248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54,562 vs 61,984 PY</a:t>
            </a:r>
            <a:endParaRPr lang="en-US" sz="1020" dirty="0"/>
          </a:p>
        </p:txBody>
      </p:sp>
      <p:sp>
        <p:nvSpPr>
          <p:cNvPr id="10" name="Text 7"/>
          <p:cNvSpPr/>
          <p:nvPr/>
        </p:nvSpPr>
        <p:spPr>
          <a:xfrm>
            <a:off x="3163824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-12.0%</a:t>
            </a:r>
            <a:endParaRPr lang="en-US" sz="1020" dirty="0"/>
          </a:p>
        </p:txBody>
      </p:sp>
      <p:sp>
        <p:nvSpPr>
          <p:cNvPr id="11" name="Shape 8"/>
          <p:cNvSpPr/>
          <p:nvPr/>
        </p:nvSpPr>
        <p:spPr>
          <a:xfrm>
            <a:off x="4352544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52544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852160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0176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53712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53712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£24,076,021 vs £24,608,446 PY</a:t>
            </a:r>
            <a:endParaRPr lang="en-US" sz="1020" dirty="0"/>
          </a:p>
        </p:txBody>
      </p:sp>
      <p:sp>
        <p:nvSpPr>
          <p:cNvPr id="17" name="Text 14"/>
          <p:cNvSpPr/>
          <p:nvPr/>
        </p:nvSpPr>
        <p:spPr>
          <a:xfrm>
            <a:off x="6876288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-2.2%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8065008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065008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564624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692640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266176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8266176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£903,086 vs £935,460 PY</a:t>
            </a:r>
            <a:endParaRPr lang="en-US" sz="1020" dirty="0"/>
          </a:p>
        </p:txBody>
      </p:sp>
      <p:sp>
        <p:nvSpPr>
          <p:cNvPr id="24" name="Text 21"/>
          <p:cNvSpPr/>
          <p:nvPr/>
        </p:nvSpPr>
        <p:spPr>
          <a:xfrm>
            <a:off x="10588752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-3.5%</a:t>
            </a:r>
            <a:endParaRPr lang="en-US" sz="1020" dirty="0"/>
          </a:p>
        </p:txBody>
      </p:sp>
      <p:sp>
        <p:nvSpPr>
          <p:cNvPr id="25" name="Shape 22"/>
          <p:cNvSpPr/>
          <p:nvPr/>
        </p:nvSpPr>
        <p:spPr>
          <a:xfrm>
            <a:off x="2496312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496312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995928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123944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2697480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2697480" y="4544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£903,086 vs £935,460 PY</a:t>
            </a:r>
            <a:endParaRPr lang="en-US" sz="1020" dirty="0"/>
          </a:p>
        </p:txBody>
      </p:sp>
      <p:sp>
        <p:nvSpPr>
          <p:cNvPr id="31" name="Text 28"/>
          <p:cNvSpPr/>
          <p:nvPr/>
        </p:nvSpPr>
        <p:spPr>
          <a:xfrm>
            <a:off x="5020056" y="454456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-3.5%</a:t>
            </a:r>
            <a:endParaRPr lang="en-US" sz="1020" dirty="0"/>
          </a:p>
        </p:txBody>
      </p:sp>
      <p:sp>
        <p:nvSpPr>
          <p:cNvPr id="32" name="Shape 29"/>
          <p:cNvSpPr/>
          <p:nvPr/>
        </p:nvSpPr>
        <p:spPr>
          <a:xfrm>
            <a:off x="6208776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208776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708392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836408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409944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09944" y="4544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0.13% vs 0.12% PY</a:t>
            </a:r>
            <a:endParaRPr lang="en-US" sz="1020" dirty="0"/>
          </a:p>
        </p:txBody>
      </p:sp>
      <p:sp>
        <p:nvSpPr>
          <p:cNvPr id="38" name="Text 35"/>
          <p:cNvSpPr/>
          <p:nvPr/>
        </p:nvSpPr>
        <p:spPr>
          <a:xfrm>
            <a:off x="8732520" y="454456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+9.6%</a:t>
            </a:r>
            <a:endParaRPr lang="en-US" sz="1020" dirty="0"/>
          </a:p>
        </p:txBody>
      </p:sp>
      <p:sp>
        <p:nvSpPr>
          <p:cNvPr id="39" name="Text 36"/>
          <p:cNvSpPr/>
          <p:nvPr/>
        </p:nvSpPr>
        <p:spPr>
          <a:xfrm>
            <a:off x="749808" y="536752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Across all programs connected to HP Store, performance was mixed in Dec 2025 – Mar 2026. Conversions moved -12.0% to 54,562 and conversion rate moved +9.6% to 0.13%. Publisher commission decreased -3.5% to £903,086, while digital wallet earnings changed N/A to -. Total earnings ended at £903,086 (-3.5%) and total order value decreased -2.2% to £24,076,021.</a:t>
            </a:r>
            <a:endParaRPr lang="en-US" sz="11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Summary Table: Conversions &amp; Earnings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KPI breakdown vs prior year.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4578401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4432097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63002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Previous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Difference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% Variance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54,562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61,984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-7,422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-12.0%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 Rate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+0.01%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+9.6%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Clicks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42,050,161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52,364,355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-10,314,194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-19.7%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per Conversion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£16.55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£15.09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+£1.46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+9.7%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Order Value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£24,076,021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£24,608,446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-£532,425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-2.2%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£903,086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£935,460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-£32,374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£903,086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£935,460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-£32,374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75488" y="6260897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= Publisher Commission + Digital Wallet. Conversion rate uses the source API's conversion-rate basis.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9260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Activation Status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089904" y="1298448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89904" y="3794760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424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288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47088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1847088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Joined programs</a:t>
            </a:r>
            <a:endParaRPr lang="en-US" sz="1360" dirty="0"/>
          </a:p>
        </p:txBody>
      </p:sp>
      <p:sp>
        <p:nvSpPr>
          <p:cNvPr id="10" name="Text 7"/>
          <p:cNvSpPr/>
          <p:nvPr/>
        </p:nvSpPr>
        <p:spPr>
          <a:xfrm>
            <a:off x="1847088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1847088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2" name="Text 9"/>
          <p:cNvSpPr/>
          <p:nvPr/>
        </p:nvSpPr>
        <p:spPr>
          <a:xfrm>
            <a:off x="3566160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3566160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4" name="Text 11"/>
          <p:cNvSpPr/>
          <p:nvPr/>
        </p:nvSpPr>
        <p:spPr>
          <a:xfrm>
            <a:off x="7278624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7278624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clicks</a:t>
            </a:r>
            <a:endParaRPr lang="en-US" sz="1360" dirty="0"/>
          </a:p>
        </p:txBody>
      </p:sp>
      <p:sp>
        <p:nvSpPr>
          <p:cNvPr id="16" name="Text 13"/>
          <p:cNvSpPr/>
          <p:nvPr/>
        </p:nvSpPr>
        <p:spPr>
          <a:xfrm>
            <a:off x="7278624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7278624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8" name="Text 15"/>
          <p:cNvSpPr/>
          <p:nvPr/>
        </p:nvSpPr>
        <p:spPr>
          <a:xfrm>
            <a:off x="8997696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8997696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0" name="Text 17"/>
          <p:cNvSpPr/>
          <p:nvPr/>
        </p:nvSpPr>
        <p:spPr>
          <a:xfrm>
            <a:off x="1847088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21" name="Text 18"/>
          <p:cNvSpPr/>
          <p:nvPr/>
        </p:nvSpPr>
        <p:spPr>
          <a:xfrm>
            <a:off x="1847088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 commission</a:t>
            </a:r>
            <a:endParaRPr lang="en-US" sz="1360" dirty="0"/>
          </a:p>
        </p:txBody>
      </p:sp>
      <p:sp>
        <p:nvSpPr>
          <p:cNvPr id="22" name="Text 19"/>
          <p:cNvSpPr/>
          <p:nvPr/>
        </p:nvSpPr>
        <p:spPr>
          <a:xfrm>
            <a:off x="1847088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1847088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4" name="Text 21"/>
          <p:cNvSpPr/>
          <p:nvPr/>
        </p:nvSpPr>
        <p:spPr>
          <a:xfrm>
            <a:off x="3566160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25" name="Text 22"/>
          <p:cNvSpPr/>
          <p:nvPr/>
        </p:nvSpPr>
        <p:spPr>
          <a:xfrm>
            <a:off x="3566160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6" name="Text 23"/>
          <p:cNvSpPr/>
          <p:nvPr/>
        </p:nvSpPr>
        <p:spPr>
          <a:xfrm>
            <a:off x="7278624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27" name="Text 24"/>
          <p:cNvSpPr/>
          <p:nvPr/>
        </p:nvSpPr>
        <p:spPr>
          <a:xfrm>
            <a:off x="7278624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Inactive</a:t>
            </a:r>
            <a:endParaRPr lang="en-US" sz="1360" dirty="0"/>
          </a:p>
        </p:txBody>
      </p:sp>
      <p:sp>
        <p:nvSpPr>
          <p:cNvPr id="28" name="Text 25"/>
          <p:cNvSpPr/>
          <p:nvPr/>
        </p:nvSpPr>
        <p:spPr>
          <a:xfrm>
            <a:off x="7278624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9" name="Text 26"/>
          <p:cNvSpPr/>
          <p:nvPr/>
        </p:nvSpPr>
        <p:spPr>
          <a:xfrm>
            <a:off x="7278624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30" name="Text 27"/>
          <p:cNvSpPr/>
          <p:nvPr/>
        </p:nvSpPr>
        <p:spPr>
          <a:xfrm>
            <a:off x="8997696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8997696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Program-Level Analysis: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Per-program view ordered by publisher commission.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288493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2738628"/>
        </p:xfrm>
        <a:graphic>
          <a:graphicData uri="http://schemas.openxmlformats.org/drawingml/2006/table">
            <a:tbl>
              <a:tblPr/>
              <a:tblGrid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</a:tblGrid>
              <a:tr h="7635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23456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HP Store Germany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19,084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€8,904,115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-13.4%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34567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HP Store Netherlands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7,067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€2,627,705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12345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HP Store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28,411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£12,544,201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-10.2%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Movers &amp; Shakers: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positive and top 10 negative period-on-period publisher commission changes.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30352" y="1298448"/>
            <a:ext cx="11137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Partners with most change in publisher commission period-on-period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4050792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21858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92924" y="1591056"/>
            <a:ext cx="0" cy="4846320"/>
          </a:xfrm>
          <a:prstGeom prst="line">
            <a:avLst/>
          </a:prstGeom>
          <a:noFill/>
          <a:ln w="12700">
            <a:solidFill>
              <a:srgbClr val="7B819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063990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735056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" y="3922776"/>
            <a:ext cx="3264408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qualifying program movement</a:t>
            </a:r>
            <a:endParaRPr lang="en-US" sz="640" dirty="0"/>
          </a:p>
        </p:txBody>
      </p:sp>
      <p:sp>
        <p:nvSpPr>
          <p:cNvPr id="12" name="Shape 9"/>
          <p:cNvSpPr/>
          <p:nvPr/>
        </p:nvSpPr>
        <p:spPr>
          <a:xfrm>
            <a:off x="7392924" y="3954780"/>
            <a:ext cx="18288" cy="11887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56932" y="3941064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6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New Programs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Programs joined or first active for the primary publisher in the current period.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156819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1421892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7635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Connection Status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Programs created since the three-month lookback cutoff, grouped by current connection state.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58368" y="1298448"/>
            <a:ext cx="9464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programs in scope - Accepted: 1 | Not Connected: 1 | Hold UC: 1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512064" y="1554480"/>
            <a:ext cx="2276856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1591056"/>
            <a:ext cx="2167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80" dirty="0"/>
          </a:p>
        </p:txBody>
      </p:sp>
      <p:sp>
        <p:nvSpPr>
          <p:cNvPr id="8" name="Shape 5"/>
          <p:cNvSpPr/>
          <p:nvPr/>
        </p:nvSpPr>
        <p:spPr>
          <a:xfrm>
            <a:off x="512064" y="1773936"/>
            <a:ext cx="2276856" cy="231343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2356" y="1847088"/>
            <a:ext cx="68580" cy="68580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1806854"/>
            <a:ext cx="42062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392254</a:t>
            </a:r>
            <a:endParaRPr lang="en-US" sz="610" dirty="0"/>
          </a:p>
        </p:txBody>
      </p:sp>
      <p:sp>
        <p:nvSpPr>
          <p:cNvPr id="11" name="Text 8"/>
          <p:cNvSpPr/>
          <p:nvPr/>
        </p:nvSpPr>
        <p:spPr>
          <a:xfrm>
            <a:off x="1115568" y="1806854"/>
            <a:ext cx="9784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Everpress</a:t>
            </a:r>
            <a:endParaRPr lang="en-US" sz="610" dirty="0"/>
          </a:p>
        </p:txBody>
      </p:sp>
      <p:sp>
        <p:nvSpPr>
          <p:cNvPr id="12" name="Text 9"/>
          <p:cNvSpPr/>
          <p:nvPr/>
        </p:nvSpPr>
        <p:spPr>
          <a:xfrm>
            <a:off x="2112264" y="1806854"/>
            <a:ext cx="62179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9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590" dirty="0"/>
          </a:p>
        </p:txBody>
      </p:sp>
      <p:sp>
        <p:nvSpPr>
          <p:cNvPr id="13" name="Shape 10"/>
          <p:cNvSpPr/>
          <p:nvPr/>
        </p:nvSpPr>
        <p:spPr>
          <a:xfrm>
            <a:off x="2880360" y="1554480"/>
            <a:ext cx="2276856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935224" y="1591056"/>
            <a:ext cx="2167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80" dirty="0"/>
          </a:p>
        </p:txBody>
      </p:sp>
      <p:sp>
        <p:nvSpPr>
          <p:cNvPr id="15" name="Shape 12"/>
          <p:cNvSpPr/>
          <p:nvPr/>
        </p:nvSpPr>
        <p:spPr>
          <a:xfrm>
            <a:off x="2880360" y="1773936"/>
            <a:ext cx="2276856" cy="231343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930652" y="1847088"/>
            <a:ext cx="68580" cy="68580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026664" y="1806854"/>
            <a:ext cx="42062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392637</a:t>
            </a:r>
            <a:endParaRPr lang="en-US" sz="610" dirty="0"/>
          </a:p>
        </p:txBody>
      </p:sp>
      <p:sp>
        <p:nvSpPr>
          <p:cNvPr id="18" name="Text 15"/>
          <p:cNvSpPr/>
          <p:nvPr/>
        </p:nvSpPr>
        <p:spPr>
          <a:xfrm>
            <a:off x="3483864" y="1806854"/>
            <a:ext cx="9784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Atlanta Braves</a:t>
            </a:r>
            <a:endParaRPr lang="en-US" sz="610" dirty="0"/>
          </a:p>
        </p:txBody>
      </p:sp>
      <p:sp>
        <p:nvSpPr>
          <p:cNvPr id="19" name="Text 16"/>
          <p:cNvSpPr/>
          <p:nvPr/>
        </p:nvSpPr>
        <p:spPr>
          <a:xfrm>
            <a:off x="4480560" y="1806854"/>
            <a:ext cx="62179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9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590" dirty="0"/>
          </a:p>
        </p:txBody>
      </p:sp>
      <p:sp>
        <p:nvSpPr>
          <p:cNvPr id="20" name="Shape 17"/>
          <p:cNvSpPr/>
          <p:nvPr/>
        </p:nvSpPr>
        <p:spPr>
          <a:xfrm>
            <a:off x="5248656" y="1554480"/>
            <a:ext cx="2276856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303520" y="1591056"/>
            <a:ext cx="2167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80" dirty="0"/>
          </a:p>
        </p:txBody>
      </p:sp>
      <p:sp>
        <p:nvSpPr>
          <p:cNvPr id="22" name="Shape 19"/>
          <p:cNvSpPr/>
          <p:nvPr/>
        </p:nvSpPr>
        <p:spPr>
          <a:xfrm>
            <a:off x="5248656" y="1773936"/>
            <a:ext cx="2276856" cy="231343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298948" y="1847088"/>
            <a:ext cx="68580" cy="6858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394960" y="1806854"/>
            <a:ext cx="42062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392847</a:t>
            </a:r>
            <a:endParaRPr lang="en-US" sz="610" dirty="0"/>
          </a:p>
        </p:txBody>
      </p:sp>
      <p:sp>
        <p:nvSpPr>
          <p:cNvPr id="25" name="Text 22"/>
          <p:cNvSpPr/>
          <p:nvPr/>
        </p:nvSpPr>
        <p:spPr>
          <a:xfrm>
            <a:off x="5852160" y="1806854"/>
            <a:ext cx="9784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Bosch DIY UK</a:t>
            </a:r>
            <a:endParaRPr lang="en-US" sz="610" dirty="0"/>
          </a:p>
        </p:txBody>
      </p:sp>
      <p:sp>
        <p:nvSpPr>
          <p:cNvPr id="26" name="Text 23"/>
          <p:cNvSpPr/>
          <p:nvPr/>
        </p:nvSpPr>
        <p:spPr>
          <a:xfrm>
            <a:off x="6848856" y="1806854"/>
            <a:ext cx="62179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90" dirty="0">
                <a:solidFill>
                  <a:srgbClr val="F2C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 UC</a:t>
            </a:r>
            <a:endParaRPr lang="en-US" sz="590" dirty="0"/>
          </a:p>
        </p:txBody>
      </p:sp>
      <p:sp>
        <p:nvSpPr>
          <p:cNvPr id="27" name="Shape 24"/>
          <p:cNvSpPr/>
          <p:nvPr/>
        </p:nvSpPr>
        <p:spPr>
          <a:xfrm>
            <a:off x="7616952" y="1554480"/>
            <a:ext cx="2276856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671816" y="1591056"/>
            <a:ext cx="2167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80" dirty="0"/>
          </a:p>
        </p:txBody>
      </p:sp>
      <p:sp>
        <p:nvSpPr>
          <p:cNvPr id="29" name="Shape 26"/>
          <p:cNvSpPr/>
          <p:nvPr/>
        </p:nvSpPr>
        <p:spPr>
          <a:xfrm>
            <a:off x="10104120" y="1773936"/>
            <a:ext cx="1572768" cy="2944368"/>
          </a:xfrm>
          <a:prstGeom prst="roundRect">
            <a:avLst>
              <a:gd name="adj" fmla="val 2326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268712" y="1938528"/>
            <a:ext cx="1225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</a:t>
            </a:r>
            <a:endParaRPr lang="en-US" sz="980" dirty="0"/>
          </a:p>
        </p:txBody>
      </p:sp>
      <p:sp>
        <p:nvSpPr>
          <p:cNvPr id="31" name="Shape 28"/>
          <p:cNvSpPr/>
          <p:nvPr/>
        </p:nvSpPr>
        <p:spPr>
          <a:xfrm>
            <a:off x="10268712" y="2267712"/>
            <a:ext cx="91440" cy="91440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0433304" y="2244852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0 - Not Connected</a:t>
            </a:r>
            <a:endParaRPr lang="en-US" sz="680" dirty="0"/>
          </a:p>
        </p:txBody>
      </p:sp>
      <p:sp>
        <p:nvSpPr>
          <p:cNvPr id="33" name="Shape 30"/>
          <p:cNvSpPr/>
          <p:nvPr/>
        </p:nvSpPr>
        <p:spPr>
          <a:xfrm>
            <a:off x="10268712" y="2542032"/>
            <a:ext cx="91440" cy="91440"/>
          </a:xfrm>
          <a:prstGeom prst="ellipse">
            <a:avLst/>
          </a:prstGeom>
          <a:solidFill>
            <a:srgbClr val="AFC4F5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433304" y="2519172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1 - Under consideration</a:t>
            </a:r>
            <a:endParaRPr lang="en-US" sz="680" dirty="0"/>
          </a:p>
        </p:txBody>
      </p:sp>
      <p:sp>
        <p:nvSpPr>
          <p:cNvPr id="35" name="Shape 32"/>
          <p:cNvSpPr/>
          <p:nvPr/>
        </p:nvSpPr>
        <p:spPr>
          <a:xfrm>
            <a:off x="10268712" y="2816352"/>
            <a:ext cx="91440" cy="9144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0433304" y="2793492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2 - Hold UC</a:t>
            </a:r>
            <a:endParaRPr lang="en-US" sz="680" dirty="0"/>
          </a:p>
        </p:txBody>
      </p:sp>
      <p:sp>
        <p:nvSpPr>
          <p:cNvPr id="37" name="Shape 34"/>
          <p:cNvSpPr/>
          <p:nvPr/>
        </p:nvSpPr>
        <p:spPr>
          <a:xfrm>
            <a:off x="10268712" y="3090672"/>
            <a:ext cx="91440" cy="91440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0433304" y="3067812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3 - Accepted</a:t>
            </a:r>
            <a:endParaRPr lang="en-US" sz="680" dirty="0"/>
          </a:p>
        </p:txBody>
      </p:sp>
      <p:sp>
        <p:nvSpPr>
          <p:cNvPr id="39" name="Shape 36"/>
          <p:cNvSpPr/>
          <p:nvPr/>
        </p:nvSpPr>
        <p:spPr>
          <a:xfrm>
            <a:off x="10268712" y="3364992"/>
            <a:ext cx="91440" cy="91440"/>
          </a:xfrm>
          <a:prstGeom prst="ellipse">
            <a:avLst/>
          </a:prstGeom>
          <a:solidFill>
            <a:srgbClr val="5B6372"/>
          </a:solidFill>
          <a:ln w="12700">
            <a:solidFill>
              <a:srgbClr val="5B637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433304" y="3342132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4 - Ended</a:t>
            </a:r>
            <a:endParaRPr lang="en-US" sz="680" dirty="0"/>
          </a:p>
        </p:txBody>
      </p:sp>
      <p:sp>
        <p:nvSpPr>
          <p:cNvPr id="41" name="Shape 38"/>
          <p:cNvSpPr/>
          <p:nvPr/>
        </p:nvSpPr>
        <p:spPr>
          <a:xfrm>
            <a:off x="10268712" y="3639312"/>
            <a:ext cx="91440" cy="91440"/>
          </a:xfrm>
          <a:prstGeom prst="ellipse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0433304" y="3616452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5 - Denied</a:t>
            </a:r>
            <a:endParaRPr lang="en-US" sz="680" dirty="0"/>
          </a:p>
        </p:txBody>
      </p:sp>
      <p:sp>
        <p:nvSpPr>
          <p:cNvPr id="43" name="Shape 40"/>
          <p:cNvSpPr/>
          <p:nvPr/>
        </p:nvSpPr>
        <p:spPr>
          <a:xfrm>
            <a:off x="10268712" y="3913632"/>
            <a:ext cx="91440" cy="9144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433304" y="3890772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6 - Hold Accepted</a:t>
            </a:r>
            <a:endParaRPr lang="en-US" sz="680" dirty="0"/>
          </a:p>
        </p:txBody>
      </p:sp>
      <p:sp>
        <p:nvSpPr>
          <p:cNvPr id="45" name="Shape 42"/>
          <p:cNvSpPr/>
          <p:nvPr/>
        </p:nvSpPr>
        <p:spPr>
          <a:xfrm>
            <a:off x="10268712" y="4187952"/>
            <a:ext cx="91440" cy="91440"/>
          </a:xfrm>
          <a:prstGeom prst="ellipse">
            <a:avLst/>
          </a:prstGeom>
          <a:solidFill>
            <a:srgbClr val="9B51E0"/>
          </a:solidFill>
          <a:ln w="12700">
            <a:solidFill>
              <a:srgbClr val="9B51E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10433304" y="4165092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9 - Ending</a:t>
            </a:r>
            <a:endParaRPr lang="en-US" sz="6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Analysis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Anonymous comparison of publisher commission coverage and white-space programmes.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64208"/>
            <a:ext cx="11430000" cy="119695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55648"/>
          <a:ext cx="11210544" cy="1050646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5641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Competitor Group Summary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Your Site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4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Distinct comp. prog. #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864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Within Competitor Group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share for the primary publisher and four comparison publishers.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13232" y="1645920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within competitor group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207008" y="5513832"/>
            <a:ext cx="10058400" cy="0"/>
          </a:xfrm>
          <a:prstGeom prst="line">
            <a:avLst/>
          </a:prstGeom>
          <a:noFill/>
          <a:ln w="12700">
            <a:solidFill>
              <a:srgbClr val="AEB6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07008" y="467944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07008" y="384505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07008" y="301066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07008" y="217627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61872" y="3931920"/>
            <a:ext cx="9674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share chart requires publisher commission values for the primary site and comparison group.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Programs Competitor Performance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by program across the primary publisher and four comparison publishers.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00784"/>
            <a:ext cx="11430000" cy="1021385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92224"/>
          <a:ext cx="11210544" cy="875081"/>
        </p:xfrm>
        <a:graphic>
          <a:graphicData uri="http://schemas.openxmlformats.org/drawingml/2006/table">
            <a:tbl>
              <a:tblPr/>
              <a:tblGrid>
                <a:gridCol w="3993185"/>
                <a:gridCol w="1688897"/>
                <a:gridCol w="1382573"/>
                <a:gridCol w="1382573"/>
                <a:gridCol w="1382573"/>
                <a:gridCol w="1382573"/>
              </a:tblGrid>
              <a:tr h="4544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 Publisher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A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B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C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Highlights &amp; Business Implications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17007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Rate Movement</a:t>
            </a:r>
            <a:endParaRPr lang="en-US" sz="1320" dirty="0"/>
          </a:p>
        </p:txBody>
      </p:sp>
      <p:sp>
        <p:nvSpPr>
          <p:cNvPr id="6" name="Text 3"/>
          <p:cNvSpPr/>
          <p:nvPr/>
        </p:nvSpPr>
        <p:spPr>
          <a:xfrm>
            <a:off x="960120" y="19842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 increased +9.6% (0.12% to 0.13%). Conversions decreased -12.0% (-7,422), showing how efficiently programs converted traffic into outcomes.</a:t>
            </a:r>
            <a:endParaRPr lang="en-US" sz="1110" dirty="0"/>
          </a:p>
        </p:txBody>
      </p:sp>
      <p:sp>
        <p:nvSpPr>
          <p:cNvPr id="7" name="Text 4"/>
          <p:cNvSpPr/>
          <p:nvPr/>
        </p:nvSpPr>
        <p:spPr>
          <a:xfrm>
            <a:off x="731520" y="26151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Volume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960120" y="28986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conversions decreased -12.0% (-7,422). Largest declining programs were VoucherCodes (-14.4%).</a:t>
            </a:r>
            <a:endParaRPr lang="en-US" sz="1110" dirty="0"/>
          </a:p>
        </p:txBody>
      </p:sp>
      <p:sp>
        <p:nvSpPr>
          <p:cNvPr id="9" name="Text 6"/>
          <p:cNvSpPr/>
          <p:nvPr/>
        </p:nvSpPr>
        <p:spPr>
          <a:xfrm>
            <a:off x="731520" y="35295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 Value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960120" y="38130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 decreased -2.2% (£24,608,446 to £24,076,021). Value generation moved alongside conversion volume and earnings performance.</a:t>
            </a:r>
            <a:endParaRPr lang="en-US" sz="1110" dirty="0"/>
          </a:p>
        </p:txBody>
      </p:sp>
      <p:sp>
        <p:nvSpPr>
          <p:cNvPr id="11" name="Text 8"/>
          <p:cNvSpPr/>
          <p:nvPr/>
        </p:nvSpPr>
        <p:spPr>
          <a:xfrm>
            <a:off x="731520" y="44439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Publisher Commission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960120" y="47274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decreased -3.5% (£935,460 to £903,086). Commission remains the core earning component for the program.</a:t>
            </a:r>
            <a:endParaRPr lang="en-US" sz="1110" dirty="0"/>
          </a:p>
        </p:txBody>
      </p:sp>
      <p:sp>
        <p:nvSpPr>
          <p:cNvPr id="13" name="Text 10"/>
          <p:cNvSpPr/>
          <p:nvPr/>
        </p:nvSpPr>
        <p:spPr>
          <a:xfrm>
            <a:off x="731520" y="53583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Total Earnings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960120" y="56418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decreased -3.5% (£935,460 to £903,086). Digital wallet contribution was - (N/A), so total earnings combine commission and wallet income.</a:t>
            </a:r>
            <a:endParaRPr lang="en-US" sz="111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 &amp; Dependencies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132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58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value mix volatility</a:t>
            </a:r>
            <a:endParaRPr lang="en-US" sz="1140" dirty="0"/>
          </a:p>
        </p:txBody>
      </p:sp>
      <p:sp>
        <p:nvSpPr>
          <p:cNvPr id="6" name="Text 3"/>
          <p:cNvSpPr/>
          <p:nvPr/>
        </p:nvSpPr>
        <p:spPr>
          <a:xfrm>
            <a:off x="10058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7" name="Text 4"/>
          <p:cNvSpPr/>
          <p:nvPr/>
        </p:nvSpPr>
        <p:spPr>
          <a:xfrm>
            <a:off x="10058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Skimlinks was the strongest YoY uplift program (Content), adding +£590,200 in OV (+18.3%).</a:t>
            </a:r>
            <a:endParaRPr lang="en-US" sz="810" dirty="0"/>
          </a:p>
        </p:txBody>
      </p:sp>
      <p:sp>
        <p:nvSpPr>
          <p:cNvPr id="8" name="Text 5"/>
          <p:cNvSpPr/>
          <p:nvPr/>
        </p:nvSpPr>
        <p:spPr>
          <a:xfrm>
            <a:off x="10058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9" name="Text 6"/>
          <p:cNvSpPr/>
          <p:nvPr/>
        </p:nvSpPr>
        <p:spPr>
          <a:xfrm>
            <a:off x="10058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Prioritise higher-basket placements or bundles with the affected programs, then track order value and conversion mix before adding more low-value volume.</a:t>
            </a:r>
            <a:endParaRPr lang="en-US" sz="770" dirty="0"/>
          </a:p>
        </p:txBody>
      </p:sp>
      <p:sp>
        <p:nvSpPr>
          <p:cNvPr id="10" name="Shape 7"/>
          <p:cNvSpPr/>
          <p:nvPr/>
        </p:nvSpPr>
        <p:spPr>
          <a:xfrm>
            <a:off x="43708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value mix volatility</a:t>
            </a:r>
            <a:endParaRPr lang="en-US" sz="1140" dirty="0"/>
          </a:p>
        </p:txBody>
      </p:sp>
      <p:sp>
        <p:nvSpPr>
          <p:cNvPr id="12" name="Text 9"/>
          <p:cNvSpPr/>
          <p:nvPr/>
        </p:nvSpPr>
        <p:spPr>
          <a:xfrm>
            <a:off x="46634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13" name="Text 10"/>
          <p:cNvSpPr/>
          <p:nvPr/>
        </p:nvSpPr>
        <p:spPr>
          <a:xfrm>
            <a:off x="46634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VoucherCodes was the largest declining program (Voucher), with OV movement -£780,112 (-14.2%).</a:t>
            </a:r>
            <a:endParaRPr lang="en-US" sz="810" dirty="0"/>
          </a:p>
        </p:txBody>
      </p:sp>
      <p:sp>
        <p:nvSpPr>
          <p:cNvPr id="14" name="Text 11"/>
          <p:cNvSpPr/>
          <p:nvPr/>
        </p:nvSpPr>
        <p:spPr>
          <a:xfrm>
            <a:off x="46634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15" name="Text 12"/>
          <p:cNvSpPr/>
          <p:nvPr/>
        </p:nvSpPr>
        <p:spPr>
          <a:xfrm>
            <a:off x="46634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Prioritise higher-basket placements or bundles with the affected programs, then track order value and conversion mix before adding more low-value volume.</a:t>
            </a:r>
            <a:endParaRPr lang="en-US" sz="770" dirty="0"/>
          </a:p>
        </p:txBody>
      </p:sp>
      <p:sp>
        <p:nvSpPr>
          <p:cNvPr id="16" name="Shape 13"/>
          <p:cNvSpPr/>
          <p:nvPr/>
        </p:nvSpPr>
        <p:spPr>
          <a:xfrm>
            <a:off x="80284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210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concentration risk</a:t>
            </a:r>
            <a:endParaRPr lang="en-US" sz="1140" dirty="0"/>
          </a:p>
        </p:txBody>
      </p:sp>
      <p:sp>
        <p:nvSpPr>
          <p:cNvPr id="18" name="Text 15"/>
          <p:cNvSpPr/>
          <p:nvPr/>
        </p:nvSpPr>
        <p:spPr>
          <a:xfrm>
            <a:off x="83210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19" name="Text 16"/>
          <p:cNvSpPr/>
          <p:nvPr/>
        </p:nvSpPr>
        <p:spPr>
          <a:xfrm>
            <a:off x="83210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concentration remains high: VoucherCodes and Skimlinks account for £8,551,310 (64.7% of programme OV).</a:t>
            </a:r>
            <a:endParaRPr lang="en-US" sz="810" dirty="0"/>
          </a:p>
        </p:txBody>
      </p:sp>
      <p:sp>
        <p:nvSpPr>
          <p:cNvPr id="20" name="Text 17"/>
          <p:cNvSpPr/>
          <p:nvPr/>
        </p:nvSpPr>
        <p:spPr>
          <a:xfrm>
            <a:off x="83210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21" name="Text 18"/>
          <p:cNvSpPr/>
          <p:nvPr/>
        </p:nvSpPr>
        <p:spPr>
          <a:xfrm>
            <a:off x="83210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the leading program's placement while adding two similar programs into the next campaign rotation so commission is not dependent on one partner.</a:t>
            </a:r>
            <a:endParaRPr lang="en-US" sz="77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73152"/>
            <a:ext cx="6309360" cy="63093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13258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HP Store - Thank you.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640080" y="2331720"/>
            <a:ext cx="2578608" cy="1024128"/>
          </a:xfrm>
          <a:prstGeom prst="roundRect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>
                <a:alpha val="4500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40080" y="2331720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Questions?</a:t>
            </a:r>
            <a:endParaRPr lang="en-US" sz="1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Appendix: Program YoY Table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783080"/>
            <a:ext cx="11430000" cy="4386377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4240073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4544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Previous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Difference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Variance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Clicks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42,050,161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52,364,355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-10,314,194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-19.7%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Sales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54,562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61,984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-7,422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-12.0%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 Rate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+0.01%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+9.6%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£24,076,021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£24,608,446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-£532,425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-2.2%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AOV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£441.26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£397.01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+£44.25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+11.1%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 Commission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£903,086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£935,460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-£32,374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Commission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£903,086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£935,460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-£32,374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CPA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£16.55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£15.09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+£1.46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+9.7%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ROI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26.66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26.31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+0.35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+1.3%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HP Store</dc:title>
  <dc:subject>Quarterly business review</dc:subject>
  <dc:creator>QBR PPTX Service</dc:creator>
  <cp:lastModifiedBy>QBR PPTX Service</cp:lastModifiedBy>
  <cp:revision>1</cp:revision>
  <dcterms:created xsi:type="dcterms:W3CDTF">2026-05-19T14:38:05Z</dcterms:created>
  <dcterms:modified xsi:type="dcterms:W3CDTF">2026-05-19T14:38:05Z</dcterms:modified>
</cp:coreProperties>
</file>