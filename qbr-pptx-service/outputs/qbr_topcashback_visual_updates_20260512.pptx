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Topcashback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topcashback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January 2026 – 30 April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30 April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January 2025 – 30 April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127,935 vs 140,232 PY - </a:t>
            </a:r>
            <a:pPr indent="0" marL="0">
              <a:buNone/>
            </a:pPr>
            <a:r>
              <a:rPr lang="en-US" sz="102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-8.8%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53712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£19,877,962 vs £29,136,340 PY - </a:t>
            </a:r>
            <a:pPr indent="0" marL="0">
              <a:buNone/>
            </a:pPr>
            <a:r>
              <a:rPr lang="en-US" sz="102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-31.8%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266176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£916,809 vs £1,254,419 PY - </a:t>
            </a:r>
            <a:pPr indent="0" marL="0">
              <a:buNone/>
            </a:pPr>
            <a:r>
              <a:rPr lang="en-US" sz="102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-26.9%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640080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139696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267712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41248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41248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£130,174 vs £247,331 PY - </a:t>
            </a:r>
            <a:pPr indent="0" marL="0">
              <a:buNone/>
            </a:pPr>
            <a:r>
              <a:rPr lang="en-US" sz="102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-47.4%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352544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52544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852160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80176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553712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553712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£1,046,983 vs £1,501,750 PY - </a:t>
            </a:r>
            <a:pPr indent="0" marL="0">
              <a:buNone/>
            </a:pPr>
            <a:r>
              <a:rPr lang="en-US" sz="1020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-30.3%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8065008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065008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564624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92640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266176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8266176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24.8% vs 24.2% PY - </a:t>
            </a:r>
            <a:pPr indent="0" marL="0">
              <a:buNone/>
            </a:pPr>
            <a:r>
              <a:rPr lang="en-US" sz="10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+2.6%</a:t>
            </a:r>
            <a:endParaRPr lang="en-US" sz="1020" dirty="0"/>
          </a:p>
        </p:txBody>
      </p:sp>
      <p:sp>
        <p:nvSpPr>
          <p:cNvPr id="40" name="Text 37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12 selected programs, performance was mixed in Jan 2026 – Apr 2026. Conversions moved -8.8% to 127,935 and conversion rate moved +2.6% to 24.8%. Publisher commission decreased -26.9% to £916,809, while digital wallet earnings decreased -47.4% to £130,174. Total earnings ended at £1,046,983 (-30.3%) and total order value decreased -31.8% to £19,877,962.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8480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8498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6085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127,935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140,232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-12,297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-8.8%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515,590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579,730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-64,140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-11.1%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Click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£2.03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£2.59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-£0.56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-21.6%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1.14x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1.20x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-0.06x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£19,877,962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£29,136,340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-£9,258,378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-31.8%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£916,809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£1,254,419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-£337,611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-26.9%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£130,174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£247,331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-£117,157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-47.4%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£1,046,983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£1,501,750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-£454,767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Programs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-9.1%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729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504291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89661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4306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300817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£157,473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£163,473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14,972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£2,036,775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+108.7%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+76.7%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+56.0%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Staysure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£123,766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£130,207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2,504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£467,080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+24.2%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+28.5%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+35.0%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246156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Morrisons Grocery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£113,730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£128,880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71,274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£6,609,280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-66.1%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-66.8%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£43,713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£45,330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£168,660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+85.1%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+91.9%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+63.8%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254701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£38,044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£40,907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1,209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£372,824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+78.0%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+76.4%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+52.5%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122083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£36,657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£36,657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2,168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£729,130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-36.0%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8854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Disneyland Paris GB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£31,653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£34,903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1,582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£1,377,996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-55.0%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-54.5%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324414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InsureandGo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£24,132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£24,132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1,186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£109,815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-45.0%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-72.4%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-24.7%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329603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MoneyFarm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£21,706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£57,971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£710,013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-74.5%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-59.3%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-67.9%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220196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Club Med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£21,602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£27,737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£450,229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+19.3%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-11.2%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236409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eFlorist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£21,556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£21,556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4,559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£124,249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-28.7%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-28.7%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-36.0%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324849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 Ferries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£19,991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£19,991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1,837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£503,885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+57.4%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162205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getyourguide.co.uk (+108.7%)</a:t>
            </a:r>
            <a:endParaRPr lang="en-US" sz="580" dirty="0"/>
          </a:p>
        </p:txBody>
      </p:sp>
      <p:sp>
        <p:nvSpPr>
          <p:cNvPr id="12" name="Shape 9"/>
          <p:cNvSpPr/>
          <p:nvPr/>
        </p:nvSpPr>
        <p:spPr>
          <a:xfrm>
            <a:off x="7392924" y="1654058"/>
            <a:ext cx="123387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72514" y="164034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£82,013</a:t>
            </a:r>
            <a:endParaRPr lang="en-US" sz="570" dirty="0"/>
          </a:p>
        </p:txBody>
      </p:sp>
      <p:sp>
        <p:nvSpPr>
          <p:cNvPr id="14" name="Text 11"/>
          <p:cNvSpPr/>
          <p:nvPr/>
        </p:nvSpPr>
        <p:spPr>
          <a:xfrm>
            <a:off x="530352" y="186437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Staysure (+24.2%)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7392924" y="1896374"/>
            <a:ext cx="363163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801807" y="188265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£24,139</a:t>
            </a:r>
            <a:endParaRPr lang="en-US" sz="570" dirty="0"/>
          </a:p>
        </p:txBody>
      </p:sp>
      <p:sp>
        <p:nvSpPr>
          <p:cNvPr id="17" name="Text 14"/>
          <p:cNvSpPr/>
          <p:nvPr/>
        </p:nvSpPr>
        <p:spPr>
          <a:xfrm>
            <a:off x="530352" y="210668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Avanti Travel Insurance (+85.1%)</a:t>
            </a:r>
            <a:endParaRPr lang="en-US" sz="580" dirty="0"/>
          </a:p>
        </p:txBody>
      </p:sp>
      <p:sp>
        <p:nvSpPr>
          <p:cNvPr id="18" name="Shape 15"/>
          <p:cNvSpPr/>
          <p:nvPr/>
        </p:nvSpPr>
        <p:spPr>
          <a:xfrm>
            <a:off x="7392924" y="2138690"/>
            <a:ext cx="302281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40925" y="212497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£20,092</a:t>
            </a:r>
            <a:endParaRPr lang="en-US" sz="570" dirty="0"/>
          </a:p>
        </p:txBody>
      </p:sp>
      <p:sp>
        <p:nvSpPr>
          <p:cNvPr id="20" name="Text 17"/>
          <p:cNvSpPr/>
          <p:nvPr/>
        </p:nvSpPr>
        <p:spPr>
          <a:xfrm>
            <a:off x="530352" y="234900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Sixt Rent a Car UK (+78.0%)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7392924" y="2381006"/>
            <a:ext cx="250825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689469" y="236729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£16,672</a:t>
            </a:r>
            <a:endParaRPr lang="en-US" sz="570" dirty="0"/>
          </a:p>
        </p:txBody>
      </p:sp>
      <p:sp>
        <p:nvSpPr>
          <p:cNvPr id="23" name="Text 20"/>
          <p:cNvSpPr/>
          <p:nvPr/>
        </p:nvSpPr>
        <p:spPr>
          <a:xfrm>
            <a:off x="530352" y="259131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Eurowings UK (+581.5%)</a:t>
            </a:r>
            <a:endParaRPr lang="en-US" sz="580" dirty="0"/>
          </a:p>
        </p:txBody>
      </p:sp>
      <p:sp>
        <p:nvSpPr>
          <p:cNvPr id="24" name="Shape 21"/>
          <p:cNvSpPr/>
          <p:nvPr/>
        </p:nvSpPr>
        <p:spPr>
          <a:xfrm>
            <a:off x="7392924" y="2623322"/>
            <a:ext cx="148276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586920" y="260960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£9,856</a:t>
            </a:r>
            <a:endParaRPr lang="en-US" sz="570" dirty="0"/>
          </a:p>
        </p:txBody>
      </p:sp>
      <p:sp>
        <p:nvSpPr>
          <p:cNvPr id="26" name="Text 23"/>
          <p:cNvSpPr/>
          <p:nvPr/>
        </p:nvSpPr>
        <p:spPr>
          <a:xfrm>
            <a:off x="530352" y="283363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Mortgage Genie (+367.3%)</a:t>
            </a:r>
            <a:endParaRPr lang="en-US" sz="580" dirty="0"/>
          </a:p>
        </p:txBody>
      </p:sp>
      <p:sp>
        <p:nvSpPr>
          <p:cNvPr id="27" name="Shape 24"/>
          <p:cNvSpPr/>
          <p:nvPr/>
        </p:nvSpPr>
        <p:spPr>
          <a:xfrm>
            <a:off x="7392924" y="2865638"/>
            <a:ext cx="13540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74048" y="285192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£9,000</a:t>
            </a:r>
            <a:endParaRPr lang="en-US" sz="570" dirty="0"/>
          </a:p>
        </p:txBody>
      </p:sp>
      <p:sp>
        <p:nvSpPr>
          <p:cNvPr id="29" name="Text 26"/>
          <p:cNvSpPr/>
          <p:nvPr/>
        </p:nvSpPr>
        <p:spPr>
          <a:xfrm>
            <a:off x="530352" y="307595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Rose Assurance (N/A)</a:t>
            </a:r>
            <a:endParaRPr lang="en-US" sz="580" dirty="0"/>
          </a:p>
        </p:txBody>
      </p:sp>
      <p:sp>
        <p:nvSpPr>
          <p:cNvPr id="30" name="Shape 27"/>
          <p:cNvSpPr/>
          <p:nvPr/>
        </p:nvSpPr>
        <p:spPr>
          <a:xfrm>
            <a:off x="7392924" y="3107954"/>
            <a:ext cx="121412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60056" y="309423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£8,070</a:t>
            </a:r>
            <a:endParaRPr lang="en-US" sz="570" dirty="0"/>
          </a:p>
        </p:txBody>
      </p:sp>
      <p:sp>
        <p:nvSpPr>
          <p:cNvPr id="32" name="Text 29"/>
          <p:cNvSpPr/>
          <p:nvPr/>
        </p:nvSpPr>
        <p:spPr>
          <a:xfrm>
            <a:off x="530352" y="331826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Serenata Flowers (N/A)</a:t>
            </a:r>
            <a:endParaRPr lang="en-US" sz="580" dirty="0"/>
          </a:p>
        </p:txBody>
      </p:sp>
      <p:sp>
        <p:nvSpPr>
          <p:cNvPr id="33" name="Shape 30"/>
          <p:cNvSpPr/>
          <p:nvPr/>
        </p:nvSpPr>
        <p:spPr>
          <a:xfrm>
            <a:off x="7392924" y="3350270"/>
            <a:ext cx="112432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51076" y="333655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£7,473</a:t>
            </a:r>
            <a:endParaRPr lang="en-US" sz="570" dirty="0"/>
          </a:p>
        </p:txBody>
      </p:sp>
      <p:sp>
        <p:nvSpPr>
          <p:cNvPr id="35" name="Text 32"/>
          <p:cNvSpPr/>
          <p:nvPr/>
        </p:nvSpPr>
        <p:spPr>
          <a:xfrm>
            <a:off x="530352" y="356058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Petgevity (+170.2%)</a:t>
            </a:r>
            <a:endParaRPr lang="en-US" sz="580" dirty="0"/>
          </a:p>
        </p:txBody>
      </p:sp>
      <p:sp>
        <p:nvSpPr>
          <p:cNvPr id="36" name="Shape 33"/>
          <p:cNvSpPr/>
          <p:nvPr/>
        </p:nvSpPr>
        <p:spPr>
          <a:xfrm>
            <a:off x="7392924" y="3592586"/>
            <a:ext cx="84108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522752" y="357887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£5,591</a:t>
            </a:r>
            <a:endParaRPr lang="en-US" sz="570" dirty="0"/>
          </a:p>
        </p:txBody>
      </p:sp>
      <p:sp>
        <p:nvSpPr>
          <p:cNvPr id="38" name="Text 35"/>
          <p:cNvSpPr/>
          <p:nvPr/>
        </p:nvSpPr>
        <p:spPr>
          <a:xfrm>
            <a:off x="530352" y="380289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AutoEurope UK (+265.5%)</a:t>
            </a:r>
            <a:endParaRPr lang="en-US" sz="580" dirty="0"/>
          </a:p>
        </p:txBody>
      </p:sp>
      <p:sp>
        <p:nvSpPr>
          <p:cNvPr id="39" name="Shape 36"/>
          <p:cNvSpPr/>
          <p:nvPr/>
        </p:nvSpPr>
        <p:spPr>
          <a:xfrm>
            <a:off x="7392924" y="3834902"/>
            <a:ext cx="80488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519132" y="382118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£5,350</a:t>
            </a:r>
            <a:endParaRPr lang="en-US" sz="570" dirty="0"/>
          </a:p>
        </p:txBody>
      </p:sp>
      <p:sp>
        <p:nvSpPr>
          <p:cNvPr id="41" name="Text 38"/>
          <p:cNvSpPr/>
          <p:nvPr/>
        </p:nvSpPr>
        <p:spPr>
          <a:xfrm>
            <a:off x="530352" y="404521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Lenstore UK Contact Lenses (-52.5%)</a:t>
            </a:r>
            <a:endParaRPr lang="en-US" sz="580" dirty="0"/>
          </a:p>
        </p:txBody>
      </p:sp>
      <p:sp>
        <p:nvSpPr>
          <p:cNvPr id="42" name="Shape 39"/>
          <p:cNvSpPr/>
          <p:nvPr/>
        </p:nvSpPr>
        <p:spPr>
          <a:xfrm>
            <a:off x="7276524" y="4077218"/>
            <a:ext cx="116400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389556" y="406350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-£7,737</a:t>
            </a:r>
            <a:endParaRPr lang="en-US" sz="570" dirty="0"/>
          </a:p>
        </p:txBody>
      </p:sp>
      <p:sp>
        <p:nvSpPr>
          <p:cNvPr id="44" name="Text 41"/>
          <p:cNvSpPr/>
          <p:nvPr/>
        </p:nvSpPr>
        <p:spPr>
          <a:xfrm>
            <a:off x="530352" y="428753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eFlorist UK (-28.7%)</a:t>
            </a:r>
            <a:endParaRPr lang="en-US" sz="580" dirty="0"/>
          </a:p>
        </p:txBody>
      </p:sp>
      <p:sp>
        <p:nvSpPr>
          <p:cNvPr id="45" name="Shape 42"/>
          <p:cNvSpPr/>
          <p:nvPr/>
        </p:nvSpPr>
        <p:spPr>
          <a:xfrm>
            <a:off x="7262478" y="4319534"/>
            <a:ext cx="130446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375510" y="430581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-£8,670</a:t>
            </a:r>
            <a:endParaRPr lang="en-US" sz="570" dirty="0"/>
          </a:p>
        </p:txBody>
      </p:sp>
      <p:sp>
        <p:nvSpPr>
          <p:cNvPr id="47" name="Text 44"/>
          <p:cNvSpPr/>
          <p:nvPr/>
        </p:nvSpPr>
        <p:spPr>
          <a:xfrm>
            <a:off x="530352" y="452984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 Electrical (-41.3%)</a:t>
            </a:r>
            <a:endParaRPr lang="en-US" sz="580" dirty="0"/>
          </a:p>
        </p:txBody>
      </p:sp>
      <p:sp>
        <p:nvSpPr>
          <p:cNvPr id="48" name="Shape 45"/>
          <p:cNvSpPr/>
          <p:nvPr/>
        </p:nvSpPr>
        <p:spPr>
          <a:xfrm>
            <a:off x="7240054" y="4561850"/>
            <a:ext cx="152870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353086" y="454813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-£10,161</a:t>
            </a:r>
            <a:endParaRPr lang="en-US" sz="570" dirty="0"/>
          </a:p>
        </p:txBody>
      </p:sp>
      <p:sp>
        <p:nvSpPr>
          <p:cNvPr id="50" name="Text 47"/>
          <p:cNvSpPr/>
          <p:nvPr/>
        </p:nvSpPr>
        <p:spPr>
          <a:xfrm>
            <a:off x="530352" y="477216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Lufthansa UK (-100.0%)</a:t>
            </a:r>
            <a:endParaRPr lang="en-US" sz="580" dirty="0"/>
          </a:p>
        </p:txBody>
      </p:sp>
      <p:sp>
        <p:nvSpPr>
          <p:cNvPr id="51" name="Shape 48"/>
          <p:cNvSpPr/>
          <p:nvPr/>
        </p:nvSpPr>
        <p:spPr>
          <a:xfrm>
            <a:off x="7154117" y="4804166"/>
            <a:ext cx="238807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267149" y="479045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-£15,873</a:t>
            </a:r>
            <a:endParaRPr lang="en-US" sz="570" dirty="0"/>
          </a:p>
        </p:txBody>
      </p:sp>
      <p:sp>
        <p:nvSpPr>
          <p:cNvPr id="53" name="Text 50"/>
          <p:cNvSpPr/>
          <p:nvPr/>
        </p:nvSpPr>
        <p:spPr>
          <a:xfrm>
            <a:off x="530352" y="501447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InsureandGo (-45.0%)</a:t>
            </a:r>
            <a:endParaRPr lang="en-US" sz="580" dirty="0"/>
          </a:p>
        </p:txBody>
      </p:sp>
      <p:sp>
        <p:nvSpPr>
          <p:cNvPr id="54" name="Shape 51"/>
          <p:cNvSpPr/>
          <p:nvPr/>
        </p:nvSpPr>
        <p:spPr>
          <a:xfrm>
            <a:off x="7095678" y="5046482"/>
            <a:ext cx="297246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208710" y="503276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-£19,757</a:t>
            </a:r>
            <a:endParaRPr lang="en-US" sz="570" dirty="0"/>
          </a:p>
        </p:txBody>
      </p:sp>
      <p:sp>
        <p:nvSpPr>
          <p:cNvPr id="56" name="Text 53"/>
          <p:cNvSpPr/>
          <p:nvPr/>
        </p:nvSpPr>
        <p:spPr>
          <a:xfrm>
            <a:off x="530352" y="525679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(-39.2%)</a:t>
            </a:r>
            <a:endParaRPr lang="en-US" sz="580" dirty="0"/>
          </a:p>
        </p:txBody>
      </p:sp>
      <p:sp>
        <p:nvSpPr>
          <p:cNvPr id="57" name="Shape 54"/>
          <p:cNvSpPr/>
          <p:nvPr/>
        </p:nvSpPr>
        <p:spPr>
          <a:xfrm>
            <a:off x="7037985" y="5288798"/>
            <a:ext cx="354939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151017" y="527508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-£23,592</a:t>
            </a:r>
            <a:endParaRPr lang="en-US" sz="570" dirty="0"/>
          </a:p>
        </p:txBody>
      </p:sp>
      <p:sp>
        <p:nvSpPr>
          <p:cNvPr id="59" name="Text 56"/>
          <p:cNvSpPr/>
          <p:nvPr/>
        </p:nvSpPr>
        <p:spPr>
          <a:xfrm>
            <a:off x="530352" y="549911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Disneyland Paris GB (-55.0%)</a:t>
            </a:r>
            <a:endParaRPr lang="en-US" sz="580" dirty="0"/>
          </a:p>
        </p:txBody>
      </p:sp>
      <p:sp>
        <p:nvSpPr>
          <p:cNvPr id="60" name="Shape 57"/>
          <p:cNvSpPr/>
          <p:nvPr/>
        </p:nvSpPr>
        <p:spPr>
          <a:xfrm>
            <a:off x="6811029" y="5531114"/>
            <a:ext cx="58189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924061" y="551739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-£38,677</a:t>
            </a:r>
            <a:endParaRPr lang="en-US" sz="570" dirty="0"/>
          </a:p>
        </p:txBody>
      </p:sp>
      <p:sp>
        <p:nvSpPr>
          <p:cNvPr id="62" name="Text 59"/>
          <p:cNvSpPr/>
          <p:nvPr/>
        </p:nvSpPr>
        <p:spPr>
          <a:xfrm>
            <a:off x="530352" y="574142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MoneyFarm (-74.5%)</a:t>
            </a:r>
            <a:endParaRPr lang="en-US" sz="580" dirty="0"/>
          </a:p>
        </p:txBody>
      </p:sp>
      <p:sp>
        <p:nvSpPr>
          <p:cNvPr id="63" name="Shape 60"/>
          <p:cNvSpPr/>
          <p:nvPr/>
        </p:nvSpPr>
        <p:spPr>
          <a:xfrm>
            <a:off x="6436683" y="5773430"/>
            <a:ext cx="956241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549715" y="575971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-£63,559</a:t>
            </a:r>
            <a:endParaRPr lang="en-US" sz="570" dirty="0"/>
          </a:p>
        </p:txBody>
      </p:sp>
      <p:sp>
        <p:nvSpPr>
          <p:cNvPr id="65" name="Text 62"/>
          <p:cNvSpPr/>
          <p:nvPr/>
        </p:nvSpPr>
        <p:spPr>
          <a:xfrm>
            <a:off x="530352" y="598374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Republic (Closed 17.09.2025) (-100.0%)</a:t>
            </a:r>
            <a:endParaRPr lang="en-US" sz="580" dirty="0"/>
          </a:p>
        </p:txBody>
      </p:sp>
      <p:sp>
        <p:nvSpPr>
          <p:cNvPr id="66" name="Shape 63"/>
          <p:cNvSpPr/>
          <p:nvPr/>
        </p:nvSpPr>
        <p:spPr>
          <a:xfrm>
            <a:off x="6160506" y="6015746"/>
            <a:ext cx="1232418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273538" y="600203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-£81,916</a:t>
            </a:r>
            <a:endParaRPr lang="en-US" sz="570" dirty="0"/>
          </a:p>
        </p:txBody>
      </p:sp>
      <p:sp>
        <p:nvSpPr>
          <p:cNvPr id="68" name="Text 65"/>
          <p:cNvSpPr/>
          <p:nvPr/>
        </p:nvSpPr>
        <p:spPr>
          <a:xfrm>
            <a:off x="530352" y="622605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(-66.1%)</a:t>
            </a:r>
            <a:endParaRPr lang="en-US" sz="580" dirty="0"/>
          </a:p>
        </p:txBody>
      </p:sp>
      <p:sp>
        <p:nvSpPr>
          <p:cNvPr id="69" name="Shape 66"/>
          <p:cNvSpPr/>
          <p:nvPr/>
        </p:nvSpPr>
        <p:spPr>
          <a:xfrm>
            <a:off x="4050792" y="6258062"/>
            <a:ext cx="334213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959352" y="624434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-£222,145</a:t>
            </a:r>
            <a:endParaRPr lang="en-US" sz="5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+2.6% (24.2% to 24.8%). Conversions decreased -8.8% (-12,297),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-8.8% (-12,297).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-31.8% (£29,136,340 to £19,877,962).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-26.9% (£1,254,419 to £916,809).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-30.3% (£1,501,750 to £1,046,983). Digital wallet contribution was £130,174 (-47.4%),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29352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Programs with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 which you have 0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 of the above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£3,378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£7,390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£3,776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£3,141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£17,686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12064" y="31272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 comm by week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078992" y="3447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3383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100,000</a:t>
            </a:r>
            <a:endParaRPr lang="en-US" sz="620" dirty="0"/>
          </a:p>
        </p:txBody>
      </p:sp>
      <p:sp>
        <p:nvSpPr>
          <p:cNvPr id="10" name="Shape 6"/>
          <p:cNvSpPr/>
          <p:nvPr/>
        </p:nvSpPr>
        <p:spPr>
          <a:xfrm>
            <a:off x="1078992" y="39044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12064" y="38404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80,000</a:t>
            </a:r>
            <a:endParaRPr lang="en-US" sz="620" dirty="0"/>
          </a:p>
        </p:txBody>
      </p:sp>
      <p:sp>
        <p:nvSpPr>
          <p:cNvPr id="12" name="Shape 8"/>
          <p:cNvSpPr/>
          <p:nvPr/>
        </p:nvSpPr>
        <p:spPr>
          <a:xfrm>
            <a:off x="1078992" y="43616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2064" y="42976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60,000</a:t>
            </a:r>
            <a:endParaRPr lang="en-US" sz="620" dirty="0"/>
          </a:p>
        </p:txBody>
      </p:sp>
      <p:sp>
        <p:nvSpPr>
          <p:cNvPr id="14" name="Shape 10"/>
          <p:cNvSpPr/>
          <p:nvPr/>
        </p:nvSpPr>
        <p:spPr>
          <a:xfrm>
            <a:off x="1078992" y="48188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2064" y="47548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40,000</a:t>
            </a:r>
            <a:endParaRPr lang="en-US" sz="620" dirty="0"/>
          </a:p>
        </p:txBody>
      </p:sp>
      <p:sp>
        <p:nvSpPr>
          <p:cNvPr id="16" name="Shape 12"/>
          <p:cNvSpPr/>
          <p:nvPr/>
        </p:nvSpPr>
        <p:spPr>
          <a:xfrm>
            <a:off x="1078992" y="52760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2064" y="52120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20,000</a:t>
            </a:r>
            <a:endParaRPr lang="en-US" sz="620" dirty="0"/>
          </a:p>
        </p:txBody>
      </p:sp>
      <p:sp>
        <p:nvSpPr>
          <p:cNvPr id="18" name="Shape 14"/>
          <p:cNvSpPr/>
          <p:nvPr/>
        </p:nvSpPr>
        <p:spPr>
          <a:xfrm>
            <a:off x="1078992" y="5733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2064" y="5669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20" dirty="0"/>
          </a:p>
        </p:txBody>
      </p:sp>
      <p:sp>
        <p:nvSpPr>
          <p:cNvPr id="20" name="Shape 16"/>
          <p:cNvSpPr/>
          <p:nvPr/>
        </p:nvSpPr>
        <p:spPr>
          <a:xfrm>
            <a:off x="1276096" y="4825060"/>
            <a:ext cx="182880" cy="908228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853184" y="4255846"/>
            <a:ext cx="182880" cy="1477442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430272" y="4302915"/>
            <a:ext cx="182880" cy="1430373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007360" y="4430657"/>
            <a:ext cx="182880" cy="130263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584448" y="4369232"/>
            <a:ext cx="182880" cy="1364056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161536" y="4310847"/>
            <a:ext cx="182880" cy="142244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738624" y="4324586"/>
            <a:ext cx="182880" cy="1408702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315712" y="4542145"/>
            <a:ext cx="182880" cy="1191143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892800" y="4564845"/>
            <a:ext cx="182880" cy="1168443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469888" y="4555701"/>
            <a:ext cx="182880" cy="117758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7046976" y="4423524"/>
            <a:ext cx="182880" cy="1309764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624064" y="4650318"/>
            <a:ext cx="182880" cy="1082970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201152" y="4616508"/>
            <a:ext cx="182880" cy="1116780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778240" y="4700565"/>
            <a:ext cx="182880" cy="1032723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9355328" y="4786998"/>
            <a:ext cx="182880" cy="946290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9932416" y="4748662"/>
            <a:ext cx="182880" cy="984626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10509504" y="4826020"/>
            <a:ext cx="182880" cy="907268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1086592" y="5006523"/>
            <a:ext cx="182880" cy="72676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367536" y="5618622"/>
            <a:ext cx="577088" cy="-136223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944624" y="5482400"/>
            <a:ext cx="577088" cy="83873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2521712" y="5566273"/>
            <a:ext cx="577088" cy="-2185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3098800" y="5544419"/>
            <a:ext cx="577088" cy="2615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3675888" y="5570571"/>
            <a:ext cx="577088" cy="-137229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4252976" y="5433342"/>
            <a:ext cx="577088" cy="-5603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4830064" y="5377312"/>
            <a:ext cx="577088" cy="95349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5407152" y="5472661"/>
            <a:ext cx="577088" cy="-40485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5984240" y="5432176"/>
            <a:ext cx="577088" cy="-1376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6561328" y="5418414"/>
            <a:ext cx="577088" cy="4915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7138416" y="5423329"/>
            <a:ext cx="577088" cy="-1648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7715504" y="5406847"/>
            <a:ext cx="577088" cy="36096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8292592" y="5442943"/>
            <a:ext cx="577088" cy="25123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8869680" y="5468066"/>
            <a:ext cx="577088" cy="-983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9446768" y="5467083"/>
            <a:ext cx="577088" cy="5875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10023856" y="5472958"/>
            <a:ext cx="577088" cy="-553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10600944" y="5467426"/>
            <a:ext cx="577088" cy="86937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1344676" y="5595762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1921764" y="5459539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2498852" y="554341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3075940" y="5521559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3653028" y="5547711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4230116" y="5410482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4807204" y="5354452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5384292" y="5449801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5961380" y="5409316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6538468" y="5395554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7115556" y="5400469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7692644" y="5383987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8269732" y="542008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8846820" y="5445206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9423908" y="544422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10000996" y="5450098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10578084" y="5444566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11155172" y="553150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1367536" y="5578572"/>
            <a:ext cx="577088" cy="-50681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1944624" y="5527891"/>
            <a:ext cx="577088" cy="2233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2521712" y="5550225"/>
            <a:ext cx="577088" cy="-43845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3098800" y="5506380"/>
            <a:ext cx="577088" cy="-1495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3675888" y="5491429"/>
            <a:ext cx="577088" cy="-24986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4252976" y="5466443"/>
            <a:ext cx="577088" cy="46429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4830064" y="5512872"/>
            <a:ext cx="577088" cy="-13305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5407152" y="5499567"/>
            <a:ext cx="577088" cy="-1143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5984240" y="5498424"/>
            <a:ext cx="577088" cy="19957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6561328" y="5518381"/>
            <a:ext cx="577088" cy="-20597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7138416" y="5497784"/>
            <a:ext cx="577088" cy="-1968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7715504" y="5478102"/>
            <a:ext cx="577088" cy="15499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8292592" y="5493601"/>
            <a:ext cx="577088" cy="44005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8869680" y="5537606"/>
            <a:ext cx="577088" cy="-69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9446768" y="5537538"/>
            <a:ext cx="577088" cy="-1856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10023856" y="5518976"/>
            <a:ext cx="577088" cy="4435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10600944" y="5523410"/>
            <a:ext cx="577088" cy="7969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1344676" y="5555712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1921764" y="5505031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2498852" y="5527365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3075940" y="5483520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3653028" y="546856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4230116" y="544358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4807204" y="5490012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5384292" y="5476707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5961380" y="5475564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6538468" y="5495521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7115556" y="5474924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7692644" y="5455242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8269732" y="5470741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8846820" y="551474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9423908" y="5514678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10000996" y="5496115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10578084" y="5500550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11155172" y="5580240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1367536" y="5622188"/>
            <a:ext cx="577088" cy="-36027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1944624" y="5586161"/>
            <a:ext cx="577088" cy="5399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2521712" y="5640156"/>
            <a:ext cx="577088" cy="-3338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3098800" y="5636819"/>
            <a:ext cx="577088" cy="10881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3675888" y="5647700"/>
            <a:ext cx="577088" cy="-27181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4252976" y="5620520"/>
            <a:ext cx="577088" cy="3049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4830064" y="5651015"/>
            <a:ext cx="577088" cy="-29649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5407152" y="5621365"/>
            <a:ext cx="577088" cy="24049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5984240" y="5645414"/>
            <a:ext cx="577088" cy="9876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6561328" y="5655290"/>
            <a:ext cx="577088" cy="8504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7138416" y="5663794"/>
            <a:ext cx="577088" cy="-491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7715504" y="5658879"/>
            <a:ext cx="577088" cy="-17556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8292592" y="5641322"/>
            <a:ext cx="577088" cy="-21877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8869680" y="5619445"/>
            <a:ext cx="577088" cy="-3193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9446768" y="5587510"/>
            <a:ext cx="577088" cy="31318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10023856" y="5618828"/>
            <a:ext cx="577088" cy="14196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>
            <a:off x="10600944" y="5633024"/>
            <a:ext cx="577088" cy="39708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1344676" y="5599328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1921764" y="5563301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2498852" y="561729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3075940" y="561395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3653028" y="5624840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4230116" y="5597660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>
            <a:off x="4807204" y="5628155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>
            <a:off x="5384292" y="5598505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5961380" y="5622554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>
            <a:off x="6538468" y="5632430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5" name="Shape 131"/>
          <p:cNvSpPr/>
          <p:nvPr/>
        </p:nvSpPr>
        <p:spPr>
          <a:xfrm>
            <a:off x="7115556" y="5640934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7692644" y="563601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8269732" y="561846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8" name="Shape 134"/>
          <p:cNvSpPr/>
          <p:nvPr/>
        </p:nvSpPr>
        <p:spPr>
          <a:xfrm>
            <a:off x="8846820" y="5596585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>
            <a:off x="9423908" y="5564650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10000996" y="5595968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>
            <a:off x="10578084" y="5610164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2" name="Shape 138"/>
          <p:cNvSpPr/>
          <p:nvPr/>
        </p:nvSpPr>
        <p:spPr>
          <a:xfrm>
            <a:off x="11155172" y="564987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3" name="Shape 139"/>
          <p:cNvSpPr/>
          <p:nvPr/>
        </p:nvSpPr>
        <p:spPr>
          <a:xfrm>
            <a:off x="1367536" y="5606575"/>
            <a:ext cx="577088" cy="5669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44" name="Shape 140"/>
          <p:cNvSpPr/>
          <p:nvPr/>
        </p:nvSpPr>
        <p:spPr>
          <a:xfrm>
            <a:off x="1944624" y="5612244"/>
            <a:ext cx="577088" cy="2542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45" name="Shape 141"/>
          <p:cNvSpPr/>
          <p:nvPr/>
        </p:nvSpPr>
        <p:spPr>
          <a:xfrm>
            <a:off x="2521712" y="5637665"/>
            <a:ext cx="577088" cy="-1783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46" name="Shape 142"/>
          <p:cNvSpPr/>
          <p:nvPr/>
        </p:nvSpPr>
        <p:spPr>
          <a:xfrm>
            <a:off x="3098800" y="5635882"/>
            <a:ext cx="577088" cy="24643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47" name="Shape 143"/>
          <p:cNvSpPr/>
          <p:nvPr/>
        </p:nvSpPr>
        <p:spPr>
          <a:xfrm>
            <a:off x="3675888" y="5660525"/>
            <a:ext cx="577088" cy="-57424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48" name="Shape 144"/>
          <p:cNvSpPr/>
          <p:nvPr/>
        </p:nvSpPr>
        <p:spPr>
          <a:xfrm>
            <a:off x="4252976" y="5603100"/>
            <a:ext cx="577088" cy="4112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49" name="Shape 145"/>
          <p:cNvSpPr/>
          <p:nvPr/>
        </p:nvSpPr>
        <p:spPr>
          <a:xfrm>
            <a:off x="4830064" y="5644225"/>
            <a:ext cx="577088" cy="-21031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50" name="Shape 146"/>
          <p:cNvSpPr/>
          <p:nvPr/>
        </p:nvSpPr>
        <p:spPr>
          <a:xfrm>
            <a:off x="5407152" y="5623194"/>
            <a:ext cx="577088" cy="-13739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51" name="Shape 147"/>
          <p:cNvSpPr/>
          <p:nvPr/>
        </p:nvSpPr>
        <p:spPr>
          <a:xfrm>
            <a:off x="5984240" y="5609455"/>
            <a:ext cx="577088" cy="70432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52" name="Shape 148"/>
          <p:cNvSpPr/>
          <p:nvPr/>
        </p:nvSpPr>
        <p:spPr>
          <a:xfrm>
            <a:off x="6561328" y="5679887"/>
            <a:ext cx="577088" cy="-2014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53" name="Shape 149"/>
          <p:cNvSpPr/>
          <p:nvPr/>
        </p:nvSpPr>
        <p:spPr>
          <a:xfrm>
            <a:off x="7138416" y="5659747"/>
            <a:ext cx="577088" cy="1211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54" name="Shape 150"/>
          <p:cNvSpPr/>
          <p:nvPr/>
        </p:nvSpPr>
        <p:spPr>
          <a:xfrm>
            <a:off x="7715504" y="5671863"/>
            <a:ext cx="577088" cy="276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55" name="Shape 151"/>
          <p:cNvSpPr/>
          <p:nvPr/>
        </p:nvSpPr>
        <p:spPr>
          <a:xfrm>
            <a:off x="8292592" y="5674629"/>
            <a:ext cx="577088" cy="224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56" name="Shape 152"/>
          <p:cNvSpPr/>
          <p:nvPr/>
        </p:nvSpPr>
        <p:spPr>
          <a:xfrm>
            <a:off x="8869680" y="5676870"/>
            <a:ext cx="577088" cy="-36393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57" name="Shape 153"/>
          <p:cNvSpPr/>
          <p:nvPr/>
        </p:nvSpPr>
        <p:spPr>
          <a:xfrm>
            <a:off x="9446768" y="5640476"/>
            <a:ext cx="577088" cy="8367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58" name="Shape 154"/>
          <p:cNvSpPr/>
          <p:nvPr/>
        </p:nvSpPr>
        <p:spPr>
          <a:xfrm>
            <a:off x="10023856" y="5648843"/>
            <a:ext cx="577088" cy="1666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59" name="Shape 155"/>
          <p:cNvSpPr/>
          <p:nvPr/>
        </p:nvSpPr>
        <p:spPr>
          <a:xfrm>
            <a:off x="10600944" y="5665508"/>
            <a:ext cx="577088" cy="29649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0" name="Shape 156"/>
          <p:cNvSpPr/>
          <p:nvPr/>
        </p:nvSpPr>
        <p:spPr>
          <a:xfrm>
            <a:off x="1344676" y="5583715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1" name="Shape 157"/>
          <p:cNvSpPr/>
          <p:nvPr/>
        </p:nvSpPr>
        <p:spPr>
          <a:xfrm>
            <a:off x="1921764" y="558938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2" name="Shape 158"/>
          <p:cNvSpPr/>
          <p:nvPr/>
        </p:nvSpPr>
        <p:spPr>
          <a:xfrm>
            <a:off x="2498852" y="5614805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3" name="Shape 159"/>
          <p:cNvSpPr/>
          <p:nvPr/>
        </p:nvSpPr>
        <p:spPr>
          <a:xfrm>
            <a:off x="3075940" y="5613022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4" name="Shape 160"/>
          <p:cNvSpPr/>
          <p:nvPr/>
        </p:nvSpPr>
        <p:spPr>
          <a:xfrm>
            <a:off x="3653028" y="5637665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5" name="Shape 161"/>
          <p:cNvSpPr/>
          <p:nvPr/>
        </p:nvSpPr>
        <p:spPr>
          <a:xfrm>
            <a:off x="4230116" y="5580240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6" name="Shape 162"/>
          <p:cNvSpPr/>
          <p:nvPr/>
        </p:nvSpPr>
        <p:spPr>
          <a:xfrm>
            <a:off x="4807204" y="5621365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7" name="Shape 163"/>
          <p:cNvSpPr/>
          <p:nvPr/>
        </p:nvSpPr>
        <p:spPr>
          <a:xfrm>
            <a:off x="5384292" y="560033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8" name="Shape 164"/>
          <p:cNvSpPr/>
          <p:nvPr/>
        </p:nvSpPr>
        <p:spPr>
          <a:xfrm>
            <a:off x="5961380" y="5586595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9" name="Shape 165"/>
          <p:cNvSpPr/>
          <p:nvPr/>
        </p:nvSpPr>
        <p:spPr>
          <a:xfrm>
            <a:off x="6538468" y="565702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0" name="Shape 166"/>
          <p:cNvSpPr/>
          <p:nvPr/>
        </p:nvSpPr>
        <p:spPr>
          <a:xfrm>
            <a:off x="7115556" y="563688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1" name="Shape 167"/>
          <p:cNvSpPr/>
          <p:nvPr/>
        </p:nvSpPr>
        <p:spPr>
          <a:xfrm>
            <a:off x="7692644" y="564900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2" name="Shape 168"/>
          <p:cNvSpPr/>
          <p:nvPr/>
        </p:nvSpPr>
        <p:spPr>
          <a:xfrm>
            <a:off x="8269732" y="5651769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3" name="Shape 169"/>
          <p:cNvSpPr/>
          <p:nvPr/>
        </p:nvSpPr>
        <p:spPr>
          <a:xfrm>
            <a:off x="8846820" y="5654010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4" name="Shape 170"/>
          <p:cNvSpPr/>
          <p:nvPr/>
        </p:nvSpPr>
        <p:spPr>
          <a:xfrm>
            <a:off x="9423908" y="5617616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5" name="Shape 171"/>
          <p:cNvSpPr/>
          <p:nvPr/>
        </p:nvSpPr>
        <p:spPr>
          <a:xfrm>
            <a:off x="10000996" y="562598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6" name="Shape 172"/>
          <p:cNvSpPr/>
          <p:nvPr/>
        </p:nvSpPr>
        <p:spPr>
          <a:xfrm>
            <a:off x="10578084" y="5642648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7" name="Shape 173"/>
          <p:cNvSpPr/>
          <p:nvPr/>
        </p:nvSpPr>
        <p:spPr>
          <a:xfrm>
            <a:off x="11155172" y="5672298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8" name="Text 174"/>
          <p:cNvSpPr/>
          <p:nvPr/>
        </p:nvSpPr>
        <p:spPr>
          <a:xfrm>
            <a:off x="1090534" y="5806440"/>
            <a:ext cx="5540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2025-12-29</a:t>
            </a:r>
            <a:endParaRPr lang="en-US" sz="580" dirty="0"/>
          </a:p>
        </p:txBody>
      </p:sp>
      <p:sp>
        <p:nvSpPr>
          <p:cNvPr id="179" name="Text 175"/>
          <p:cNvSpPr/>
          <p:nvPr/>
        </p:nvSpPr>
        <p:spPr>
          <a:xfrm>
            <a:off x="1667622" y="5806440"/>
            <a:ext cx="5540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2026-01-05</a:t>
            </a:r>
            <a:endParaRPr lang="en-US" sz="580" dirty="0"/>
          </a:p>
        </p:txBody>
      </p:sp>
      <p:sp>
        <p:nvSpPr>
          <p:cNvPr id="180" name="Text 176"/>
          <p:cNvSpPr/>
          <p:nvPr/>
        </p:nvSpPr>
        <p:spPr>
          <a:xfrm>
            <a:off x="2244710" y="5806440"/>
            <a:ext cx="5540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2026-01-12</a:t>
            </a:r>
            <a:endParaRPr lang="en-US" sz="580" dirty="0"/>
          </a:p>
        </p:txBody>
      </p:sp>
      <p:sp>
        <p:nvSpPr>
          <p:cNvPr id="181" name="Text 177"/>
          <p:cNvSpPr/>
          <p:nvPr/>
        </p:nvSpPr>
        <p:spPr>
          <a:xfrm>
            <a:off x="2821798" y="5806440"/>
            <a:ext cx="5540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2026-01-19</a:t>
            </a:r>
            <a:endParaRPr lang="en-US" sz="580" dirty="0"/>
          </a:p>
        </p:txBody>
      </p:sp>
      <p:sp>
        <p:nvSpPr>
          <p:cNvPr id="182" name="Text 178"/>
          <p:cNvSpPr/>
          <p:nvPr/>
        </p:nvSpPr>
        <p:spPr>
          <a:xfrm>
            <a:off x="3398886" y="5806440"/>
            <a:ext cx="5540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2026-01-26</a:t>
            </a:r>
            <a:endParaRPr lang="en-US" sz="580" dirty="0"/>
          </a:p>
        </p:txBody>
      </p:sp>
      <p:sp>
        <p:nvSpPr>
          <p:cNvPr id="183" name="Text 179"/>
          <p:cNvSpPr/>
          <p:nvPr/>
        </p:nvSpPr>
        <p:spPr>
          <a:xfrm>
            <a:off x="3975974" y="5806440"/>
            <a:ext cx="5540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2026-02-02</a:t>
            </a:r>
            <a:endParaRPr lang="en-US" sz="580" dirty="0"/>
          </a:p>
        </p:txBody>
      </p:sp>
      <p:sp>
        <p:nvSpPr>
          <p:cNvPr id="184" name="Text 180"/>
          <p:cNvSpPr/>
          <p:nvPr/>
        </p:nvSpPr>
        <p:spPr>
          <a:xfrm>
            <a:off x="4553062" y="5806440"/>
            <a:ext cx="5540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2026-02-09</a:t>
            </a:r>
            <a:endParaRPr lang="en-US" sz="580" dirty="0"/>
          </a:p>
        </p:txBody>
      </p:sp>
      <p:sp>
        <p:nvSpPr>
          <p:cNvPr id="185" name="Text 181"/>
          <p:cNvSpPr/>
          <p:nvPr/>
        </p:nvSpPr>
        <p:spPr>
          <a:xfrm>
            <a:off x="5130150" y="5806440"/>
            <a:ext cx="5540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2026-02-16</a:t>
            </a:r>
            <a:endParaRPr lang="en-US" sz="580" dirty="0"/>
          </a:p>
        </p:txBody>
      </p:sp>
      <p:sp>
        <p:nvSpPr>
          <p:cNvPr id="186" name="Text 182"/>
          <p:cNvSpPr/>
          <p:nvPr/>
        </p:nvSpPr>
        <p:spPr>
          <a:xfrm>
            <a:off x="5707238" y="5806440"/>
            <a:ext cx="5540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2026-02-23</a:t>
            </a:r>
            <a:endParaRPr lang="en-US" sz="580" dirty="0"/>
          </a:p>
        </p:txBody>
      </p:sp>
      <p:sp>
        <p:nvSpPr>
          <p:cNvPr id="187" name="Text 183"/>
          <p:cNvSpPr/>
          <p:nvPr/>
        </p:nvSpPr>
        <p:spPr>
          <a:xfrm>
            <a:off x="6284326" y="5806440"/>
            <a:ext cx="5540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2026-03-02</a:t>
            </a:r>
            <a:endParaRPr lang="en-US" sz="580" dirty="0"/>
          </a:p>
        </p:txBody>
      </p:sp>
      <p:sp>
        <p:nvSpPr>
          <p:cNvPr id="188" name="Text 184"/>
          <p:cNvSpPr/>
          <p:nvPr/>
        </p:nvSpPr>
        <p:spPr>
          <a:xfrm>
            <a:off x="6861414" y="5806440"/>
            <a:ext cx="5540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2026-03-09</a:t>
            </a:r>
            <a:endParaRPr lang="en-US" sz="580" dirty="0"/>
          </a:p>
        </p:txBody>
      </p:sp>
      <p:sp>
        <p:nvSpPr>
          <p:cNvPr id="189" name="Text 185"/>
          <p:cNvSpPr/>
          <p:nvPr/>
        </p:nvSpPr>
        <p:spPr>
          <a:xfrm>
            <a:off x="7438502" y="5806440"/>
            <a:ext cx="5540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2026-03-16</a:t>
            </a:r>
            <a:endParaRPr lang="en-US" sz="580" dirty="0"/>
          </a:p>
        </p:txBody>
      </p:sp>
      <p:sp>
        <p:nvSpPr>
          <p:cNvPr id="190" name="Text 186"/>
          <p:cNvSpPr/>
          <p:nvPr/>
        </p:nvSpPr>
        <p:spPr>
          <a:xfrm>
            <a:off x="8015590" y="5806440"/>
            <a:ext cx="5540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2026-03-23</a:t>
            </a:r>
            <a:endParaRPr lang="en-US" sz="580" dirty="0"/>
          </a:p>
        </p:txBody>
      </p:sp>
      <p:sp>
        <p:nvSpPr>
          <p:cNvPr id="191" name="Text 187"/>
          <p:cNvSpPr/>
          <p:nvPr/>
        </p:nvSpPr>
        <p:spPr>
          <a:xfrm>
            <a:off x="8592678" y="5806440"/>
            <a:ext cx="5540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2026-03-30</a:t>
            </a:r>
            <a:endParaRPr lang="en-US" sz="580" dirty="0"/>
          </a:p>
        </p:txBody>
      </p:sp>
      <p:sp>
        <p:nvSpPr>
          <p:cNvPr id="192" name="Text 188"/>
          <p:cNvSpPr/>
          <p:nvPr/>
        </p:nvSpPr>
        <p:spPr>
          <a:xfrm>
            <a:off x="9169766" y="5806440"/>
            <a:ext cx="5540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2026-04-06</a:t>
            </a:r>
            <a:endParaRPr lang="en-US" sz="580" dirty="0"/>
          </a:p>
        </p:txBody>
      </p:sp>
      <p:sp>
        <p:nvSpPr>
          <p:cNvPr id="193" name="Text 189"/>
          <p:cNvSpPr/>
          <p:nvPr/>
        </p:nvSpPr>
        <p:spPr>
          <a:xfrm>
            <a:off x="9746854" y="5806440"/>
            <a:ext cx="5540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2026-04-13</a:t>
            </a:r>
            <a:endParaRPr lang="en-US" sz="580" dirty="0"/>
          </a:p>
        </p:txBody>
      </p:sp>
      <p:sp>
        <p:nvSpPr>
          <p:cNvPr id="194" name="Text 190"/>
          <p:cNvSpPr/>
          <p:nvPr/>
        </p:nvSpPr>
        <p:spPr>
          <a:xfrm>
            <a:off x="10323942" y="5806440"/>
            <a:ext cx="5540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2026-04-20</a:t>
            </a:r>
            <a:endParaRPr lang="en-US" sz="580" dirty="0"/>
          </a:p>
        </p:txBody>
      </p:sp>
      <p:sp>
        <p:nvSpPr>
          <p:cNvPr id="195" name="Text 191"/>
          <p:cNvSpPr/>
          <p:nvPr/>
        </p:nvSpPr>
        <p:spPr>
          <a:xfrm>
            <a:off x="10901030" y="5806440"/>
            <a:ext cx="5540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2026-04-27</a:t>
            </a:r>
            <a:endParaRPr lang="en-US" sz="580" dirty="0"/>
          </a:p>
        </p:txBody>
      </p:sp>
      <p:sp>
        <p:nvSpPr>
          <p:cNvPr id="196" name="Shape 192"/>
          <p:cNvSpPr/>
          <p:nvPr/>
        </p:nvSpPr>
        <p:spPr>
          <a:xfrm>
            <a:off x="3712464" y="6089904"/>
            <a:ext cx="137160" cy="4572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7" name="Text 193"/>
          <p:cNvSpPr/>
          <p:nvPr/>
        </p:nvSpPr>
        <p:spPr>
          <a:xfrm>
            <a:off x="3886200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640" dirty="0"/>
          </a:p>
        </p:txBody>
      </p:sp>
      <p:sp>
        <p:nvSpPr>
          <p:cNvPr id="198" name="Shape 194"/>
          <p:cNvSpPr/>
          <p:nvPr/>
        </p:nvSpPr>
        <p:spPr>
          <a:xfrm>
            <a:off x="4736592" y="6117336"/>
            <a:ext cx="146304" cy="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199" name="Text 195"/>
          <p:cNvSpPr/>
          <p:nvPr/>
        </p:nvSpPr>
        <p:spPr>
          <a:xfrm>
            <a:off x="4910328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1</a:t>
            </a:r>
            <a:endParaRPr lang="en-US" sz="640" dirty="0"/>
          </a:p>
        </p:txBody>
      </p:sp>
      <p:sp>
        <p:nvSpPr>
          <p:cNvPr id="200" name="Shape 196"/>
          <p:cNvSpPr/>
          <p:nvPr/>
        </p:nvSpPr>
        <p:spPr>
          <a:xfrm>
            <a:off x="5760720" y="6117336"/>
            <a:ext cx="146304" cy="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201" name="Text 197"/>
          <p:cNvSpPr/>
          <p:nvPr/>
        </p:nvSpPr>
        <p:spPr>
          <a:xfrm>
            <a:off x="5934456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2</a:t>
            </a:r>
            <a:endParaRPr lang="en-US" sz="640" dirty="0"/>
          </a:p>
        </p:txBody>
      </p:sp>
      <p:sp>
        <p:nvSpPr>
          <p:cNvPr id="202" name="Shape 198"/>
          <p:cNvSpPr/>
          <p:nvPr/>
        </p:nvSpPr>
        <p:spPr>
          <a:xfrm>
            <a:off x="6784848" y="6117336"/>
            <a:ext cx="146304" cy="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203" name="Text 199"/>
          <p:cNvSpPr/>
          <p:nvPr/>
        </p:nvSpPr>
        <p:spPr>
          <a:xfrm>
            <a:off x="6958584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3</a:t>
            </a:r>
            <a:endParaRPr lang="en-US" sz="640" dirty="0"/>
          </a:p>
        </p:txBody>
      </p:sp>
      <p:sp>
        <p:nvSpPr>
          <p:cNvPr id="204" name="Shape 200"/>
          <p:cNvSpPr/>
          <p:nvPr/>
        </p:nvSpPr>
        <p:spPr>
          <a:xfrm>
            <a:off x="7808976" y="6117336"/>
            <a:ext cx="146304" cy="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205" name="Text 201"/>
          <p:cNvSpPr/>
          <p:nvPr/>
        </p:nvSpPr>
        <p:spPr>
          <a:xfrm>
            <a:off x="7982712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4</a:t>
            </a:r>
            <a:endParaRPr lang="en-US" sz="6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1021385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875081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54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Primary Publisher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192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55618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4425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381677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Rose Assurance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£289,704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£8,070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£8,070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391591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Serenata Flowers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1,151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£36,867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£7,473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£7,473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377698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Ferryhopper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£45,445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£1,363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£1,363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393448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Bargain Hardware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£13,337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396847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Merach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£8,615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£862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£862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380893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Esdemarca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£6,584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382614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Heathrow Airport - Tidy Parking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£1,755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£497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£497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353828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Vinatis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£7,052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£344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382842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Clickrent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£2,681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377545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Blenheim Palace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£6,674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risks to programme performance, external dependencies, and assigned action owners for the next review cycle.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20166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055364"/>
        </p:xfrm>
        <a:graphic>
          <a:graphicData uri="http://schemas.openxmlformats.org/drawingml/2006/table">
            <a:tbl>
              <a:tblPr/>
              <a:tblGrid>
                <a:gridCol w="2510942"/>
                <a:gridCol w="1121054"/>
                <a:gridCol w="7578547"/>
              </a:tblGrid>
              <a:tr h="7635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Impact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Mitigation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Performance variance risk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 brand-new programs were activated, contributing £0 in combined OV.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Traffic decline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 Movement: Conversion rate increased +2.6% (24.2% to 24.8%). Conversions decreased -8.8% (-12,297), showing how efficiently programs converted traffic into outcomes.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quality dependency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Volume: Total conversions decreased -8.8% (-12,297). Largest declining program contribution requires confirmation from mover tables.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 mix volatility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Value: Total order value decreased -31.8% (£29,136,340 to £19,877,962). Value generation moved alongside conversion volume and earnings performance.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Rising CPA trend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Commission: Publisher commission decreased -26.9% (£1,254,419 to £916,809). Commission remains the core earning component for the program.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82880"/>
            <a:ext cx="5358384" cy="53583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topcashback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566928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868680" y="259689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topcashback</dc:title>
  <dc:subject>Quarterly business review</dc:subject>
  <dc:creator>QBR PPTX Service</dc:creator>
  <cp:lastModifiedBy>QBR PPTX Service</cp:lastModifiedBy>
  <cp:revision>1</cp:revision>
  <dcterms:created xsi:type="dcterms:W3CDTF">2026-05-12T10:39:05Z</dcterms:created>
  <dcterms:modified xsi:type="dcterms:W3CDTF">2026-05-12T10:39:05Z</dcterms:modified>
</cp:coreProperties>
</file>