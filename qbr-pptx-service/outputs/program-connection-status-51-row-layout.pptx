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19 February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19 February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125 vs 100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12,500 vs GBP 10,000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+25.0%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750 vs GBP 700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+7.1%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250 vs GBP 100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+150.0%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GBP 1,000 vs GBP 800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+25.0%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5.0% vs 4.0%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+25.0%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topcashback, performance was mixed in Feb 2026 – Mar 2026. Conversions moved +25.0% to 125 and conversion rate moved +25.0% to 5.0%. Publisher commission increased +7.1% to GBP 750, while digital wallet earnings increased +150.0% to GBP 250. Total earnings ended at GBP 1,000 (+25.0%) and total order value increased +25.0% to GBP 12,500.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0.40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0.40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12,500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2,500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750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700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250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800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200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392254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Everpress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 programs reviewed | Accepted: 34 | Not Connected: 17 | Created from 19 November 2025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7794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7331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402000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733140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Programme...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326005" y="17331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0323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53553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10874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402001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10874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2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326005" y="210874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78847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52916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8435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402002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8435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3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326005" y="248435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75445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90476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5996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402003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59962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4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326005" y="285996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13006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28037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3556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402004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3556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5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326005" y="323556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50566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65598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1117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402005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1117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Programme...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326005" y="361117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88127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03159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402006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98678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7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326005" y="398678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25688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40719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36239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402007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36239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8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326005" y="436239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63249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78280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73799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402008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73799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9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326005" y="473799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008098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158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11360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402009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113606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10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326005" y="511360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38370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53401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48921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402010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48921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Programme...</a:t>
            </a:r>
            <a:endParaRPr lang="en-US" sz="640" dirty="0"/>
          </a:p>
        </p:txBody>
      </p:sp>
      <p:sp>
        <p:nvSpPr>
          <p:cNvPr id="79" name="Text 76"/>
          <p:cNvSpPr/>
          <p:nvPr/>
        </p:nvSpPr>
        <p:spPr>
          <a:xfrm>
            <a:off x="2326005" y="548921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759313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90962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86482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402011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86482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12</a:t>
            </a:r>
            <a:endParaRPr lang="en-US" sz="640" dirty="0"/>
          </a:p>
        </p:txBody>
      </p:sp>
      <p:sp>
        <p:nvSpPr>
          <p:cNvPr id="84" name="Text 81"/>
          <p:cNvSpPr/>
          <p:nvPr/>
        </p:nvSpPr>
        <p:spPr>
          <a:xfrm>
            <a:off x="2326005" y="586482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613492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628523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624042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402012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6240428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13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326005" y="62404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2" name="Shape 89"/>
          <p:cNvSpPr/>
          <p:nvPr/>
        </p:nvSpPr>
        <p:spPr>
          <a:xfrm>
            <a:off x="3007233" y="162763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054782" y="177794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3153537" y="17331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402013</a:t>
            </a:r>
            <a:endParaRPr lang="en-US" sz="640" dirty="0"/>
          </a:p>
        </p:txBody>
      </p:sp>
      <p:sp>
        <p:nvSpPr>
          <p:cNvPr id="95" name="Text 92"/>
          <p:cNvSpPr/>
          <p:nvPr/>
        </p:nvSpPr>
        <p:spPr>
          <a:xfrm>
            <a:off x="3610737" y="1733140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14</a:t>
            </a:r>
            <a:endParaRPr lang="en-US" sz="640" dirty="0"/>
          </a:p>
        </p:txBody>
      </p:sp>
      <p:sp>
        <p:nvSpPr>
          <p:cNvPr id="96" name="Text 93"/>
          <p:cNvSpPr/>
          <p:nvPr/>
        </p:nvSpPr>
        <p:spPr>
          <a:xfrm>
            <a:off x="4949190" y="17331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97" name="Shape 94"/>
          <p:cNvSpPr/>
          <p:nvPr/>
        </p:nvSpPr>
        <p:spPr>
          <a:xfrm>
            <a:off x="3007233" y="200323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2153553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210874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402014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210874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15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4949190" y="210874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2378847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5291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248435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402015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248435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Programme...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4949190" y="248435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75445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90476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85996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402016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859962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17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4949190" y="285996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313006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328037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323556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402017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323556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18</a:t>
            </a:r>
            <a:endParaRPr lang="en-US" sz="640" dirty="0"/>
          </a:p>
        </p:txBody>
      </p:sp>
      <p:sp>
        <p:nvSpPr>
          <p:cNvPr id="116" name="Text 113"/>
          <p:cNvSpPr/>
          <p:nvPr/>
        </p:nvSpPr>
        <p:spPr>
          <a:xfrm>
            <a:off x="4949190" y="323556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50566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65598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61117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402018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61117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19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4949190" y="361117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88127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403159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402019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98678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20</a:t>
            </a:r>
            <a:endParaRPr lang="en-US" sz="640" dirty="0"/>
          </a:p>
        </p:txBody>
      </p:sp>
      <p:sp>
        <p:nvSpPr>
          <p:cNvPr id="126" name="Text 123"/>
          <p:cNvSpPr/>
          <p:nvPr/>
        </p:nvSpPr>
        <p:spPr>
          <a:xfrm>
            <a:off x="4949190" y="398678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425688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440719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436239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402020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436239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Programme...</a:t>
            </a:r>
            <a:endParaRPr lang="en-US" sz="640" dirty="0"/>
          </a:p>
        </p:txBody>
      </p:sp>
      <p:sp>
        <p:nvSpPr>
          <p:cNvPr id="131" name="Text 128"/>
          <p:cNvSpPr/>
          <p:nvPr/>
        </p:nvSpPr>
        <p:spPr>
          <a:xfrm>
            <a:off x="4949190" y="436239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63249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7828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73799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402021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73799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22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4949190" y="473799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5008098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515841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511360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402022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5113606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23</a:t>
            </a:r>
            <a:endParaRPr lang="en-US" sz="640" dirty="0"/>
          </a:p>
        </p:txBody>
      </p:sp>
      <p:sp>
        <p:nvSpPr>
          <p:cNvPr id="141" name="Text 138"/>
          <p:cNvSpPr/>
          <p:nvPr/>
        </p:nvSpPr>
        <p:spPr>
          <a:xfrm>
            <a:off x="4949190" y="511360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538370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553401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548921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402023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548921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24</a:t>
            </a:r>
            <a:endParaRPr lang="en-US" sz="640" dirty="0"/>
          </a:p>
        </p:txBody>
      </p:sp>
      <p:sp>
        <p:nvSpPr>
          <p:cNvPr id="146" name="Text 143"/>
          <p:cNvSpPr/>
          <p:nvPr/>
        </p:nvSpPr>
        <p:spPr>
          <a:xfrm>
            <a:off x="4949190" y="548921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759313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90962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86482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402024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86482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25</a:t>
            </a:r>
            <a:endParaRPr lang="en-US" sz="640" dirty="0"/>
          </a:p>
        </p:txBody>
      </p:sp>
      <p:sp>
        <p:nvSpPr>
          <p:cNvPr id="151" name="Text 148"/>
          <p:cNvSpPr/>
          <p:nvPr/>
        </p:nvSpPr>
        <p:spPr>
          <a:xfrm>
            <a:off x="4949190" y="586482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613492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628523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624042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402025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6240428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Programme...</a:t>
            </a:r>
            <a:endParaRPr lang="en-US" sz="640" dirty="0"/>
          </a:p>
        </p:txBody>
      </p:sp>
      <p:sp>
        <p:nvSpPr>
          <p:cNvPr id="156" name="Text 153"/>
          <p:cNvSpPr/>
          <p:nvPr/>
        </p:nvSpPr>
        <p:spPr>
          <a:xfrm>
            <a:off x="4949190" y="62404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59" name="Shape 156"/>
          <p:cNvSpPr/>
          <p:nvPr/>
        </p:nvSpPr>
        <p:spPr>
          <a:xfrm>
            <a:off x="5630418" y="162763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5677967" y="177794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5776722" y="17331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402026</a:t>
            </a:r>
            <a:endParaRPr lang="en-US" sz="640" dirty="0"/>
          </a:p>
        </p:txBody>
      </p:sp>
      <p:sp>
        <p:nvSpPr>
          <p:cNvPr id="162" name="Text 159"/>
          <p:cNvSpPr/>
          <p:nvPr/>
        </p:nvSpPr>
        <p:spPr>
          <a:xfrm>
            <a:off x="6233922" y="1733140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27</a:t>
            </a:r>
            <a:endParaRPr lang="en-US" sz="640" dirty="0"/>
          </a:p>
        </p:txBody>
      </p:sp>
      <p:sp>
        <p:nvSpPr>
          <p:cNvPr id="163" name="Text 160"/>
          <p:cNvSpPr/>
          <p:nvPr/>
        </p:nvSpPr>
        <p:spPr>
          <a:xfrm>
            <a:off x="7572375" y="17331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64" name="Shape 161"/>
          <p:cNvSpPr/>
          <p:nvPr/>
        </p:nvSpPr>
        <p:spPr>
          <a:xfrm>
            <a:off x="5630418" y="200323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677967" y="2153553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5776722" y="210874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402027</a:t>
            </a:r>
            <a:endParaRPr lang="en-US" sz="640" dirty="0"/>
          </a:p>
        </p:txBody>
      </p:sp>
      <p:sp>
        <p:nvSpPr>
          <p:cNvPr id="167" name="Text 164"/>
          <p:cNvSpPr/>
          <p:nvPr/>
        </p:nvSpPr>
        <p:spPr>
          <a:xfrm>
            <a:off x="6233922" y="210874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28</a:t>
            </a:r>
            <a:endParaRPr lang="en-US" sz="640" dirty="0"/>
          </a:p>
        </p:txBody>
      </p:sp>
      <p:sp>
        <p:nvSpPr>
          <p:cNvPr id="168" name="Text 165"/>
          <p:cNvSpPr/>
          <p:nvPr/>
        </p:nvSpPr>
        <p:spPr>
          <a:xfrm>
            <a:off x="7572375" y="210874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9" name="Shape 166"/>
          <p:cNvSpPr/>
          <p:nvPr/>
        </p:nvSpPr>
        <p:spPr>
          <a:xfrm>
            <a:off x="5630418" y="2378847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252916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248435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402028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248435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29</a:t>
            </a:r>
            <a:endParaRPr lang="en-US" sz="640" dirty="0"/>
          </a:p>
        </p:txBody>
      </p:sp>
      <p:sp>
        <p:nvSpPr>
          <p:cNvPr id="173" name="Text 170"/>
          <p:cNvSpPr/>
          <p:nvPr/>
        </p:nvSpPr>
        <p:spPr>
          <a:xfrm>
            <a:off x="7572375" y="248435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275445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90476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285996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402029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2859962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30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572375" y="285996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313006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328037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323556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402030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323556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Programme...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572375" y="323556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350566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365598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361117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402031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361117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32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572375" y="361117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88127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403159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402032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98678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33</a:t>
            </a:r>
            <a:endParaRPr lang="en-US" sz="640" dirty="0"/>
          </a:p>
        </p:txBody>
      </p:sp>
      <p:sp>
        <p:nvSpPr>
          <p:cNvPr id="193" name="Text 190"/>
          <p:cNvSpPr/>
          <p:nvPr/>
        </p:nvSpPr>
        <p:spPr>
          <a:xfrm>
            <a:off x="7572375" y="398678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425688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440719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436239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402033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436239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34</a:t>
            </a:r>
            <a:endParaRPr lang="en-US" sz="640" dirty="0"/>
          </a:p>
        </p:txBody>
      </p:sp>
      <p:sp>
        <p:nvSpPr>
          <p:cNvPr id="198" name="Text 195"/>
          <p:cNvSpPr/>
          <p:nvPr/>
        </p:nvSpPr>
        <p:spPr>
          <a:xfrm>
            <a:off x="7572375" y="436239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463249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478280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473799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402034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473799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35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572375" y="473799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5008098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515841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511360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402035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5113606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Programme...</a:t>
            </a:r>
            <a:endParaRPr lang="en-US" sz="640" dirty="0"/>
          </a:p>
        </p:txBody>
      </p:sp>
      <p:sp>
        <p:nvSpPr>
          <p:cNvPr id="208" name="Text 205"/>
          <p:cNvSpPr/>
          <p:nvPr/>
        </p:nvSpPr>
        <p:spPr>
          <a:xfrm>
            <a:off x="7572375" y="511360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538370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553401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548921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402036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548921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37</a:t>
            </a:r>
            <a:endParaRPr lang="en-US" sz="640" dirty="0"/>
          </a:p>
        </p:txBody>
      </p:sp>
      <p:sp>
        <p:nvSpPr>
          <p:cNvPr id="213" name="Text 210"/>
          <p:cNvSpPr/>
          <p:nvPr/>
        </p:nvSpPr>
        <p:spPr>
          <a:xfrm>
            <a:off x="7572375" y="548921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5759313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590962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586482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402037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586482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38</a:t>
            </a:r>
            <a:endParaRPr lang="en-US" sz="640" dirty="0"/>
          </a:p>
        </p:txBody>
      </p:sp>
      <p:sp>
        <p:nvSpPr>
          <p:cNvPr id="218" name="Text 215"/>
          <p:cNvSpPr/>
          <p:nvPr/>
        </p:nvSpPr>
        <p:spPr>
          <a:xfrm>
            <a:off x="7572375" y="586482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613492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628523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624042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402038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6240428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39</a:t>
            </a:r>
            <a:endParaRPr lang="en-US" sz="640" dirty="0"/>
          </a:p>
        </p:txBody>
      </p:sp>
      <p:sp>
        <p:nvSpPr>
          <p:cNvPr id="223" name="Text 220"/>
          <p:cNvSpPr/>
          <p:nvPr/>
        </p:nvSpPr>
        <p:spPr>
          <a:xfrm>
            <a:off x="7572375" y="624042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25" name="Text 222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26" name="Shape 223"/>
          <p:cNvSpPr/>
          <p:nvPr/>
        </p:nvSpPr>
        <p:spPr>
          <a:xfrm>
            <a:off x="8253603" y="162763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8301152" y="177794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8" name="Text 225"/>
          <p:cNvSpPr/>
          <p:nvPr/>
        </p:nvSpPr>
        <p:spPr>
          <a:xfrm>
            <a:off x="8399907" y="173314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402039</a:t>
            </a:r>
            <a:endParaRPr lang="en-US" sz="640" dirty="0"/>
          </a:p>
        </p:txBody>
      </p:sp>
      <p:sp>
        <p:nvSpPr>
          <p:cNvPr id="229" name="Text 226"/>
          <p:cNvSpPr/>
          <p:nvPr/>
        </p:nvSpPr>
        <p:spPr>
          <a:xfrm>
            <a:off x="8857107" y="1733140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40</a:t>
            </a:r>
            <a:endParaRPr lang="en-US" sz="640" dirty="0"/>
          </a:p>
        </p:txBody>
      </p:sp>
      <p:sp>
        <p:nvSpPr>
          <p:cNvPr id="230" name="Text 227"/>
          <p:cNvSpPr/>
          <p:nvPr/>
        </p:nvSpPr>
        <p:spPr>
          <a:xfrm>
            <a:off x="10195560" y="17331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1" name="Shape 228"/>
          <p:cNvSpPr/>
          <p:nvPr/>
        </p:nvSpPr>
        <p:spPr>
          <a:xfrm>
            <a:off x="8253603" y="200323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8301152" y="2153553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33" name="Text 230"/>
          <p:cNvSpPr/>
          <p:nvPr/>
        </p:nvSpPr>
        <p:spPr>
          <a:xfrm>
            <a:off x="8399907" y="210874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402040</a:t>
            </a:r>
            <a:endParaRPr lang="en-US" sz="640" dirty="0"/>
          </a:p>
        </p:txBody>
      </p:sp>
      <p:sp>
        <p:nvSpPr>
          <p:cNvPr id="234" name="Text 231"/>
          <p:cNvSpPr/>
          <p:nvPr/>
        </p:nvSpPr>
        <p:spPr>
          <a:xfrm>
            <a:off x="8857107" y="210874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Programme...</a:t>
            </a:r>
            <a:endParaRPr lang="en-US" sz="640" dirty="0"/>
          </a:p>
        </p:txBody>
      </p:sp>
      <p:sp>
        <p:nvSpPr>
          <p:cNvPr id="235" name="Text 232"/>
          <p:cNvSpPr/>
          <p:nvPr/>
        </p:nvSpPr>
        <p:spPr>
          <a:xfrm>
            <a:off x="10195560" y="210874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236" name="Shape 233"/>
          <p:cNvSpPr/>
          <p:nvPr/>
        </p:nvSpPr>
        <p:spPr>
          <a:xfrm>
            <a:off x="8253603" y="2378847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8301152" y="252916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38" name="Text 235"/>
          <p:cNvSpPr/>
          <p:nvPr/>
        </p:nvSpPr>
        <p:spPr>
          <a:xfrm>
            <a:off x="8399907" y="248435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402041</a:t>
            </a:r>
            <a:endParaRPr lang="en-US" sz="640" dirty="0"/>
          </a:p>
        </p:txBody>
      </p:sp>
      <p:sp>
        <p:nvSpPr>
          <p:cNvPr id="239" name="Text 236"/>
          <p:cNvSpPr/>
          <p:nvPr/>
        </p:nvSpPr>
        <p:spPr>
          <a:xfrm>
            <a:off x="8857107" y="248435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42</a:t>
            </a:r>
            <a:endParaRPr lang="en-US" sz="640" dirty="0"/>
          </a:p>
        </p:txBody>
      </p:sp>
      <p:sp>
        <p:nvSpPr>
          <p:cNvPr id="240" name="Text 237"/>
          <p:cNvSpPr/>
          <p:nvPr/>
        </p:nvSpPr>
        <p:spPr>
          <a:xfrm>
            <a:off x="10195560" y="248435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241" name="Shape 238"/>
          <p:cNvSpPr/>
          <p:nvPr/>
        </p:nvSpPr>
        <p:spPr>
          <a:xfrm>
            <a:off x="8253603" y="275445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290476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285996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402042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2859962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43</a:t>
            </a:r>
            <a:endParaRPr lang="en-US" sz="640" dirty="0"/>
          </a:p>
        </p:txBody>
      </p:sp>
      <p:sp>
        <p:nvSpPr>
          <p:cNvPr id="245" name="Text 242"/>
          <p:cNvSpPr/>
          <p:nvPr/>
        </p:nvSpPr>
        <p:spPr>
          <a:xfrm>
            <a:off x="10195560" y="285996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3130062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328037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323556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402043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323556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44</a:t>
            </a:r>
            <a:endParaRPr lang="en-US" sz="640" dirty="0"/>
          </a:p>
        </p:txBody>
      </p:sp>
      <p:sp>
        <p:nvSpPr>
          <p:cNvPr id="250" name="Text 247"/>
          <p:cNvSpPr/>
          <p:nvPr/>
        </p:nvSpPr>
        <p:spPr>
          <a:xfrm>
            <a:off x="10195560" y="323556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3505669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365598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3611177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402044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3611177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45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195560" y="3611177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388127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403159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402045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398678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Programme...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195560" y="398678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4256884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440719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436239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402046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436239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47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195560" y="436239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4632491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478280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4737999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402047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4737999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48</a:t>
            </a:r>
            <a:endParaRPr lang="en-US" sz="640" dirty="0"/>
          </a:p>
        </p:txBody>
      </p:sp>
      <p:sp>
        <p:nvSpPr>
          <p:cNvPr id="270" name="Text 267"/>
          <p:cNvSpPr/>
          <p:nvPr/>
        </p:nvSpPr>
        <p:spPr>
          <a:xfrm>
            <a:off x="10195560" y="4737999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5008098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5158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511360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402048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5113606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49</a:t>
            </a:r>
            <a:endParaRPr lang="en-US" sz="640" dirty="0"/>
          </a:p>
        </p:txBody>
      </p:sp>
      <p:sp>
        <p:nvSpPr>
          <p:cNvPr id="275" name="Text 272"/>
          <p:cNvSpPr/>
          <p:nvPr/>
        </p:nvSpPr>
        <p:spPr>
          <a:xfrm>
            <a:off x="10195560" y="511360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5383706"/>
            <a:ext cx="2554605" cy="3628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553401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548921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402049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5489214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50</a:t>
            </a:r>
            <a:endParaRPr lang="en-US" sz="640" dirty="0"/>
          </a:p>
        </p:txBody>
      </p:sp>
      <p:sp>
        <p:nvSpPr>
          <p:cNvPr id="280" name="Text 277"/>
          <p:cNvSpPr/>
          <p:nvPr/>
        </p:nvSpPr>
        <p:spPr>
          <a:xfrm>
            <a:off x="10195560" y="548921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5759313"/>
            <a:ext cx="2554605" cy="3628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590962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586482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402050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5864821"/>
            <a:ext cx="1292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Programme...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195560" y="586482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+25.0% (4.0% to 5.0%). Conversions increased +25.0% (25),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increased +25.0% (25).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increased +25.0% (GBP 10,000 to GBP 12,500).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increased +7.1% (GBP 700 to GBP 750).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increased +25.0% (GBP 800 to GBP 1,000). Digital wallet contribution was GBP 250 (+150.0%),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brand-new programs were activated, contributing £0 in combined OV.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decline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Movement: Conversion rate increased +25.0% (4.0% to 5.0%). Conversions increased +25.0% (25), showing how efficiently programs converted traffic into outcomes.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the affected program's landing path, voucher validity, and tracking parameters, then retest with one high-intent placement before increasing traffic.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quality dependency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Volume: Total conversions increased +25.0% (25). Largest declining program contribution requires confirmation from mover tables.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2026-05-19T15:22:26Z</dcterms:created>
  <dcterms:modified xsi:type="dcterms:W3CDTF">2026-05-19T15:22:26Z</dcterms:modified>
</cp:coreProperties>
</file>