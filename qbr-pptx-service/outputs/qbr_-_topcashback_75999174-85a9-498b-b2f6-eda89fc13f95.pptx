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" y="621792"/>
            <a:ext cx="105613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Topcashback Performance Review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621792" y="1828800"/>
            <a:ext cx="10378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focused year-over-year review of topcashback publisher performance, conversion dynamics, earnings and strategic priorities to drive growth and optimise outcomes.</a:t>
            </a:r>
            <a:endParaRPr lang="en-US" sz="1220" dirty="0"/>
          </a:p>
        </p:txBody>
      </p:sp>
      <p:pic>
        <p:nvPicPr>
          <p:cNvPr id="5" name="Image 1" descr="C:\Users\harcol\Workflows\Publisher QBR\ai-agent-agenthub\qbr-pptx-service\assets\td-log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58768"/>
            <a:ext cx="1965960" cy="1591056"/>
          </a:xfrm>
          <a:prstGeom prst="rect">
            <a:avLst/>
          </a:prstGeom>
        </p:spPr>
      </p:pic>
      <p:pic>
        <p:nvPicPr>
          <p:cNvPr id="6" name="Image 2" descr="C:\Users\harcol\Workflows\Publisher QBR\ai-agent-agenthub\qbr-pptx-service\assets\fifth-element-wireframe-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2542032"/>
            <a:ext cx="402336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Period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58368" y="1261872"/>
            <a:ext cx="10332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and YoY comparison windows</a:t>
            </a:r>
            <a:endParaRPr lang="en-US" sz="1020" dirty="0"/>
          </a:p>
        </p:txBody>
      </p:sp>
      <p:sp>
        <p:nvSpPr>
          <p:cNvPr id="5" name="Text 2"/>
          <p:cNvSpPr/>
          <p:nvPr/>
        </p:nvSpPr>
        <p:spPr>
          <a:xfrm>
            <a:off x="658368" y="1755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Period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58368" y="228600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Period: 19 February 2026 – 19 May 2026</a:t>
            </a:r>
            <a:endParaRPr lang="en-US" sz="980" dirty="0"/>
          </a:p>
        </p:txBody>
      </p:sp>
      <p:sp>
        <p:nvSpPr>
          <p:cNvPr id="7" name="Text 4"/>
          <p:cNvSpPr/>
          <p:nvPr/>
        </p:nvSpPr>
        <p:spPr>
          <a:xfrm>
            <a:off x="658368" y="2596896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as of: 19 May 2026</a:t>
            </a:r>
            <a:endParaRPr lang="en-US" sz="980" dirty="0"/>
          </a:p>
        </p:txBody>
      </p:sp>
      <p:sp>
        <p:nvSpPr>
          <p:cNvPr id="8" name="Text 5"/>
          <p:cNvSpPr/>
          <p:nvPr/>
        </p:nvSpPr>
        <p:spPr>
          <a:xfrm>
            <a:off x="5989320" y="1755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 Period (YoY)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989320" y="228600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 Period: 19 February 2025 – 19 May 2025</a:t>
            </a:r>
            <a:endParaRPr lang="en-US" sz="980" dirty="0"/>
          </a:p>
        </p:txBody>
      </p:sp>
      <p:sp>
        <p:nvSpPr>
          <p:cNvPr id="10" name="Text 7"/>
          <p:cNvSpPr/>
          <p:nvPr/>
        </p:nvSpPr>
        <p:spPr>
          <a:xfrm>
            <a:off x="5989320" y="2596896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Basis: Year-over-Year (YoY)</a:t>
            </a:r>
            <a:endParaRPr lang="en-US" sz="980" dirty="0"/>
          </a:p>
        </p:txBody>
      </p:sp>
      <p:sp>
        <p:nvSpPr>
          <p:cNvPr id="11" name="Shape 8"/>
          <p:cNvSpPr/>
          <p:nvPr/>
        </p:nvSpPr>
        <p:spPr>
          <a:xfrm>
            <a:off x="658368" y="3273552"/>
            <a:ext cx="10927080" cy="804672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6112" y="3557016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figures are reported in EUR unless otherwise stated. YoY variance is calculated as Current Period vs Comparison Period.</a:t>
            </a:r>
            <a:endParaRPr lang="en-US" sz="97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Performance: Executive Summary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40080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0080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139696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267712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☰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41248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41248" y="275234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93,454 vs 98,729 PY</a:t>
            </a:r>
            <a:endParaRPr lang="en-US" sz="1020" dirty="0"/>
          </a:p>
        </p:txBody>
      </p:sp>
      <p:sp>
        <p:nvSpPr>
          <p:cNvPr id="10" name="Text 7"/>
          <p:cNvSpPr/>
          <p:nvPr/>
        </p:nvSpPr>
        <p:spPr>
          <a:xfrm>
            <a:off x="3163824" y="2752344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-5.3%</a:t>
            </a:r>
            <a:endParaRPr lang="en-US" sz="1020" dirty="0"/>
          </a:p>
        </p:txBody>
      </p:sp>
      <p:sp>
        <p:nvSpPr>
          <p:cNvPr id="11" name="Shape 8"/>
          <p:cNvSpPr/>
          <p:nvPr/>
        </p:nvSpPr>
        <p:spPr>
          <a:xfrm>
            <a:off x="4352544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352544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852160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80176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53712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Order Value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553712" y="275234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€15,964,812 vs €24,652,989 PY</a:t>
            </a:r>
            <a:endParaRPr lang="en-US" sz="1020" dirty="0"/>
          </a:p>
        </p:txBody>
      </p:sp>
      <p:sp>
        <p:nvSpPr>
          <p:cNvPr id="17" name="Text 14"/>
          <p:cNvSpPr/>
          <p:nvPr/>
        </p:nvSpPr>
        <p:spPr>
          <a:xfrm>
            <a:off x="6876288" y="2752344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-35.2%</a:t>
            </a:r>
            <a:endParaRPr lang="en-US" sz="1020" dirty="0"/>
          </a:p>
        </p:txBody>
      </p:sp>
      <p:sp>
        <p:nvSpPr>
          <p:cNvPr id="18" name="Shape 15"/>
          <p:cNvSpPr/>
          <p:nvPr/>
        </p:nvSpPr>
        <p:spPr>
          <a:xfrm>
            <a:off x="8065008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065008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564624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692640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£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266176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8266176" y="275234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€709,484 vs €966,077 PY</a:t>
            </a:r>
            <a:endParaRPr lang="en-US" sz="1020" dirty="0"/>
          </a:p>
        </p:txBody>
      </p:sp>
      <p:sp>
        <p:nvSpPr>
          <p:cNvPr id="24" name="Text 21"/>
          <p:cNvSpPr/>
          <p:nvPr/>
        </p:nvSpPr>
        <p:spPr>
          <a:xfrm>
            <a:off x="10588752" y="2752344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-26.6%</a:t>
            </a:r>
            <a:endParaRPr lang="en-US" sz="1020" dirty="0"/>
          </a:p>
        </p:txBody>
      </p:sp>
      <p:sp>
        <p:nvSpPr>
          <p:cNvPr id="25" name="Shape 22"/>
          <p:cNvSpPr/>
          <p:nvPr/>
        </p:nvSpPr>
        <p:spPr>
          <a:xfrm>
            <a:off x="640080" y="3758184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40080" y="3758184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139696" y="3511296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267712" y="363931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£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841248" y="4215384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 Wallet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841248" y="454456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€68,128 vs €158,760 PY</a:t>
            </a:r>
            <a:endParaRPr lang="en-US" sz="1020" dirty="0"/>
          </a:p>
        </p:txBody>
      </p:sp>
      <p:sp>
        <p:nvSpPr>
          <p:cNvPr id="31" name="Text 28"/>
          <p:cNvSpPr/>
          <p:nvPr/>
        </p:nvSpPr>
        <p:spPr>
          <a:xfrm>
            <a:off x="3163824" y="4544568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-57.1%</a:t>
            </a:r>
            <a:endParaRPr lang="en-US" sz="1020" dirty="0"/>
          </a:p>
        </p:txBody>
      </p:sp>
      <p:sp>
        <p:nvSpPr>
          <p:cNvPr id="32" name="Shape 29"/>
          <p:cNvSpPr/>
          <p:nvPr/>
        </p:nvSpPr>
        <p:spPr>
          <a:xfrm>
            <a:off x="4352544" y="3758184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352544" y="3758184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852160" y="3511296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980176" y="363931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£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4553712" y="4215384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4553712" y="454456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€777,612 vs €1,124,837 PY</a:t>
            </a:r>
            <a:endParaRPr lang="en-US" sz="1020" dirty="0"/>
          </a:p>
        </p:txBody>
      </p:sp>
      <p:sp>
        <p:nvSpPr>
          <p:cNvPr id="38" name="Text 35"/>
          <p:cNvSpPr/>
          <p:nvPr/>
        </p:nvSpPr>
        <p:spPr>
          <a:xfrm>
            <a:off x="6876288" y="4544568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-30.9%</a:t>
            </a:r>
            <a:endParaRPr lang="en-US" sz="1020" dirty="0"/>
          </a:p>
        </p:txBody>
      </p:sp>
      <p:sp>
        <p:nvSpPr>
          <p:cNvPr id="39" name="Shape 36"/>
          <p:cNvSpPr/>
          <p:nvPr/>
        </p:nvSpPr>
        <p:spPr>
          <a:xfrm>
            <a:off x="8065008" y="3758184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8065008" y="3758184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9564624" y="3511296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692640" y="363931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8266176" y="4215384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 Rate</a:t>
            </a:r>
            <a:endParaRPr lang="en-US" sz="1050" dirty="0"/>
          </a:p>
        </p:txBody>
      </p:sp>
      <p:sp>
        <p:nvSpPr>
          <p:cNvPr id="44" name="Text 41"/>
          <p:cNvSpPr/>
          <p:nvPr/>
        </p:nvSpPr>
        <p:spPr>
          <a:xfrm>
            <a:off x="8266176" y="454456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25.6% vs 23.4% PY</a:t>
            </a:r>
            <a:endParaRPr lang="en-US" sz="1020" dirty="0"/>
          </a:p>
        </p:txBody>
      </p:sp>
      <p:sp>
        <p:nvSpPr>
          <p:cNvPr id="45" name="Text 42"/>
          <p:cNvSpPr/>
          <p:nvPr/>
        </p:nvSpPr>
        <p:spPr>
          <a:xfrm>
            <a:off x="10588752" y="4544568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+9.8%</a:t>
            </a:r>
            <a:endParaRPr lang="en-US" sz="1020" dirty="0"/>
          </a:p>
        </p:txBody>
      </p:sp>
      <p:sp>
        <p:nvSpPr>
          <p:cNvPr id="46" name="Text 43"/>
          <p:cNvSpPr/>
          <p:nvPr/>
        </p:nvSpPr>
        <p:spPr>
          <a:xfrm>
            <a:off x="749808" y="536752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Across all programs connected to topcashback, performance was mixed in Feb 2026 – May 2026. Conversions moved -5.3% to 93,454 and conversion rate moved +9.8% to 25.6%. Publisher commission decreased -26.6% to €709,484, while digital wallet earnings decreased -57.1% to €68,128. Total earnings ended at €777,612 (-30.9%) and total order value decreased -35.2% to €15,964,812.</a:t>
            </a:r>
            <a:endParaRPr lang="en-US" sz="11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Summary Table: Conversions &amp; Earnings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Unified KPI breakdown vs prior year.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27632"/>
            <a:ext cx="11430000" cy="4584802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19072"/>
          <a:ext cx="11210544" cy="4438498"/>
        </p:xfrm>
        <a:graphic>
          <a:graphicData uri="http://schemas.openxmlformats.org/drawingml/2006/table">
            <a:tbl>
              <a:tblPr/>
              <a:tblGrid>
                <a:gridCol w="2242109"/>
                <a:gridCol w="2242109"/>
                <a:gridCol w="2242109"/>
                <a:gridCol w="2242109"/>
                <a:gridCol w="2242109"/>
              </a:tblGrid>
              <a:tr h="46085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Recent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Previous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Difference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% Variance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93,454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98,729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-5,275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-5.3%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 Rate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25.6%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23.4%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2.3%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+9.8%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Clicks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364,365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422,612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-58,247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-13.8%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Earnings per Click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€2.13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€2.66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-€0.53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-19.8%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Earnings per Conversion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€7.59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€9.79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-€2.19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-22.4%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Order Value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€15,964,812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€24,652,989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-€8,688,177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-35.2%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€709,484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€966,077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-€256,592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-26.6%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Digital Wallet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€68,128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€158,760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-€90,632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-57.1%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€777,612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€1,124,837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-€347,224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-30.9%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Active Programs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248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262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-5.3%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75488" y="6267298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 = Publisher Commission + Digital Wallet. Conversion rate uses the source API's conversion-rate basis.</a:t>
            </a:r>
            <a:endParaRPr lang="en-US" sz="10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292608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Activation Status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089904" y="1298448"/>
            <a:ext cx="0" cy="18745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089904" y="3794760"/>
            <a:ext cx="0" cy="18745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42416" y="3483864"/>
            <a:ext cx="460857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28816" y="3483864"/>
            <a:ext cx="460857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47088" y="1243584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248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1847088" y="1865376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Joined programs</a:t>
            </a:r>
            <a:endParaRPr lang="en-US" sz="1360" dirty="0"/>
          </a:p>
        </p:txBody>
      </p:sp>
      <p:sp>
        <p:nvSpPr>
          <p:cNvPr id="10" name="Text 7"/>
          <p:cNvSpPr/>
          <p:nvPr/>
        </p:nvSpPr>
        <p:spPr>
          <a:xfrm>
            <a:off x="1847088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11" name="Text 8"/>
          <p:cNvSpPr/>
          <p:nvPr/>
        </p:nvSpPr>
        <p:spPr>
          <a:xfrm>
            <a:off x="1847088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69</a:t>
            </a:r>
            <a:endParaRPr lang="en-US" sz="1420" dirty="0"/>
          </a:p>
        </p:txBody>
      </p:sp>
      <p:sp>
        <p:nvSpPr>
          <p:cNvPr id="12" name="Text 9"/>
          <p:cNvSpPr/>
          <p:nvPr/>
        </p:nvSpPr>
        <p:spPr>
          <a:xfrm>
            <a:off x="3566160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13" name="Text 10"/>
          <p:cNvSpPr/>
          <p:nvPr/>
        </p:nvSpPr>
        <p:spPr>
          <a:xfrm>
            <a:off x="3566160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28%</a:t>
            </a:r>
            <a:endParaRPr lang="en-US" sz="1420" dirty="0"/>
          </a:p>
        </p:txBody>
      </p:sp>
      <p:sp>
        <p:nvSpPr>
          <p:cNvPr id="14" name="Text 11"/>
          <p:cNvSpPr/>
          <p:nvPr/>
        </p:nvSpPr>
        <p:spPr>
          <a:xfrm>
            <a:off x="7278624" y="1243584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247</a:t>
            </a:r>
            <a:endParaRPr lang="en-US" sz="3800" dirty="0"/>
          </a:p>
        </p:txBody>
      </p:sp>
      <p:sp>
        <p:nvSpPr>
          <p:cNvPr id="15" name="Text 12"/>
          <p:cNvSpPr/>
          <p:nvPr/>
        </p:nvSpPr>
        <p:spPr>
          <a:xfrm>
            <a:off x="7278624" y="1865376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 clicks</a:t>
            </a:r>
            <a:endParaRPr lang="en-US" sz="1360" dirty="0"/>
          </a:p>
        </p:txBody>
      </p:sp>
      <p:sp>
        <p:nvSpPr>
          <p:cNvPr id="16" name="Text 13"/>
          <p:cNvSpPr/>
          <p:nvPr/>
        </p:nvSpPr>
        <p:spPr>
          <a:xfrm>
            <a:off x="7278624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17" name="Text 14"/>
          <p:cNvSpPr/>
          <p:nvPr/>
        </p:nvSpPr>
        <p:spPr>
          <a:xfrm>
            <a:off x="7278624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68</a:t>
            </a:r>
            <a:endParaRPr lang="en-US" sz="1420" dirty="0"/>
          </a:p>
        </p:txBody>
      </p:sp>
      <p:sp>
        <p:nvSpPr>
          <p:cNvPr id="18" name="Text 15"/>
          <p:cNvSpPr/>
          <p:nvPr/>
        </p:nvSpPr>
        <p:spPr>
          <a:xfrm>
            <a:off x="8997696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8997696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28%</a:t>
            </a:r>
            <a:endParaRPr lang="en-US" sz="1420" dirty="0"/>
          </a:p>
        </p:txBody>
      </p:sp>
      <p:sp>
        <p:nvSpPr>
          <p:cNvPr id="20" name="Text 17"/>
          <p:cNvSpPr/>
          <p:nvPr/>
        </p:nvSpPr>
        <p:spPr>
          <a:xfrm>
            <a:off x="1847088" y="3794760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155</a:t>
            </a:r>
            <a:endParaRPr lang="en-US" sz="3800" dirty="0"/>
          </a:p>
        </p:txBody>
      </p:sp>
      <p:sp>
        <p:nvSpPr>
          <p:cNvPr id="21" name="Text 18"/>
          <p:cNvSpPr/>
          <p:nvPr/>
        </p:nvSpPr>
        <p:spPr>
          <a:xfrm>
            <a:off x="1847088" y="4416552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 commission</a:t>
            </a:r>
            <a:endParaRPr lang="en-US" sz="1360" dirty="0"/>
          </a:p>
        </p:txBody>
      </p:sp>
      <p:sp>
        <p:nvSpPr>
          <p:cNvPr id="22" name="Text 19"/>
          <p:cNvSpPr/>
          <p:nvPr/>
        </p:nvSpPr>
        <p:spPr>
          <a:xfrm>
            <a:off x="1847088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23" name="Text 20"/>
          <p:cNvSpPr/>
          <p:nvPr/>
        </p:nvSpPr>
        <p:spPr>
          <a:xfrm>
            <a:off x="1847088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</a:t>
            </a:r>
            <a:endParaRPr lang="en-US" sz="1420" dirty="0"/>
          </a:p>
        </p:txBody>
      </p:sp>
      <p:sp>
        <p:nvSpPr>
          <p:cNvPr id="24" name="Text 21"/>
          <p:cNvSpPr/>
          <p:nvPr/>
        </p:nvSpPr>
        <p:spPr>
          <a:xfrm>
            <a:off x="3566160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25" name="Text 22"/>
          <p:cNvSpPr/>
          <p:nvPr/>
        </p:nvSpPr>
        <p:spPr>
          <a:xfrm>
            <a:off x="3566160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15%</a:t>
            </a:r>
            <a:endParaRPr lang="en-US" sz="1420" dirty="0"/>
          </a:p>
        </p:txBody>
      </p:sp>
      <p:sp>
        <p:nvSpPr>
          <p:cNvPr id="26" name="Text 23"/>
          <p:cNvSpPr/>
          <p:nvPr/>
        </p:nvSpPr>
        <p:spPr>
          <a:xfrm>
            <a:off x="7278624" y="3794760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93</a:t>
            </a:r>
            <a:endParaRPr lang="en-US" sz="3800" dirty="0"/>
          </a:p>
        </p:txBody>
      </p:sp>
      <p:sp>
        <p:nvSpPr>
          <p:cNvPr id="27" name="Text 24"/>
          <p:cNvSpPr/>
          <p:nvPr/>
        </p:nvSpPr>
        <p:spPr>
          <a:xfrm>
            <a:off x="7278624" y="4416552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Inactive</a:t>
            </a:r>
            <a:endParaRPr lang="en-US" sz="1360" dirty="0"/>
          </a:p>
        </p:txBody>
      </p:sp>
      <p:sp>
        <p:nvSpPr>
          <p:cNvPr id="28" name="Text 25"/>
          <p:cNvSpPr/>
          <p:nvPr/>
        </p:nvSpPr>
        <p:spPr>
          <a:xfrm>
            <a:off x="7278624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29" name="Text 26"/>
          <p:cNvSpPr/>
          <p:nvPr/>
        </p:nvSpPr>
        <p:spPr>
          <a:xfrm>
            <a:off x="7278624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45</a:t>
            </a:r>
            <a:endParaRPr lang="en-US" sz="1420" dirty="0"/>
          </a:p>
        </p:txBody>
      </p:sp>
      <p:sp>
        <p:nvSpPr>
          <p:cNvPr id="30" name="Text 27"/>
          <p:cNvSpPr/>
          <p:nvPr/>
        </p:nvSpPr>
        <p:spPr>
          <a:xfrm>
            <a:off x="8997696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31" name="Text 28"/>
          <p:cNvSpPr/>
          <p:nvPr/>
        </p:nvSpPr>
        <p:spPr>
          <a:xfrm>
            <a:off x="8997696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48%</a:t>
            </a:r>
            <a:endParaRPr lang="en-US" sz="14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Program-Level Analysis: Publisher Commission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Per-program view ordered by publisher commission.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27632"/>
            <a:ext cx="11430000" cy="5042916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19072"/>
          <a:ext cx="11210544" cy="4896612"/>
        </p:xfrm>
        <a:graphic>
          <a:graphicData uri="http://schemas.openxmlformats.org/drawingml/2006/table">
            <a:tbl>
              <a:tblPr/>
              <a:tblGrid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</a:tblGrid>
              <a:tr h="43068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ID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Digital Wallet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 Value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Earnings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300817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getyourguide.co.uk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€128,119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€3,000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€131,119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11,485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€1,712,056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+90.1%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+81.1%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+53.2%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359210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Staysure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€110,781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€2,041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€112,822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2,067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€417,294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+48.2%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+47.6%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+62.0%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246156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Morrisons Grocery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€78,751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€2,000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€80,751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53,544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€5,666,026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-64.7%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-67.6%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+3.1%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254701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Sixt Rent a Car 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€39,901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€1,538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€41,439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1,093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€393,518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+80.5%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+73.2%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+69.7%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359223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Avanti Travel Insurance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€35,673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€117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€35,790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489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€137,906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+83.6%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+84.2%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+83.8%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122083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Stena Line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€27,364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€27,364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1,406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€542,666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-44.9%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-44.9%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-43.6%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324849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Direct Ferries 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€19,367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€19,367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1,517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€488,391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+103.3%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+103.3%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+103.9%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324414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InsureandGo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€17,841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€17,841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852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€81,550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-40.0%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-69.4%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-22.0%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8854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Disneyland Paris GB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€17,352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€17,352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885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€812,202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-60.1%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-62.8%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-22.9%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236409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eFlorist 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€14,584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€14,584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2,810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€86,666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-39.9%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-39.9%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-44.3%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329603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MoneyFarm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€13,820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€35,065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€48,885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€413,884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-83.7%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-61.5%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-73.1%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339939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The Mortgage Genie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€9,669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-€360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€9,309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166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€9,413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+148.1%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+138.9%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+1560.0%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Movers &amp; Shakers: Publisher Commission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10 positive and top 10 negative period-on-period publisher commission changes.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30352" y="1298448"/>
            <a:ext cx="11137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Partners with most change in publisher commission period-on-period</a:t>
            </a:r>
            <a:endParaRPr lang="en-US" sz="880" dirty="0"/>
          </a:p>
        </p:txBody>
      </p:sp>
      <p:sp>
        <p:nvSpPr>
          <p:cNvPr id="6" name="Shape 3"/>
          <p:cNvSpPr/>
          <p:nvPr/>
        </p:nvSpPr>
        <p:spPr>
          <a:xfrm>
            <a:off x="4050792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721858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92924" y="1591056"/>
            <a:ext cx="0" cy="4846320"/>
          </a:xfrm>
          <a:prstGeom prst="line">
            <a:avLst/>
          </a:prstGeom>
          <a:noFill/>
          <a:ln w="12700">
            <a:solidFill>
              <a:srgbClr val="7B819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063990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735056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0352" y="1622054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getyourguide.co.uk (+90.1%)</a:t>
            </a:r>
            <a:endParaRPr lang="en-US" sz="580" dirty="0"/>
          </a:p>
        </p:txBody>
      </p:sp>
      <p:sp>
        <p:nvSpPr>
          <p:cNvPr id="12" name="Shape 9"/>
          <p:cNvSpPr/>
          <p:nvPr/>
        </p:nvSpPr>
        <p:spPr>
          <a:xfrm>
            <a:off x="7392924" y="1654058"/>
            <a:ext cx="1406390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845034" y="1640342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€60,717</a:t>
            </a:r>
            <a:endParaRPr lang="en-US" sz="570" dirty="0"/>
          </a:p>
        </p:txBody>
      </p:sp>
      <p:sp>
        <p:nvSpPr>
          <p:cNvPr id="14" name="Text 11"/>
          <p:cNvSpPr/>
          <p:nvPr/>
        </p:nvSpPr>
        <p:spPr>
          <a:xfrm>
            <a:off x="530352" y="1864370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Staysure (+48.2%)</a:t>
            </a:r>
            <a:endParaRPr lang="en-US" sz="580" dirty="0"/>
          </a:p>
        </p:txBody>
      </p:sp>
      <p:sp>
        <p:nvSpPr>
          <p:cNvPr id="15" name="Shape 12"/>
          <p:cNvSpPr/>
          <p:nvPr/>
        </p:nvSpPr>
        <p:spPr>
          <a:xfrm>
            <a:off x="7392924" y="1896374"/>
            <a:ext cx="834801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73445" y="1882658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€36,040</a:t>
            </a:r>
            <a:endParaRPr lang="en-US" sz="570" dirty="0"/>
          </a:p>
        </p:txBody>
      </p:sp>
      <p:sp>
        <p:nvSpPr>
          <p:cNvPr id="17" name="Text 14"/>
          <p:cNvSpPr/>
          <p:nvPr/>
        </p:nvSpPr>
        <p:spPr>
          <a:xfrm>
            <a:off x="530352" y="2106686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Sixt Rent a Car UK (+80.5%)</a:t>
            </a:r>
            <a:endParaRPr lang="en-US" sz="580" dirty="0"/>
          </a:p>
        </p:txBody>
      </p:sp>
      <p:sp>
        <p:nvSpPr>
          <p:cNvPr id="18" name="Shape 15"/>
          <p:cNvSpPr/>
          <p:nvPr/>
        </p:nvSpPr>
        <p:spPr>
          <a:xfrm>
            <a:off x="7392924" y="2138690"/>
            <a:ext cx="412266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850910" y="2124974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€17,798</a:t>
            </a:r>
            <a:endParaRPr lang="en-US" sz="570" dirty="0"/>
          </a:p>
        </p:txBody>
      </p:sp>
      <p:sp>
        <p:nvSpPr>
          <p:cNvPr id="20" name="Text 17"/>
          <p:cNvSpPr/>
          <p:nvPr/>
        </p:nvSpPr>
        <p:spPr>
          <a:xfrm>
            <a:off x="530352" y="2349002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Avanti Travel Insurance (+83.6%)</a:t>
            </a:r>
            <a:endParaRPr lang="en-US" sz="580" dirty="0"/>
          </a:p>
        </p:txBody>
      </p:sp>
      <p:sp>
        <p:nvSpPr>
          <p:cNvPr id="21" name="Shape 18"/>
          <p:cNvSpPr/>
          <p:nvPr/>
        </p:nvSpPr>
        <p:spPr>
          <a:xfrm>
            <a:off x="7392924" y="2381006"/>
            <a:ext cx="376271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814915" y="2367290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€16,244</a:t>
            </a:r>
            <a:endParaRPr lang="en-US" sz="570" dirty="0"/>
          </a:p>
        </p:txBody>
      </p:sp>
      <p:sp>
        <p:nvSpPr>
          <p:cNvPr id="23" name="Text 20"/>
          <p:cNvSpPr/>
          <p:nvPr/>
        </p:nvSpPr>
        <p:spPr>
          <a:xfrm>
            <a:off x="530352" y="2591318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 Ferries UK (+103.3%)</a:t>
            </a:r>
            <a:endParaRPr lang="en-US" sz="580" dirty="0"/>
          </a:p>
        </p:txBody>
      </p:sp>
      <p:sp>
        <p:nvSpPr>
          <p:cNvPr id="24" name="Shape 21"/>
          <p:cNvSpPr/>
          <p:nvPr/>
        </p:nvSpPr>
        <p:spPr>
          <a:xfrm>
            <a:off x="7392924" y="2623322"/>
            <a:ext cx="227986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666630" y="2609606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€9,843</a:t>
            </a:r>
            <a:endParaRPr lang="en-US" sz="570" dirty="0"/>
          </a:p>
        </p:txBody>
      </p:sp>
      <p:sp>
        <p:nvSpPr>
          <p:cNvPr id="26" name="Text 23"/>
          <p:cNvSpPr/>
          <p:nvPr/>
        </p:nvSpPr>
        <p:spPr>
          <a:xfrm>
            <a:off x="530352" y="2833634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 Rose Assurance (N/A)</a:t>
            </a:r>
            <a:endParaRPr lang="en-US" sz="580" dirty="0"/>
          </a:p>
        </p:txBody>
      </p:sp>
      <p:sp>
        <p:nvSpPr>
          <p:cNvPr id="27" name="Shape 24"/>
          <p:cNvSpPr/>
          <p:nvPr/>
        </p:nvSpPr>
        <p:spPr>
          <a:xfrm>
            <a:off x="7392924" y="2865638"/>
            <a:ext cx="222631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661275" y="2851922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€9,611</a:t>
            </a:r>
            <a:endParaRPr lang="en-US" sz="570" dirty="0"/>
          </a:p>
        </p:txBody>
      </p:sp>
      <p:sp>
        <p:nvSpPr>
          <p:cNvPr id="29" name="Text 26"/>
          <p:cNvSpPr/>
          <p:nvPr/>
        </p:nvSpPr>
        <p:spPr>
          <a:xfrm>
            <a:off x="530352" y="3075950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Petgevity (+259.9%)</a:t>
            </a:r>
            <a:endParaRPr lang="en-US" sz="580" dirty="0"/>
          </a:p>
        </p:txBody>
      </p:sp>
      <p:sp>
        <p:nvSpPr>
          <p:cNvPr id="30" name="Shape 27"/>
          <p:cNvSpPr/>
          <p:nvPr/>
        </p:nvSpPr>
        <p:spPr>
          <a:xfrm>
            <a:off x="7392924" y="3107954"/>
            <a:ext cx="143420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582064" y="3094238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€6,192</a:t>
            </a:r>
            <a:endParaRPr lang="en-US" sz="570" dirty="0"/>
          </a:p>
        </p:txBody>
      </p:sp>
      <p:sp>
        <p:nvSpPr>
          <p:cNvPr id="32" name="Text 29"/>
          <p:cNvSpPr/>
          <p:nvPr/>
        </p:nvSpPr>
        <p:spPr>
          <a:xfrm>
            <a:off x="530352" y="3318266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Mortgage Genie (+148.1%)</a:t>
            </a:r>
            <a:endParaRPr lang="en-US" sz="580" dirty="0"/>
          </a:p>
        </p:txBody>
      </p:sp>
      <p:sp>
        <p:nvSpPr>
          <p:cNvPr id="33" name="Shape 30"/>
          <p:cNvSpPr/>
          <p:nvPr/>
        </p:nvSpPr>
        <p:spPr>
          <a:xfrm>
            <a:off x="7392924" y="3350270"/>
            <a:ext cx="133714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572358" y="3336554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€5,773</a:t>
            </a:r>
            <a:endParaRPr lang="en-US" sz="570" dirty="0"/>
          </a:p>
        </p:txBody>
      </p:sp>
      <p:sp>
        <p:nvSpPr>
          <p:cNvPr id="35" name="Text 32"/>
          <p:cNvSpPr/>
          <p:nvPr/>
        </p:nvSpPr>
        <p:spPr>
          <a:xfrm>
            <a:off x="530352" y="3560582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Serenata Flowers (N/A)</a:t>
            </a:r>
            <a:endParaRPr lang="en-US" sz="580" dirty="0"/>
          </a:p>
        </p:txBody>
      </p:sp>
      <p:sp>
        <p:nvSpPr>
          <p:cNvPr id="36" name="Shape 33"/>
          <p:cNvSpPr/>
          <p:nvPr/>
        </p:nvSpPr>
        <p:spPr>
          <a:xfrm>
            <a:off x="7392924" y="3592586"/>
            <a:ext cx="122803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561447" y="3578870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€5,302</a:t>
            </a:r>
            <a:endParaRPr lang="en-US" sz="570" dirty="0"/>
          </a:p>
        </p:txBody>
      </p:sp>
      <p:sp>
        <p:nvSpPr>
          <p:cNvPr id="38" name="Text 35"/>
          <p:cNvSpPr/>
          <p:nvPr/>
        </p:nvSpPr>
        <p:spPr>
          <a:xfrm>
            <a:off x="530352" y="3802898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Eurowings UK (+288.7%)</a:t>
            </a:r>
            <a:endParaRPr lang="en-US" sz="580" dirty="0"/>
          </a:p>
        </p:txBody>
      </p:sp>
      <p:sp>
        <p:nvSpPr>
          <p:cNvPr id="39" name="Shape 36"/>
          <p:cNvSpPr/>
          <p:nvPr/>
        </p:nvSpPr>
        <p:spPr>
          <a:xfrm>
            <a:off x="7392924" y="3834902"/>
            <a:ext cx="106730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545374" y="3821186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€4,608</a:t>
            </a:r>
            <a:endParaRPr lang="en-US" sz="570" dirty="0"/>
          </a:p>
        </p:txBody>
      </p:sp>
      <p:sp>
        <p:nvSpPr>
          <p:cNvPr id="41" name="Text 38"/>
          <p:cNvSpPr/>
          <p:nvPr/>
        </p:nvSpPr>
        <p:spPr>
          <a:xfrm>
            <a:off x="530352" y="4045214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eFlorist UK (-39.9%)</a:t>
            </a:r>
            <a:endParaRPr lang="en-US" sz="580" dirty="0"/>
          </a:p>
        </p:txBody>
      </p:sp>
      <p:sp>
        <p:nvSpPr>
          <p:cNvPr id="42" name="Shape 39"/>
          <p:cNvSpPr/>
          <p:nvPr/>
        </p:nvSpPr>
        <p:spPr>
          <a:xfrm>
            <a:off x="7168577" y="4077218"/>
            <a:ext cx="224347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281609" y="4063502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-€9,686</a:t>
            </a:r>
            <a:endParaRPr lang="en-US" sz="570" dirty="0"/>
          </a:p>
        </p:txBody>
      </p:sp>
      <p:sp>
        <p:nvSpPr>
          <p:cNvPr id="44" name="Text 41"/>
          <p:cNvSpPr/>
          <p:nvPr/>
        </p:nvSpPr>
        <p:spPr>
          <a:xfrm>
            <a:off x="530352" y="4287530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Lycamobile (-75.3%)</a:t>
            </a:r>
            <a:endParaRPr lang="en-US" sz="580" dirty="0"/>
          </a:p>
        </p:txBody>
      </p:sp>
      <p:sp>
        <p:nvSpPr>
          <p:cNvPr id="45" name="Shape 42"/>
          <p:cNvSpPr/>
          <p:nvPr/>
        </p:nvSpPr>
        <p:spPr>
          <a:xfrm>
            <a:off x="7165481" y="4319534"/>
            <a:ext cx="227443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278513" y="4305818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-€9,819</a:t>
            </a:r>
            <a:endParaRPr lang="en-US" sz="570" dirty="0"/>
          </a:p>
        </p:txBody>
      </p:sp>
      <p:sp>
        <p:nvSpPr>
          <p:cNvPr id="47" name="Text 44"/>
          <p:cNvSpPr/>
          <p:nvPr/>
        </p:nvSpPr>
        <p:spPr>
          <a:xfrm>
            <a:off x="530352" y="4529846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Lufthansa UK (-100.0%)</a:t>
            </a:r>
            <a:endParaRPr lang="en-US" sz="580" dirty="0"/>
          </a:p>
        </p:txBody>
      </p:sp>
      <p:sp>
        <p:nvSpPr>
          <p:cNvPr id="48" name="Shape 45"/>
          <p:cNvSpPr/>
          <p:nvPr/>
        </p:nvSpPr>
        <p:spPr>
          <a:xfrm>
            <a:off x="7124677" y="4561850"/>
            <a:ext cx="268247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6237709" y="4548134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-€11,581</a:t>
            </a:r>
            <a:endParaRPr lang="en-US" sz="570" dirty="0"/>
          </a:p>
        </p:txBody>
      </p:sp>
      <p:sp>
        <p:nvSpPr>
          <p:cNvPr id="50" name="Text 47"/>
          <p:cNvSpPr/>
          <p:nvPr/>
        </p:nvSpPr>
        <p:spPr>
          <a:xfrm>
            <a:off x="530352" y="4772162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InsureandGo (-40.0%)</a:t>
            </a:r>
            <a:endParaRPr lang="en-US" sz="580" dirty="0"/>
          </a:p>
        </p:txBody>
      </p:sp>
      <p:sp>
        <p:nvSpPr>
          <p:cNvPr id="51" name="Shape 48"/>
          <p:cNvSpPr/>
          <p:nvPr/>
        </p:nvSpPr>
        <p:spPr>
          <a:xfrm>
            <a:off x="7116990" y="4804166"/>
            <a:ext cx="275934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6230022" y="4790450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-€11,913</a:t>
            </a:r>
            <a:endParaRPr lang="en-US" sz="570" dirty="0"/>
          </a:p>
        </p:txBody>
      </p:sp>
      <p:sp>
        <p:nvSpPr>
          <p:cNvPr id="53" name="Text 50"/>
          <p:cNvSpPr/>
          <p:nvPr/>
        </p:nvSpPr>
        <p:spPr>
          <a:xfrm>
            <a:off x="530352" y="5014478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Marks Electrical (-56.6%)</a:t>
            </a:r>
            <a:endParaRPr lang="en-US" sz="580" dirty="0"/>
          </a:p>
        </p:txBody>
      </p:sp>
      <p:sp>
        <p:nvSpPr>
          <p:cNvPr id="54" name="Shape 51"/>
          <p:cNvSpPr/>
          <p:nvPr/>
        </p:nvSpPr>
        <p:spPr>
          <a:xfrm>
            <a:off x="7114446" y="5046482"/>
            <a:ext cx="278478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6227478" y="5032766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-€12,022</a:t>
            </a:r>
            <a:endParaRPr lang="en-US" sz="570" dirty="0"/>
          </a:p>
        </p:txBody>
      </p:sp>
      <p:sp>
        <p:nvSpPr>
          <p:cNvPr id="56" name="Text 53"/>
          <p:cNvSpPr/>
          <p:nvPr/>
        </p:nvSpPr>
        <p:spPr>
          <a:xfrm>
            <a:off x="530352" y="5256794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Stena Line (-44.9%)</a:t>
            </a:r>
            <a:endParaRPr lang="en-US" sz="580" dirty="0"/>
          </a:p>
        </p:txBody>
      </p:sp>
      <p:sp>
        <p:nvSpPr>
          <p:cNvPr id="57" name="Shape 54"/>
          <p:cNvSpPr/>
          <p:nvPr/>
        </p:nvSpPr>
        <p:spPr>
          <a:xfrm>
            <a:off x="6876163" y="5288798"/>
            <a:ext cx="516761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5989195" y="5275082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-€22,310</a:t>
            </a:r>
            <a:endParaRPr lang="en-US" sz="570" dirty="0"/>
          </a:p>
        </p:txBody>
      </p:sp>
      <p:sp>
        <p:nvSpPr>
          <p:cNvPr id="59" name="Text 56"/>
          <p:cNvSpPr/>
          <p:nvPr/>
        </p:nvSpPr>
        <p:spPr>
          <a:xfrm>
            <a:off x="530352" y="5499110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Disneyland Paris GB (-60.1%)</a:t>
            </a:r>
            <a:endParaRPr lang="en-US" sz="580" dirty="0"/>
          </a:p>
        </p:txBody>
      </p:sp>
      <p:sp>
        <p:nvSpPr>
          <p:cNvPr id="60" name="Shape 57"/>
          <p:cNvSpPr/>
          <p:nvPr/>
        </p:nvSpPr>
        <p:spPr>
          <a:xfrm>
            <a:off x="6786943" y="5531114"/>
            <a:ext cx="605981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5899975" y="5517398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-€26,162</a:t>
            </a:r>
            <a:endParaRPr lang="en-US" sz="570" dirty="0"/>
          </a:p>
        </p:txBody>
      </p:sp>
      <p:sp>
        <p:nvSpPr>
          <p:cNvPr id="62" name="Text 59"/>
          <p:cNvSpPr/>
          <p:nvPr/>
        </p:nvSpPr>
        <p:spPr>
          <a:xfrm>
            <a:off x="530352" y="5741426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Travel Republic (Closed 17.09.2025) (-100.0%)</a:t>
            </a:r>
            <a:endParaRPr lang="en-US" sz="580" dirty="0"/>
          </a:p>
        </p:txBody>
      </p:sp>
      <p:sp>
        <p:nvSpPr>
          <p:cNvPr id="63" name="Shape 60"/>
          <p:cNvSpPr/>
          <p:nvPr/>
        </p:nvSpPr>
        <p:spPr>
          <a:xfrm>
            <a:off x="6270083" y="5773430"/>
            <a:ext cx="1122841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5383115" y="5759714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-€48,476</a:t>
            </a:r>
            <a:endParaRPr lang="en-US" sz="570" dirty="0"/>
          </a:p>
        </p:txBody>
      </p:sp>
      <p:sp>
        <p:nvSpPr>
          <p:cNvPr id="65" name="Text 62"/>
          <p:cNvSpPr/>
          <p:nvPr/>
        </p:nvSpPr>
        <p:spPr>
          <a:xfrm>
            <a:off x="530352" y="5983742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MoneyFarm (-83.7%)</a:t>
            </a:r>
            <a:endParaRPr lang="en-US" sz="580" dirty="0"/>
          </a:p>
        </p:txBody>
      </p:sp>
      <p:sp>
        <p:nvSpPr>
          <p:cNvPr id="66" name="Shape 63"/>
          <p:cNvSpPr/>
          <p:nvPr/>
        </p:nvSpPr>
        <p:spPr>
          <a:xfrm>
            <a:off x="5745169" y="6015746"/>
            <a:ext cx="1647755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4858201" y="6002030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-€71,137</a:t>
            </a:r>
            <a:endParaRPr lang="en-US" sz="570" dirty="0"/>
          </a:p>
        </p:txBody>
      </p:sp>
      <p:sp>
        <p:nvSpPr>
          <p:cNvPr id="68" name="Text 65"/>
          <p:cNvSpPr/>
          <p:nvPr/>
        </p:nvSpPr>
        <p:spPr>
          <a:xfrm>
            <a:off x="530352" y="6226058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Morrisons Grocery (-64.7%)</a:t>
            </a:r>
            <a:endParaRPr lang="en-US" sz="580" dirty="0"/>
          </a:p>
        </p:txBody>
      </p:sp>
      <p:sp>
        <p:nvSpPr>
          <p:cNvPr id="69" name="Shape 66"/>
          <p:cNvSpPr/>
          <p:nvPr/>
        </p:nvSpPr>
        <p:spPr>
          <a:xfrm>
            <a:off x="4050792" y="6258062"/>
            <a:ext cx="3342132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3959352" y="6244346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-€144,287</a:t>
            </a:r>
            <a:endParaRPr lang="en-US" sz="57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10 New Programs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Programs joined or first active for the primary publisher in the current period.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83080"/>
            <a:ext cx="11430000" cy="4401922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874520"/>
          <a:ext cx="11210544" cy="4255618"/>
        </p:xfrm>
        <a:graphic>
          <a:graphicData uri="http://schemas.openxmlformats.org/drawingml/2006/table">
            <a:tbl>
              <a:tblPr/>
              <a:tblGrid>
                <a:gridCol w="1601506"/>
                <a:gridCol w="1601506"/>
                <a:gridCol w="1601506"/>
                <a:gridCol w="1601506"/>
                <a:gridCol w="1601506"/>
                <a:gridCol w="1601506"/>
                <a:gridCol w="1601506"/>
              </a:tblGrid>
              <a:tr h="44257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ID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 Value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Digital Wallet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381677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Red Rose Assurance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€346,033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€9,611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€9,611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391591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Serenata Flowers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840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€30,180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€5,302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€5,302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377698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Ferryhopper 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378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€63,710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€1,911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€1,911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396847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Merach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€18,126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€1,813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€1,813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391396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Vogel's 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€778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€70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€550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€620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393448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Bargain Hardware 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€9,953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€588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€588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380893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Esdemarca 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€5,451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€507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€507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353828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Vinatis 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€6,013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€314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€333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377545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Blenheim Palace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€9,821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€196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€196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382842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Clickrent 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€3,025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€181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€181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Connection Status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Programs created since the three-month lookback cutoff, grouped by current connection state.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58368" y="1298448"/>
            <a:ext cx="9464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51 programs in scope - Accepted: 34 | Not Connected: 17</a:t>
            </a:r>
            <a:endParaRPr lang="en-US" sz="880" dirty="0"/>
          </a:p>
        </p:txBody>
      </p:sp>
      <p:sp>
        <p:nvSpPr>
          <p:cNvPr id="6" name="Shape 3"/>
          <p:cNvSpPr/>
          <p:nvPr/>
        </p:nvSpPr>
        <p:spPr>
          <a:xfrm>
            <a:off x="512064" y="1554480"/>
            <a:ext cx="2276856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" y="1591056"/>
            <a:ext cx="2167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80" dirty="0"/>
          </a:p>
        </p:txBody>
      </p:sp>
      <p:sp>
        <p:nvSpPr>
          <p:cNvPr id="8" name="Shape 5"/>
          <p:cNvSpPr/>
          <p:nvPr/>
        </p:nvSpPr>
        <p:spPr>
          <a:xfrm>
            <a:off x="512064" y="1773936"/>
            <a:ext cx="2276856" cy="231343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62356" y="1847088"/>
            <a:ext cx="68580" cy="68580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" y="1806854"/>
            <a:ext cx="42062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402481</a:t>
            </a:r>
            <a:endParaRPr lang="en-US" sz="610" dirty="0"/>
          </a:p>
        </p:txBody>
      </p:sp>
      <p:sp>
        <p:nvSpPr>
          <p:cNvPr id="11" name="Text 8"/>
          <p:cNvSpPr/>
          <p:nvPr/>
        </p:nvSpPr>
        <p:spPr>
          <a:xfrm>
            <a:off x="1115568" y="1806854"/>
            <a:ext cx="9784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Kensford Affiliate Program</a:t>
            </a:r>
            <a:endParaRPr lang="en-US" sz="610" dirty="0"/>
          </a:p>
        </p:txBody>
      </p:sp>
      <p:sp>
        <p:nvSpPr>
          <p:cNvPr id="12" name="Text 9"/>
          <p:cNvSpPr/>
          <p:nvPr/>
        </p:nvSpPr>
        <p:spPr>
          <a:xfrm>
            <a:off x="2112264" y="1806854"/>
            <a:ext cx="62179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9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590" dirty="0"/>
          </a:p>
        </p:txBody>
      </p:sp>
      <p:sp>
        <p:nvSpPr>
          <p:cNvPr id="13" name="Shape 10"/>
          <p:cNvSpPr/>
          <p:nvPr/>
        </p:nvSpPr>
        <p:spPr>
          <a:xfrm>
            <a:off x="512064" y="2016252"/>
            <a:ext cx="2276856" cy="231343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2356" y="2089404"/>
            <a:ext cx="68580" cy="68580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8368" y="2049170"/>
            <a:ext cx="42062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402465</a:t>
            </a:r>
            <a:endParaRPr lang="en-US" sz="610" dirty="0"/>
          </a:p>
        </p:txBody>
      </p:sp>
      <p:sp>
        <p:nvSpPr>
          <p:cNvPr id="16" name="Text 13"/>
          <p:cNvSpPr/>
          <p:nvPr/>
        </p:nvSpPr>
        <p:spPr>
          <a:xfrm>
            <a:off x="1115568" y="2049170"/>
            <a:ext cx="9784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Shop Blufi</a:t>
            </a:r>
            <a:endParaRPr lang="en-US" sz="610" dirty="0"/>
          </a:p>
        </p:txBody>
      </p:sp>
      <p:sp>
        <p:nvSpPr>
          <p:cNvPr id="17" name="Text 14"/>
          <p:cNvSpPr/>
          <p:nvPr/>
        </p:nvSpPr>
        <p:spPr>
          <a:xfrm>
            <a:off x="2112264" y="2049170"/>
            <a:ext cx="62179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9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590" dirty="0"/>
          </a:p>
        </p:txBody>
      </p:sp>
      <p:sp>
        <p:nvSpPr>
          <p:cNvPr id="18" name="Shape 15"/>
          <p:cNvSpPr/>
          <p:nvPr/>
        </p:nvSpPr>
        <p:spPr>
          <a:xfrm>
            <a:off x="512064" y="2258568"/>
            <a:ext cx="2276856" cy="231343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62356" y="2331720"/>
            <a:ext cx="68580" cy="68580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58368" y="2291486"/>
            <a:ext cx="42062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402431</a:t>
            </a:r>
            <a:endParaRPr lang="en-US" sz="610" dirty="0"/>
          </a:p>
        </p:txBody>
      </p:sp>
      <p:sp>
        <p:nvSpPr>
          <p:cNvPr id="21" name="Text 18"/>
          <p:cNvSpPr/>
          <p:nvPr/>
        </p:nvSpPr>
        <p:spPr>
          <a:xfrm>
            <a:off x="1115568" y="2291486"/>
            <a:ext cx="9784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Apex Virtual Education</a:t>
            </a:r>
            <a:endParaRPr lang="en-US" sz="610" dirty="0"/>
          </a:p>
        </p:txBody>
      </p:sp>
      <p:sp>
        <p:nvSpPr>
          <p:cNvPr id="22" name="Text 19"/>
          <p:cNvSpPr/>
          <p:nvPr/>
        </p:nvSpPr>
        <p:spPr>
          <a:xfrm>
            <a:off x="2112264" y="2291486"/>
            <a:ext cx="62179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9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590" dirty="0"/>
          </a:p>
        </p:txBody>
      </p:sp>
      <p:sp>
        <p:nvSpPr>
          <p:cNvPr id="23" name="Shape 20"/>
          <p:cNvSpPr/>
          <p:nvPr/>
        </p:nvSpPr>
        <p:spPr>
          <a:xfrm>
            <a:off x="512064" y="2500884"/>
            <a:ext cx="2276856" cy="231343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62356" y="2574036"/>
            <a:ext cx="68580" cy="68580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58368" y="2533802"/>
            <a:ext cx="42062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402422</a:t>
            </a:r>
            <a:endParaRPr lang="en-US" sz="610" dirty="0"/>
          </a:p>
        </p:txBody>
      </p:sp>
      <p:sp>
        <p:nvSpPr>
          <p:cNvPr id="26" name="Text 23"/>
          <p:cNvSpPr/>
          <p:nvPr/>
        </p:nvSpPr>
        <p:spPr>
          <a:xfrm>
            <a:off x="1115568" y="2533802"/>
            <a:ext cx="9784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WholyMe</a:t>
            </a:r>
            <a:endParaRPr lang="en-US" sz="610" dirty="0"/>
          </a:p>
        </p:txBody>
      </p:sp>
      <p:sp>
        <p:nvSpPr>
          <p:cNvPr id="27" name="Text 24"/>
          <p:cNvSpPr/>
          <p:nvPr/>
        </p:nvSpPr>
        <p:spPr>
          <a:xfrm>
            <a:off x="2112264" y="2533802"/>
            <a:ext cx="62179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9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590" dirty="0"/>
          </a:p>
        </p:txBody>
      </p:sp>
      <p:sp>
        <p:nvSpPr>
          <p:cNvPr id="28" name="Shape 25"/>
          <p:cNvSpPr/>
          <p:nvPr/>
        </p:nvSpPr>
        <p:spPr>
          <a:xfrm>
            <a:off x="512064" y="2743200"/>
            <a:ext cx="2276856" cy="231343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62356" y="2816352"/>
            <a:ext cx="68580" cy="68580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58368" y="2776118"/>
            <a:ext cx="42062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402147</a:t>
            </a:r>
            <a:endParaRPr lang="en-US" sz="610" dirty="0"/>
          </a:p>
        </p:txBody>
      </p:sp>
      <p:sp>
        <p:nvSpPr>
          <p:cNvPr id="31" name="Text 28"/>
          <p:cNvSpPr/>
          <p:nvPr/>
        </p:nvSpPr>
        <p:spPr>
          <a:xfrm>
            <a:off x="1115568" y="2776118"/>
            <a:ext cx="9784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Brightech Commerce</a:t>
            </a:r>
            <a:endParaRPr lang="en-US" sz="610" dirty="0"/>
          </a:p>
        </p:txBody>
      </p:sp>
      <p:sp>
        <p:nvSpPr>
          <p:cNvPr id="32" name="Text 29"/>
          <p:cNvSpPr/>
          <p:nvPr/>
        </p:nvSpPr>
        <p:spPr>
          <a:xfrm>
            <a:off x="2112264" y="2776118"/>
            <a:ext cx="62179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9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590" dirty="0"/>
          </a:p>
        </p:txBody>
      </p:sp>
      <p:sp>
        <p:nvSpPr>
          <p:cNvPr id="33" name="Shape 30"/>
          <p:cNvSpPr/>
          <p:nvPr/>
        </p:nvSpPr>
        <p:spPr>
          <a:xfrm>
            <a:off x="512064" y="2985516"/>
            <a:ext cx="2276856" cy="231343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62356" y="3058668"/>
            <a:ext cx="68580" cy="68580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58368" y="3018434"/>
            <a:ext cx="42062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402082</a:t>
            </a:r>
            <a:endParaRPr lang="en-US" sz="610" dirty="0"/>
          </a:p>
        </p:txBody>
      </p:sp>
      <p:sp>
        <p:nvSpPr>
          <p:cNvPr id="36" name="Text 33"/>
          <p:cNvSpPr/>
          <p:nvPr/>
        </p:nvSpPr>
        <p:spPr>
          <a:xfrm>
            <a:off x="1115568" y="3018434"/>
            <a:ext cx="9784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Philips Home Appliances UK</a:t>
            </a:r>
            <a:endParaRPr lang="en-US" sz="610" dirty="0"/>
          </a:p>
        </p:txBody>
      </p:sp>
      <p:sp>
        <p:nvSpPr>
          <p:cNvPr id="37" name="Text 34"/>
          <p:cNvSpPr/>
          <p:nvPr/>
        </p:nvSpPr>
        <p:spPr>
          <a:xfrm>
            <a:off x="2112264" y="3018434"/>
            <a:ext cx="62179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9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590" dirty="0"/>
          </a:p>
        </p:txBody>
      </p:sp>
      <p:sp>
        <p:nvSpPr>
          <p:cNvPr id="38" name="Shape 35"/>
          <p:cNvSpPr/>
          <p:nvPr/>
        </p:nvSpPr>
        <p:spPr>
          <a:xfrm>
            <a:off x="512064" y="3227832"/>
            <a:ext cx="2276856" cy="231343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562356" y="3300984"/>
            <a:ext cx="68580" cy="68580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58368" y="3260750"/>
            <a:ext cx="42062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401986</a:t>
            </a:r>
            <a:endParaRPr lang="en-US" sz="610" dirty="0"/>
          </a:p>
        </p:txBody>
      </p:sp>
      <p:sp>
        <p:nvSpPr>
          <p:cNvPr id="41" name="Text 38"/>
          <p:cNvSpPr/>
          <p:nvPr/>
        </p:nvSpPr>
        <p:spPr>
          <a:xfrm>
            <a:off x="1115568" y="3260750"/>
            <a:ext cx="9784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Araco Interiors</a:t>
            </a:r>
            <a:endParaRPr lang="en-US" sz="610" dirty="0"/>
          </a:p>
        </p:txBody>
      </p:sp>
      <p:sp>
        <p:nvSpPr>
          <p:cNvPr id="42" name="Text 39"/>
          <p:cNvSpPr/>
          <p:nvPr/>
        </p:nvSpPr>
        <p:spPr>
          <a:xfrm>
            <a:off x="2112264" y="3260750"/>
            <a:ext cx="62179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9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590" dirty="0"/>
          </a:p>
        </p:txBody>
      </p:sp>
      <p:sp>
        <p:nvSpPr>
          <p:cNvPr id="43" name="Shape 40"/>
          <p:cNvSpPr/>
          <p:nvPr/>
        </p:nvSpPr>
        <p:spPr>
          <a:xfrm>
            <a:off x="512064" y="3470148"/>
            <a:ext cx="2276856" cy="231343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562356" y="3543300"/>
            <a:ext cx="68580" cy="68580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58368" y="3503066"/>
            <a:ext cx="42062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401924</a:t>
            </a:r>
            <a:endParaRPr lang="en-US" sz="610" dirty="0"/>
          </a:p>
        </p:txBody>
      </p:sp>
      <p:sp>
        <p:nvSpPr>
          <p:cNvPr id="46" name="Text 43"/>
          <p:cNvSpPr/>
          <p:nvPr/>
        </p:nvSpPr>
        <p:spPr>
          <a:xfrm>
            <a:off x="1115568" y="3503066"/>
            <a:ext cx="9784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Bike Club</a:t>
            </a:r>
            <a:endParaRPr lang="en-US" sz="610" dirty="0"/>
          </a:p>
        </p:txBody>
      </p:sp>
      <p:sp>
        <p:nvSpPr>
          <p:cNvPr id="47" name="Text 44"/>
          <p:cNvSpPr/>
          <p:nvPr/>
        </p:nvSpPr>
        <p:spPr>
          <a:xfrm>
            <a:off x="2112264" y="3503066"/>
            <a:ext cx="62179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9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590" dirty="0"/>
          </a:p>
        </p:txBody>
      </p:sp>
      <p:sp>
        <p:nvSpPr>
          <p:cNvPr id="48" name="Shape 45"/>
          <p:cNvSpPr/>
          <p:nvPr/>
        </p:nvSpPr>
        <p:spPr>
          <a:xfrm>
            <a:off x="512064" y="3712464"/>
            <a:ext cx="2276856" cy="231343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562356" y="3785616"/>
            <a:ext cx="68580" cy="68580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658368" y="3745382"/>
            <a:ext cx="42062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401863</a:t>
            </a:r>
            <a:endParaRPr lang="en-US" sz="610" dirty="0"/>
          </a:p>
        </p:txBody>
      </p:sp>
      <p:sp>
        <p:nvSpPr>
          <p:cNvPr id="51" name="Text 48"/>
          <p:cNvSpPr/>
          <p:nvPr/>
        </p:nvSpPr>
        <p:spPr>
          <a:xfrm>
            <a:off x="1115568" y="3745382"/>
            <a:ext cx="9784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 noir immersive...</a:t>
            </a:r>
            <a:endParaRPr lang="en-US" sz="610" dirty="0"/>
          </a:p>
        </p:txBody>
      </p:sp>
      <p:sp>
        <p:nvSpPr>
          <p:cNvPr id="52" name="Text 49"/>
          <p:cNvSpPr/>
          <p:nvPr/>
        </p:nvSpPr>
        <p:spPr>
          <a:xfrm>
            <a:off x="2112264" y="3745382"/>
            <a:ext cx="62179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9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590" dirty="0"/>
          </a:p>
        </p:txBody>
      </p:sp>
      <p:sp>
        <p:nvSpPr>
          <p:cNvPr id="53" name="Shape 50"/>
          <p:cNvSpPr/>
          <p:nvPr/>
        </p:nvSpPr>
        <p:spPr>
          <a:xfrm>
            <a:off x="512064" y="3954780"/>
            <a:ext cx="2276856" cy="231343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562356" y="4027932"/>
            <a:ext cx="68580" cy="68580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658368" y="3987698"/>
            <a:ext cx="42062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401570</a:t>
            </a:r>
            <a:endParaRPr lang="en-US" sz="610" dirty="0"/>
          </a:p>
        </p:txBody>
      </p:sp>
      <p:sp>
        <p:nvSpPr>
          <p:cNvPr id="56" name="Text 53"/>
          <p:cNvSpPr/>
          <p:nvPr/>
        </p:nvSpPr>
        <p:spPr>
          <a:xfrm>
            <a:off x="1115568" y="3987698"/>
            <a:ext cx="9784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58th Street immersive...</a:t>
            </a:r>
            <a:endParaRPr lang="en-US" sz="610" dirty="0"/>
          </a:p>
        </p:txBody>
      </p:sp>
      <p:sp>
        <p:nvSpPr>
          <p:cNvPr id="57" name="Text 54"/>
          <p:cNvSpPr/>
          <p:nvPr/>
        </p:nvSpPr>
        <p:spPr>
          <a:xfrm>
            <a:off x="2112264" y="3987698"/>
            <a:ext cx="62179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9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590" dirty="0"/>
          </a:p>
        </p:txBody>
      </p:sp>
      <p:sp>
        <p:nvSpPr>
          <p:cNvPr id="58" name="Shape 55"/>
          <p:cNvSpPr/>
          <p:nvPr/>
        </p:nvSpPr>
        <p:spPr>
          <a:xfrm>
            <a:off x="512064" y="4197096"/>
            <a:ext cx="2276856" cy="231343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562356" y="4270248"/>
            <a:ext cx="68580" cy="68580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658368" y="4230014"/>
            <a:ext cx="42062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401526</a:t>
            </a:r>
            <a:endParaRPr lang="en-US" sz="610" dirty="0"/>
          </a:p>
        </p:txBody>
      </p:sp>
      <p:sp>
        <p:nvSpPr>
          <p:cNvPr id="61" name="Text 58"/>
          <p:cNvSpPr/>
          <p:nvPr/>
        </p:nvSpPr>
        <p:spPr>
          <a:xfrm>
            <a:off x="1115568" y="4230014"/>
            <a:ext cx="9784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Parking Up</a:t>
            </a:r>
            <a:endParaRPr lang="en-US" sz="610" dirty="0"/>
          </a:p>
        </p:txBody>
      </p:sp>
      <p:sp>
        <p:nvSpPr>
          <p:cNvPr id="62" name="Text 59"/>
          <p:cNvSpPr/>
          <p:nvPr/>
        </p:nvSpPr>
        <p:spPr>
          <a:xfrm>
            <a:off x="2112264" y="4230014"/>
            <a:ext cx="62179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9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590" dirty="0"/>
          </a:p>
        </p:txBody>
      </p:sp>
      <p:sp>
        <p:nvSpPr>
          <p:cNvPr id="63" name="Shape 60"/>
          <p:cNvSpPr/>
          <p:nvPr/>
        </p:nvSpPr>
        <p:spPr>
          <a:xfrm>
            <a:off x="512064" y="4439412"/>
            <a:ext cx="2276856" cy="231343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562356" y="4512564"/>
            <a:ext cx="68580" cy="68580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658368" y="4472330"/>
            <a:ext cx="42062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401511</a:t>
            </a:r>
            <a:endParaRPr lang="en-US" sz="610" dirty="0"/>
          </a:p>
        </p:txBody>
      </p:sp>
      <p:sp>
        <p:nvSpPr>
          <p:cNvPr id="66" name="Text 63"/>
          <p:cNvSpPr/>
          <p:nvPr/>
        </p:nvSpPr>
        <p:spPr>
          <a:xfrm>
            <a:off x="1115568" y="4472330"/>
            <a:ext cx="9784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Grow - Subscription</a:t>
            </a:r>
            <a:endParaRPr lang="en-US" sz="610" dirty="0"/>
          </a:p>
        </p:txBody>
      </p:sp>
      <p:sp>
        <p:nvSpPr>
          <p:cNvPr id="67" name="Text 64"/>
          <p:cNvSpPr/>
          <p:nvPr/>
        </p:nvSpPr>
        <p:spPr>
          <a:xfrm>
            <a:off x="2112264" y="4472330"/>
            <a:ext cx="62179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9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590" dirty="0"/>
          </a:p>
        </p:txBody>
      </p:sp>
      <p:sp>
        <p:nvSpPr>
          <p:cNvPr id="68" name="Shape 65"/>
          <p:cNvSpPr/>
          <p:nvPr/>
        </p:nvSpPr>
        <p:spPr>
          <a:xfrm>
            <a:off x="512064" y="4681728"/>
            <a:ext cx="2276856" cy="231343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562356" y="4754880"/>
            <a:ext cx="68580" cy="68580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658368" y="4714646"/>
            <a:ext cx="42062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400327</a:t>
            </a:r>
            <a:endParaRPr lang="en-US" sz="610" dirty="0"/>
          </a:p>
        </p:txBody>
      </p:sp>
      <p:sp>
        <p:nvSpPr>
          <p:cNvPr id="71" name="Text 68"/>
          <p:cNvSpPr/>
          <p:nvPr/>
        </p:nvSpPr>
        <p:spPr>
          <a:xfrm>
            <a:off x="1115568" y="4714646"/>
            <a:ext cx="9784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Ielts Practice Tests UK</a:t>
            </a:r>
            <a:endParaRPr lang="en-US" sz="610" dirty="0"/>
          </a:p>
        </p:txBody>
      </p:sp>
      <p:sp>
        <p:nvSpPr>
          <p:cNvPr id="72" name="Text 69"/>
          <p:cNvSpPr/>
          <p:nvPr/>
        </p:nvSpPr>
        <p:spPr>
          <a:xfrm>
            <a:off x="2112264" y="4714646"/>
            <a:ext cx="62179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9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590" dirty="0"/>
          </a:p>
        </p:txBody>
      </p:sp>
      <p:sp>
        <p:nvSpPr>
          <p:cNvPr id="73" name="Shape 70"/>
          <p:cNvSpPr/>
          <p:nvPr/>
        </p:nvSpPr>
        <p:spPr>
          <a:xfrm>
            <a:off x="2880360" y="1554480"/>
            <a:ext cx="2276856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2935224" y="1591056"/>
            <a:ext cx="2167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80" dirty="0"/>
          </a:p>
        </p:txBody>
      </p:sp>
      <p:sp>
        <p:nvSpPr>
          <p:cNvPr id="75" name="Shape 72"/>
          <p:cNvSpPr/>
          <p:nvPr/>
        </p:nvSpPr>
        <p:spPr>
          <a:xfrm>
            <a:off x="2880360" y="1773936"/>
            <a:ext cx="2276856" cy="231343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2930652" y="1847088"/>
            <a:ext cx="68580" cy="68580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3026664" y="1806854"/>
            <a:ext cx="42062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401455</a:t>
            </a:r>
            <a:endParaRPr lang="en-US" sz="610" dirty="0"/>
          </a:p>
        </p:txBody>
      </p:sp>
      <p:sp>
        <p:nvSpPr>
          <p:cNvPr id="78" name="Text 75"/>
          <p:cNvSpPr/>
          <p:nvPr/>
        </p:nvSpPr>
        <p:spPr>
          <a:xfrm>
            <a:off x="3483864" y="1806854"/>
            <a:ext cx="9784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Loans Warehouse</a:t>
            </a:r>
            <a:endParaRPr lang="en-US" sz="610" dirty="0"/>
          </a:p>
        </p:txBody>
      </p:sp>
      <p:sp>
        <p:nvSpPr>
          <p:cNvPr id="79" name="Text 76"/>
          <p:cNvSpPr/>
          <p:nvPr/>
        </p:nvSpPr>
        <p:spPr>
          <a:xfrm>
            <a:off x="4480560" y="1806854"/>
            <a:ext cx="62179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9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590" dirty="0"/>
          </a:p>
        </p:txBody>
      </p:sp>
      <p:sp>
        <p:nvSpPr>
          <p:cNvPr id="80" name="Shape 77"/>
          <p:cNvSpPr/>
          <p:nvPr/>
        </p:nvSpPr>
        <p:spPr>
          <a:xfrm>
            <a:off x="2880360" y="2016252"/>
            <a:ext cx="2276856" cy="231343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2930652" y="2089404"/>
            <a:ext cx="68580" cy="68580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82" name="Text 79"/>
          <p:cNvSpPr/>
          <p:nvPr/>
        </p:nvSpPr>
        <p:spPr>
          <a:xfrm>
            <a:off x="3026664" y="2049170"/>
            <a:ext cx="42062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398567</a:t>
            </a:r>
            <a:endParaRPr lang="en-US" sz="610" dirty="0"/>
          </a:p>
        </p:txBody>
      </p:sp>
      <p:sp>
        <p:nvSpPr>
          <p:cNvPr id="83" name="Text 80"/>
          <p:cNvSpPr/>
          <p:nvPr/>
        </p:nvSpPr>
        <p:spPr>
          <a:xfrm>
            <a:off x="3483864" y="2049170"/>
            <a:ext cx="9784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TikTok Shop UK</a:t>
            </a:r>
            <a:endParaRPr lang="en-US" sz="610" dirty="0"/>
          </a:p>
        </p:txBody>
      </p:sp>
      <p:sp>
        <p:nvSpPr>
          <p:cNvPr id="84" name="Text 81"/>
          <p:cNvSpPr/>
          <p:nvPr/>
        </p:nvSpPr>
        <p:spPr>
          <a:xfrm>
            <a:off x="4480560" y="2049170"/>
            <a:ext cx="62179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9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590" dirty="0"/>
          </a:p>
        </p:txBody>
      </p:sp>
      <p:sp>
        <p:nvSpPr>
          <p:cNvPr id="85" name="Shape 82"/>
          <p:cNvSpPr/>
          <p:nvPr/>
        </p:nvSpPr>
        <p:spPr>
          <a:xfrm>
            <a:off x="2880360" y="2258568"/>
            <a:ext cx="2276856" cy="231343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2930652" y="2331720"/>
            <a:ext cx="68580" cy="68580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87" name="Text 84"/>
          <p:cNvSpPr/>
          <p:nvPr/>
        </p:nvSpPr>
        <p:spPr>
          <a:xfrm>
            <a:off x="3026664" y="2291486"/>
            <a:ext cx="42062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398489</a:t>
            </a:r>
            <a:endParaRPr lang="en-US" sz="610" dirty="0"/>
          </a:p>
        </p:txBody>
      </p:sp>
      <p:sp>
        <p:nvSpPr>
          <p:cNvPr id="88" name="Text 85"/>
          <p:cNvSpPr/>
          <p:nvPr/>
        </p:nvSpPr>
        <p:spPr>
          <a:xfrm>
            <a:off x="3483864" y="2291486"/>
            <a:ext cx="9784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Deal for any occasion</a:t>
            </a:r>
            <a:endParaRPr lang="en-US" sz="610" dirty="0"/>
          </a:p>
        </p:txBody>
      </p:sp>
      <p:sp>
        <p:nvSpPr>
          <p:cNvPr id="89" name="Text 86"/>
          <p:cNvSpPr/>
          <p:nvPr/>
        </p:nvSpPr>
        <p:spPr>
          <a:xfrm>
            <a:off x="4480560" y="2291486"/>
            <a:ext cx="62179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9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590" dirty="0"/>
          </a:p>
        </p:txBody>
      </p:sp>
      <p:sp>
        <p:nvSpPr>
          <p:cNvPr id="90" name="Shape 87"/>
          <p:cNvSpPr/>
          <p:nvPr/>
        </p:nvSpPr>
        <p:spPr>
          <a:xfrm>
            <a:off x="2880360" y="2500884"/>
            <a:ext cx="2276856" cy="231343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>
            <a:off x="2930652" y="2574036"/>
            <a:ext cx="68580" cy="68580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92" name="Text 89"/>
          <p:cNvSpPr/>
          <p:nvPr/>
        </p:nvSpPr>
        <p:spPr>
          <a:xfrm>
            <a:off x="3026664" y="2533802"/>
            <a:ext cx="42062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398214</a:t>
            </a:r>
            <a:endParaRPr lang="en-US" sz="610" dirty="0"/>
          </a:p>
        </p:txBody>
      </p:sp>
      <p:sp>
        <p:nvSpPr>
          <p:cNvPr id="93" name="Text 90"/>
          <p:cNvSpPr/>
          <p:nvPr/>
        </p:nvSpPr>
        <p:spPr>
          <a:xfrm>
            <a:off x="3483864" y="2533802"/>
            <a:ext cx="9784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Abertay - MSc Engineering</a:t>
            </a:r>
            <a:endParaRPr lang="en-US" sz="610" dirty="0"/>
          </a:p>
        </p:txBody>
      </p:sp>
      <p:sp>
        <p:nvSpPr>
          <p:cNvPr id="94" name="Text 91"/>
          <p:cNvSpPr/>
          <p:nvPr/>
        </p:nvSpPr>
        <p:spPr>
          <a:xfrm>
            <a:off x="4480560" y="2533802"/>
            <a:ext cx="62179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9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590" dirty="0"/>
          </a:p>
        </p:txBody>
      </p:sp>
      <p:sp>
        <p:nvSpPr>
          <p:cNvPr id="95" name="Shape 92"/>
          <p:cNvSpPr/>
          <p:nvPr/>
        </p:nvSpPr>
        <p:spPr>
          <a:xfrm>
            <a:off x="2880360" y="2743200"/>
            <a:ext cx="2276856" cy="231343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6" name="Shape 93"/>
          <p:cNvSpPr/>
          <p:nvPr/>
        </p:nvSpPr>
        <p:spPr>
          <a:xfrm>
            <a:off x="2930652" y="2816352"/>
            <a:ext cx="68580" cy="68580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97" name="Text 94"/>
          <p:cNvSpPr/>
          <p:nvPr/>
        </p:nvSpPr>
        <p:spPr>
          <a:xfrm>
            <a:off x="3026664" y="2776118"/>
            <a:ext cx="42062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398471</a:t>
            </a:r>
            <a:endParaRPr lang="en-US" sz="610" dirty="0"/>
          </a:p>
        </p:txBody>
      </p:sp>
      <p:sp>
        <p:nvSpPr>
          <p:cNvPr id="98" name="Text 95"/>
          <p:cNvSpPr/>
          <p:nvPr/>
        </p:nvSpPr>
        <p:spPr>
          <a:xfrm>
            <a:off x="3483864" y="2776118"/>
            <a:ext cx="9784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Evelop Keys</a:t>
            </a:r>
            <a:endParaRPr lang="en-US" sz="610" dirty="0"/>
          </a:p>
        </p:txBody>
      </p:sp>
      <p:sp>
        <p:nvSpPr>
          <p:cNvPr id="99" name="Text 96"/>
          <p:cNvSpPr/>
          <p:nvPr/>
        </p:nvSpPr>
        <p:spPr>
          <a:xfrm>
            <a:off x="4480560" y="2776118"/>
            <a:ext cx="62179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9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590" dirty="0"/>
          </a:p>
        </p:txBody>
      </p:sp>
      <p:sp>
        <p:nvSpPr>
          <p:cNvPr id="100" name="Shape 97"/>
          <p:cNvSpPr/>
          <p:nvPr/>
        </p:nvSpPr>
        <p:spPr>
          <a:xfrm>
            <a:off x="2880360" y="2985516"/>
            <a:ext cx="2276856" cy="231343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01" name="Shape 98"/>
          <p:cNvSpPr/>
          <p:nvPr/>
        </p:nvSpPr>
        <p:spPr>
          <a:xfrm>
            <a:off x="2930652" y="3058668"/>
            <a:ext cx="68580" cy="68580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102" name="Text 99"/>
          <p:cNvSpPr/>
          <p:nvPr/>
        </p:nvSpPr>
        <p:spPr>
          <a:xfrm>
            <a:off x="3026664" y="3018434"/>
            <a:ext cx="42062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398213</a:t>
            </a:r>
            <a:endParaRPr lang="en-US" sz="610" dirty="0"/>
          </a:p>
        </p:txBody>
      </p:sp>
      <p:sp>
        <p:nvSpPr>
          <p:cNvPr id="103" name="Text 100"/>
          <p:cNvSpPr/>
          <p:nvPr/>
        </p:nvSpPr>
        <p:spPr>
          <a:xfrm>
            <a:off x="3483864" y="3018434"/>
            <a:ext cx="9784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Keele University - MA...</a:t>
            </a:r>
            <a:endParaRPr lang="en-US" sz="610" dirty="0"/>
          </a:p>
        </p:txBody>
      </p:sp>
      <p:sp>
        <p:nvSpPr>
          <p:cNvPr id="104" name="Text 101"/>
          <p:cNvSpPr/>
          <p:nvPr/>
        </p:nvSpPr>
        <p:spPr>
          <a:xfrm>
            <a:off x="4480560" y="3018434"/>
            <a:ext cx="62179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9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590" dirty="0"/>
          </a:p>
        </p:txBody>
      </p:sp>
      <p:sp>
        <p:nvSpPr>
          <p:cNvPr id="105" name="Shape 102"/>
          <p:cNvSpPr/>
          <p:nvPr/>
        </p:nvSpPr>
        <p:spPr>
          <a:xfrm>
            <a:off x="2880360" y="3227832"/>
            <a:ext cx="2276856" cy="231343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06" name="Shape 103"/>
          <p:cNvSpPr/>
          <p:nvPr/>
        </p:nvSpPr>
        <p:spPr>
          <a:xfrm>
            <a:off x="2930652" y="3300984"/>
            <a:ext cx="68580" cy="68580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07" name="Text 104"/>
          <p:cNvSpPr/>
          <p:nvPr/>
        </p:nvSpPr>
        <p:spPr>
          <a:xfrm>
            <a:off x="3026664" y="3260750"/>
            <a:ext cx="42062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398215</a:t>
            </a:r>
            <a:endParaRPr lang="en-US" sz="610" dirty="0"/>
          </a:p>
        </p:txBody>
      </p:sp>
      <p:sp>
        <p:nvSpPr>
          <p:cNvPr id="108" name="Text 105"/>
          <p:cNvSpPr/>
          <p:nvPr/>
        </p:nvSpPr>
        <p:spPr>
          <a:xfrm>
            <a:off x="3483864" y="3260750"/>
            <a:ext cx="9784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Queen Margarets...</a:t>
            </a:r>
            <a:endParaRPr lang="en-US" sz="610" dirty="0"/>
          </a:p>
        </p:txBody>
      </p:sp>
      <p:sp>
        <p:nvSpPr>
          <p:cNvPr id="109" name="Text 106"/>
          <p:cNvSpPr/>
          <p:nvPr/>
        </p:nvSpPr>
        <p:spPr>
          <a:xfrm>
            <a:off x="4480560" y="3260750"/>
            <a:ext cx="62179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9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590" dirty="0"/>
          </a:p>
        </p:txBody>
      </p:sp>
      <p:sp>
        <p:nvSpPr>
          <p:cNvPr id="110" name="Shape 107"/>
          <p:cNvSpPr/>
          <p:nvPr/>
        </p:nvSpPr>
        <p:spPr>
          <a:xfrm>
            <a:off x="2880360" y="3470148"/>
            <a:ext cx="2276856" cy="231343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1" name="Shape 108"/>
          <p:cNvSpPr/>
          <p:nvPr/>
        </p:nvSpPr>
        <p:spPr>
          <a:xfrm>
            <a:off x="2930652" y="3543300"/>
            <a:ext cx="68580" cy="68580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12" name="Text 109"/>
          <p:cNvSpPr/>
          <p:nvPr/>
        </p:nvSpPr>
        <p:spPr>
          <a:xfrm>
            <a:off x="3026664" y="3503066"/>
            <a:ext cx="42062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398212</a:t>
            </a:r>
            <a:endParaRPr lang="en-US" sz="610" dirty="0"/>
          </a:p>
        </p:txBody>
      </p:sp>
      <p:sp>
        <p:nvSpPr>
          <p:cNvPr id="113" name="Text 110"/>
          <p:cNvSpPr/>
          <p:nvPr/>
        </p:nvSpPr>
        <p:spPr>
          <a:xfrm>
            <a:off x="3483864" y="3503066"/>
            <a:ext cx="9784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Wolverhampton - MBA</a:t>
            </a:r>
            <a:endParaRPr lang="en-US" sz="610" dirty="0"/>
          </a:p>
        </p:txBody>
      </p:sp>
      <p:sp>
        <p:nvSpPr>
          <p:cNvPr id="114" name="Text 111"/>
          <p:cNvSpPr/>
          <p:nvPr/>
        </p:nvSpPr>
        <p:spPr>
          <a:xfrm>
            <a:off x="4480560" y="3503066"/>
            <a:ext cx="62179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9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590" dirty="0"/>
          </a:p>
        </p:txBody>
      </p:sp>
      <p:sp>
        <p:nvSpPr>
          <p:cNvPr id="115" name="Shape 112"/>
          <p:cNvSpPr/>
          <p:nvPr/>
        </p:nvSpPr>
        <p:spPr>
          <a:xfrm>
            <a:off x="2880360" y="3712464"/>
            <a:ext cx="2276856" cy="231343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6" name="Shape 113"/>
          <p:cNvSpPr/>
          <p:nvPr/>
        </p:nvSpPr>
        <p:spPr>
          <a:xfrm>
            <a:off x="2930652" y="3785616"/>
            <a:ext cx="68580" cy="68580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117" name="Text 114"/>
          <p:cNvSpPr/>
          <p:nvPr/>
        </p:nvSpPr>
        <p:spPr>
          <a:xfrm>
            <a:off x="3026664" y="3745382"/>
            <a:ext cx="42062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398205</a:t>
            </a:r>
            <a:endParaRPr lang="en-US" sz="610" dirty="0"/>
          </a:p>
        </p:txBody>
      </p:sp>
      <p:sp>
        <p:nvSpPr>
          <p:cNvPr id="118" name="Text 115"/>
          <p:cNvSpPr/>
          <p:nvPr/>
        </p:nvSpPr>
        <p:spPr>
          <a:xfrm>
            <a:off x="3483864" y="3745382"/>
            <a:ext cx="9784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Happy Hats</a:t>
            </a:r>
            <a:endParaRPr lang="en-US" sz="610" dirty="0"/>
          </a:p>
        </p:txBody>
      </p:sp>
      <p:sp>
        <p:nvSpPr>
          <p:cNvPr id="119" name="Text 116"/>
          <p:cNvSpPr/>
          <p:nvPr/>
        </p:nvSpPr>
        <p:spPr>
          <a:xfrm>
            <a:off x="4480560" y="3745382"/>
            <a:ext cx="62179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9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590" dirty="0"/>
          </a:p>
        </p:txBody>
      </p:sp>
      <p:sp>
        <p:nvSpPr>
          <p:cNvPr id="120" name="Shape 117"/>
          <p:cNvSpPr/>
          <p:nvPr/>
        </p:nvSpPr>
        <p:spPr>
          <a:xfrm>
            <a:off x="2880360" y="3954780"/>
            <a:ext cx="2276856" cy="231343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21" name="Shape 118"/>
          <p:cNvSpPr/>
          <p:nvPr/>
        </p:nvSpPr>
        <p:spPr>
          <a:xfrm>
            <a:off x="2930652" y="4027932"/>
            <a:ext cx="68580" cy="68580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122" name="Text 119"/>
          <p:cNvSpPr/>
          <p:nvPr/>
        </p:nvSpPr>
        <p:spPr>
          <a:xfrm>
            <a:off x="3026664" y="3987698"/>
            <a:ext cx="42062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398141</a:t>
            </a:r>
            <a:endParaRPr lang="en-US" sz="610" dirty="0"/>
          </a:p>
        </p:txBody>
      </p:sp>
      <p:sp>
        <p:nvSpPr>
          <p:cNvPr id="123" name="Text 120"/>
          <p:cNvSpPr/>
          <p:nvPr/>
        </p:nvSpPr>
        <p:spPr>
          <a:xfrm>
            <a:off x="3483864" y="3987698"/>
            <a:ext cx="9784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Devon Duvets</a:t>
            </a:r>
            <a:endParaRPr lang="en-US" sz="610" dirty="0"/>
          </a:p>
        </p:txBody>
      </p:sp>
      <p:sp>
        <p:nvSpPr>
          <p:cNvPr id="124" name="Text 121"/>
          <p:cNvSpPr/>
          <p:nvPr/>
        </p:nvSpPr>
        <p:spPr>
          <a:xfrm>
            <a:off x="4480560" y="3987698"/>
            <a:ext cx="62179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9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590" dirty="0"/>
          </a:p>
        </p:txBody>
      </p:sp>
      <p:sp>
        <p:nvSpPr>
          <p:cNvPr id="125" name="Shape 122"/>
          <p:cNvSpPr/>
          <p:nvPr/>
        </p:nvSpPr>
        <p:spPr>
          <a:xfrm>
            <a:off x="2880360" y="4197096"/>
            <a:ext cx="2276856" cy="231343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26" name="Shape 123"/>
          <p:cNvSpPr/>
          <p:nvPr/>
        </p:nvSpPr>
        <p:spPr>
          <a:xfrm>
            <a:off x="2930652" y="4270248"/>
            <a:ext cx="68580" cy="68580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127" name="Text 124"/>
          <p:cNvSpPr/>
          <p:nvPr/>
        </p:nvSpPr>
        <p:spPr>
          <a:xfrm>
            <a:off x="3026664" y="4230014"/>
            <a:ext cx="42062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397961</a:t>
            </a:r>
            <a:endParaRPr lang="en-US" sz="610" dirty="0"/>
          </a:p>
        </p:txBody>
      </p:sp>
      <p:sp>
        <p:nvSpPr>
          <p:cNvPr id="128" name="Text 125"/>
          <p:cNvSpPr/>
          <p:nvPr/>
        </p:nvSpPr>
        <p:spPr>
          <a:xfrm>
            <a:off x="3483864" y="4230014"/>
            <a:ext cx="9784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Fragrance Avenue</a:t>
            </a:r>
            <a:endParaRPr lang="en-US" sz="610" dirty="0"/>
          </a:p>
        </p:txBody>
      </p:sp>
      <p:sp>
        <p:nvSpPr>
          <p:cNvPr id="129" name="Text 126"/>
          <p:cNvSpPr/>
          <p:nvPr/>
        </p:nvSpPr>
        <p:spPr>
          <a:xfrm>
            <a:off x="4480560" y="4230014"/>
            <a:ext cx="62179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9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590" dirty="0"/>
          </a:p>
        </p:txBody>
      </p:sp>
      <p:sp>
        <p:nvSpPr>
          <p:cNvPr id="130" name="Shape 127"/>
          <p:cNvSpPr/>
          <p:nvPr/>
        </p:nvSpPr>
        <p:spPr>
          <a:xfrm>
            <a:off x="2880360" y="4439412"/>
            <a:ext cx="2276856" cy="231343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31" name="Shape 128"/>
          <p:cNvSpPr/>
          <p:nvPr/>
        </p:nvSpPr>
        <p:spPr>
          <a:xfrm>
            <a:off x="2930652" y="4512564"/>
            <a:ext cx="68580" cy="68580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132" name="Text 129"/>
          <p:cNvSpPr/>
          <p:nvPr/>
        </p:nvSpPr>
        <p:spPr>
          <a:xfrm>
            <a:off x="3026664" y="4472330"/>
            <a:ext cx="42062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397933</a:t>
            </a:r>
            <a:endParaRPr lang="en-US" sz="610" dirty="0"/>
          </a:p>
        </p:txBody>
      </p:sp>
      <p:sp>
        <p:nvSpPr>
          <p:cNvPr id="133" name="Text 130"/>
          <p:cNvSpPr/>
          <p:nvPr/>
        </p:nvSpPr>
        <p:spPr>
          <a:xfrm>
            <a:off x="3483864" y="4472330"/>
            <a:ext cx="9784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Hunger Games on Stage UK</a:t>
            </a:r>
            <a:endParaRPr lang="en-US" sz="610" dirty="0"/>
          </a:p>
        </p:txBody>
      </p:sp>
      <p:sp>
        <p:nvSpPr>
          <p:cNvPr id="134" name="Text 131"/>
          <p:cNvSpPr/>
          <p:nvPr/>
        </p:nvSpPr>
        <p:spPr>
          <a:xfrm>
            <a:off x="4480560" y="4472330"/>
            <a:ext cx="62179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9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590" dirty="0"/>
          </a:p>
        </p:txBody>
      </p:sp>
      <p:sp>
        <p:nvSpPr>
          <p:cNvPr id="135" name="Shape 132"/>
          <p:cNvSpPr/>
          <p:nvPr/>
        </p:nvSpPr>
        <p:spPr>
          <a:xfrm>
            <a:off x="2880360" y="4681728"/>
            <a:ext cx="2276856" cy="231343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36" name="Shape 133"/>
          <p:cNvSpPr/>
          <p:nvPr/>
        </p:nvSpPr>
        <p:spPr>
          <a:xfrm>
            <a:off x="2930652" y="4754880"/>
            <a:ext cx="68580" cy="68580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37" name="Text 134"/>
          <p:cNvSpPr/>
          <p:nvPr/>
        </p:nvSpPr>
        <p:spPr>
          <a:xfrm>
            <a:off x="3026664" y="4714646"/>
            <a:ext cx="42062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397866</a:t>
            </a:r>
            <a:endParaRPr lang="en-US" sz="610" dirty="0"/>
          </a:p>
        </p:txBody>
      </p:sp>
      <p:sp>
        <p:nvSpPr>
          <p:cNvPr id="138" name="Text 135"/>
          <p:cNvSpPr/>
          <p:nvPr/>
        </p:nvSpPr>
        <p:spPr>
          <a:xfrm>
            <a:off x="3483864" y="4714646"/>
            <a:ext cx="9784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York - MSc Computer...</a:t>
            </a:r>
            <a:endParaRPr lang="en-US" sz="610" dirty="0"/>
          </a:p>
        </p:txBody>
      </p:sp>
      <p:sp>
        <p:nvSpPr>
          <p:cNvPr id="139" name="Text 136"/>
          <p:cNvSpPr/>
          <p:nvPr/>
        </p:nvSpPr>
        <p:spPr>
          <a:xfrm>
            <a:off x="4480560" y="4714646"/>
            <a:ext cx="62179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9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590" dirty="0"/>
          </a:p>
        </p:txBody>
      </p:sp>
      <p:sp>
        <p:nvSpPr>
          <p:cNvPr id="140" name="Shape 137"/>
          <p:cNvSpPr/>
          <p:nvPr/>
        </p:nvSpPr>
        <p:spPr>
          <a:xfrm>
            <a:off x="5248656" y="1554480"/>
            <a:ext cx="2276856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141" name="Text 138"/>
          <p:cNvSpPr/>
          <p:nvPr/>
        </p:nvSpPr>
        <p:spPr>
          <a:xfrm>
            <a:off x="5303520" y="1591056"/>
            <a:ext cx="2167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80" dirty="0"/>
          </a:p>
        </p:txBody>
      </p:sp>
      <p:sp>
        <p:nvSpPr>
          <p:cNvPr id="142" name="Shape 139"/>
          <p:cNvSpPr/>
          <p:nvPr/>
        </p:nvSpPr>
        <p:spPr>
          <a:xfrm>
            <a:off x="5248656" y="1773936"/>
            <a:ext cx="2276856" cy="231343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43" name="Shape 140"/>
          <p:cNvSpPr/>
          <p:nvPr/>
        </p:nvSpPr>
        <p:spPr>
          <a:xfrm>
            <a:off x="5298948" y="1847088"/>
            <a:ext cx="68580" cy="68580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144" name="Text 141"/>
          <p:cNvSpPr/>
          <p:nvPr/>
        </p:nvSpPr>
        <p:spPr>
          <a:xfrm>
            <a:off x="5394960" y="1806854"/>
            <a:ext cx="42062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397780</a:t>
            </a:r>
            <a:endParaRPr lang="en-US" sz="610" dirty="0"/>
          </a:p>
        </p:txBody>
      </p:sp>
      <p:sp>
        <p:nvSpPr>
          <p:cNvPr id="145" name="Text 142"/>
          <p:cNvSpPr/>
          <p:nvPr/>
        </p:nvSpPr>
        <p:spPr>
          <a:xfrm>
            <a:off x="5852160" y="1806854"/>
            <a:ext cx="9784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Vegetable Garden</a:t>
            </a:r>
            <a:endParaRPr lang="en-US" sz="610" dirty="0"/>
          </a:p>
        </p:txBody>
      </p:sp>
      <p:sp>
        <p:nvSpPr>
          <p:cNvPr id="146" name="Text 143"/>
          <p:cNvSpPr/>
          <p:nvPr/>
        </p:nvSpPr>
        <p:spPr>
          <a:xfrm>
            <a:off x="6848856" y="1806854"/>
            <a:ext cx="62179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9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590" dirty="0"/>
          </a:p>
        </p:txBody>
      </p:sp>
      <p:sp>
        <p:nvSpPr>
          <p:cNvPr id="147" name="Shape 144"/>
          <p:cNvSpPr/>
          <p:nvPr/>
        </p:nvSpPr>
        <p:spPr>
          <a:xfrm>
            <a:off x="5248656" y="2016252"/>
            <a:ext cx="2276856" cy="231343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48" name="Shape 145"/>
          <p:cNvSpPr/>
          <p:nvPr/>
        </p:nvSpPr>
        <p:spPr>
          <a:xfrm>
            <a:off x="5298948" y="2089404"/>
            <a:ext cx="68580" cy="68580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149" name="Text 146"/>
          <p:cNvSpPr/>
          <p:nvPr/>
        </p:nvSpPr>
        <p:spPr>
          <a:xfrm>
            <a:off x="5394960" y="2049170"/>
            <a:ext cx="42062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397634</a:t>
            </a:r>
            <a:endParaRPr lang="en-US" sz="610" dirty="0"/>
          </a:p>
        </p:txBody>
      </p:sp>
      <p:sp>
        <p:nvSpPr>
          <p:cNvPr id="150" name="Text 147"/>
          <p:cNvSpPr/>
          <p:nvPr/>
        </p:nvSpPr>
        <p:spPr>
          <a:xfrm>
            <a:off x="5852160" y="2049170"/>
            <a:ext cx="9784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Simian Saboteur</a:t>
            </a:r>
            <a:endParaRPr lang="en-US" sz="610" dirty="0"/>
          </a:p>
        </p:txBody>
      </p:sp>
      <p:sp>
        <p:nvSpPr>
          <p:cNvPr id="151" name="Text 148"/>
          <p:cNvSpPr/>
          <p:nvPr/>
        </p:nvSpPr>
        <p:spPr>
          <a:xfrm>
            <a:off x="6848856" y="2049170"/>
            <a:ext cx="62179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9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590" dirty="0"/>
          </a:p>
        </p:txBody>
      </p:sp>
      <p:sp>
        <p:nvSpPr>
          <p:cNvPr id="152" name="Shape 149"/>
          <p:cNvSpPr/>
          <p:nvPr/>
        </p:nvSpPr>
        <p:spPr>
          <a:xfrm>
            <a:off x="5248656" y="2258568"/>
            <a:ext cx="2276856" cy="231343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53" name="Shape 150"/>
          <p:cNvSpPr/>
          <p:nvPr/>
        </p:nvSpPr>
        <p:spPr>
          <a:xfrm>
            <a:off x="5298948" y="2331720"/>
            <a:ext cx="68580" cy="68580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154" name="Text 151"/>
          <p:cNvSpPr/>
          <p:nvPr/>
        </p:nvSpPr>
        <p:spPr>
          <a:xfrm>
            <a:off x="5394960" y="2291486"/>
            <a:ext cx="42062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397596</a:t>
            </a:r>
            <a:endParaRPr lang="en-US" sz="610" dirty="0"/>
          </a:p>
        </p:txBody>
      </p:sp>
      <p:sp>
        <p:nvSpPr>
          <p:cNvPr id="155" name="Text 152"/>
          <p:cNvSpPr/>
          <p:nvPr/>
        </p:nvSpPr>
        <p:spPr>
          <a:xfrm>
            <a:off x="5852160" y="2291486"/>
            <a:ext cx="9784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Albert UK</a:t>
            </a:r>
            <a:endParaRPr lang="en-US" sz="610" dirty="0"/>
          </a:p>
        </p:txBody>
      </p:sp>
      <p:sp>
        <p:nvSpPr>
          <p:cNvPr id="156" name="Text 153"/>
          <p:cNvSpPr/>
          <p:nvPr/>
        </p:nvSpPr>
        <p:spPr>
          <a:xfrm>
            <a:off x="6848856" y="2291486"/>
            <a:ext cx="62179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9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590" dirty="0"/>
          </a:p>
        </p:txBody>
      </p:sp>
      <p:sp>
        <p:nvSpPr>
          <p:cNvPr id="157" name="Shape 154"/>
          <p:cNvSpPr/>
          <p:nvPr/>
        </p:nvSpPr>
        <p:spPr>
          <a:xfrm>
            <a:off x="5248656" y="2500884"/>
            <a:ext cx="2276856" cy="231343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58" name="Shape 155"/>
          <p:cNvSpPr/>
          <p:nvPr/>
        </p:nvSpPr>
        <p:spPr>
          <a:xfrm>
            <a:off x="5298948" y="2574036"/>
            <a:ext cx="68580" cy="68580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159" name="Text 156"/>
          <p:cNvSpPr/>
          <p:nvPr/>
        </p:nvSpPr>
        <p:spPr>
          <a:xfrm>
            <a:off x="5394960" y="2533802"/>
            <a:ext cx="42062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397509</a:t>
            </a:r>
            <a:endParaRPr lang="en-US" sz="610" dirty="0"/>
          </a:p>
        </p:txBody>
      </p:sp>
      <p:sp>
        <p:nvSpPr>
          <p:cNvPr id="160" name="Text 157"/>
          <p:cNvSpPr/>
          <p:nvPr/>
        </p:nvSpPr>
        <p:spPr>
          <a:xfrm>
            <a:off x="5852160" y="2533802"/>
            <a:ext cx="9784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Wash Doctors</a:t>
            </a:r>
            <a:endParaRPr lang="en-US" sz="610" dirty="0"/>
          </a:p>
        </p:txBody>
      </p:sp>
      <p:sp>
        <p:nvSpPr>
          <p:cNvPr id="161" name="Text 158"/>
          <p:cNvSpPr/>
          <p:nvPr/>
        </p:nvSpPr>
        <p:spPr>
          <a:xfrm>
            <a:off x="6848856" y="2533802"/>
            <a:ext cx="62179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9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590" dirty="0"/>
          </a:p>
        </p:txBody>
      </p:sp>
      <p:sp>
        <p:nvSpPr>
          <p:cNvPr id="162" name="Shape 159"/>
          <p:cNvSpPr/>
          <p:nvPr/>
        </p:nvSpPr>
        <p:spPr>
          <a:xfrm>
            <a:off x="5248656" y="2743200"/>
            <a:ext cx="2276856" cy="231343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63" name="Shape 160"/>
          <p:cNvSpPr/>
          <p:nvPr/>
        </p:nvSpPr>
        <p:spPr>
          <a:xfrm>
            <a:off x="5298948" y="2816352"/>
            <a:ext cx="68580" cy="68580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64" name="Text 161"/>
          <p:cNvSpPr/>
          <p:nvPr/>
        </p:nvSpPr>
        <p:spPr>
          <a:xfrm>
            <a:off x="5394960" y="2776118"/>
            <a:ext cx="42062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397005</a:t>
            </a:r>
            <a:endParaRPr lang="en-US" sz="610" dirty="0"/>
          </a:p>
        </p:txBody>
      </p:sp>
      <p:sp>
        <p:nvSpPr>
          <p:cNvPr id="165" name="Text 162"/>
          <p:cNvSpPr/>
          <p:nvPr/>
        </p:nvSpPr>
        <p:spPr>
          <a:xfrm>
            <a:off x="5852160" y="2776118"/>
            <a:ext cx="9784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Six The Musical London UK</a:t>
            </a:r>
            <a:endParaRPr lang="en-US" sz="610" dirty="0"/>
          </a:p>
        </p:txBody>
      </p:sp>
      <p:sp>
        <p:nvSpPr>
          <p:cNvPr id="166" name="Text 163"/>
          <p:cNvSpPr/>
          <p:nvPr/>
        </p:nvSpPr>
        <p:spPr>
          <a:xfrm>
            <a:off x="6848856" y="2776118"/>
            <a:ext cx="62179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9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590" dirty="0"/>
          </a:p>
        </p:txBody>
      </p:sp>
      <p:sp>
        <p:nvSpPr>
          <p:cNvPr id="167" name="Shape 164"/>
          <p:cNvSpPr/>
          <p:nvPr/>
        </p:nvSpPr>
        <p:spPr>
          <a:xfrm>
            <a:off x="5248656" y="2985516"/>
            <a:ext cx="2276856" cy="231343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68" name="Shape 165"/>
          <p:cNvSpPr/>
          <p:nvPr/>
        </p:nvSpPr>
        <p:spPr>
          <a:xfrm>
            <a:off x="5298948" y="3058668"/>
            <a:ext cx="68580" cy="68580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169" name="Text 166"/>
          <p:cNvSpPr/>
          <p:nvPr/>
        </p:nvSpPr>
        <p:spPr>
          <a:xfrm>
            <a:off x="5394960" y="3018434"/>
            <a:ext cx="42062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396971</a:t>
            </a:r>
            <a:endParaRPr lang="en-US" sz="610" dirty="0"/>
          </a:p>
        </p:txBody>
      </p:sp>
      <p:sp>
        <p:nvSpPr>
          <p:cNvPr id="170" name="Text 167"/>
          <p:cNvSpPr/>
          <p:nvPr/>
        </p:nvSpPr>
        <p:spPr>
          <a:xfrm>
            <a:off x="5852160" y="3018434"/>
            <a:ext cx="9784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Don't buy her flowers</a:t>
            </a:r>
            <a:endParaRPr lang="en-US" sz="610" dirty="0"/>
          </a:p>
        </p:txBody>
      </p:sp>
      <p:sp>
        <p:nvSpPr>
          <p:cNvPr id="171" name="Text 168"/>
          <p:cNvSpPr/>
          <p:nvPr/>
        </p:nvSpPr>
        <p:spPr>
          <a:xfrm>
            <a:off x="6848856" y="3018434"/>
            <a:ext cx="62179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9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590" dirty="0"/>
          </a:p>
        </p:txBody>
      </p:sp>
      <p:sp>
        <p:nvSpPr>
          <p:cNvPr id="172" name="Shape 169"/>
          <p:cNvSpPr/>
          <p:nvPr/>
        </p:nvSpPr>
        <p:spPr>
          <a:xfrm>
            <a:off x="5248656" y="3227832"/>
            <a:ext cx="2276856" cy="231343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73" name="Shape 170"/>
          <p:cNvSpPr/>
          <p:nvPr/>
        </p:nvSpPr>
        <p:spPr>
          <a:xfrm>
            <a:off x="5298948" y="3300984"/>
            <a:ext cx="68580" cy="68580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174" name="Text 171"/>
          <p:cNvSpPr/>
          <p:nvPr/>
        </p:nvSpPr>
        <p:spPr>
          <a:xfrm>
            <a:off x="5394960" y="3260750"/>
            <a:ext cx="42062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396847</a:t>
            </a:r>
            <a:endParaRPr lang="en-US" sz="610" dirty="0"/>
          </a:p>
        </p:txBody>
      </p:sp>
      <p:sp>
        <p:nvSpPr>
          <p:cNvPr id="175" name="Text 172"/>
          <p:cNvSpPr/>
          <p:nvPr/>
        </p:nvSpPr>
        <p:spPr>
          <a:xfrm>
            <a:off x="5852160" y="3260750"/>
            <a:ext cx="9784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Merach</a:t>
            </a:r>
            <a:endParaRPr lang="en-US" sz="610" dirty="0"/>
          </a:p>
        </p:txBody>
      </p:sp>
      <p:sp>
        <p:nvSpPr>
          <p:cNvPr id="176" name="Text 173"/>
          <p:cNvSpPr/>
          <p:nvPr/>
        </p:nvSpPr>
        <p:spPr>
          <a:xfrm>
            <a:off x="6848856" y="3260750"/>
            <a:ext cx="62179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9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590" dirty="0"/>
          </a:p>
        </p:txBody>
      </p:sp>
      <p:sp>
        <p:nvSpPr>
          <p:cNvPr id="177" name="Shape 174"/>
          <p:cNvSpPr/>
          <p:nvPr/>
        </p:nvSpPr>
        <p:spPr>
          <a:xfrm>
            <a:off x="5248656" y="3470148"/>
            <a:ext cx="2276856" cy="231343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78" name="Shape 175"/>
          <p:cNvSpPr/>
          <p:nvPr/>
        </p:nvSpPr>
        <p:spPr>
          <a:xfrm>
            <a:off x="5298948" y="3543300"/>
            <a:ext cx="68580" cy="68580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179" name="Text 176"/>
          <p:cNvSpPr/>
          <p:nvPr/>
        </p:nvSpPr>
        <p:spPr>
          <a:xfrm>
            <a:off x="5394960" y="3503066"/>
            <a:ext cx="42062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396777</a:t>
            </a:r>
            <a:endParaRPr lang="en-US" sz="610" dirty="0"/>
          </a:p>
        </p:txBody>
      </p:sp>
      <p:sp>
        <p:nvSpPr>
          <p:cNvPr id="180" name="Text 177"/>
          <p:cNvSpPr/>
          <p:nvPr/>
        </p:nvSpPr>
        <p:spPr>
          <a:xfrm>
            <a:off x="5852160" y="3503066"/>
            <a:ext cx="9784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Edit Boutique</a:t>
            </a:r>
            <a:endParaRPr lang="en-US" sz="610" dirty="0"/>
          </a:p>
        </p:txBody>
      </p:sp>
      <p:sp>
        <p:nvSpPr>
          <p:cNvPr id="181" name="Text 178"/>
          <p:cNvSpPr/>
          <p:nvPr/>
        </p:nvSpPr>
        <p:spPr>
          <a:xfrm>
            <a:off x="6848856" y="3503066"/>
            <a:ext cx="62179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9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590" dirty="0"/>
          </a:p>
        </p:txBody>
      </p:sp>
      <p:sp>
        <p:nvSpPr>
          <p:cNvPr id="182" name="Shape 179"/>
          <p:cNvSpPr/>
          <p:nvPr/>
        </p:nvSpPr>
        <p:spPr>
          <a:xfrm>
            <a:off x="5248656" y="3712464"/>
            <a:ext cx="2276856" cy="231343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83" name="Shape 180"/>
          <p:cNvSpPr/>
          <p:nvPr/>
        </p:nvSpPr>
        <p:spPr>
          <a:xfrm>
            <a:off x="5298948" y="3785616"/>
            <a:ext cx="68580" cy="68580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184" name="Text 181"/>
          <p:cNvSpPr/>
          <p:nvPr/>
        </p:nvSpPr>
        <p:spPr>
          <a:xfrm>
            <a:off x="5394960" y="3745382"/>
            <a:ext cx="42062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396610</a:t>
            </a:r>
            <a:endParaRPr lang="en-US" sz="610" dirty="0"/>
          </a:p>
        </p:txBody>
      </p:sp>
      <p:sp>
        <p:nvSpPr>
          <p:cNvPr id="185" name="Text 182"/>
          <p:cNvSpPr/>
          <p:nvPr/>
        </p:nvSpPr>
        <p:spPr>
          <a:xfrm>
            <a:off x="5852160" y="3745382"/>
            <a:ext cx="9784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Book of Mormon London (UK)</a:t>
            </a:r>
            <a:endParaRPr lang="en-US" sz="610" dirty="0"/>
          </a:p>
        </p:txBody>
      </p:sp>
      <p:sp>
        <p:nvSpPr>
          <p:cNvPr id="186" name="Text 183"/>
          <p:cNvSpPr/>
          <p:nvPr/>
        </p:nvSpPr>
        <p:spPr>
          <a:xfrm>
            <a:off x="6848856" y="3745382"/>
            <a:ext cx="62179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9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590" dirty="0"/>
          </a:p>
        </p:txBody>
      </p:sp>
      <p:sp>
        <p:nvSpPr>
          <p:cNvPr id="187" name="Shape 184"/>
          <p:cNvSpPr/>
          <p:nvPr/>
        </p:nvSpPr>
        <p:spPr>
          <a:xfrm>
            <a:off x="5248656" y="3954780"/>
            <a:ext cx="2276856" cy="231343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88" name="Shape 185"/>
          <p:cNvSpPr/>
          <p:nvPr/>
        </p:nvSpPr>
        <p:spPr>
          <a:xfrm>
            <a:off x="5298948" y="4027932"/>
            <a:ext cx="68580" cy="68580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189" name="Text 186"/>
          <p:cNvSpPr/>
          <p:nvPr/>
        </p:nvSpPr>
        <p:spPr>
          <a:xfrm>
            <a:off x="5394960" y="3987698"/>
            <a:ext cx="42062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396514</a:t>
            </a:r>
            <a:endParaRPr lang="en-US" sz="610" dirty="0"/>
          </a:p>
        </p:txBody>
      </p:sp>
      <p:sp>
        <p:nvSpPr>
          <p:cNvPr id="190" name="Text 187"/>
          <p:cNvSpPr/>
          <p:nvPr/>
        </p:nvSpPr>
        <p:spPr>
          <a:xfrm>
            <a:off x="5852160" y="3987698"/>
            <a:ext cx="9784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Downtown</a:t>
            </a:r>
            <a:endParaRPr lang="en-US" sz="610" dirty="0"/>
          </a:p>
        </p:txBody>
      </p:sp>
      <p:sp>
        <p:nvSpPr>
          <p:cNvPr id="191" name="Text 188"/>
          <p:cNvSpPr/>
          <p:nvPr/>
        </p:nvSpPr>
        <p:spPr>
          <a:xfrm>
            <a:off x="6848856" y="3987698"/>
            <a:ext cx="62179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9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590" dirty="0"/>
          </a:p>
        </p:txBody>
      </p:sp>
      <p:sp>
        <p:nvSpPr>
          <p:cNvPr id="192" name="Shape 189"/>
          <p:cNvSpPr/>
          <p:nvPr/>
        </p:nvSpPr>
        <p:spPr>
          <a:xfrm>
            <a:off x="5248656" y="4197096"/>
            <a:ext cx="2276856" cy="231343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93" name="Shape 190"/>
          <p:cNvSpPr/>
          <p:nvPr/>
        </p:nvSpPr>
        <p:spPr>
          <a:xfrm>
            <a:off x="5298948" y="4270248"/>
            <a:ext cx="68580" cy="68580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194" name="Text 191"/>
          <p:cNvSpPr/>
          <p:nvPr/>
        </p:nvSpPr>
        <p:spPr>
          <a:xfrm>
            <a:off x="5394960" y="4230014"/>
            <a:ext cx="42062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396252</a:t>
            </a:r>
            <a:endParaRPr lang="en-US" sz="610" dirty="0"/>
          </a:p>
        </p:txBody>
      </p:sp>
      <p:sp>
        <p:nvSpPr>
          <p:cNvPr id="195" name="Text 192"/>
          <p:cNvSpPr/>
          <p:nvPr/>
        </p:nvSpPr>
        <p:spPr>
          <a:xfrm>
            <a:off x="5852160" y="4230014"/>
            <a:ext cx="9784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Getaways</a:t>
            </a:r>
            <a:endParaRPr lang="en-US" sz="610" dirty="0"/>
          </a:p>
        </p:txBody>
      </p:sp>
      <p:sp>
        <p:nvSpPr>
          <p:cNvPr id="196" name="Text 193"/>
          <p:cNvSpPr/>
          <p:nvPr/>
        </p:nvSpPr>
        <p:spPr>
          <a:xfrm>
            <a:off x="6848856" y="4230014"/>
            <a:ext cx="62179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9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590" dirty="0"/>
          </a:p>
        </p:txBody>
      </p:sp>
      <p:sp>
        <p:nvSpPr>
          <p:cNvPr id="197" name="Shape 194"/>
          <p:cNvSpPr/>
          <p:nvPr/>
        </p:nvSpPr>
        <p:spPr>
          <a:xfrm>
            <a:off x="5248656" y="4439412"/>
            <a:ext cx="2276856" cy="231343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98" name="Shape 195"/>
          <p:cNvSpPr/>
          <p:nvPr/>
        </p:nvSpPr>
        <p:spPr>
          <a:xfrm>
            <a:off x="5298948" y="4512564"/>
            <a:ext cx="68580" cy="68580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199" name="Text 196"/>
          <p:cNvSpPr/>
          <p:nvPr/>
        </p:nvSpPr>
        <p:spPr>
          <a:xfrm>
            <a:off x="5394960" y="4472330"/>
            <a:ext cx="42062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396079</a:t>
            </a:r>
            <a:endParaRPr lang="en-US" sz="610" dirty="0"/>
          </a:p>
        </p:txBody>
      </p:sp>
      <p:sp>
        <p:nvSpPr>
          <p:cNvPr id="200" name="Text 197"/>
          <p:cNvSpPr/>
          <p:nvPr/>
        </p:nvSpPr>
        <p:spPr>
          <a:xfrm>
            <a:off x="5852160" y="4472330"/>
            <a:ext cx="9784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 Heat UK - Gold Plan</a:t>
            </a:r>
            <a:endParaRPr lang="en-US" sz="610" dirty="0"/>
          </a:p>
        </p:txBody>
      </p:sp>
      <p:sp>
        <p:nvSpPr>
          <p:cNvPr id="201" name="Text 198"/>
          <p:cNvSpPr/>
          <p:nvPr/>
        </p:nvSpPr>
        <p:spPr>
          <a:xfrm>
            <a:off x="6848856" y="4472330"/>
            <a:ext cx="62179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9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590" dirty="0"/>
          </a:p>
        </p:txBody>
      </p:sp>
      <p:sp>
        <p:nvSpPr>
          <p:cNvPr id="202" name="Shape 199"/>
          <p:cNvSpPr/>
          <p:nvPr/>
        </p:nvSpPr>
        <p:spPr>
          <a:xfrm>
            <a:off x="5248656" y="4681728"/>
            <a:ext cx="2276856" cy="231343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03" name="Shape 200"/>
          <p:cNvSpPr/>
          <p:nvPr/>
        </p:nvSpPr>
        <p:spPr>
          <a:xfrm>
            <a:off x="5298948" y="4754880"/>
            <a:ext cx="68580" cy="68580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204" name="Text 201"/>
          <p:cNvSpPr/>
          <p:nvPr/>
        </p:nvSpPr>
        <p:spPr>
          <a:xfrm>
            <a:off x="5394960" y="4714646"/>
            <a:ext cx="42062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395381</a:t>
            </a:r>
            <a:endParaRPr lang="en-US" sz="610" dirty="0"/>
          </a:p>
        </p:txBody>
      </p:sp>
      <p:sp>
        <p:nvSpPr>
          <p:cNvPr id="205" name="Text 202"/>
          <p:cNvSpPr/>
          <p:nvPr/>
        </p:nvSpPr>
        <p:spPr>
          <a:xfrm>
            <a:off x="5852160" y="4714646"/>
            <a:ext cx="9784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Tidy Holidays</a:t>
            </a:r>
            <a:endParaRPr lang="en-US" sz="610" dirty="0"/>
          </a:p>
        </p:txBody>
      </p:sp>
      <p:sp>
        <p:nvSpPr>
          <p:cNvPr id="206" name="Text 203"/>
          <p:cNvSpPr/>
          <p:nvPr/>
        </p:nvSpPr>
        <p:spPr>
          <a:xfrm>
            <a:off x="6848856" y="4714646"/>
            <a:ext cx="62179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9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590" dirty="0"/>
          </a:p>
        </p:txBody>
      </p:sp>
      <p:sp>
        <p:nvSpPr>
          <p:cNvPr id="207" name="Shape 204"/>
          <p:cNvSpPr/>
          <p:nvPr/>
        </p:nvSpPr>
        <p:spPr>
          <a:xfrm>
            <a:off x="7616952" y="1554480"/>
            <a:ext cx="2276856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208" name="Text 205"/>
          <p:cNvSpPr/>
          <p:nvPr/>
        </p:nvSpPr>
        <p:spPr>
          <a:xfrm>
            <a:off x="7671816" y="1591056"/>
            <a:ext cx="2167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80" dirty="0"/>
          </a:p>
        </p:txBody>
      </p:sp>
      <p:sp>
        <p:nvSpPr>
          <p:cNvPr id="209" name="Shape 206"/>
          <p:cNvSpPr/>
          <p:nvPr/>
        </p:nvSpPr>
        <p:spPr>
          <a:xfrm>
            <a:off x="7616952" y="1773936"/>
            <a:ext cx="2276856" cy="231343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10" name="Shape 207"/>
          <p:cNvSpPr/>
          <p:nvPr/>
        </p:nvSpPr>
        <p:spPr>
          <a:xfrm>
            <a:off x="7667244" y="1847088"/>
            <a:ext cx="68580" cy="68580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211" name="Text 208"/>
          <p:cNvSpPr/>
          <p:nvPr/>
        </p:nvSpPr>
        <p:spPr>
          <a:xfrm>
            <a:off x="7763256" y="1806854"/>
            <a:ext cx="42062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394426</a:t>
            </a:r>
            <a:endParaRPr lang="en-US" sz="610" dirty="0"/>
          </a:p>
        </p:txBody>
      </p:sp>
      <p:sp>
        <p:nvSpPr>
          <p:cNvPr id="212" name="Text 209"/>
          <p:cNvSpPr/>
          <p:nvPr/>
        </p:nvSpPr>
        <p:spPr>
          <a:xfrm>
            <a:off x="8220456" y="1806854"/>
            <a:ext cx="9784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Sleepy Piglet</a:t>
            </a:r>
            <a:endParaRPr lang="en-US" sz="610" dirty="0"/>
          </a:p>
        </p:txBody>
      </p:sp>
      <p:sp>
        <p:nvSpPr>
          <p:cNvPr id="213" name="Text 210"/>
          <p:cNvSpPr/>
          <p:nvPr/>
        </p:nvSpPr>
        <p:spPr>
          <a:xfrm>
            <a:off x="9217152" y="1806854"/>
            <a:ext cx="62179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9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590" dirty="0"/>
          </a:p>
        </p:txBody>
      </p:sp>
      <p:sp>
        <p:nvSpPr>
          <p:cNvPr id="214" name="Shape 211"/>
          <p:cNvSpPr/>
          <p:nvPr/>
        </p:nvSpPr>
        <p:spPr>
          <a:xfrm>
            <a:off x="7616952" y="2016252"/>
            <a:ext cx="2276856" cy="231343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15" name="Shape 212"/>
          <p:cNvSpPr/>
          <p:nvPr/>
        </p:nvSpPr>
        <p:spPr>
          <a:xfrm>
            <a:off x="7667244" y="2089404"/>
            <a:ext cx="68580" cy="68580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216" name="Text 213"/>
          <p:cNvSpPr/>
          <p:nvPr/>
        </p:nvSpPr>
        <p:spPr>
          <a:xfrm>
            <a:off x="7763256" y="2049170"/>
            <a:ext cx="42062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394437</a:t>
            </a:r>
            <a:endParaRPr lang="en-US" sz="610" dirty="0"/>
          </a:p>
        </p:txBody>
      </p:sp>
      <p:sp>
        <p:nvSpPr>
          <p:cNvPr id="217" name="Text 214"/>
          <p:cNvSpPr/>
          <p:nvPr/>
        </p:nvSpPr>
        <p:spPr>
          <a:xfrm>
            <a:off x="8220456" y="2049170"/>
            <a:ext cx="9784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Softzone UK</a:t>
            </a:r>
            <a:endParaRPr lang="en-US" sz="610" dirty="0"/>
          </a:p>
        </p:txBody>
      </p:sp>
      <p:sp>
        <p:nvSpPr>
          <p:cNvPr id="218" name="Text 215"/>
          <p:cNvSpPr/>
          <p:nvPr/>
        </p:nvSpPr>
        <p:spPr>
          <a:xfrm>
            <a:off x="9217152" y="2049170"/>
            <a:ext cx="62179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9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590" dirty="0"/>
          </a:p>
        </p:txBody>
      </p:sp>
      <p:sp>
        <p:nvSpPr>
          <p:cNvPr id="219" name="Shape 216"/>
          <p:cNvSpPr/>
          <p:nvPr/>
        </p:nvSpPr>
        <p:spPr>
          <a:xfrm>
            <a:off x="7616952" y="2258568"/>
            <a:ext cx="2276856" cy="231343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20" name="Shape 217"/>
          <p:cNvSpPr/>
          <p:nvPr/>
        </p:nvSpPr>
        <p:spPr>
          <a:xfrm>
            <a:off x="7667244" y="2331720"/>
            <a:ext cx="68580" cy="68580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221" name="Text 218"/>
          <p:cNvSpPr/>
          <p:nvPr/>
        </p:nvSpPr>
        <p:spPr>
          <a:xfrm>
            <a:off x="7763256" y="2291486"/>
            <a:ext cx="42062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394402</a:t>
            </a:r>
            <a:endParaRPr lang="en-US" sz="610" dirty="0"/>
          </a:p>
        </p:txBody>
      </p:sp>
      <p:sp>
        <p:nvSpPr>
          <p:cNvPr id="222" name="Text 219"/>
          <p:cNvSpPr/>
          <p:nvPr/>
        </p:nvSpPr>
        <p:spPr>
          <a:xfrm>
            <a:off x="8220456" y="2291486"/>
            <a:ext cx="9784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Armani Beauty UK</a:t>
            </a:r>
            <a:endParaRPr lang="en-US" sz="610" dirty="0"/>
          </a:p>
        </p:txBody>
      </p:sp>
      <p:sp>
        <p:nvSpPr>
          <p:cNvPr id="223" name="Text 220"/>
          <p:cNvSpPr/>
          <p:nvPr/>
        </p:nvSpPr>
        <p:spPr>
          <a:xfrm>
            <a:off x="9217152" y="2291486"/>
            <a:ext cx="62179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9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590" dirty="0"/>
          </a:p>
        </p:txBody>
      </p:sp>
      <p:sp>
        <p:nvSpPr>
          <p:cNvPr id="224" name="Shape 221"/>
          <p:cNvSpPr/>
          <p:nvPr/>
        </p:nvSpPr>
        <p:spPr>
          <a:xfrm>
            <a:off x="7616952" y="2500884"/>
            <a:ext cx="2276856" cy="231343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25" name="Shape 222"/>
          <p:cNvSpPr/>
          <p:nvPr/>
        </p:nvSpPr>
        <p:spPr>
          <a:xfrm>
            <a:off x="7667244" y="2574036"/>
            <a:ext cx="68580" cy="68580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226" name="Text 223"/>
          <p:cNvSpPr/>
          <p:nvPr/>
        </p:nvSpPr>
        <p:spPr>
          <a:xfrm>
            <a:off x="7763256" y="2533802"/>
            <a:ext cx="42062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394412</a:t>
            </a:r>
            <a:endParaRPr lang="en-US" sz="610" dirty="0"/>
          </a:p>
        </p:txBody>
      </p:sp>
      <p:sp>
        <p:nvSpPr>
          <p:cNvPr id="227" name="Text 224"/>
          <p:cNvSpPr/>
          <p:nvPr/>
        </p:nvSpPr>
        <p:spPr>
          <a:xfrm>
            <a:off x="8220456" y="2533802"/>
            <a:ext cx="9784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Helena Rubinstein UK</a:t>
            </a:r>
            <a:endParaRPr lang="en-US" sz="610" dirty="0"/>
          </a:p>
        </p:txBody>
      </p:sp>
      <p:sp>
        <p:nvSpPr>
          <p:cNvPr id="228" name="Text 225"/>
          <p:cNvSpPr/>
          <p:nvPr/>
        </p:nvSpPr>
        <p:spPr>
          <a:xfrm>
            <a:off x="9217152" y="2533802"/>
            <a:ext cx="62179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9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590" dirty="0"/>
          </a:p>
        </p:txBody>
      </p:sp>
      <p:sp>
        <p:nvSpPr>
          <p:cNvPr id="229" name="Shape 226"/>
          <p:cNvSpPr/>
          <p:nvPr/>
        </p:nvSpPr>
        <p:spPr>
          <a:xfrm>
            <a:off x="7616952" y="2743200"/>
            <a:ext cx="2276856" cy="231343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30" name="Shape 227"/>
          <p:cNvSpPr/>
          <p:nvPr/>
        </p:nvSpPr>
        <p:spPr>
          <a:xfrm>
            <a:off x="7667244" y="2816352"/>
            <a:ext cx="68580" cy="68580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231" name="Text 228"/>
          <p:cNvSpPr/>
          <p:nvPr/>
        </p:nvSpPr>
        <p:spPr>
          <a:xfrm>
            <a:off x="7763256" y="2776118"/>
            <a:ext cx="42062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394407</a:t>
            </a:r>
            <a:endParaRPr lang="en-US" sz="610" dirty="0"/>
          </a:p>
        </p:txBody>
      </p:sp>
      <p:sp>
        <p:nvSpPr>
          <p:cNvPr id="232" name="Text 229"/>
          <p:cNvSpPr/>
          <p:nvPr/>
        </p:nvSpPr>
        <p:spPr>
          <a:xfrm>
            <a:off x="8220456" y="2776118"/>
            <a:ext cx="9784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YSL Beauty UK</a:t>
            </a:r>
            <a:endParaRPr lang="en-US" sz="610" dirty="0"/>
          </a:p>
        </p:txBody>
      </p:sp>
      <p:sp>
        <p:nvSpPr>
          <p:cNvPr id="233" name="Text 230"/>
          <p:cNvSpPr/>
          <p:nvPr/>
        </p:nvSpPr>
        <p:spPr>
          <a:xfrm>
            <a:off x="9217152" y="2776118"/>
            <a:ext cx="62179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9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590" dirty="0"/>
          </a:p>
        </p:txBody>
      </p:sp>
      <p:sp>
        <p:nvSpPr>
          <p:cNvPr id="234" name="Shape 231"/>
          <p:cNvSpPr/>
          <p:nvPr/>
        </p:nvSpPr>
        <p:spPr>
          <a:xfrm>
            <a:off x="7616952" y="2985516"/>
            <a:ext cx="2276856" cy="231343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35" name="Shape 232"/>
          <p:cNvSpPr/>
          <p:nvPr/>
        </p:nvSpPr>
        <p:spPr>
          <a:xfrm>
            <a:off x="7667244" y="3058668"/>
            <a:ext cx="68580" cy="68580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236" name="Text 233"/>
          <p:cNvSpPr/>
          <p:nvPr/>
        </p:nvSpPr>
        <p:spPr>
          <a:xfrm>
            <a:off x="7763256" y="3018434"/>
            <a:ext cx="42062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394373</a:t>
            </a:r>
            <a:endParaRPr lang="en-US" sz="610" dirty="0"/>
          </a:p>
        </p:txBody>
      </p:sp>
      <p:sp>
        <p:nvSpPr>
          <p:cNvPr id="237" name="Text 234"/>
          <p:cNvSpPr/>
          <p:nvPr/>
        </p:nvSpPr>
        <p:spPr>
          <a:xfrm>
            <a:off x="8220456" y="3018434"/>
            <a:ext cx="9784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Woodfire Limited</a:t>
            </a:r>
            <a:endParaRPr lang="en-US" sz="610" dirty="0"/>
          </a:p>
        </p:txBody>
      </p:sp>
      <p:sp>
        <p:nvSpPr>
          <p:cNvPr id="238" name="Text 235"/>
          <p:cNvSpPr/>
          <p:nvPr/>
        </p:nvSpPr>
        <p:spPr>
          <a:xfrm>
            <a:off x="9217152" y="3018434"/>
            <a:ext cx="62179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9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590" dirty="0"/>
          </a:p>
        </p:txBody>
      </p:sp>
      <p:sp>
        <p:nvSpPr>
          <p:cNvPr id="239" name="Shape 236"/>
          <p:cNvSpPr/>
          <p:nvPr/>
        </p:nvSpPr>
        <p:spPr>
          <a:xfrm>
            <a:off x="7616952" y="3227832"/>
            <a:ext cx="2276856" cy="231343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40" name="Shape 237"/>
          <p:cNvSpPr/>
          <p:nvPr/>
        </p:nvSpPr>
        <p:spPr>
          <a:xfrm>
            <a:off x="7667244" y="3300984"/>
            <a:ext cx="68580" cy="68580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241" name="Text 238"/>
          <p:cNvSpPr/>
          <p:nvPr/>
        </p:nvSpPr>
        <p:spPr>
          <a:xfrm>
            <a:off x="7763256" y="3260750"/>
            <a:ext cx="42062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394325</a:t>
            </a:r>
            <a:endParaRPr lang="en-US" sz="610" dirty="0"/>
          </a:p>
        </p:txBody>
      </p:sp>
      <p:sp>
        <p:nvSpPr>
          <p:cNvPr id="242" name="Text 239"/>
          <p:cNvSpPr/>
          <p:nvPr/>
        </p:nvSpPr>
        <p:spPr>
          <a:xfrm>
            <a:off x="8220456" y="3260750"/>
            <a:ext cx="9784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Ethiopian Airlines UK</a:t>
            </a:r>
            <a:endParaRPr lang="en-US" sz="610" dirty="0"/>
          </a:p>
        </p:txBody>
      </p:sp>
      <p:sp>
        <p:nvSpPr>
          <p:cNvPr id="243" name="Text 240"/>
          <p:cNvSpPr/>
          <p:nvPr/>
        </p:nvSpPr>
        <p:spPr>
          <a:xfrm>
            <a:off x="9217152" y="3260750"/>
            <a:ext cx="62179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9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590" dirty="0"/>
          </a:p>
        </p:txBody>
      </p:sp>
      <p:sp>
        <p:nvSpPr>
          <p:cNvPr id="244" name="Shape 241"/>
          <p:cNvSpPr/>
          <p:nvPr/>
        </p:nvSpPr>
        <p:spPr>
          <a:xfrm>
            <a:off x="7616952" y="3470148"/>
            <a:ext cx="2276856" cy="231343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45" name="Shape 242"/>
          <p:cNvSpPr/>
          <p:nvPr/>
        </p:nvSpPr>
        <p:spPr>
          <a:xfrm>
            <a:off x="7667244" y="3543300"/>
            <a:ext cx="68580" cy="68580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46" name="Text 243"/>
          <p:cNvSpPr/>
          <p:nvPr/>
        </p:nvSpPr>
        <p:spPr>
          <a:xfrm>
            <a:off x="7763256" y="3503066"/>
            <a:ext cx="42062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394026</a:t>
            </a:r>
            <a:endParaRPr lang="en-US" sz="610" dirty="0"/>
          </a:p>
        </p:txBody>
      </p:sp>
      <p:sp>
        <p:nvSpPr>
          <p:cNvPr id="247" name="Text 244"/>
          <p:cNvSpPr/>
          <p:nvPr/>
        </p:nvSpPr>
        <p:spPr>
          <a:xfrm>
            <a:off x="8220456" y="3503066"/>
            <a:ext cx="9784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Grow - Subscription</a:t>
            </a:r>
            <a:endParaRPr lang="en-US" sz="610" dirty="0"/>
          </a:p>
        </p:txBody>
      </p:sp>
      <p:sp>
        <p:nvSpPr>
          <p:cNvPr id="248" name="Text 245"/>
          <p:cNvSpPr/>
          <p:nvPr/>
        </p:nvSpPr>
        <p:spPr>
          <a:xfrm>
            <a:off x="9217152" y="3503066"/>
            <a:ext cx="62179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9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590" dirty="0"/>
          </a:p>
        </p:txBody>
      </p:sp>
      <p:sp>
        <p:nvSpPr>
          <p:cNvPr id="249" name="Shape 246"/>
          <p:cNvSpPr/>
          <p:nvPr/>
        </p:nvSpPr>
        <p:spPr>
          <a:xfrm>
            <a:off x="7616952" y="3712464"/>
            <a:ext cx="2276856" cy="231343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50" name="Shape 247"/>
          <p:cNvSpPr/>
          <p:nvPr/>
        </p:nvSpPr>
        <p:spPr>
          <a:xfrm>
            <a:off x="7667244" y="3785616"/>
            <a:ext cx="68580" cy="68580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51" name="Text 248"/>
          <p:cNvSpPr/>
          <p:nvPr/>
        </p:nvSpPr>
        <p:spPr>
          <a:xfrm>
            <a:off x="7763256" y="3745382"/>
            <a:ext cx="42062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393606</a:t>
            </a:r>
            <a:endParaRPr lang="en-US" sz="610" dirty="0"/>
          </a:p>
        </p:txBody>
      </p:sp>
      <p:sp>
        <p:nvSpPr>
          <p:cNvPr id="252" name="Text 249"/>
          <p:cNvSpPr/>
          <p:nvPr/>
        </p:nvSpPr>
        <p:spPr>
          <a:xfrm>
            <a:off x="8220456" y="3745382"/>
            <a:ext cx="9784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Veyr</a:t>
            </a:r>
            <a:endParaRPr lang="en-US" sz="610" dirty="0"/>
          </a:p>
        </p:txBody>
      </p:sp>
      <p:sp>
        <p:nvSpPr>
          <p:cNvPr id="253" name="Text 250"/>
          <p:cNvSpPr/>
          <p:nvPr/>
        </p:nvSpPr>
        <p:spPr>
          <a:xfrm>
            <a:off x="9217152" y="3745382"/>
            <a:ext cx="62179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9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590" dirty="0"/>
          </a:p>
        </p:txBody>
      </p:sp>
      <p:sp>
        <p:nvSpPr>
          <p:cNvPr id="254" name="Shape 251"/>
          <p:cNvSpPr/>
          <p:nvPr/>
        </p:nvSpPr>
        <p:spPr>
          <a:xfrm>
            <a:off x="7616952" y="3954780"/>
            <a:ext cx="2276856" cy="231343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55" name="Shape 252"/>
          <p:cNvSpPr/>
          <p:nvPr/>
        </p:nvSpPr>
        <p:spPr>
          <a:xfrm>
            <a:off x="7667244" y="4027932"/>
            <a:ext cx="68580" cy="68580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256" name="Text 253"/>
          <p:cNvSpPr/>
          <p:nvPr/>
        </p:nvSpPr>
        <p:spPr>
          <a:xfrm>
            <a:off x="7763256" y="3987698"/>
            <a:ext cx="42062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393448</a:t>
            </a:r>
            <a:endParaRPr lang="en-US" sz="610" dirty="0"/>
          </a:p>
        </p:txBody>
      </p:sp>
      <p:sp>
        <p:nvSpPr>
          <p:cNvPr id="257" name="Text 254"/>
          <p:cNvSpPr/>
          <p:nvPr/>
        </p:nvSpPr>
        <p:spPr>
          <a:xfrm>
            <a:off x="8220456" y="3987698"/>
            <a:ext cx="9784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Bargain Hardware UK</a:t>
            </a:r>
            <a:endParaRPr lang="en-US" sz="610" dirty="0"/>
          </a:p>
        </p:txBody>
      </p:sp>
      <p:sp>
        <p:nvSpPr>
          <p:cNvPr id="258" name="Text 255"/>
          <p:cNvSpPr/>
          <p:nvPr/>
        </p:nvSpPr>
        <p:spPr>
          <a:xfrm>
            <a:off x="9217152" y="3987698"/>
            <a:ext cx="62179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9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590" dirty="0"/>
          </a:p>
        </p:txBody>
      </p:sp>
      <p:sp>
        <p:nvSpPr>
          <p:cNvPr id="259" name="Shape 256"/>
          <p:cNvSpPr/>
          <p:nvPr/>
        </p:nvSpPr>
        <p:spPr>
          <a:xfrm>
            <a:off x="7616952" y="4197096"/>
            <a:ext cx="2276856" cy="231343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60" name="Shape 257"/>
          <p:cNvSpPr/>
          <p:nvPr/>
        </p:nvSpPr>
        <p:spPr>
          <a:xfrm>
            <a:off x="7667244" y="4270248"/>
            <a:ext cx="68580" cy="68580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61" name="Text 258"/>
          <p:cNvSpPr/>
          <p:nvPr/>
        </p:nvSpPr>
        <p:spPr>
          <a:xfrm>
            <a:off x="7763256" y="4230014"/>
            <a:ext cx="42062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393369</a:t>
            </a:r>
            <a:endParaRPr lang="en-US" sz="610" dirty="0"/>
          </a:p>
        </p:txBody>
      </p:sp>
      <p:sp>
        <p:nvSpPr>
          <p:cNvPr id="262" name="Text 259"/>
          <p:cNvSpPr/>
          <p:nvPr/>
        </p:nvSpPr>
        <p:spPr>
          <a:xfrm>
            <a:off x="8220456" y="4230014"/>
            <a:ext cx="9784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myflightrefund</a:t>
            </a:r>
            <a:endParaRPr lang="en-US" sz="610" dirty="0"/>
          </a:p>
        </p:txBody>
      </p:sp>
      <p:sp>
        <p:nvSpPr>
          <p:cNvPr id="263" name="Text 260"/>
          <p:cNvSpPr/>
          <p:nvPr/>
        </p:nvSpPr>
        <p:spPr>
          <a:xfrm>
            <a:off x="9217152" y="4230014"/>
            <a:ext cx="62179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9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590" dirty="0"/>
          </a:p>
        </p:txBody>
      </p:sp>
      <p:sp>
        <p:nvSpPr>
          <p:cNvPr id="264" name="Shape 261"/>
          <p:cNvSpPr/>
          <p:nvPr/>
        </p:nvSpPr>
        <p:spPr>
          <a:xfrm>
            <a:off x="7616952" y="4439412"/>
            <a:ext cx="2276856" cy="231343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65" name="Shape 262"/>
          <p:cNvSpPr/>
          <p:nvPr/>
        </p:nvSpPr>
        <p:spPr>
          <a:xfrm>
            <a:off x="7667244" y="4512564"/>
            <a:ext cx="68580" cy="68580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266" name="Text 263"/>
          <p:cNvSpPr/>
          <p:nvPr/>
        </p:nvSpPr>
        <p:spPr>
          <a:xfrm>
            <a:off x="7763256" y="4472330"/>
            <a:ext cx="42062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393347</a:t>
            </a:r>
            <a:endParaRPr lang="en-US" sz="610" dirty="0"/>
          </a:p>
        </p:txBody>
      </p:sp>
      <p:sp>
        <p:nvSpPr>
          <p:cNvPr id="267" name="Text 264"/>
          <p:cNvSpPr/>
          <p:nvPr/>
        </p:nvSpPr>
        <p:spPr>
          <a:xfrm>
            <a:off x="8220456" y="4472330"/>
            <a:ext cx="9784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Kliktix - Official...</a:t>
            </a:r>
            <a:endParaRPr lang="en-US" sz="610" dirty="0"/>
          </a:p>
        </p:txBody>
      </p:sp>
      <p:sp>
        <p:nvSpPr>
          <p:cNvPr id="268" name="Text 265"/>
          <p:cNvSpPr/>
          <p:nvPr/>
        </p:nvSpPr>
        <p:spPr>
          <a:xfrm>
            <a:off x="9217152" y="4472330"/>
            <a:ext cx="62179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9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590" dirty="0"/>
          </a:p>
        </p:txBody>
      </p:sp>
      <p:sp>
        <p:nvSpPr>
          <p:cNvPr id="269" name="Shape 266"/>
          <p:cNvSpPr/>
          <p:nvPr/>
        </p:nvSpPr>
        <p:spPr>
          <a:xfrm>
            <a:off x="10104120" y="1773936"/>
            <a:ext cx="1572768" cy="2944368"/>
          </a:xfrm>
          <a:prstGeom prst="roundRect">
            <a:avLst>
              <a:gd name="adj" fmla="val 2326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270" name="Text 267"/>
          <p:cNvSpPr/>
          <p:nvPr/>
        </p:nvSpPr>
        <p:spPr>
          <a:xfrm>
            <a:off x="10268712" y="1938528"/>
            <a:ext cx="1225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</a:t>
            </a:r>
            <a:endParaRPr lang="en-US" sz="980" dirty="0"/>
          </a:p>
        </p:txBody>
      </p:sp>
      <p:sp>
        <p:nvSpPr>
          <p:cNvPr id="271" name="Shape 268"/>
          <p:cNvSpPr/>
          <p:nvPr/>
        </p:nvSpPr>
        <p:spPr>
          <a:xfrm>
            <a:off x="10268712" y="2267712"/>
            <a:ext cx="91440" cy="91440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72" name="Text 269"/>
          <p:cNvSpPr/>
          <p:nvPr/>
        </p:nvSpPr>
        <p:spPr>
          <a:xfrm>
            <a:off x="10433304" y="2244852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0 - Not Connected</a:t>
            </a:r>
            <a:endParaRPr lang="en-US" sz="680" dirty="0"/>
          </a:p>
        </p:txBody>
      </p:sp>
      <p:sp>
        <p:nvSpPr>
          <p:cNvPr id="273" name="Shape 270"/>
          <p:cNvSpPr/>
          <p:nvPr/>
        </p:nvSpPr>
        <p:spPr>
          <a:xfrm>
            <a:off x="10268712" y="2542032"/>
            <a:ext cx="91440" cy="91440"/>
          </a:xfrm>
          <a:prstGeom prst="ellipse">
            <a:avLst/>
          </a:prstGeom>
          <a:solidFill>
            <a:srgbClr val="AFC4F5"/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274" name="Text 271"/>
          <p:cNvSpPr/>
          <p:nvPr/>
        </p:nvSpPr>
        <p:spPr>
          <a:xfrm>
            <a:off x="10433304" y="2519172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1 - Under consideration</a:t>
            </a:r>
            <a:endParaRPr lang="en-US" sz="680" dirty="0"/>
          </a:p>
        </p:txBody>
      </p:sp>
      <p:sp>
        <p:nvSpPr>
          <p:cNvPr id="275" name="Shape 272"/>
          <p:cNvSpPr/>
          <p:nvPr/>
        </p:nvSpPr>
        <p:spPr>
          <a:xfrm>
            <a:off x="10268712" y="2816352"/>
            <a:ext cx="91440" cy="9144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276" name="Text 273"/>
          <p:cNvSpPr/>
          <p:nvPr/>
        </p:nvSpPr>
        <p:spPr>
          <a:xfrm>
            <a:off x="10433304" y="2793492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2 - Hold UC</a:t>
            </a:r>
            <a:endParaRPr lang="en-US" sz="680" dirty="0"/>
          </a:p>
        </p:txBody>
      </p:sp>
      <p:sp>
        <p:nvSpPr>
          <p:cNvPr id="277" name="Shape 274"/>
          <p:cNvSpPr/>
          <p:nvPr/>
        </p:nvSpPr>
        <p:spPr>
          <a:xfrm>
            <a:off x="10268712" y="3090672"/>
            <a:ext cx="91440" cy="91440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278" name="Text 275"/>
          <p:cNvSpPr/>
          <p:nvPr/>
        </p:nvSpPr>
        <p:spPr>
          <a:xfrm>
            <a:off x="10433304" y="3067812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3 - Accepted</a:t>
            </a:r>
            <a:endParaRPr lang="en-US" sz="680" dirty="0"/>
          </a:p>
        </p:txBody>
      </p:sp>
      <p:sp>
        <p:nvSpPr>
          <p:cNvPr id="279" name="Shape 276"/>
          <p:cNvSpPr/>
          <p:nvPr/>
        </p:nvSpPr>
        <p:spPr>
          <a:xfrm>
            <a:off x="10268712" y="3364992"/>
            <a:ext cx="91440" cy="91440"/>
          </a:xfrm>
          <a:prstGeom prst="ellipse">
            <a:avLst/>
          </a:prstGeom>
          <a:solidFill>
            <a:srgbClr val="5B6372"/>
          </a:solidFill>
          <a:ln w="12700">
            <a:solidFill>
              <a:srgbClr val="5B6372"/>
            </a:solidFill>
            <a:prstDash val="solid"/>
          </a:ln>
        </p:spPr>
      </p:sp>
      <p:sp>
        <p:nvSpPr>
          <p:cNvPr id="280" name="Text 277"/>
          <p:cNvSpPr/>
          <p:nvPr/>
        </p:nvSpPr>
        <p:spPr>
          <a:xfrm>
            <a:off x="10433304" y="3342132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4 - Ended</a:t>
            </a:r>
            <a:endParaRPr lang="en-US" sz="680" dirty="0"/>
          </a:p>
        </p:txBody>
      </p:sp>
      <p:sp>
        <p:nvSpPr>
          <p:cNvPr id="281" name="Shape 278"/>
          <p:cNvSpPr/>
          <p:nvPr/>
        </p:nvSpPr>
        <p:spPr>
          <a:xfrm>
            <a:off x="10268712" y="3639312"/>
            <a:ext cx="91440" cy="91440"/>
          </a:xfrm>
          <a:prstGeom prst="ellipse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282" name="Text 279"/>
          <p:cNvSpPr/>
          <p:nvPr/>
        </p:nvSpPr>
        <p:spPr>
          <a:xfrm>
            <a:off x="10433304" y="3616452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5 - Denied</a:t>
            </a:r>
            <a:endParaRPr lang="en-US" sz="680" dirty="0"/>
          </a:p>
        </p:txBody>
      </p:sp>
      <p:sp>
        <p:nvSpPr>
          <p:cNvPr id="283" name="Shape 280"/>
          <p:cNvSpPr/>
          <p:nvPr/>
        </p:nvSpPr>
        <p:spPr>
          <a:xfrm>
            <a:off x="10268712" y="3913632"/>
            <a:ext cx="91440" cy="91440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84" name="Text 281"/>
          <p:cNvSpPr/>
          <p:nvPr/>
        </p:nvSpPr>
        <p:spPr>
          <a:xfrm>
            <a:off x="10433304" y="3890772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6 - Hold Accepted</a:t>
            </a:r>
            <a:endParaRPr lang="en-US" sz="680" dirty="0"/>
          </a:p>
        </p:txBody>
      </p:sp>
      <p:sp>
        <p:nvSpPr>
          <p:cNvPr id="285" name="Shape 282"/>
          <p:cNvSpPr/>
          <p:nvPr/>
        </p:nvSpPr>
        <p:spPr>
          <a:xfrm>
            <a:off x="10268712" y="4187952"/>
            <a:ext cx="91440" cy="91440"/>
          </a:xfrm>
          <a:prstGeom prst="ellipse">
            <a:avLst/>
          </a:prstGeom>
          <a:solidFill>
            <a:srgbClr val="9B51E0"/>
          </a:solidFill>
          <a:ln w="12700">
            <a:solidFill>
              <a:srgbClr val="9B51E0"/>
            </a:solidFill>
            <a:prstDash val="solid"/>
          </a:ln>
        </p:spPr>
      </p:sp>
      <p:sp>
        <p:nvSpPr>
          <p:cNvPr id="286" name="Text 283"/>
          <p:cNvSpPr/>
          <p:nvPr/>
        </p:nvSpPr>
        <p:spPr>
          <a:xfrm>
            <a:off x="10433304" y="4165092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9 - Ending</a:t>
            </a:r>
            <a:endParaRPr lang="en-US" sz="6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Competitor Analysis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Anonymous comparison of publisher commission coverage and white-space programmes.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64208"/>
            <a:ext cx="11430000" cy="1196950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55648"/>
          <a:ext cx="11210544" cy="1050646"/>
        </p:xfrm>
        <a:graphic>
          <a:graphicData uri="http://schemas.openxmlformats.org/drawingml/2006/table">
            <a:tbl>
              <a:tblPr/>
              <a:tblGrid>
                <a:gridCol w="1601506"/>
                <a:gridCol w="1601506"/>
                <a:gridCol w="1601506"/>
                <a:gridCol w="1601506"/>
                <a:gridCol w="1601506"/>
                <a:gridCol w="1601506"/>
                <a:gridCol w="1601506"/>
              </a:tblGrid>
              <a:tr h="29352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Competitor Group Summary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Your Site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1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2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3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4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Distinct comp. prog. #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25237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Programs with Pub Comm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138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25237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of which you have 0 Pub Comm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25237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 Comm of the above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€3,291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€5,754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€2,773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€2,413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€14,231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12064" y="3127248"/>
            <a:ext cx="11137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 comm by week</a:t>
            </a:r>
            <a:endParaRPr lang="en-US" sz="850" dirty="0"/>
          </a:p>
        </p:txBody>
      </p:sp>
      <p:sp>
        <p:nvSpPr>
          <p:cNvPr id="8" name="Shape 4"/>
          <p:cNvSpPr/>
          <p:nvPr/>
        </p:nvSpPr>
        <p:spPr>
          <a:xfrm>
            <a:off x="1078992" y="3447288"/>
            <a:ext cx="10387584" cy="0"/>
          </a:xfrm>
          <a:prstGeom prst="line">
            <a:avLst/>
          </a:prstGeom>
          <a:noFill/>
          <a:ln w="12700">
            <a:solidFill>
              <a:srgbClr val="D9DEE8">
                <a:alpha val="75000"/>
              </a:srgbClr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12064" y="338328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100,000</a:t>
            </a:r>
            <a:endParaRPr lang="en-US" sz="620" dirty="0"/>
          </a:p>
        </p:txBody>
      </p:sp>
      <p:sp>
        <p:nvSpPr>
          <p:cNvPr id="10" name="Shape 6"/>
          <p:cNvSpPr/>
          <p:nvPr/>
        </p:nvSpPr>
        <p:spPr>
          <a:xfrm>
            <a:off x="1078992" y="3904488"/>
            <a:ext cx="10387584" cy="0"/>
          </a:xfrm>
          <a:prstGeom prst="line">
            <a:avLst/>
          </a:prstGeom>
          <a:noFill/>
          <a:ln w="12700">
            <a:solidFill>
              <a:srgbClr val="D9DEE8">
                <a:alpha val="7500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12064" y="384048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80,000</a:t>
            </a:r>
            <a:endParaRPr lang="en-US" sz="620" dirty="0"/>
          </a:p>
        </p:txBody>
      </p:sp>
      <p:sp>
        <p:nvSpPr>
          <p:cNvPr id="12" name="Shape 8"/>
          <p:cNvSpPr/>
          <p:nvPr/>
        </p:nvSpPr>
        <p:spPr>
          <a:xfrm>
            <a:off x="1078992" y="4361688"/>
            <a:ext cx="10387584" cy="0"/>
          </a:xfrm>
          <a:prstGeom prst="line">
            <a:avLst/>
          </a:prstGeom>
          <a:noFill/>
          <a:ln w="12700">
            <a:solidFill>
              <a:srgbClr val="D9DEE8">
                <a:alpha val="7500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12064" y="429768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60,000</a:t>
            </a:r>
            <a:endParaRPr lang="en-US" sz="620" dirty="0"/>
          </a:p>
        </p:txBody>
      </p:sp>
      <p:sp>
        <p:nvSpPr>
          <p:cNvPr id="14" name="Shape 10"/>
          <p:cNvSpPr/>
          <p:nvPr/>
        </p:nvSpPr>
        <p:spPr>
          <a:xfrm>
            <a:off x="1078992" y="4818888"/>
            <a:ext cx="10387584" cy="0"/>
          </a:xfrm>
          <a:prstGeom prst="line">
            <a:avLst/>
          </a:prstGeom>
          <a:noFill/>
          <a:ln w="12700">
            <a:solidFill>
              <a:srgbClr val="D9DEE8">
                <a:alpha val="7500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12064" y="475488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40,000</a:t>
            </a:r>
            <a:endParaRPr lang="en-US" sz="620" dirty="0"/>
          </a:p>
        </p:txBody>
      </p:sp>
      <p:sp>
        <p:nvSpPr>
          <p:cNvPr id="16" name="Shape 12"/>
          <p:cNvSpPr/>
          <p:nvPr/>
        </p:nvSpPr>
        <p:spPr>
          <a:xfrm>
            <a:off x="1078992" y="5276088"/>
            <a:ext cx="10387584" cy="0"/>
          </a:xfrm>
          <a:prstGeom prst="line">
            <a:avLst/>
          </a:prstGeom>
          <a:noFill/>
          <a:ln w="12700">
            <a:solidFill>
              <a:srgbClr val="D9DEE8">
                <a:alpha val="7500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12064" y="521208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20,000</a:t>
            </a:r>
            <a:endParaRPr lang="en-US" sz="620" dirty="0"/>
          </a:p>
        </p:txBody>
      </p:sp>
      <p:sp>
        <p:nvSpPr>
          <p:cNvPr id="18" name="Shape 14"/>
          <p:cNvSpPr/>
          <p:nvPr/>
        </p:nvSpPr>
        <p:spPr>
          <a:xfrm>
            <a:off x="1078992" y="5733288"/>
            <a:ext cx="10387584" cy="0"/>
          </a:xfrm>
          <a:prstGeom prst="line">
            <a:avLst/>
          </a:prstGeom>
          <a:noFill/>
          <a:ln w="12700">
            <a:solidFill>
              <a:srgbClr val="D9DEE8">
                <a:alpha val="9000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12064" y="566928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620" dirty="0"/>
          </a:p>
        </p:txBody>
      </p:sp>
      <p:sp>
        <p:nvSpPr>
          <p:cNvPr id="20" name="Shape 16"/>
          <p:cNvSpPr/>
          <p:nvPr/>
        </p:nvSpPr>
        <p:spPr>
          <a:xfrm>
            <a:off x="1358537" y="4993218"/>
            <a:ext cx="182880" cy="740070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2100507" y="4480171"/>
            <a:ext cx="182880" cy="1253117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2842478" y="4310893"/>
            <a:ext cx="182880" cy="1422395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3584448" y="4156245"/>
            <a:ext cx="182880" cy="1577043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4326418" y="4448510"/>
            <a:ext cx="182880" cy="1284778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5068389" y="4383199"/>
            <a:ext cx="182880" cy="1350089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5810359" y="4528383"/>
            <a:ext cx="182880" cy="1204905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6552329" y="4658754"/>
            <a:ext cx="182880" cy="1074534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7294299" y="4615571"/>
            <a:ext cx="182880" cy="1117717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8036270" y="4712017"/>
            <a:ext cx="182880" cy="1021271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8778240" y="4290159"/>
            <a:ext cx="182880" cy="1443129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9520210" y="4446133"/>
            <a:ext cx="182880" cy="1287155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10262181" y="4556707"/>
            <a:ext cx="182880" cy="1176581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11004151" y="5467220"/>
            <a:ext cx="182880" cy="266068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1449977" y="5575005"/>
            <a:ext cx="741970" cy="-143492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2191947" y="5431513"/>
            <a:ext cx="741970" cy="-60328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2933918" y="5371186"/>
            <a:ext cx="741970" cy="5692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3675888" y="5376878"/>
            <a:ext cx="741970" cy="-19614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4417858" y="5357264"/>
            <a:ext cx="741970" cy="43891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5159829" y="5401155"/>
            <a:ext cx="741970" cy="30884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5901799" y="5432039"/>
            <a:ext cx="741970" cy="823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6643769" y="5432862"/>
            <a:ext cx="741970" cy="10538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7385739" y="5443400"/>
            <a:ext cx="741970" cy="-3018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8127710" y="5440383"/>
            <a:ext cx="741970" cy="-55115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8869680" y="5385267"/>
            <a:ext cx="741970" cy="-4572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9611650" y="5380695"/>
            <a:ext cx="741970" cy="-15591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>
            <a:off x="10353621" y="5365105"/>
            <a:ext cx="741970" cy="300152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1427117" y="5552145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2169087" y="5408653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2911058" y="5348326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3653028" y="5354018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51" name="Shape 47"/>
          <p:cNvSpPr/>
          <p:nvPr/>
        </p:nvSpPr>
        <p:spPr>
          <a:xfrm>
            <a:off x="4394998" y="5334404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52" name="Shape 48"/>
          <p:cNvSpPr/>
          <p:nvPr/>
        </p:nvSpPr>
        <p:spPr>
          <a:xfrm>
            <a:off x="5136969" y="5378295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53" name="Shape 49"/>
          <p:cNvSpPr/>
          <p:nvPr/>
        </p:nvSpPr>
        <p:spPr>
          <a:xfrm>
            <a:off x="5878939" y="5409179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54" name="Shape 50"/>
          <p:cNvSpPr/>
          <p:nvPr/>
        </p:nvSpPr>
        <p:spPr>
          <a:xfrm>
            <a:off x="6620909" y="5410002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55" name="Shape 51"/>
          <p:cNvSpPr/>
          <p:nvPr/>
        </p:nvSpPr>
        <p:spPr>
          <a:xfrm>
            <a:off x="7362879" y="5420540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56" name="Shape 52"/>
          <p:cNvSpPr/>
          <p:nvPr/>
        </p:nvSpPr>
        <p:spPr>
          <a:xfrm>
            <a:off x="8104850" y="5417523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57" name="Shape 53"/>
          <p:cNvSpPr/>
          <p:nvPr/>
        </p:nvSpPr>
        <p:spPr>
          <a:xfrm>
            <a:off x="8846820" y="5362407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58" name="Shape 54"/>
          <p:cNvSpPr/>
          <p:nvPr/>
        </p:nvSpPr>
        <p:spPr>
          <a:xfrm>
            <a:off x="9588790" y="5357835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59" name="Shape 55"/>
          <p:cNvSpPr/>
          <p:nvPr/>
        </p:nvSpPr>
        <p:spPr>
          <a:xfrm>
            <a:off x="10330761" y="5342245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60" name="Shape 56"/>
          <p:cNvSpPr/>
          <p:nvPr/>
        </p:nvSpPr>
        <p:spPr>
          <a:xfrm>
            <a:off x="11072731" y="5642397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61" name="Shape 57"/>
          <p:cNvSpPr/>
          <p:nvPr/>
        </p:nvSpPr>
        <p:spPr>
          <a:xfrm>
            <a:off x="1449977" y="5598437"/>
            <a:ext cx="741970" cy="-126233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62" name="Shape 58"/>
          <p:cNvSpPr/>
          <p:nvPr/>
        </p:nvSpPr>
        <p:spPr>
          <a:xfrm>
            <a:off x="2191947" y="5472204"/>
            <a:ext cx="741970" cy="5464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63" name="Shape 59"/>
          <p:cNvSpPr/>
          <p:nvPr/>
        </p:nvSpPr>
        <p:spPr>
          <a:xfrm>
            <a:off x="2933918" y="5477667"/>
            <a:ext cx="741970" cy="-22540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64" name="Shape 60"/>
          <p:cNvSpPr/>
          <p:nvPr/>
        </p:nvSpPr>
        <p:spPr>
          <a:xfrm>
            <a:off x="3675888" y="5455128"/>
            <a:ext cx="741970" cy="-24895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65" name="Shape 61"/>
          <p:cNvSpPr/>
          <p:nvPr/>
        </p:nvSpPr>
        <p:spPr>
          <a:xfrm>
            <a:off x="4417858" y="5430233"/>
            <a:ext cx="741970" cy="23683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66" name="Shape 62"/>
          <p:cNvSpPr/>
          <p:nvPr/>
        </p:nvSpPr>
        <p:spPr>
          <a:xfrm>
            <a:off x="5159829" y="5453916"/>
            <a:ext cx="741970" cy="55093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67" name="Shape 63"/>
          <p:cNvSpPr/>
          <p:nvPr/>
        </p:nvSpPr>
        <p:spPr>
          <a:xfrm>
            <a:off x="5901799" y="5509009"/>
            <a:ext cx="741970" cy="-9898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68" name="Shape 64"/>
          <p:cNvSpPr/>
          <p:nvPr/>
        </p:nvSpPr>
        <p:spPr>
          <a:xfrm>
            <a:off x="6643769" y="5499110"/>
            <a:ext cx="741970" cy="-10264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69" name="Shape 65"/>
          <p:cNvSpPr/>
          <p:nvPr/>
        </p:nvSpPr>
        <p:spPr>
          <a:xfrm>
            <a:off x="7385739" y="5488846"/>
            <a:ext cx="741970" cy="4778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70" name="Shape 66"/>
          <p:cNvSpPr/>
          <p:nvPr/>
        </p:nvSpPr>
        <p:spPr>
          <a:xfrm>
            <a:off x="8127710" y="5493624"/>
            <a:ext cx="741970" cy="-6584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71" name="Shape 67"/>
          <p:cNvSpPr/>
          <p:nvPr/>
        </p:nvSpPr>
        <p:spPr>
          <a:xfrm>
            <a:off x="8869680" y="5487040"/>
            <a:ext cx="741970" cy="-17214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72" name="Shape 68"/>
          <p:cNvSpPr/>
          <p:nvPr/>
        </p:nvSpPr>
        <p:spPr>
          <a:xfrm>
            <a:off x="9611650" y="5469827"/>
            <a:ext cx="741970" cy="21580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73" name="Shape 69"/>
          <p:cNvSpPr/>
          <p:nvPr/>
        </p:nvSpPr>
        <p:spPr>
          <a:xfrm>
            <a:off x="10353621" y="5491406"/>
            <a:ext cx="741970" cy="182537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74" name="Shape 70"/>
          <p:cNvSpPr/>
          <p:nvPr/>
        </p:nvSpPr>
        <p:spPr>
          <a:xfrm>
            <a:off x="1427117" y="5575577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75" name="Shape 71"/>
          <p:cNvSpPr/>
          <p:nvPr/>
        </p:nvSpPr>
        <p:spPr>
          <a:xfrm>
            <a:off x="2169087" y="5449344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76" name="Shape 72"/>
          <p:cNvSpPr/>
          <p:nvPr/>
        </p:nvSpPr>
        <p:spPr>
          <a:xfrm>
            <a:off x="2911058" y="5454807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77" name="Shape 73"/>
          <p:cNvSpPr/>
          <p:nvPr/>
        </p:nvSpPr>
        <p:spPr>
          <a:xfrm>
            <a:off x="3653028" y="5432268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78" name="Shape 74"/>
          <p:cNvSpPr/>
          <p:nvPr/>
        </p:nvSpPr>
        <p:spPr>
          <a:xfrm>
            <a:off x="4394998" y="5407373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79" name="Shape 75"/>
          <p:cNvSpPr/>
          <p:nvPr/>
        </p:nvSpPr>
        <p:spPr>
          <a:xfrm>
            <a:off x="5136969" y="5431056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80" name="Shape 76"/>
          <p:cNvSpPr/>
          <p:nvPr/>
        </p:nvSpPr>
        <p:spPr>
          <a:xfrm>
            <a:off x="5878939" y="5486149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81" name="Shape 77"/>
          <p:cNvSpPr/>
          <p:nvPr/>
        </p:nvSpPr>
        <p:spPr>
          <a:xfrm>
            <a:off x="6620909" y="5476250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82" name="Shape 78"/>
          <p:cNvSpPr/>
          <p:nvPr/>
        </p:nvSpPr>
        <p:spPr>
          <a:xfrm>
            <a:off x="7362879" y="5465986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83" name="Shape 79"/>
          <p:cNvSpPr/>
          <p:nvPr/>
        </p:nvSpPr>
        <p:spPr>
          <a:xfrm>
            <a:off x="8104850" y="5470764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84" name="Shape 80"/>
          <p:cNvSpPr/>
          <p:nvPr/>
        </p:nvSpPr>
        <p:spPr>
          <a:xfrm>
            <a:off x="8846820" y="5464180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85" name="Shape 81"/>
          <p:cNvSpPr/>
          <p:nvPr/>
        </p:nvSpPr>
        <p:spPr>
          <a:xfrm>
            <a:off x="9588790" y="5446966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86" name="Shape 82"/>
          <p:cNvSpPr/>
          <p:nvPr/>
        </p:nvSpPr>
        <p:spPr>
          <a:xfrm>
            <a:off x="10330761" y="5468546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87" name="Shape 83"/>
          <p:cNvSpPr/>
          <p:nvPr/>
        </p:nvSpPr>
        <p:spPr>
          <a:xfrm>
            <a:off x="11072731" y="5651083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88" name="Shape 84"/>
          <p:cNvSpPr/>
          <p:nvPr/>
        </p:nvSpPr>
        <p:spPr>
          <a:xfrm>
            <a:off x="1449977" y="5668571"/>
            <a:ext cx="741970" cy="-28232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89" name="Shape 85"/>
          <p:cNvSpPr/>
          <p:nvPr/>
        </p:nvSpPr>
        <p:spPr>
          <a:xfrm>
            <a:off x="2191947" y="5640339"/>
            <a:ext cx="741970" cy="1760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90" name="Shape 86"/>
          <p:cNvSpPr/>
          <p:nvPr/>
        </p:nvSpPr>
        <p:spPr>
          <a:xfrm>
            <a:off x="2933918" y="5642099"/>
            <a:ext cx="741970" cy="11613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91" name="Shape 87"/>
          <p:cNvSpPr/>
          <p:nvPr/>
        </p:nvSpPr>
        <p:spPr>
          <a:xfrm>
            <a:off x="3675888" y="5653712"/>
            <a:ext cx="741970" cy="-4572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92" name="Shape 88"/>
          <p:cNvSpPr/>
          <p:nvPr/>
        </p:nvSpPr>
        <p:spPr>
          <a:xfrm>
            <a:off x="4417858" y="5649140"/>
            <a:ext cx="741970" cy="-19225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93" name="Shape 89"/>
          <p:cNvSpPr/>
          <p:nvPr/>
        </p:nvSpPr>
        <p:spPr>
          <a:xfrm>
            <a:off x="5159829" y="5629915"/>
            <a:ext cx="741970" cy="-19728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94" name="Shape 90"/>
          <p:cNvSpPr/>
          <p:nvPr/>
        </p:nvSpPr>
        <p:spPr>
          <a:xfrm>
            <a:off x="5901799" y="5610187"/>
            <a:ext cx="741970" cy="-20048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95" name="Shape 91"/>
          <p:cNvSpPr/>
          <p:nvPr/>
        </p:nvSpPr>
        <p:spPr>
          <a:xfrm>
            <a:off x="6643769" y="5590139"/>
            <a:ext cx="741970" cy="36553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96" name="Shape 92"/>
          <p:cNvSpPr/>
          <p:nvPr/>
        </p:nvSpPr>
        <p:spPr>
          <a:xfrm>
            <a:off x="7385739" y="5626692"/>
            <a:ext cx="741970" cy="2446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97" name="Shape 93"/>
          <p:cNvSpPr/>
          <p:nvPr/>
        </p:nvSpPr>
        <p:spPr>
          <a:xfrm>
            <a:off x="8127710" y="5629138"/>
            <a:ext cx="741970" cy="-16802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98" name="Shape 94"/>
          <p:cNvSpPr/>
          <p:nvPr/>
        </p:nvSpPr>
        <p:spPr>
          <a:xfrm>
            <a:off x="8869680" y="5612336"/>
            <a:ext cx="741970" cy="12916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99" name="Shape 95"/>
          <p:cNvSpPr/>
          <p:nvPr/>
        </p:nvSpPr>
        <p:spPr>
          <a:xfrm>
            <a:off x="9611650" y="5625252"/>
            <a:ext cx="741970" cy="-3498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100" name="Shape 96"/>
          <p:cNvSpPr/>
          <p:nvPr/>
        </p:nvSpPr>
        <p:spPr>
          <a:xfrm>
            <a:off x="10353621" y="5621754"/>
            <a:ext cx="741970" cy="85725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101" name="Shape 97"/>
          <p:cNvSpPr/>
          <p:nvPr/>
        </p:nvSpPr>
        <p:spPr>
          <a:xfrm>
            <a:off x="1427117" y="5645711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02" name="Shape 98"/>
          <p:cNvSpPr/>
          <p:nvPr/>
        </p:nvSpPr>
        <p:spPr>
          <a:xfrm>
            <a:off x="2169087" y="5617479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03" name="Shape 99"/>
          <p:cNvSpPr/>
          <p:nvPr/>
        </p:nvSpPr>
        <p:spPr>
          <a:xfrm>
            <a:off x="2911058" y="5619239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04" name="Shape 100"/>
          <p:cNvSpPr/>
          <p:nvPr/>
        </p:nvSpPr>
        <p:spPr>
          <a:xfrm>
            <a:off x="3653028" y="5630852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05" name="Shape 101"/>
          <p:cNvSpPr/>
          <p:nvPr/>
        </p:nvSpPr>
        <p:spPr>
          <a:xfrm>
            <a:off x="4394998" y="5626280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06" name="Shape 102"/>
          <p:cNvSpPr/>
          <p:nvPr/>
        </p:nvSpPr>
        <p:spPr>
          <a:xfrm>
            <a:off x="5136969" y="5607055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07" name="Shape 103"/>
          <p:cNvSpPr/>
          <p:nvPr/>
        </p:nvSpPr>
        <p:spPr>
          <a:xfrm>
            <a:off x="5878939" y="5587327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08" name="Shape 104"/>
          <p:cNvSpPr/>
          <p:nvPr/>
        </p:nvSpPr>
        <p:spPr>
          <a:xfrm>
            <a:off x="6620909" y="5567279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09" name="Shape 105"/>
          <p:cNvSpPr/>
          <p:nvPr/>
        </p:nvSpPr>
        <p:spPr>
          <a:xfrm>
            <a:off x="7362879" y="5603832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10" name="Shape 106"/>
          <p:cNvSpPr/>
          <p:nvPr/>
        </p:nvSpPr>
        <p:spPr>
          <a:xfrm>
            <a:off x="8104850" y="5606278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11" name="Shape 107"/>
          <p:cNvSpPr/>
          <p:nvPr/>
        </p:nvSpPr>
        <p:spPr>
          <a:xfrm>
            <a:off x="8846820" y="5589476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12" name="Shape 108"/>
          <p:cNvSpPr/>
          <p:nvPr/>
        </p:nvSpPr>
        <p:spPr>
          <a:xfrm>
            <a:off x="9588790" y="5602392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13" name="Shape 109"/>
          <p:cNvSpPr/>
          <p:nvPr/>
        </p:nvSpPr>
        <p:spPr>
          <a:xfrm>
            <a:off x="10330761" y="5598894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14" name="Shape 110"/>
          <p:cNvSpPr/>
          <p:nvPr/>
        </p:nvSpPr>
        <p:spPr>
          <a:xfrm>
            <a:off x="11072731" y="5684619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15" name="Shape 111"/>
          <p:cNvSpPr/>
          <p:nvPr/>
        </p:nvSpPr>
        <p:spPr>
          <a:xfrm>
            <a:off x="1449977" y="5647494"/>
            <a:ext cx="741970" cy="-57241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16" name="Shape 112"/>
          <p:cNvSpPr/>
          <p:nvPr/>
        </p:nvSpPr>
        <p:spPr>
          <a:xfrm>
            <a:off x="2191947" y="5590253"/>
            <a:ext cx="741970" cy="76124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17" name="Shape 113"/>
          <p:cNvSpPr/>
          <p:nvPr/>
        </p:nvSpPr>
        <p:spPr>
          <a:xfrm>
            <a:off x="2933918" y="5666377"/>
            <a:ext cx="741970" cy="-20094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18" name="Shape 114"/>
          <p:cNvSpPr/>
          <p:nvPr/>
        </p:nvSpPr>
        <p:spPr>
          <a:xfrm>
            <a:off x="3675888" y="5646283"/>
            <a:ext cx="741970" cy="17328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19" name="Shape 115"/>
          <p:cNvSpPr/>
          <p:nvPr/>
        </p:nvSpPr>
        <p:spPr>
          <a:xfrm>
            <a:off x="4417858" y="5663611"/>
            <a:ext cx="741970" cy="3749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20" name="Shape 116"/>
          <p:cNvSpPr/>
          <p:nvPr/>
        </p:nvSpPr>
        <p:spPr>
          <a:xfrm>
            <a:off x="5159829" y="5667360"/>
            <a:ext cx="741970" cy="1646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21" name="Shape 117"/>
          <p:cNvSpPr/>
          <p:nvPr/>
        </p:nvSpPr>
        <p:spPr>
          <a:xfrm>
            <a:off x="5901799" y="5669006"/>
            <a:ext cx="741970" cy="-41468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22" name="Shape 118"/>
          <p:cNvSpPr/>
          <p:nvPr/>
        </p:nvSpPr>
        <p:spPr>
          <a:xfrm>
            <a:off x="6643769" y="5627538"/>
            <a:ext cx="741970" cy="12162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23" name="Shape 119"/>
          <p:cNvSpPr/>
          <p:nvPr/>
        </p:nvSpPr>
        <p:spPr>
          <a:xfrm>
            <a:off x="7385739" y="5639699"/>
            <a:ext cx="741970" cy="19545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24" name="Shape 120"/>
          <p:cNvSpPr/>
          <p:nvPr/>
        </p:nvSpPr>
        <p:spPr>
          <a:xfrm>
            <a:off x="8127710" y="5659244"/>
            <a:ext cx="741970" cy="-3292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25" name="Shape 121"/>
          <p:cNvSpPr/>
          <p:nvPr/>
        </p:nvSpPr>
        <p:spPr>
          <a:xfrm>
            <a:off x="8869680" y="5655953"/>
            <a:ext cx="741970" cy="-11019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26" name="Shape 122"/>
          <p:cNvSpPr/>
          <p:nvPr/>
        </p:nvSpPr>
        <p:spPr>
          <a:xfrm>
            <a:off x="9611650" y="5644934"/>
            <a:ext cx="741970" cy="-5281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27" name="Shape 123"/>
          <p:cNvSpPr/>
          <p:nvPr/>
        </p:nvSpPr>
        <p:spPr>
          <a:xfrm>
            <a:off x="10353621" y="5639653"/>
            <a:ext cx="741970" cy="76764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28" name="Shape 124"/>
          <p:cNvSpPr/>
          <p:nvPr/>
        </p:nvSpPr>
        <p:spPr>
          <a:xfrm>
            <a:off x="1427117" y="5624634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9" name="Shape 125"/>
          <p:cNvSpPr/>
          <p:nvPr/>
        </p:nvSpPr>
        <p:spPr>
          <a:xfrm>
            <a:off x="2169087" y="5567393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0" name="Shape 126"/>
          <p:cNvSpPr/>
          <p:nvPr/>
        </p:nvSpPr>
        <p:spPr>
          <a:xfrm>
            <a:off x="2911058" y="5643517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1" name="Shape 127"/>
          <p:cNvSpPr/>
          <p:nvPr/>
        </p:nvSpPr>
        <p:spPr>
          <a:xfrm>
            <a:off x="3653028" y="5623423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2" name="Shape 128"/>
          <p:cNvSpPr/>
          <p:nvPr/>
        </p:nvSpPr>
        <p:spPr>
          <a:xfrm>
            <a:off x="4394998" y="5640751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3" name="Shape 129"/>
          <p:cNvSpPr/>
          <p:nvPr/>
        </p:nvSpPr>
        <p:spPr>
          <a:xfrm>
            <a:off x="5136969" y="5644500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4" name="Shape 130"/>
          <p:cNvSpPr/>
          <p:nvPr/>
        </p:nvSpPr>
        <p:spPr>
          <a:xfrm>
            <a:off x="5878939" y="5646146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5" name="Shape 131"/>
          <p:cNvSpPr/>
          <p:nvPr/>
        </p:nvSpPr>
        <p:spPr>
          <a:xfrm>
            <a:off x="6620909" y="5604678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6" name="Shape 132"/>
          <p:cNvSpPr/>
          <p:nvPr/>
        </p:nvSpPr>
        <p:spPr>
          <a:xfrm>
            <a:off x="7362879" y="5616839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7" name="Shape 133"/>
          <p:cNvSpPr/>
          <p:nvPr/>
        </p:nvSpPr>
        <p:spPr>
          <a:xfrm>
            <a:off x="8104850" y="5636384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8" name="Shape 134"/>
          <p:cNvSpPr/>
          <p:nvPr/>
        </p:nvSpPr>
        <p:spPr>
          <a:xfrm>
            <a:off x="8846820" y="5633093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9" name="Shape 135"/>
          <p:cNvSpPr/>
          <p:nvPr/>
        </p:nvSpPr>
        <p:spPr>
          <a:xfrm>
            <a:off x="9588790" y="5622074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0" name="Shape 136"/>
          <p:cNvSpPr/>
          <p:nvPr/>
        </p:nvSpPr>
        <p:spPr>
          <a:xfrm>
            <a:off x="10330761" y="5616793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1" name="Shape 137"/>
          <p:cNvSpPr/>
          <p:nvPr/>
        </p:nvSpPr>
        <p:spPr>
          <a:xfrm>
            <a:off x="11072731" y="5693557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2" name="Text 138"/>
          <p:cNvSpPr/>
          <p:nvPr/>
        </p:nvSpPr>
        <p:spPr>
          <a:xfrm>
            <a:off x="1093831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2026-02-16</a:t>
            </a:r>
            <a:endParaRPr lang="en-US" sz="580" dirty="0"/>
          </a:p>
        </p:txBody>
      </p:sp>
      <p:sp>
        <p:nvSpPr>
          <p:cNvPr id="143" name="Text 139"/>
          <p:cNvSpPr/>
          <p:nvPr/>
        </p:nvSpPr>
        <p:spPr>
          <a:xfrm>
            <a:off x="1835802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2026-02-23</a:t>
            </a:r>
            <a:endParaRPr lang="en-US" sz="580" dirty="0"/>
          </a:p>
        </p:txBody>
      </p:sp>
      <p:sp>
        <p:nvSpPr>
          <p:cNvPr id="144" name="Text 140"/>
          <p:cNvSpPr/>
          <p:nvPr/>
        </p:nvSpPr>
        <p:spPr>
          <a:xfrm>
            <a:off x="2577772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2026-03-02</a:t>
            </a:r>
            <a:endParaRPr lang="en-US" sz="580" dirty="0"/>
          </a:p>
        </p:txBody>
      </p:sp>
      <p:sp>
        <p:nvSpPr>
          <p:cNvPr id="145" name="Text 141"/>
          <p:cNvSpPr/>
          <p:nvPr/>
        </p:nvSpPr>
        <p:spPr>
          <a:xfrm>
            <a:off x="3319742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2026-03-09</a:t>
            </a:r>
            <a:endParaRPr lang="en-US" sz="580" dirty="0"/>
          </a:p>
        </p:txBody>
      </p:sp>
      <p:sp>
        <p:nvSpPr>
          <p:cNvPr id="146" name="Text 142"/>
          <p:cNvSpPr/>
          <p:nvPr/>
        </p:nvSpPr>
        <p:spPr>
          <a:xfrm>
            <a:off x="4061713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2026-03-16</a:t>
            </a:r>
            <a:endParaRPr lang="en-US" sz="580" dirty="0"/>
          </a:p>
        </p:txBody>
      </p:sp>
      <p:sp>
        <p:nvSpPr>
          <p:cNvPr id="147" name="Text 143"/>
          <p:cNvSpPr/>
          <p:nvPr/>
        </p:nvSpPr>
        <p:spPr>
          <a:xfrm>
            <a:off x="4803683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2026-03-23</a:t>
            </a:r>
            <a:endParaRPr lang="en-US" sz="580" dirty="0"/>
          </a:p>
        </p:txBody>
      </p:sp>
      <p:sp>
        <p:nvSpPr>
          <p:cNvPr id="148" name="Text 144"/>
          <p:cNvSpPr/>
          <p:nvPr/>
        </p:nvSpPr>
        <p:spPr>
          <a:xfrm>
            <a:off x="5545653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2026-03-30</a:t>
            </a:r>
            <a:endParaRPr lang="en-US" sz="580" dirty="0"/>
          </a:p>
        </p:txBody>
      </p:sp>
      <p:sp>
        <p:nvSpPr>
          <p:cNvPr id="149" name="Text 145"/>
          <p:cNvSpPr/>
          <p:nvPr/>
        </p:nvSpPr>
        <p:spPr>
          <a:xfrm>
            <a:off x="6287623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2026-04-06</a:t>
            </a:r>
            <a:endParaRPr lang="en-US" sz="580" dirty="0"/>
          </a:p>
        </p:txBody>
      </p:sp>
      <p:sp>
        <p:nvSpPr>
          <p:cNvPr id="150" name="Text 146"/>
          <p:cNvSpPr/>
          <p:nvPr/>
        </p:nvSpPr>
        <p:spPr>
          <a:xfrm>
            <a:off x="7029594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2026-04-13</a:t>
            </a:r>
            <a:endParaRPr lang="en-US" sz="580" dirty="0"/>
          </a:p>
        </p:txBody>
      </p:sp>
      <p:sp>
        <p:nvSpPr>
          <p:cNvPr id="151" name="Text 147"/>
          <p:cNvSpPr/>
          <p:nvPr/>
        </p:nvSpPr>
        <p:spPr>
          <a:xfrm>
            <a:off x="7771564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2026-04-20</a:t>
            </a:r>
            <a:endParaRPr lang="en-US" sz="580" dirty="0"/>
          </a:p>
        </p:txBody>
      </p:sp>
      <p:sp>
        <p:nvSpPr>
          <p:cNvPr id="152" name="Text 148"/>
          <p:cNvSpPr/>
          <p:nvPr/>
        </p:nvSpPr>
        <p:spPr>
          <a:xfrm>
            <a:off x="8513534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2026-04-27</a:t>
            </a:r>
            <a:endParaRPr lang="en-US" sz="580" dirty="0"/>
          </a:p>
        </p:txBody>
      </p:sp>
      <p:sp>
        <p:nvSpPr>
          <p:cNvPr id="153" name="Text 149"/>
          <p:cNvSpPr/>
          <p:nvPr/>
        </p:nvSpPr>
        <p:spPr>
          <a:xfrm>
            <a:off x="9255505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2026-05-04</a:t>
            </a:r>
            <a:endParaRPr lang="en-US" sz="580" dirty="0"/>
          </a:p>
        </p:txBody>
      </p:sp>
      <p:sp>
        <p:nvSpPr>
          <p:cNvPr id="154" name="Text 150"/>
          <p:cNvSpPr/>
          <p:nvPr/>
        </p:nvSpPr>
        <p:spPr>
          <a:xfrm>
            <a:off x="9997475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2026-05-11</a:t>
            </a:r>
            <a:endParaRPr lang="en-US" sz="580" dirty="0"/>
          </a:p>
        </p:txBody>
      </p:sp>
      <p:sp>
        <p:nvSpPr>
          <p:cNvPr id="155" name="Text 151"/>
          <p:cNvSpPr/>
          <p:nvPr/>
        </p:nvSpPr>
        <p:spPr>
          <a:xfrm>
            <a:off x="10739445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2026-05-18</a:t>
            </a:r>
            <a:endParaRPr lang="en-US" sz="580" dirty="0"/>
          </a:p>
        </p:txBody>
      </p:sp>
      <p:sp>
        <p:nvSpPr>
          <p:cNvPr id="156" name="Shape 152"/>
          <p:cNvSpPr/>
          <p:nvPr/>
        </p:nvSpPr>
        <p:spPr>
          <a:xfrm>
            <a:off x="3712464" y="6089904"/>
            <a:ext cx="137160" cy="45720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7" name="Text 153"/>
          <p:cNvSpPr/>
          <p:nvPr/>
        </p:nvSpPr>
        <p:spPr>
          <a:xfrm>
            <a:off x="3886200" y="6053328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Site</a:t>
            </a:r>
            <a:endParaRPr lang="en-US" sz="640" dirty="0"/>
          </a:p>
        </p:txBody>
      </p:sp>
      <p:sp>
        <p:nvSpPr>
          <p:cNvPr id="158" name="Shape 154"/>
          <p:cNvSpPr/>
          <p:nvPr/>
        </p:nvSpPr>
        <p:spPr>
          <a:xfrm>
            <a:off x="4736592" y="6117336"/>
            <a:ext cx="146304" cy="0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159" name="Text 155"/>
          <p:cNvSpPr/>
          <p:nvPr/>
        </p:nvSpPr>
        <p:spPr>
          <a:xfrm>
            <a:off x="4910328" y="6053328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1</a:t>
            </a:r>
            <a:endParaRPr lang="en-US" sz="640" dirty="0"/>
          </a:p>
        </p:txBody>
      </p:sp>
      <p:sp>
        <p:nvSpPr>
          <p:cNvPr id="160" name="Shape 156"/>
          <p:cNvSpPr/>
          <p:nvPr/>
        </p:nvSpPr>
        <p:spPr>
          <a:xfrm>
            <a:off x="5760720" y="6117336"/>
            <a:ext cx="146304" cy="0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161" name="Text 157"/>
          <p:cNvSpPr/>
          <p:nvPr/>
        </p:nvSpPr>
        <p:spPr>
          <a:xfrm>
            <a:off x="5934456" y="6053328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2</a:t>
            </a:r>
            <a:endParaRPr lang="en-US" sz="640" dirty="0"/>
          </a:p>
        </p:txBody>
      </p:sp>
      <p:sp>
        <p:nvSpPr>
          <p:cNvPr id="162" name="Shape 158"/>
          <p:cNvSpPr/>
          <p:nvPr/>
        </p:nvSpPr>
        <p:spPr>
          <a:xfrm>
            <a:off x="6784848" y="6117336"/>
            <a:ext cx="146304" cy="0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163" name="Text 159"/>
          <p:cNvSpPr/>
          <p:nvPr/>
        </p:nvSpPr>
        <p:spPr>
          <a:xfrm>
            <a:off x="6958584" y="6053328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3</a:t>
            </a:r>
            <a:endParaRPr lang="en-US" sz="640" dirty="0"/>
          </a:p>
        </p:txBody>
      </p:sp>
      <p:sp>
        <p:nvSpPr>
          <p:cNvPr id="164" name="Shape 160"/>
          <p:cNvSpPr/>
          <p:nvPr/>
        </p:nvSpPr>
        <p:spPr>
          <a:xfrm>
            <a:off x="7808976" y="6117336"/>
            <a:ext cx="146304" cy="0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65" name="Text 161"/>
          <p:cNvSpPr/>
          <p:nvPr/>
        </p:nvSpPr>
        <p:spPr>
          <a:xfrm>
            <a:off x="7982712" y="6053328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4</a:t>
            </a:r>
            <a:endParaRPr lang="en-US" sz="6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Within Competitor Group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 share for the primary publisher and four comparison publishers.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13232" y="1645920"/>
            <a:ext cx="10771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of publisher commission within competitor group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1207008" y="5513832"/>
            <a:ext cx="10058400" cy="0"/>
          </a:xfrm>
          <a:prstGeom prst="line">
            <a:avLst/>
          </a:prstGeom>
          <a:noFill/>
          <a:ln w="12700">
            <a:solidFill>
              <a:srgbClr val="AEB6C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07008" y="467944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07008" y="384505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07008" y="301066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207008" y="217627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728216" y="3437870"/>
            <a:ext cx="438912" cy="2075962"/>
          </a:xfrm>
          <a:prstGeom prst="rect">
            <a:avLst/>
          </a:prstGeom>
          <a:solidFill>
            <a:srgbClr val="7CC8DE">
              <a:alpha val="92000"/>
            </a:srgbClr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618488" y="3181838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62%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2258568" y="3447882"/>
            <a:ext cx="438912" cy="2065950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148840" y="3191850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62%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225296" y="566013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Site</a:t>
            </a:r>
            <a:endParaRPr lang="en-US" sz="860" dirty="0"/>
          </a:p>
        </p:txBody>
      </p:sp>
      <p:sp>
        <p:nvSpPr>
          <p:cNvPr id="16" name="Shape 13"/>
          <p:cNvSpPr/>
          <p:nvPr/>
        </p:nvSpPr>
        <p:spPr>
          <a:xfrm>
            <a:off x="3739896" y="4883033"/>
            <a:ext cx="438912" cy="630799"/>
          </a:xfrm>
          <a:prstGeom prst="rect">
            <a:avLst/>
          </a:prstGeom>
          <a:solidFill>
            <a:srgbClr val="7CC8DE">
              <a:alpha val="92000"/>
            </a:srgbClr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30168" y="4627001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19%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4270248" y="4976485"/>
            <a:ext cx="438912" cy="537347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160520" y="4720453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16%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3236976" y="566013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Comp. A</a:t>
            </a:r>
            <a:endParaRPr lang="en-US" sz="860" dirty="0"/>
          </a:p>
        </p:txBody>
      </p:sp>
      <p:sp>
        <p:nvSpPr>
          <p:cNvPr id="21" name="Shape 18"/>
          <p:cNvSpPr/>
          <p:nvPr/>
        </p:nvSpPr>
        <p:spPr>
          <a:xfrm>
            <a:off x="5751576" y="5140025"/>
            <a:ext cx="438912" cy="373807"/>
          </a:xfrm>
          <a:prstGeom prst="rect">
            <a:avLst/>
          </a:prstGeom>
          <a:solidFill>
            <a:srgbClr val="7CC8DE">
              <a:alpha val="92000"/>
            </a:srgbClr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641848" y="4883993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11%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6281928" y="5096637"/>
            <a:ext cx="438912" cy="417195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172200" y="4840605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13%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5248656" y="566013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Comp. B</a:t>
            </a:r>
            <a:endParaRPr lang="en-US" sz="860" dirty="0"/>
          </a:p>
        </p:txBody>
      </p:sp>
      <p:sp>
        <p:nvSpPr>
          <p:cNvPr id="26" name="Shape 23"/>
          <p:cNvSpPr/>
          <p:nvPr/>
        </p:nvSpPr>
        <p:spPr>
          <a:xfrm>
            <a:off x="7763256" y="5397017"/>
            <a:ext cx="438912" cy="116815"/>
          </a:xfrm>
          <a:prstGeom prst="rect">
            <a:avLst/>
          </a:prstGeom>
          <a:solidFill>
            <a:srgbClr val="7CC8DE">
              <a:alpha val="92000"/>
            </a:srgbClr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653528" y="5140985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4%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8293608" y="5340279"/>
            <a:ext cx="438912" cy="173553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183880" y="5084247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5%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7260336" y="566013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Comp. C</a:t>
            </a:r>
            <a:endParaRPr lang="en-US" sz="860" dirty="0"/>
          </a:p>
        </p:txBody>
      </p:sp>
      <p:sp>
        <p:nvSpPr>
          <p:cNvPr id="31" name="Shape 28"/>
          <p:cNvSpPr/>
          <p:nvPr/>
        </p:nvSpPr>
        <p:spPr>
          <a:xfrm>
            <a:off x="9774936" y="5373654"/>
            <a:ext cx="438912" cy="140178"/>
          </a:xfrm>
          <a:prstGeom prst="rect">
            <a:avLst/>
          </a:prstGeom>
          <a:solidFill>
            <a:srgbClr val="7CC8DE">
              <a:alpha val="92000"/>
            </a:srgbClr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665208" y="5117622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4%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10305288" y="5370317"/>
            <a:ext cx="438912" cy="143515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0195560" y="5114285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4%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9272016" y="566013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Comp. D</a:t>
            </a:r>
            <a:endParaRPr lang="en-US" sz="860" dirty="0"/>
          </a:p>
        </p:txBody>
      </p:sp>
      <p:sp>
        <p:nvSpPr>
          <p:cNvPr id="36" name="Shape 33"/>
          <p:cNvSpPr/>
          <p:nvPr/>
        </p:nvSpPr>
        <p:spPr>
          <a:xfrm>
            <a:off x="4608576" y="5884164"/>
            <a:ext cx="137160" cy="64008"/>
          </a:xfrm>
          <a:prstGeom prst="rect">
            <a:avLst/>
          </a:prstGeom>
          <a:solidFill>
            <a:srgbClr val="7CC8DE"/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791456" y="5843016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% of Site Group PP</a:t>
            </a:r>
            <a:endParaRPr lang="en-US" sz="760" dirty="0"/>
          </a:p>
        </p:txBody>
      </p:sp>
      <p:sp>
        <p:nvSpPr>
          <p:cNvPr id="38" name="Shape 35"/>
          <p:cNvSpPr/>
          <p:nvPr/>
        </p:nvSpPr>
        <p:spPr>
          <a:xfrm>
            <a:off x="6236208" y="5884164"/>
            <a:ext cx="137160" cy="64008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419088" y="5843016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% of Site Group</a:t>
            </a:r>
            <a:endParaRPr lang="en-US" sz="76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Programs Competitor Performance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of publisher commission by program across the primary publisher and four comparison publishers.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00784"/>
            <a:ext cx="11430000" cy="4583887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92224"/>
          <a:ext cx="11210544" cy="4437583"/>
        </p:xfrm>
        <a:graphic>
          <a:graphicData uri="http://schemas.openxmlformats.org/drawingml/2006/table">
            <a:tbl>
              <a:tblPr/>
              <a:tblGrid>
                <a:gridCol w="3993185"/>
                <a:gridCol w="1688897"/>
                <a:gridCol w="1382573"/>
                <a:gridCol w="1382573"/>
                <a:gridCol w="1382573"/>
                <a:gridCol w="1382573"/>
              </a:tblGrid>
              <a:tr h="43251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topcashback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A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B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C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D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getyourguide.co.uk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75%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Staysure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23%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Morrisons Grocery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57%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36%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Sixt Rent a Car UK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67%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25%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Avanti Travel Insurance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Stena Line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23%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Direct Ferries UK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68%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13%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19%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InsureandGo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16%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Disneyland Paris GB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65%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13%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eFlorist UK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53%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16%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Highlights &amp; Business Implications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numbers mean for the business - key signals and context.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31520" y="17007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Conversion Rate Movement</a:t>
            </a:r>
            <a:endParaRPr lang="en-US" sz="1320" dirty="0"/>
          </a:p>
        </p:txBody>
      </p:sp>
      <p:sp>
        <p:nvSpPr>
          <p:cNvPr id="6" name="Text 3"/>
          <p:cNvSpPr/>
          <p:nvPr/>
        </p:nvSpPr>
        <p:spPr>
          <a:xfrm>
            <a:off x="960120" y="19842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 rate increased +9.8% (23.4% to 25.6%). Conversions decreased -5.3% (-5,275), showing how efficiently programs converted traffic into outcomes.</a:t>
            </a:r>
            <a:endParaRPr lang="en-US" sz="1110" dirty="0"/>
          </a:p>
        </p:txBody>
      </p:sp>
      <p:sp>
        <p:nvSpPr>
          <p:cNvPr id="7" name="Text 4"/>
          <p:cNvSpPr/>
          <p:nvPr/>
        </p:nvSpPr>
        <p:spPr>
          <a:xfrm>
            <a:off x="731520" y="26151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Conversion Volume</a:t>
            </a:r>
            <a:endParaRPr lang="en-US" sz="1320" dirty="0"/>
          </a:p>
        </p:txBody>
      </p:sp>
      <p:sp>
        <p:nvSpPr>
          <p:cNvPr id="8" name="Text 5"/>
          <p:cNvSpPr/>
          <p:nvPr/>
        </p:nvSpPr>
        <p:spPr>
          <a:xfrm>
            <a:off x="960120" y="28986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conversions decreased -5.3% (-5,275). Largest declining program contribution requires confirmation from mover tables.</a:t>
            </a:r>
            <a:endParaRPr lang="en-US" sz="1110" dirty="0"/>
          </a:p>
        </p:txBody>
      </p:sp>
      <p:sp>
        <p:nvSpPr>
          <p:cNvPr id="9" name="Text 6"/>
          <p:cNvSpPr/>
          <p:nvPr/>
        </p:nvSpPr>
        <p:spPr>
          <a:xfrm>
            <a:off x="731520" y="35295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Order Value</a:t>
            </a:r>
            <a:endParaRPr lang="en-US" sz="1320" dirty="0"/>
          </a:p>
        </p:txBody>
      </p:sp>
      <p:sp>
        <p:nvSpPr>
          <p:cNvPr id="10" name="Text 7"/>
          <p:cNvSpPr/>
          <p:nvPr/>
        </p:nvSpPr>
        <p:spPr>
          <a:xfrm>
            <a:off x="960120" y="38130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order value decreased -35.2% (€24,652,989 to €15,964,812). Value generation moved alongside conversion volume and earnings performance.</a:t>
            </a:r>
            <a:endParaRPr lang="en-US" sz="1110" dirty="0"/>
          </a:p>
        </p:txBody>
      </p:sp>
      <p:sp>
        <p:nvSpPr>
          <p:cNvPr id="11" name="Text 8"/>
          <p:cNvSpPr/>
          <p:nvPr/>
        </p:nvSpPr>
        <p:spPr>
          <a:xfrm>
            <a:off x="731520" y="44439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Publisher Commission</a:t>
            </a:r>
            <a:endParaRPr lang="en-US" sz="1320" dirty="0"/>
          </a:p>
        </p:txBody>
      </p:sp>
      <p:sp>
        <p:nvSpPr>
          <p:cNvPr id="12" name="Text 9"/>
          <p:cNvSpPr/>
          <p:nvPr/>
        </p:nvSpPr>
        <p:spPr>
          <a:xfrm>
            <a:off x="960120" y="47274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 decreased -26.6% (€966,077 to €709,484). Commission remains the core earning component for the program.</a:t>
            </a:r>
            <a:endParaRPr lang="en-US" sz="1110" dirty="0"/>
          </a:p>
        </p:txBody>
      </p:sp>
      <p:sp>
        <p:nvSpPr>
          <p:cNvPr id="13" name="Text 10"/>
          <p:cNvSpPr/>
          <p:nvPr/>
        </p:nvSpPr>
        <p:spPr>
          <a:xfrm>
            <a:off x="731520" y="53583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Total Earnings</a:t>
            </a:r>
            <a:endParaRPr lang="en-US" sz="1320" dirty="0"/>
          </a:p>
        </p:txBody>
      </p:sp>
      <p:sp>
        <p:nvSpPr>
          <p:cNvPr id="14" name="Text 11"/>
          <p:cNvSpPr/>
          <p:nvPr/>
        </p:nvSpPr>
        <p:spPr>
          <a:xfrm>
            <a:off x="960120" y="56418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 decreased -30.9% (€1,124,837 to €777,612). Digital wallet contribution was €68,128 (-57.1%), so total earnings combine commission and wallet income.</a:t>
            </a:r>
            <a:endParaRPr lang="en-US" sz="111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Risks &amp; Dependencies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713232" y="1975104"/>
            <a:ext cx="3438144" cy="3493008"/>
          </a:xfrm>
          <a:prstGeom prst="roundRect">
            <a:avLst/>
          </a:prstGeom>
          <a:solidFill>
            <a:srgbClr val="D7E4FF"/>
          </a:solidFill>
          <a:ln w="12700">
            <a:solidFill>
              <a:srgbClr val="D7E4F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05840" y="2286000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 - Order value concentration</a:t>
            </a:r>
            <a:endParaRPr lang="en-US" sz="1140" dirty="0"/>
          </a:p>
        </p:txBody>
      </p:sp>
      <p:sp>
        <p:nvSpPr>
          <p:cNvPr id="6" name="Text 3"/>
          <p:cNvSpPr/>
          <p:nvPr/>
        </p:nvSpPr>
        <p:spPr>
          <a:xfrm>
            <a:off x="1005840" y="2999232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</a:t>
            </a:r>
            <a:endParaRPr lang="en-US" sz="830" dirty="0"/>
          </a:p>
        </p:txBody>
      </p:sp>
      <p:sp>
        <p:nvSpPr>
          <p:cNvPr id="7" name="Text 4"/>
          <p:cNvSpPr/>
          <p:nvPr/>
        </p:nvSpPr>
        <p:spPr>
          <a:xfrm>
            <a:off x="1005840" y="3255264"/>
            <a:ext cx="28163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Morrisons Grocery contributes 35.5% of current order value (€5,666,026 of €15,964,812).</a:t>
            </a:r>
            <a:endParaRPr lang="en-US" sz="810" dirty="0"/>
          </a:p>
        </p:txBody>
      </p:sp>
      <p:sp>
        <p:nvSpPr>
          <p:cNvPr id="8" name="Text 5"/>
          <p:cNvSpPr/>
          <p:nvPr/>
        </p:nvSpPr>
        <p:spPr>
          <a:xfrm>
            <a:off x="1005840" y="4334256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830" dirty="0"/>
          </a:p>
        </p:txBody>
      </p:sp>
      <p:sp>
        <p:nvSpPr>
          <p:cNvPr id="9" name="Text 6"/>
          <p:cNvSpPr/>
          <p:nvPr/>
        </p:nvSpPr>
        <p:spPr>
          <a:xfrm>
            <a:off x="1005840" y="4590288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 the leading program's placement while adding two similar programs into the next campaign rotation so commission is not dependent on one partner.</a:t>
            </a:r>
            <a:endParaRPr lang="en-US" sz="770" dirty="0"/>
          </a:p>
        </p:txBody>
      </p:sp>
      <p:sp>
        <p:nvSpPr>
          <p:cNvPr id="10" name="Shape 7"/>
          <p:cNvSpPr/>
          <p:nvPr/>
        </p:nvSpPr>
        <p:spPr>
          <a:xfrm>
            <a:off x="4370832" y="1975104"/>
            <a:ext cx="3438144" cy="3493008"/>
          </a:xfrm>
          <a:prstGeom prst="roundRect">
            <a:avLst/>
          </a:prstGeom>
          <a:solidFill>
            <a:srgbClr val="D7E4FF"/>
          </a:solidFill>
          <a:ln w="12700">
            <a:solidFill>
              <a:srgbClr val="D7E4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63440" y="2286000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Medium - Conversion dependency</a:t>
            </a:r>
            <a:endParaRPr lang="en-US" sz="1140" dirty="0"/>
          </a:p>
        </p:txBody>
      </p:sp>
      <p:sp>
        <p:nvSpPr>
          <p:cNvPr id="12" name="Text 9"/>
          <p:cNvSpPr/>
          <p:nvPr/>
        </p:nvSpPr>
        <p:spPr>
          <a:xfrm>
            <a:off x="4663440" y="2999232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</a:t>
            </a:r>
            <a:endParaRPr lang="en-US" sz="830" dirty="0"/>
          </a:p>
        </p:txBody>
      </p:sp>
      <p:sp>
        <p:nvSpPr>
          <p:cNvPr id="13" name="Text 10"/>
          <p:cNvSpPr/>
          <p:nvPr/>
        </p:nvSpPr>
        <p:spPr>
          <a:xfrm>
            <a:off x="4663440" y="3255264"/>
            <a:ext cx="28163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Morrisons Grocery contributes 57.3% of current conversions (53,544 of 93,454).</a:t>
            </a:r>
            <a:endParaRPr lang="en-US" sz="810" dirty="0"/>
          </a:p>
        </p:txBody>
      </p:sp>
      <p:sp>
        <p:nvSpPr>
          <p:cNvPr id="14" name="Text 11"/>
          <p:cNvSpPr/>
          <p:nvPr/>
        </p:nvSpPr>
        <p:spPr>
          <a:xfrm>
            <a:off x="4663440" y="4334256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830" dirty="0"/>
          </a:p>
        </p:txBody>
      </p:sp>
      <p:sp>
        <p:nvSpPr>
          <p:cNvPr id="15" name="Text 12"/>
          <p:cNvSpPr/>
          <p:nvPr/>
        </p:nvSpPr>
        <p:spPr>
          <a:xfrm>
            <a:off x="4663440" y="4590288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 the leading program's placement while adding two similar programs into the next campaign rotation so commission is not dependent on one partner.</a:t>
            </a:r>
            <a:endParaRPr lang="en-US" sz="770" dirty="0"/>
          </a:p>
        </p:txBody>
      </p:sp>
      <p:sp>
        <p:nvSpPr>
          <p:cNvPr id="16" name="Shape 13"/>
          <p:cNvSpPr/>
          <p:nvPr/>
        </p:nvSpPr>
        <p:spPr>
          <a:xfrm>
            <a:off x="8028432" y="1975104"/>
            <a:ext cx="3438144" cy="3493008"/>
          </a:xfrm>
          <a:prstGeom prst="roundRect">
            <a:avLst/>
          </a:prstGeom>
          <a:solidFill>
            <a:srgbClr val="D7E4FF"/>
          </a:solidFill>
          <a:ln w="12700">
            <a:solidFill>
              <a:srgbClr val="D7E4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21040" y="2286000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Medium - Digital wallet concentration</a:t>
            </a:r>
            <a:endParaRPr lang="en-US" sz="1140" dirty="0"/>
          </a:p>
        </p:txBody>
      </p:sp>
      <p:sp>
        <p:nvSpPr>
          <p:cNvPr id="18" name="Text 15"/>
          <p:cNvSpPr/>
          <p:nvPr/>
        </p:nvSpPr>
        <p:spPr>
          <a:xfrm>
            <a:off x="8321040" y="2999232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</a:t>
            </a:r>
            <a:endParaRPr lang="en-US" sz="830" dirty="0"/>
          </a:p>
        </p:txBody>
      </p:sp>
      <p:sp>
        <p:nvSpPr>
          <p:cNvPr id="19" name="Text 16"/>
          <p:cNvSpPr/>
          <p:nvPr/>
        </p:nvSpPr>
        <p:spPr>
          <a:xfrm>
            <a:off x="8321040" y="3255264"/>
            <a:ext cx="28163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MoneyFarm contributes 51.5% of current digital wallet (€35,065 of €68,128).</a:t>
            </a:r>
            <a:endParaRPr lang="en-US" sz="810" dirty="0"/>
          </a:p>
        </p:txBody>
      </p:sp>
      <p:sp>
        <p:nvSpPr>
          <p:cNvPr id="20" name="Text 17"/>
          <p:cNvSpPr/>
          <p:nvPr/>
        </p:nvSpPr>
        <p:spPr>
          <a:xfrm>
            <a:off x="8321040" y="4334256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830" dirty="0"/>
          </a:p>
        </p:txBody>
      </p:sp>
      <p:sp>
        <p:nvSpPr>
          <p:cNvPr id="21" name="Text 18"/>
          <p:cNvSpPr/>
          <p:nvPr/>
        </p:nvSpPr>
        <p:spPr>
          <a:xfrm>
            <a:off x="8321040" y="4590288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 the leading program's placement while adding two similar programs into the next campaign rotation so commission is not dependent on one partner.</a:t>
            </a:r>
            <a:endParaRPr lang="en-US" sz="77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C:\Users\harcol\Workflows\Publisher QBR\ai-agent-agenthub\qbr-pptx-service\assets\fifth-element-wireframe-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368" y="73152"/>
            <a:ext cx="6309360" cy="63093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1325880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Topcashback - Thank you.</a:t>
            </a:r>
            <a:endParaRPr lang="en-US" sz="2500" dirty="0"/>
          </a:p>
        </p:txBody>
      </p:sp>
      <p:sp>
        <p:nvSpPr>
          <p:cNvPr id="5" name="Shape 1"/>
          <p:cNvSpPr/>
          <p:nvPr/>
        </p:nvSpPr>
        <p:spPr>
          <a:xfrm>
            <a:off x="640080" y="2331720"/>
            <a:ext cx="2578608" cy="1024128"/>
          </a:xfrm>
          <a:prstGeom prst="roundRect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>
                <a:alpha val="45000"/>
              </a:srgbClr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640080" y="2331720"/>
            <a:ext cx="257860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Any Questions?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Tradedoubler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QBR - topcashback</dc:title>
  <dc:subject>Quarterly business review</dc:subject>
  <dc:creator>QBR PPTX Service</dc:creator>
  <cp:lastModifiedBy>QBR PPTX Service</cp:lastModifiedBy>
  <cp:revision>1</cp:revision>
  <dcterms:created xsi:type="dcterms:W3CDTF">2026-05-19T14:59:13Z</dcterms:created>
  <dcterms:modified xsi:type="dcterms:W3CDTF">2026-05-19T14:59:13Z</dcterms:modified>
</cp:coreProperties>
</file>