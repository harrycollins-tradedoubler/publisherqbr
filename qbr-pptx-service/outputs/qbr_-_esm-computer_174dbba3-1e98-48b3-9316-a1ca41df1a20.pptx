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621792"/>
            <a:ext cx="10561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ESM-Computer Performance Review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21792" y="1828800"/>
            <a:ext cx="10378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year-over-year review of ESM-Computer publisher performance, conversion dynamics, earnings and strategic priorities to drive growth and optimise outcomes.</a:t>
            </a:r>
            <a:endParaRPr lang="en-US" sz="1220" dirty="0"/>
          </a:p>
        </p:txBody>
      </p:sp>
      <p:pic>
        <p:nvPicPr>
          <p:cNvPr id="5" name="Image 1" descr="C:\Users\harcol\Workflows\Publisher QBR\ai-agent-agenthub\qbr-pptx-service\assets\td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58768"/>
            <a:ext cx="1965960" cy="1591056"/>
          </a:xfrm>
          <a:prstGeom prst="rect">
            <a:avLst/>
          </a:prstGeom>
        </p:spPr>
      </p:pic>
      <p:pic>
        <p:nvPicPr>
          <p:cNvPr id="6" name="Image 2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542032"/>
            <a:ext cx="40233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26187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and YoY comparison windows</a:t>
            </a:r>
            <a:endParaRPr lang="en-US" sz="1020" dirty="0"/>
          </a:p>
        </p:txBody>
      </p:sp>
      <p:sp>
        <p:nvSpPr>
          <p:cNvPr id="5" name="Text 2"/>
          <p:cNvSpPr/>
          <p:nvPr/>
        </p:nvSpPr>
        <p:spPr>
          <a:xfrm>
            <a:off x="658368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Period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58368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Period: 1 January 2025 – 31 March 2025</a:t>
            </a:r>
            <a:endParaRPr lang="en-US" sz="980" dirty="0"/>
          </a:p>
        </p:txBody>
      </p:sp>
      <p:sp>
        <p:nvSpPr>
          <p:cNvPr id="7" name="Text 4"/>
          <p:cNvSpPr/>
          <p:nvPr/>
        </p:nvSpPr>
        <p:spPr>
          <a:xfrm>
            <a:off x="658368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as of: 31 March 2025</a:t>
            </a:r>
            <a:endParaRPr lang="en-US" sz="980" dirty="0"/>
          </a:p>
        </p:txBody>
      </p:sp>
      <p:sp>
        <p:nvSpPr>
          <p:cNvPr id="8" name="Text 5"/>
          <p:cNvSpPr/>
          <p:nvPr/>
        </p:nvSpPr>
        <p:spPr>
          <a:xfrm>
            <a:off x="5989320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 (YoY)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89320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Period: 1 January 2024 – 31 March 2024</a:t>
            </a:r>
            <a:endParaRPr lang="en-US" sz="980" dirty="0"/>
          </a:p>
        </p:txBody>
      </p:sp>
      <p:sp>
        <p:nvSpPr>
          <p:cNvPr id="10" name="Text 7"/>
          <p:cNvSpPr/>
          <p:nvPr/>
        </p:nvSpPr>
        <p:spPr>
          <a:xfrm>
            <a:off x="5989320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Basis: Year-over-Year (YoY)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658368" y="3273552"/>
            <a:ext cx="10927080" cy="804672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355701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figures are reported in EUR unless otherwise stated. YoY variance is calculated as Current Period vs Comparison Period.</a:t>
            </a:r>
            <a:endParaRPr lang="en-US" sz="9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Performance: Executive Summary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139696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67712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☰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1248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41248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389 vs 905 PY</a:t>
            </a:r>
            <a:endParaRPr lang="en-US" sz="1020" dirty="0"/>
          </a:p>
        </p:txBody>
      </p:sp>
      <p:sp>
        <p:nvSpPr>
          <p:cNvPr id="10" name="Text 7"/>
          <p:cNvSpPr/>
          <p:nvPr/>
        </p:nvSpPr>
        <p:spPr>
          <a:xfrm>
            <a:off x="3163824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-57.0%</a:t>
            </a:r>
            <a:endParaRPr lang="en-US" sz="1020" dirty="0"/>
          </a:p>
        </p:txBody>
      </p:sp>
      <p:sp>
        <p:nvSpPr>
          <p:cNvPr id="11" name="Shape 8"/>
          <p:cNvSpPr/>
          <p:nvPr/>
        </p:nvSpPr>
        <p:spPr>
          <a:xfrm>
            <a:off x="4352544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52544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852160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0176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53712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53712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€212,779 vs €405,448 PY</a:t>
            </a:r>
            <a:endParaRPr lang="en-US" sz="1020" dirty="0"/>
          </a:p>
        </p:txBody>
      </p:sp>
      <p:sp>
        <p:nvSpPr>
          <p:cNvPr id="17" name="Text 14"/>
          <p:cNvSpPr/>
          <p:nvPr/>
        </p:nvSpPr>
        <p:spPr>
          <a:xfrm>
            <a:off x="6876288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-47.5%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8065008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065008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564624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692640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266176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8266176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€16,292 vs €28,342 PY</a:t>
            </a:r>
            <a:endParaRPr lang="en-US" sz="1020" dirty="0"/>
          </a:p>
        </p:txBody>
      </p:sp>
      <p:sp>
        <p:nvSpPr>
          <p:cNvPr id="24" name="Text 21"/>
          <p:cNvSpPr/>
          <p:nvPr/>
        </p:nvSpPr>
        <p:spPr>
          <a:xfrm>
            <a:off x="10588752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-42.5%</a:t>
            </a:r>
            <a:endParaRPr lang="en-US" sz="1020" dirty="0"/>
          </a:p>
        </p:txBody>
      </p:sp>
      <p:sp>
        <p:nvSpPr>
          <p:cNvPr id="25" name="Shape 22"/>
          <p:cNvSpPr/>
          <p:nvPr/>
        </p:nvSpPr>
        <p:spPr>
          <a:xfrm>
            <a:off x="2496312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496312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995928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123944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2697480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2697480" y="4544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€16,292 vs €28,342 PY</a:t>
            </a:r>
            <a:endParaRPr lang="en-US" sz="1020" dirty="0"/>
          </a:p>
        </p:txBody>
      </p:sp>
      <p:sp>
        <p:nvSpPr>
          <p:cNvPr id="31" name="Text 28"/>
          <p:cNvSpPr/>
          <p:nvPr/>
        </p:nvSpPr>
        <p:spPr>
          <a:xfrm>
            <a:off x="5020056" y="45445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-42.5%</a:t>
            </a:r>
            <a:endParaRPr lang="en-US" sz="1020" dirty="0"/>
          </a:p>
        </p:txBody>
      </p:sp>
      <p:sp>
        <p:nvSpPr>
          <p:cNvPr id="32" name="Shape 29"/>
          <p:cNvSpPr/>
          <p:nvPr/>
        </p:nvSpPr>
        <p:spPr>
          <a:xfrm>
            <a:off x="6208776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208776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708392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836408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409944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09944" y="4544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0.50% vs 0.09% PY</a:t>
            </a:r>
            <a:endParaRPr lang="en-US" sz="1020" dirty="0"/>
          </a:p>
        </p:txBody>
      </p:sp>
      <p:sp>
        <p:nvSpPr>
          <p:cNvPr id="38" name="Text 35"/>
          <p:cNvSpPr/>
          <p:nvPr/>
        </p:nvSpPr>
        <p:spPr>
          <a:xfrm>
            <a:off x="8732520" y="45445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+488.2%</a:t>
            </a:r>
            <a:endParaRPr lang="en-US" sz="1020" dirty="0"/>
          </a:p>
        </p:txBody>
      </p:sp>
      <p:sp>
        <p:nvSpPr>
          <p:cNvPr id="39" name="Text 36"/>
          <p:cNvSpPr/>
          <p:nvPr/>
        </p:nvSpPr>
        <p:spPr>
          <a:xfrm>
            <a:off x="749808" y="536752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Across all programs connected to ESM-Computer, performance was mixed in Jan 2025 – Mar 2025. Conversions moved -57.0% to 389 and conversion rate moved +488.2% to 0.50%. Publisher commission decreased -42.5% to €16,292, while digital wallet earnings changed N/A to -. Total earnings ended at €16,292 (-42.5%) and total order value decreased -47.5% to €212,779.</a:t>
            </a:r>
            <a:endParaRPr lang="en-US" sz="11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Summary Table: Conversions &amp; Earnings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KPI breakdown vs prior year.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4578401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4432097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63002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Previous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Difference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% Variance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905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-516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-57.0%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 Rate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0.50%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0.42%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+488.2%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Clicks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77,282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1,057,600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-980,318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-92.7%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per Conversion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€41.88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€31.32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+€10.56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+33.7%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Order Value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€212,779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€405,448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-€192,669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-47.5%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€16,292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€28,342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-€12,049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-42.5%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€16,292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€28,342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-€12,049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-42.5%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75488" y="6260897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= Publisher Commission + Digital Wallet. Conversion rate uses the source API's conversion-rate basis.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9260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Activation Status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089904" y="1298448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89904" y="3794760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424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288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47088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1847088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Joined programs</a:t>
            </a:r>
            <a:endParaRPr lang="en-US" sz="1360" dirty="0"/>
          </a:p>
        </p:txBody>
      </p:sp>
      <p:sp>
        <p:nvSpPr>
          <p:cNvPr id="10" name="Text 7"/>
          <p:cNvSpPr/>
          <p:nvPr/>
        </p:nvSpPr>
        <p:spPr>
          <a:xfrm>
            <a:off x="1847088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1847088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2" name="Text 9"/>
          <p:cNvSpPr/>
          <p:nvPr/>
        </p:nvSpPr>
        <p:spPr>
          <a:xfrm>
            <a:off x="3566160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3566160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4" name="Text 11"/>
          <p:cNvSpPr/>
          <p:nvPr/>
        </p:nvSpPr>
        <p:spPr>
          <a:xfrm>
            <a:off x="7278624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7278624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clicks</a:t>
            </a:r>
            <a:endParaRPr lang="en-US" sz="1360" dirty="0"/>
          </a:p>
        </p:txBody>
      </p:sp>
      <p:sp>
        <p:nvSpPr>
          <p:cNvPr id="16" name="Text 13"/>
          <p:cNvSpPr/>
          <p:nvPr/>
        </p:nvSpPr>
        <p:spPr>
          <a:xfrm>
            <a:off x="7278624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7278624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8" name="Text 15"/>
          <p:cNvSpPr/>
          <p:nvPr/>
        </p:nvSpPr>
        <p:spPr>
          <a:xfrm>
            <a:off x="8997696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8997696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0" name="Text 17"/>
          <p:cNvSpPr/>
          <p:nvPr/>
        </p:nvSpPr>
        <p:spPr>
          <a:xfrm>
            <a:off x="1847088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21" name="Text 18"/>
          <p:cNvSpPr/>
          <p:nvPr/>
        </p:nvSpPr>
        <p:spPr>
          <a:xfrm>
            <a:off x="1847088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commission</a:t>
            </a:r>
            <a:endParaRPr lang="en-US" sz="1360" dirty="0"/>
          </a:p>
        </p:txBody>
      </p:sp>
      <p:sp>
        <p:nvSpPr>
          <p:cNvPr id="22" name="Text 19"/>
          <p:cNvSpPr/>
          <p:nvPr/>
        </p:nvSpPr>
        <p:spPr>
          <a:xfrm>
            <a:off x="1847088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1847088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4" name="Text 21"/>
          <p:cNvSpPr/>
          <p:nvPr/>
        </p:nvSpPr>
        <p:spPr>
          <a:xfrm>
            <a:off x="3566160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25" name="Text 22"/>
          <p:cNvSpPr/>
          <p:nvPr/>
        </p:nvSpPr>
        <p:spPr>
          <a:xfrm>
            <a:off x="3566160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6" name="Text 23"/>
          <p:cNvSpPr/>
          <p:nvPr/>
        </p:nvSpPr>
        <p:spPr>
          <a:xfrm>
            <a:off x="7278624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27" name="Text 24"/>
          <p:cNvSpPr/>
          <p:nvPr/>
        </p:nvSpPr>
        <p:spPr>
          <a:xfrm>
            <a:off x="7278624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Inactive</a:t>
            </a:r>
            <a:endParaRPr lang="en-US" sz="1360" dirty="0"/>
          </a:p>
        </p:txBody>
      </p:sp>
      <p:sp>
        <p:nvSpPr>
          <p:cNvPr id="28" name="Text 25"/>
          <p:cNvSpPr/>
          <p:nvPr/>
        </p:nvSpPr>
        <p:spPr>
          <a:xfrm>
            <a:off x="7278624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9" name="Text 26"/>
          <p:cNvSpPr/>
          <p:nvPr/>
        </p:nvSpPr>
        <p:spPr>
          <a:xfrm>
            <a:off x="7278624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30" name="Text 27"/>
          <p:cNvSpPr/>
          <p:nvPr/>
        </p:nvSpPr>
        <p:spPr>
          <a:xfrm>
            <a:off x="8997696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8997696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Program-Level Analysis: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Per-program view ordered by publisher commission.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156819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1421892"/>
        </p:xfrm>
        <a:graphic>
          <a:graphicData uri="http://schemas.openxmlformats.org/drawingml/2006/table">
            <a:tbl>
              <a:tblPr/>
              <a:tblGrid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</a:tblGrid>
              <a:tr h="7635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321911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€212,779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Movers &amp; Shakers: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positive and top 10 negative period-on-period publisher commission changes.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30352" y="12984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Partners with most change in publisher commission period-on-period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4050792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21858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92924" y="1591056"/>
            <a:ext cx="0" cy="4846320"/>
          </a:xfrm>
          <a:prstGeom prst="line">
            <a:avLst/>
          </a:prstGeom>
          <a:noFill/>
          <a:ln w="12700">
            <a:solidFill>
              <a:srgbClr val="7B819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063990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735056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" y="3922776"/>
            <a:ext cx="3264408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qualifying program movement</a:t>
            </a:r>
            <a:endParaRPr lang="en-US" sz="640" dirty="0"/>
          </a:p>
        </p:txBody>
      </p:sp>
      <p:sp>
        <p:nvSpPr>
          <p:cNvPr id="12" name="Shape 9"/>
          <p:cNvSpPr/>
          <p:nvPr/>
        </p:nvSpPr>
        <p:spPr>
          <a:xfrm>
            <a:off x="7392924" y="3954780"/>
            <a:ext cx="18288" cy="11887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56932" y="3941064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6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New Programs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joined or first active for the primary publisher in the current period.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4401007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4254703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53858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6451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6451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6451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6451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6451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6451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6451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6451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Analysis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Anonymous comparison of publisher commission coverage and white-space programmes.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64208"/>
            <a:ext cx="11430000" cy="119695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55648"/>
          <a:ext cx="11210544" cy="1050646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5641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Competitor Group Summary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Your Site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4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Distinct comp. prog. #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864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Within Competitor Group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share for the primary publisher and four comparison publishers.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13232" y="1645920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within competitor group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207008" y="5513832"/>
            <a:ext cx="10058400" cy="0"/>
          </a:xfrm>
          <a:prstGeom prst="line">
            <a:avLst/>
          </a:prstGeom>
          <a:noFill/>
          <a:ln w="12700">
            <a:solidFill>
              <a:srgbClr val="AEB6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07008" y="467944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07008" y="384505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07008" y="301066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07008" y="217627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61872" y="3931920"/>
            <a:ext cx="9674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share chart requires publisher commission values for the primary site and comparison group.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Programs Competitor Performance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by program across the primary publisher and four comparison publishers.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00784"/>
            <a:ext cx="11430000" cy="1021385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92224"/>
          <a:ext cx="11210544" cy="875081"/>
        </p:xfrm>
        <a:graphic>
          <a:graphicData uri="http://schemas.openxmlformats.org/drawingml/2006/table">
            <a:tbl>
              <a:tblPr/>
              <a:tblGrid>
                <a:gridCol w="3993185"/>
                <a:gridCol w="1688897"/>
                <a:gridCol w="1382573"/>
                <a:gridCol w="1382573"/>
                <a:gridCol w="1382573"/>
                <a:gridCol w="1382573"/>
              </a:tblGrid>
              <a:tr h="4544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 Publisher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A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B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C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Highlights &amp; Business Implications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7007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Rate Movement</a:t>
            </a:r>
            <a:endParaRPr lang="en-US" sz="1320" dirty="0"/>
          </a:p>
        </p:txBody>
      </p:sp>
      <p:sp>
        <p:nvSpPr>
          <p:cNvPr id="6" name="Text 3"/>
          <p:cNvSpPr/>
          <p:nvPr/>
        </p:nvSpPr>
        <p:spPr>
          <a:xfrm>
            <a:off x="960120" y="19842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 increased +488.2% (0.09% to 0.50%). Conversions decreased -57.0% (-516), showing how efficiently programs converted traffic into outcomes.</a:t>
            </a:r>
            <a:endParaRPr lang="en-US" sz="1110" dirty="0"/>
          </a:p>
        </p:txBody>
      </p:sp>
      <p:sp>
        <p:nvSpPr>
          <p:cNvPr id="7" name="Text 4"/>
          <p:cNvSpPr/>
          <p:nvPr/>
        </p:nvSpPr>
        <p:spPr>
          <a:xfrm>
            <a:off x="731520" y="26151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Volume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960120" y="2898648"/>
            <a:ext cx="10652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conversions decreased -57.0% (-516). Largest declining programs were Audiencerun Side Kick DE (-82.4%), shoop.de (-46.7%), https://www.bounce-commerce.de (DE) (-25.3%).</a:t>
            </a:r>
            <a:endParaRPr lang="en-US" sz="1110" dirty="0"/>
          </a:p>
        </p:txBody>
      </p:sp>
      <p:sp>
        <p:nvSpPr>
          <p:cNvPr id="9" name="Text 6"/>
          <p:cNvSpPr/>
          <p:nvPr/>
        </p:nvSpPr>
        <p:spPr>
          <a:xfrm>
            <a:off x="731520" y="3657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 Value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960120" y="3941064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 decreased -47.5% (€405,448 to €212,779). Value generation moved alongside conversion volume and earnings performance.</a:t>
            </a:r>
            <a:endParaRPr lang="en-US" sz="1110" dirty="0"/>
          </a:p>
        </p:txBody>
      </p:sp>
      <p:sp>
        <p:nvSpPr>
          <p:cNvPr id="11" name="Text 8"/>
          <p:cNvSpPr/>
          <p:nvPr/>
        </p:nvSpPr>
        <p:spPr>
          <a:xfrm>
            <a:off x="731520" y="45720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Publisher Commission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960120" y="4855464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decreased -42.5% (€28,342 to €16,292). Commission remains the core earning component for the program.</a:t>
            </a:r>
            <a:endParaRPr lang="en-US" sz="1110" dirty="0"/>
          </a:p>
        </p:txBody>
      </p:sp>
      <p:sp>
        <p:nvSpPr>
          <p:cNvPr id="13" name="Text 10"/>
          <p:cNvSpPr/>
          <p:nvPr/>
        </p:nvSpPr>
        <p:spPr>
          <a:xfrm>
            <a:off x="731520" y="54864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Total Earnings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960120" y="5769864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decreased -42.5% (€28,342 to €16,292). Digital wallet contribution was - (N/A), so total earnings combine commission and wallet income.</a:t>
            </a:r>
            <a:endParaRPr lang="en-US" sz="111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&amp; Dependencies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132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58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value mix volatility</a:t>
            </a:r>
            <a:endParaRPr lang="en-US" sz="1140" dirty="0"/>
          </a:p>
        </p:txBody>
      </p:sp>
      <p:sp>
        <p:nvSpPr>
          <p:cNvPr id="6" name="Text 3"/>
          <p:cNvSpPr/>
          <p:nvPr/>
        </p:nvSpPr>
        <p:spPr>
          <a:xfrm>
            <a:off x="10058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7" name="Text 4"/>
          <p:cNvSpPr/>
          <p:nvPr/>
        </p:nvSpPr>
        <p:spPr>
          <a:xfrm>
            <a:off x="10058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targeting360 - DE was the strongest YoY uplift program (Other), adding €145,543 in OV (N/A).</a:t>
            </a:r>
            <a:endParaRPr lang="en-US" sz="810" dirty="0"/>
          </a:p>
        </p:txBody>
      </p:sp>
      <p:sp>
        <p:nvSpPr>
          <p:cNvPr id="8" name="Text 5"/>
          <p:cNvSpPr/>
          <p:nvPr/>
        </p:nvSpPr>
        <p:spPr>
          <a:xfrm>
            <a:off x="10058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9" name="Text 6"/>
          <p:cNvSpPr/>
          <p:nvPr/>
        </p:nvSpPr>
        <p:spPr>
          <a:xfrm>
            <a:off x="10058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Prioritise higher-basket placements or bundles with the affected programs, then track order value and conversion mix before adding more low-value volume.</a:t>
            </a:r>
            <a:endParaRPr lang="en-US" sz="770" dirty="0"/>
          </a:p>
        </p:txBody>
      </p:sp>
      <p:sp>
        <p:nvSpPr>
          <p:cNvPr id="10" name="Shape 7"/>
          <p:cNvSpPr/>
          <p:nvPr/>
        </p:nvSpPr>
        <p:spPr>
          <a:xfrm>
            <a:off x="43708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value mix volatility</a:t>
            </a:r>
            <a:endParaRPr lang="en-US" sz="1140" dirty="0"/>
          </a:p>
        </p:txBody>
      </p:sp>
      <p:sp>
        <p:nvSpPr>
          <p:cNvPr id="12" name="Text 9"/>
          <p:cNvSpPr/>
          <p:nvPr/>
        </p:nvSpPr>
        <p:spPr>
          <a:xfrm>
            <a:off x="46634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13" name="Text 10"/>
          <p:cNvSpPr/>
          <p:nvPr/>
        </p:nvSpPr>
        <p:spPr>
          <a:xfrm>
            <a:off x="46634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Audiencerun Side Kick DE was the largest declining program (Other), with OV movement -€283,929 (-81.1%).</a:t>
            </a:r>
            <a:endParaRPr lang="en-US" sz="810" dirty="0"/>
          </a:p>
        </p:txBody>
      </p:sp>
      <p:sp>
        <p:nvSpPr>
          <p:cNvPr id="14" name="Text 11"/>
          <p:cNvSpPr/>
          <p:nvPr/>
        </p:nvSpPr>
        <p:spPr>
          <a:xfrm>
            <a:off x="46634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15" name="Text 12"/>
          <p:cNvSpPr/>
          <p:nvPr/>
        </p:nvSpPr>
        <p:spPr>
          <a:xfrm>
            <a:off x="46634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Prioritise higher-basket placements or bundles with the affected programs, then track order value and conversion mix before adding more low-value volume.</a:t>
            </a:r>
            <a:endParaRPr lang="en-US" sz="770" dirty="0"/>
          </a:p>
        </p:txBody>
      </p:sp>
      <p:sp>
        <p:nvSpPr>
          <p:cNvPr id="16" name="Shape 13"/>
          <p:cNvSpPr/>
          <p:nvPr/>
        </p:nvSpPr>
        <p:spPr>
          <a:xfrm>
            <a:off x="80284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210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variance risk</a:t>
            </a:r>
            <a:endParaRPr lang="en-US" sz="1140" dirty="0"/>
          </a:p>
        </p:txBody>
      </p:sp>
      <p:sp>
        <p:nvSpPr>
          <p:cNvPr id="18" name="Text 15"/>
          <p:cNvSpPr/>
          <p:nvPr/>
        </p:nvSpPr>
        <p:spPr>
          <a:xfrm>
            <a:off x="83210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19" name="Text 16"/>
          <p:cNvSpPr/>
          <p:nvPr/>
        </p:nvSpPr>
        <p:spPr>
          <a:xfrm>
            <a:off x="83210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brand-new programs were activated, contributing €157,407 in combined OV.</a:t>
            </a:r>
            <a:endParaRPr lang="en-US" sz="810" dirty="0"/>
          </a:p>
        </p:txBody>
      </p:sp>
      <p:sp>
        <p:nvSpPr>
          <p:cNvPr id="20" name="Text 17"/>
          <p:cNvSpPr/>
          <p:nvPr/>
        </p:nvSpPr>
        <p:spPr>
          <a:xfrm>
            <a:off x="83210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21" name="Text 18"/>
          <p:cNvSpPr/>
          <p:nvPr/>
        </p:nvSpPr>
        <p:spPr>
          <a:xfrm>
            <a:off x="83210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Prioritise higher-basket placements or bundles with the affected programs, then track order value and conversion mix before adding more low-value volume.</a:t>
            </a:r>
            <a:endParaRPr lang="en-US" sz="77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73152"/>
            <a:ext cx="6309360" cy="63093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13258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ESM-Computer - Thank you.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640080" y="2331720"/>
            <a:ext cx="2578608" cy="1024128"/>
          </a:xfrm>
          <a:prstGeom prst="roundRect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>
                <a:alpha val="4500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40080" y="2331720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Questions?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ESM-Computer</dc:title>
  <dc:subject>Quarterly business review</dc:subject>
  <dc:creator>QBR PPTX Service</dc:creator>
  <cp:lastModifiedBy>QBR PPTX Service</cp:lastModifiedBy>
  <cp:revision>1</cp:revision>
  <dcterms:created xsi:type="dcterms:W3CDTF">2026-05-21T13:17:51Z</dcterms:created>
  <dcterms:modified xsi:type="dcterms:W3CDTF">2026-05-21T13:17:51Z</dcterms:modified>
</cp:coreProperties>
</file>