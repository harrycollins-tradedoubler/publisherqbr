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11 May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11 May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11 May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140,839 vs 151,294 PY -6.9%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£22,294,705 vs £31,966,933 PY -30.3%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£996,681 vs £1,343,387 PY -25.8%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41248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£149,751 vs £249,919 PY -40.1%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53712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£1,146,432 vs £1,593,306 PY -28.0%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266176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25.2% vs 24.1% PY +4.3%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topcashback, performance was mixed in Jan 2026 – May 2026. Conversions moved -6.9% to 140,839 and conversion rate moved +4.3% to 25.2%. Publisher commission decreased -25.8% to £996,681, while digital wallet earnings decreased -40.1% to £149,751. Total earnings ended at £1,146,432 (-28.0%) and total order value decreased -30.3% to £22,294,705.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140,839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151,294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-10,455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559,596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627,082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-67,486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£2.05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£2.54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1.15x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1.19x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-0.04x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£22,294,705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£31,966,933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-£9,672,228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£996,681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£1,343,387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-£346,705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£149,751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£249,919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-£100,169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£1,146,432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£1,593,306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-£446,874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254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253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168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£175,240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£181,240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16,535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£2,244,172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+84.2%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+57.9%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£126,623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£6,441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£133,064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£477,447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+17.5%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246156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£125,516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£17,150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£142,666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79,754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£7,433,089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£43,803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£1,617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£45,420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£168,986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£43,381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£2,863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£46,244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£426,198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+78.2%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£39,583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£39,583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2,313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£787,658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-36.3%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£33,802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£3,250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£37,052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£1,473,859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-53.0%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329603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£31,401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£48,815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£80,216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£1,152,229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-62.5%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£28,379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£28,379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£129,325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Club Med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£6,134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£28,835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£477,573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236409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4,794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£130,630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£557,589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(+115.5%)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136384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02490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£93,920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(+79.8%)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27964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18290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£19,257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(+17.5%)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273671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12315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£18,846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(+73.3%)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6899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7640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£18,524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Eurowings UK (+640.2%)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17570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14348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£12,100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Rose Assurance (N/A)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13897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77614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£9,570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Mortgage Genie (+263.9%)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27425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66069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£8,775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Serenata Flowers (N/A)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11289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51542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£7,775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Ferries UK (+41.6%)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9427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32918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£6,492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AutoEurope UK (+180.6%)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7698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15632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£5,302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(-51.9%)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265112" y="4077218"/>
            <a:ext cx="12781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78144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-£8,802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eFlorist UK (-28.6%)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261750" y="4319534"/>
            <a:ext cx="13117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74782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-£9,033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(-46.1%)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210930" y="4561850"/>
            <a:ext cx="18199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23962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-£12,533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Lufthansa UK (-100.0%)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139849" y="4804166"/>
            <a:ext cx="25307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52881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-£17,428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InsureandGo (-38.4%)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135883" y="5046482"/>
            <a:ext cx="2570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48915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-£17,701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(-38.3%)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035701" y="5288798"/>
            <a:ext cx="357223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148733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-£24,600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Disneyland Paris GB (-53.4%)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829825" y="5531114"/>
            <a:ext cx="563099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42857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-£38,777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(-65.0%)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544359" y="5773430"/>
            <a:ext cx="84856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65739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-£58,435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Republic (Closed 17.09.2025) (-100.0%)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6138717" y="6015746"/>
            <a:ext cx="12542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251749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-£86,369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(-64.7%)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050792" y="6258062"/>
            <a:ext cx="334213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95935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-£230,152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308269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Huawei Tenancies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£10,200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£10,200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Rose Assurance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£339,888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£9,570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£9,570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391591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Serenata Flowers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£38,754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£7,775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£7,775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377698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Ferryhopper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£57,014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£1,710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£1,710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396847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Merach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£11,880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393448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Bargain Hardware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£14,499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380893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Esdemarca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£7,182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Heathrow Airport - Tidy Parking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353828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Vinatis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£8,680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382842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Clickrent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£6,690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£3,473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£17,977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255581" y="4823414"/>
            <a:ext cx="166201" cy="90987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774960" y="4243227"/>
            <a:ext cx="166201" cy="149006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294339" y="4282478"/>
            <a:ext cx="166201" cy="145081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813719" y="4408300"/>
            <a:ext cx="166201" cy="132498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333098" y="4368112"/>
            <a:ext cx="166201" cy="136517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852477" y="4336679"/>
            <a:ext cx="166201" cy="139660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371856" y="4377301"/>
            <a:ext cx="166201" cy="135598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891235" y="4580092"/>
            <a:ext cx="166201" cy="115319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10615" y="4646409"/>
            <a:ext cx="166201" cy="108687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929994" y="4500745"/>
            <a:ext cx="166201" cy="123254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49373" y="4368089"/>
            <a:ext cx="166201" cy="136519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968752" y="4619709"/>
            <a:ext cx="166201" cy="111357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488131" y="4562970"/>
            <a:ext cx="166201" cy="117031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007511" y="4690049"/>
            <a:ext cx="166201" cy="104323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526890" y="4802383"/>
            <a:ext cx="166201" cy="93090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046269" y="4764481"/>
            <a:ext cx="166201" cy="96880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565648" y="4849360"/>
            <a:ext cx="166201" cy="88392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0085027" y="4483669"/>
            <a:ext cx="166201" cy="124961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604407" y="4618086"/>
            <a:ext cx="166201" cy="1115202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1123786" y="5556123"/>
            <a:ext cx="166201" cy="17716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338682" y="5633550"/>
            <a:ext cx="519379" cy="-15556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858061" y="5477988"/>
            <a:ext cx="519379" cy="8343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2377440" y="5561427"/>
            <a:ext cx="519379" cy="-2393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2896819" y="5537492"/>
            <a:ext cx="519379" cy="3449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416198" y="5571988"/>
            <a:ext cx="519379" cy="-12477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935578" y="5447218"/>
            <a:ext cx="519379" cy="-2891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454957" y="5418300"/>
            <a:ext cx="519379" cy="929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974336" y="5511249"/>
            <a:ext cx="519379" cy="-3934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493715" y="5471907"/>
            <a:ext cx="519379" cy="-5230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013094" y="5419603"/>
            <a:ext cx="519379" cy="502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532474" y="5424632"/>
            <a:ext cx="519379" cy="-1687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051853" y="5407762"/>
            <a:ext cx="519379" cy="3762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571232" y="5445389"/>
            <a:ext cx="519379" cy="2690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090611" y="5472295"/>
            <a:ext cx="519379" cy="7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609990" y="5473050"/>
            <a:ext cx="519379" cy="889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9129370" y="5481942"/>
            <a:ext cx="519379" cy="-233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9648749" y="5479611"/>
            <a:ext cx="519379" cy="-5024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0168128" y="5429364"/>
            <a:ext cx="519379" cy="-146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0687507" y="5427901"/>
            <a:ext cx="519379" cy="25927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15822" y="561069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835201" y="545512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2354580" y="553856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873959" y="551463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3393338" y="554912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912718" y="542435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32097" y="539544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951476" y="548838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470855" y="544904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5990234" y="539674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509614" y="540177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7028993" y="538490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548372" y="542252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067751" y="544943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8587130" y="545019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9106510" y="545908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9625889" y="545675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10145268" y="540650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10664647" y="540504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11184026" y="566431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1338682" y="5578297"/>
            <a:ext cx="519379" cy="-5079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1858061" y="5527502"/>
            <a:ext cx="519379" cy="223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2377440" y="5549859"/>
            <a:ext cx="519379" cy="-4364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2896819" y="5506220"/>
            <a:ext cx="519379" cy="-1341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3416198" y="5492801"/>
            <a:ext cx="519379" cy="-2052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3935578" y="5472273"/>
            <a:ext cx="519379" cy="4137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4454957" y="5513649"/>
            <a:ext cx="519379" cy="-390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4974336" y="5509740"/>
            <a:ext cx="519379" cy="274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5493715" y="5512483"/>
            <a:ext cx="519379" cy="198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013094" y="5514472"/>
            <a:ext cx="519379" cy="-2210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6532474" y="5492366"/>
            <a:ext cx="519379" cy="-2162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7051853" y="5470741"/>
            <a:ext cx="519379" cy="2050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7571232" y="5491246"/>
            <a:ext cx="519379" cy="4738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090611" y="5538635"/>
            <a:ext cx="519379" cy="-4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8609990" y="5538589"/>
            <a:ext cx="519379" cy="-17191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9129370" y="5521399"/>
            <a:ext cx="519379" cy="384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9648749" y="5525239"/>
            <a:ext cx="519379" cy="-5441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10168128" y="5519798"/>
            <a:ext cx="519379" cy="-1543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10687507" y="5504368"/>
            <a:ext cx="519379" cy="19856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1315822" y="555543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1835201" y="55046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2354580" y="552699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873959" y="548336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3393338" y="546994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3912718" y="544941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4432097" y="549078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951476" y="548688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470855" y="548962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990234" y="549161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509614" y="546950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028993" y="544788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7548372" y="546838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067751" y="551577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8587130" y="551572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9106510" y="549853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9625889" y="550237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0145268" y="549693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10664647" y="548150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11184026" y="568007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1338682" y="5618416"/>
            <a:ext cx="519379" cy="-3198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1858061" y="5586435"/>
            <a:ext cx="519379" cy="55664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2377440" y="5642099"/>
            <a:ext cx="519379" cy="-541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2896819" y="5636682"/>
            <a:ext cx="519379" cy="1179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3416198" y="5648477"/>
            <a:ext cx="519379" cy="-2622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3935578" y="5622257"/>
            <a:ext cx="519379" cy="29284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4454957" y="5651541"/>
            <a:ext cx="519379" cy="-2624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4974336" y="5625297"/>
            <a:ext cx="519379" cy="2775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5493715" y="5653049"/>
            <a:ext cx="519379" cy="224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6013094" y="5655290"/>
            <a:ext cx="519379" cy="907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6532474" y="5664365"/>
            <a:ext cx="519379" cy="-395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7051853" y="5660410"/>
            <a:ext cx="519379" cy="-1664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7571232" y="5643768"/>
            <a:ext cx="519379" cy="-1712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8090611" y="5626646"/>
            <a:ext cx="519379" cy="-1732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8609990" y="5609318"/>
            <a:ext cx="519379" cy="3163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9129370" y="5640956"/>
            <a:ext cx="519379" cy="212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9648749" y="5643082"/>
            <a:ext cx="519379" cy="-1456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10168128" y="5628521"/>
            <a:ext cx="519379" cy="1120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10687507" y="5639722"/>
            <a:ext cx="519379" cy="7280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1315822" y="559555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1835201" y="556357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2354580" y="561923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2873959" y="561382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3393338" y="562561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3912718" y="559939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4432097" y="562868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4951476" y="560243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5470855" y="563018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5990234" y="563243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6509614" y="564150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7028993" y="563755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7548372" y="562090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8067751" y="560378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>
            <a:off x="8587130" y="558645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>
            <a:off x="9106510" y="56180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9625889" y="562022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10145268" y="560566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5" name="Shape 151"/>
          <p:cNvSpPr/>
          <p:nvPr/>
        </p:nvSpPr>
        <p:spPr>
          <a:xfrm>
            <a:off x="10664647" y="561686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6" name="Shape 152"/>
          <p:cNvSpPr/>
          <p:nvPr/>
        </p:nvSpPr>
        <p:spPr>
          <a:xfrm>
            <a:off x="11184026" y="568967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1338682" y="5606575"/>
            <a:ext cx="519379" cy="566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8" name="Shape 154"/>
          <p:cNvSpPr/>
          <p:nvPr/>
        </p:nvSpPr>
        <p:spPr>
          <a:xfrm>
            <a:off x="1858061" y="5612244"/>
            <a:ext cx="519379" cy="2560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9" name="Shape 155"/>
          <p:cNvSpPr/>
          <p:nvPr/>
        </p:nvSpPr>
        <p:spPr>
          <a:xfrm>
            <a:off x="2377440" y="5637847"/>
            <a:ext cx="519379" cy="-194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2896819" y="5635904"/>
            <a:ext cx="519379" cy="2478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3416198" y="5660685"/>
            <a:ext cx="519379" cy="-5742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2" name="Shape 158"/>
          <p:cNvSpPr/>
          <p:nvPr/>
        </p:nvSpPr>
        <p:spPr>
          <a:xfrm>
            <a:off x="3935578" y="5603260"/>
            <a:ext cx="519379" cy="4110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3" name="Shape 159"/>
          <p:cNvSpPr/>
          <p:nvPr/>
        </p:nvSpPr>
        <p:spPr>
          <a:xfrm>
            <a:off x="4454957" y="5644363"/>
            <a:ext cx="519379" cy="-2078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4974336" y="5623583"/>
            <a:ext cx="519379" cy="-1419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Shape 161"/>
          <p:cNvSpPr/>
          <p:nvPr/>
        </p:nvSpPr>
        <p:spPr>
          <a:xfrm>
            <a:off x="5493715" y="5609387"/>
            <a:ext cx="519379" cy="6906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6" name="Shape 162"/>
          <p:cNvSpPr/>
          <p:nvPr/>
        </p:nvSpPr>
        <p:spPr>
          <a:xfrm>
            <a:off x="6013094" y="5678447"/>
            <a:ext cx="519379" cy="-1819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6532474" y="5660250"/>
            <a:ext cx="519379" cy="1268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8" name="Shape 164"/>
          <p:cNvSpPr/>
          <p:nvPr/>
        </p:nvSpPr>
        <p:spPr>
          <a:xfrm>
            <a:off x="7051853" y="5672938"/>
            <a:ext cx="519379" cy="324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9" name="Shape 165"/>
          <p:cNvSpPr/>
          <p:nvPr/>
        </p:nvSpPr>
        <p:spPr>
          <a:xfrm>
            <a:off x="7571232" y="5676184"/>
            <a:ext cx="519379" cy="141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8090611" y="5677601"/>
            <a:ext cx="519379" cy="-3591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8609990" y="5641688"/>
            <a:ext cx="519379" cy="1053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2" name="Shape 168"/>
          <p:cNvSpPr/>
          <p:nvPr/>
        </p:nvSpPr>
        <p:spPr>
          <a:xfrm>
            <a:off x="9129370" y="5652226"/>
            <a:ext cx="519379" cy="1693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3" name="Shape 169"/>
          <p:cNvSpPr/>
          <p:nvPr/>
        </p:nvSpPr>
        <p:spPr>
          <a:xfrm>
            <a:off x="9648749" y="5669166"/>
            <a:ext cx="519379" cy="-285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10168128" y="5666308"/>
            <a:ext cx="519379" cy="-955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5" name="Shape 171"/>
          <p:cNvSpPr/>
          <p:nvPr/>
        </p:nvSpPr>
        <p:spPr>
          <a:xfrm>
            <a:off x="10687507" y="5656753"/>
            <a:ext cx="519379" cy="5635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6" name="Shape 172"/>
          <p:cNvSpPr/>
          <p:nvPr/>
        </p:nvSpPr>
        <p:spPr>
          <a:xfrm>
            <a:off x="1315822" y="558371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1835201" y="558938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2354580" y="561498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9" name="Shape 175"/>
          <p:cNvSpPr/>
          <p:nvPr/>
        </p:nvSpPr>
        <p:spPr>
          <a:xfrm>
            <a:off x="2873959" y="561304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0" name="Shape 176"/>
          <p:cNvSpPr/>
          <p:nvPr/>
        </p:nvSpPr>
        <p:spPr>
          <a:xfrm>
            <a:off x="3393338" y="563782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1" name="Shape 177"/>
          <p:cNvSpPr/>
          <p:nvPr/>
        </p:nvSpPr>
        <p:spPr>
          <a:xfrm>
            <a:off x="3912718" y="558040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2" name="Shape 178"/>
          <p:cNvSpPr/>
          <p:nvPr/>
        </p:nvSpPr>
        <p:spPr>
          <a:xfrm>
            <a:off x="4432097" y="562150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3" name="Shape 179"/>
          <p:cNvSpPr/>
          <p:nvPr/>
        </p:nvSpPr>
        <p:spPr>
          <a:xfrm>
            <a:off x="4951476" y="560072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4" name="Shape 180"/>
          <p:cNvSpPr/>
          <p:nvPr/>
        </p:nvSpPr>
        <p:spPr>
          <a:xfrm>
            <a:off x="5470855" y="55865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5" name="Shape 181"/>
          <p:cNvSpPr/>
          <p:nvPr/>
        </p:nvSpPr>
        <p:spPr>
          <a:xfrm>
            <a:off x="5990234" y="565558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6" name="Shape 182"/>
          <p:cNvSpPr/>
          <p:nvPr/>
        </p:nvSpPr>
        <p:spPr>
          <a:xfrm>
            <a:off x="6509614" y="563739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7" name="Shape 183"/>
          <p:cNvSpPr/>
          <p:nvPr/>
        </p:nvSpPr>
        <p:spPr>
          <a:xfrm>
            <a:off x="7028993" y="565007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>
            <a:off x="7548372" y="565332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9" name="Shape 185"/>
          <p:cNvSpPr/>
          <p:nvPr/>
        </p:nvSpPr>
        <p:spPr>
          <a:xfrm>
            <a:off x="8067751" y="565474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0" name="Shape 186"/>
          <p:cNvSpPr/>
          <p:nvPr/>
        </p:nvSpPr>
        <p:spPr>
          <a:xfrm>
            <a:off x="8587130" y="561882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9106510" y="562936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2" name="Shape 188"/>
          <p:cNvSpPr/>
          <p:nvPr/>
        </p:nvSpPr>
        <p:spPr>
          <a:xfrm>
            <a:off x="9625889" y="564630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3" name="Shape 189"/>
          <p:cNvSpPr/>
          <p:nvPr/>
        </p:nvSpPr>
        <p:spPr>
          <a:xfrm>
            <a:off x="10145268" y="564344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10664647" y="56338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>
            <a:off x="11184026" y="569024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6" name="Text 192"/>
          <p:cNvSpPr/>
          <p:nvPr/>
        </p:nvSpPr>
        <p:spPr>
          <a:xfrm>
            <a:off x="1089380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197" name="Text 193"/>
          <p:cNvSpPr/>
          <p:nvPr/>
        </p:nvSpPr>
        <p:spPr>
          <a:xfrm>
            <a:off x="1608759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198" name="Text 194"/>
          <p:cNvSpPr/>
          <p:nvPr/>
        </p:nvSpPr>
        <p:spPr>
          <a:xfrm>
            <a:off x="2128138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199" name="Text 195"/>
          <p:cNvSpPr/>
          <p:nvPr/>
        </p:nvSpPr>
        <p:spPr>
          <a:xfrm>
            <a:off x="2647517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200" name="Text 196"/>
          <p:cNvSpPr/>
          <p:nvPr/>
        </p:nvSpPr>
        <p:spPr>
          <a:xfrm>
            <a:off x="3166896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201" name="Text 197"/>
          <p:cNvSpPr/>
          <p:nvPr/>
        </p:nvSpPr>
        <p:spPr>
          <a:xfrm>
            <a:off x="3686276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202" name="Text 198"/>
          <p:cNvSpPr/>
          <p:nvPr/>
        </p:nvSpPr>
        <p:spPr>
          <a:xfrm>
            <a:off x="4205655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203" name="Text 199"/>
          <p:cNvSpPr/>
          <p:nvPr/>
        </p:nvSpPr>
        <p:spPr>
          <a:xfrm>
            <a:off x="4725034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204" name="Text 200"/>
          <p:cNvSpPr/>
          <p:nvPr/>
        </p:nvSpPr>
        <p:spPr>
          <a:xfrm>
            <a:off x="5244413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205" name="Text 201"/>
          <p:cNvSpPr/>
          <p:nvPr/>
        </p:nvSpPr>
        <p:spPr>
          <a:xfrm>
            <a:off x="5763792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206" name="Text 202"/>
          <p:cNvSpPr/>
          <p:nvPr/>
        </p:nvSpPr>
        <p:spPr>
          <a:xfrm>
            <a:off x="6283172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207" name="Text 203"/>
          <p:cNvSpPr/>
          <p:nvPr/>
        </p:nvSpPr>
        <p:spPr>
          <a:xfrm>
            <a:off x="6802551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208" name="Text 204"/>
          <p:cNvSpPr/>
          <p:nvPr/>
        </p:nvSpPr>
        <p:spPr>
          <a:xfrm>
            <a:off x="7321930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209" name="Text 205"/>
          <p:cNvSpPr/>
          <p:nvPr/>
        </p:nvSpPr>
        <p:spPr>
          <a:xfrm>
            <a:off x="7841309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210" name="Text 206"/>
          <p:cNvSpPr/>
          <p:nvPr/>
        </p:nvSpPr>
        <p:spPr>
          <a:xfrm>
            <a:off x="8360688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2026-04-06</a:t>
            </a:r>
            <a:endParaRPr lang="en-US" sz="580" dirty="0"/>
          </a:p>
        </p:txBody>
      </p:sp>
      <p:sp>
        <p:nvSpPr>
          <p:cNvPr id="211" name="Text 207"/>
          <p:cNvSpPr/>
          <p:nvPr/>
        </p:nvSpPr>
        <p:spPr>
          <a:xfrm>
            <a:off x="8880068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2026-04-13</a:t>
            </a:r>
            <a:endParaRPr lang="en-US" sz="580" dirty="0"/>
          </a:p>
        </p:txBody>
      </p:sp>
      <p:sp>
        <p:nvSpPr>
          <p:cNvPr id="212" name="Text 208"/>
          <p:cNvSpPr/>
          <p:nvPr/>
        </p:nvSpPr>
        <p:spPr>
          <a:xfrm>
            <a:off x="9399447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2026-04-20</a:t>
            </a:r>
            <a:endParaRPr lang="en-US" sz="580" dirty="0"/>
          </a:p>
        </p:txBody>
      </p:sp>
      <p:sp>
        <p:nvSpPr>
          <p:cNvPr id="213" name="Text 209"/>
          <p:cNvSpPr/>
          <p:nvPr/>
        </p:nvSpPr>
        <p:spPr>
          <a:xfrm>
            <a:off x="9918826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</a:t>
            </a:r>
            <a:endParaRPr lang="en-US" sz="580" dirty="0"/>
          </a:p>
        </p:txBody>
      </p:sp>
      <p:sp>
        <p:nvSpPr>
          <p:cNvPr id="214" name="Text 210"/>
          <p:cNvSpPr/>
          <p:nvPr/>
        </p:nvSpPr>
        <p:spPr>
          <a:xfrm>
            <a:off x="10438205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2026-05-04</a:t>
            </a:r>
            <a:endParaRPr lang="en-US" sz="580" dirty="0"/>
          </a:p>
        </p:txBody>
      </p:sp>
      <p:sp>
        <p:nvSpPr>
          <p:cNvPr id="215" name="Text 211"/>
          <p:cNvSpPr/>
          <p:nvPr/>
        </p:nvSpPr>
        <p:spPr>
          <a:xfrm>
            <a:off x="10957584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2026-05-11</a:t>
            </a:r>
            <a:endParaRPr lang="en-US" sz="580" dirty="0"/>
          </a:p>
        </p:txBody>
      </p:sp>
      <p:sp>
        <p:nvSpPr>
          <p:cNvPr id="216" name="Shape 21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7" name="Text 21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218" name="Shape 21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219" name="Text 21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220" name="Shape 21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221" name="Text 21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222" name="Shape 21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223" name="Text 21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224" name="Shape 22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225" name="Text 22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3411169"/>
            <a:ext cx="438912" cy="2102663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315513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3364443"/>
            <a:ext cx="438912" cy="2149389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310841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4906396"/>
            <a:ext cx="438912" cy="60743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465036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5053249"/>
            <a:ext cx="438912" cy="46058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9721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143363"/>
            <a:ext cx="438912" cy="37046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488733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20000"/>
            <a:ext cx="438912" cy="39383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8639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403693"/>
            <a:ext cx="438912" cy="11013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514766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340279"/>
            <a:ext cx="438912" cy="17355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508424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370317"/>
            <a:ext cx="438912" cy="14351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51142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56967"/>
            <a:ext cx="438912" cy="15686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10093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topcashback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Club Med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+4.3% (24.1% to 25.2%). Conversions decreased -6.9% (-10,455),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-6.9% (-10,455).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-30.3% (£31,966,933 to £22,294,705).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-25.8% (£1,343,387 to £996,681).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-28.0% (£1,593,306 to £1,146,432). Digital wallet contribution was £149,751 (-40.1%),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4215384"/>
                <a:gridCol w="1121054"/>
                <a:gridCol w="58741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/ rationale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 - Conversion dependency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reliance on the exposed program set by building a second tier of contributors.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Travel Republic (Closed 17.09.2025)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MoneyFarm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Lufthansa UK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Morrisons Grocery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2026-05-13T13:15:05Z</dcterms:created>
  <dcterms:modified xsi:type="dcterms:W3CDTF">2026-05-13T13:15:05Z</dcterms:modified>
</cp:coreProperties>
</file>