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" y="621792"/>
            <a:ext cx="105613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HP Store Performance Review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621792" y="1828800"/>
            <a:ext cx="10378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focused year-over-year review of HP Store publisher performance, conversion dynamics, earnings and strategic priorities to drive growth and optimise outcomes.</a:t>
            </a:r>
            <a:endParaRPr lang="en-US" sz="1220" dirty="0"/>
          </a:p>
        </p:txBody>
      </p:sp>
      <p:pic>
        <p:nvPicPr>
          <p:cNvPr id="5" name="Image 1" descr="C:\Users\harcol\Workflows\Publisher QBR\ai-agent-agenthub\qbr-pptx-service\assets\td-log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58768"/>
            <a:ext cx="1965960" cy="1591056"/>
          </a:xfrm>
          <a:prstGeom prst="rect">
            <a:avLst/>
          </a:prstGeom>
        </p:spPr>
      </p:pic>
      <p:pic>
        <p:nvPicPr>
          <p:cNvPr id="6" name="Image 2" descr="C:\Users\harcol\Workflows\Publisher QBR\ai-agent-agenthub\qbr-pptx-service\assets\fifth-element-wireframe-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2542032"/>
            <a:ext cx="402336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Period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58368" y="1261872"/>
            <a:ext cx="10332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and YoY comparison windows</a:t>
            </a:r>
            <a:endParaRPr lang="en-US" sz="1020" dirty="0"/>
          </a:p>
        </p:txBody>
      </p:sp>
      <p:sp>
        <p:nvSpPr>
          <p:cNvPr id="5" name="Text 2"/>
          <p:cNvSpPr/>
          <p:nvPr/>
        </p:nvSpPr>
        <p:spPr>
          <a:xfrm>
            <a:off x="658368" y="1755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Period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58368" y="228600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Period: 1 December 2025 – 25 March 2026</a:t>
            </a:r>
            <a:endParaRPr lang="en-US" sz="980" dirty="0"/>
          </a:p>
        </p:txBody>
      </p:sp>
      <p:sp>
        <p:nvSpPr>
          <p:cNvPr id="7" name="Text 4"/>
          <p:cNvSpPr/>
          <p:nvPr/>
        </p:nvSpPr>
        <p:spPr>
          <a:xfrm>
            <a:off x="658368" y="2596896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as of: 25 March 2026</a:t>
            </a:r>
            <a:endParaRPr lang="en-US" sz="980" dirty="0"/>
          </a:p>
        </p:txBody>
      </p:sp>
      <p:sp>
        <p:nvSpPr>
          <p:cNvPr id="8" name="Text 5"/>
          <p:cNvSpPr/>
          <p:nvPr/>
        </p:nvSpPr>
        <p:spPr>
          <a:xfrm>
            <a:off x="5989320" y="1755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 Period (YoY)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989320" y="228600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 Period: 1 December 2024 – 25 March 2025</a:t>
            </a:r>
            <a:endParaRPr lang="en-US" sz="980" dirty="0"/>
          </a:p>
        </p:txBody>
      </p:sp>
      <p:sp>
        <p:nvSpPr>
          <p:cNvPr id="10" name="Text 7"/>
          <p:cNvSpPr/>
          <p:nvPr/>
        </p:nvSpPr>
        <p:spPr>
          <a:xfrm>
            <a:off x="5989320" y="2596896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Basis: Year-over-Year (YoY)</a:t>
            </a:r>
            <a:endParaRPr lang="en-US" sz="980" dirty="0"/>
          </a:p>
        </p:txBody>
      </p:sp>
      <p:sp>
        <p:nvSpPr>
          <p:cNvPr id="11" name="Shape 8"/>
          <p:cNvSpPr/>
          <p:nvPr/>
        </p:nvSpPr>
        <p:spPr>
          <a:xfrm>
            <a:off x="658368" y="3273552"/>
            <a:ext cx="10927080" cy="804672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6112" y="3557016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figures are reported in GBP unless otherwise stated. YoY variance is calculated as Current Period vs Comparison Period.</a:t>
            </a:r>
            <a:endParaRPr lang="en-US" sz="97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Performance: Executive Summary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40080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0080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139696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267712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☰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41248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41248" y="275234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54,562 vs 61,984 PY -12.0%</a:t>
            </a:r>
            <a:endParaRPr lang="en-US" sz="1020" dirty="0"/>
          </a:p>
        </p:txBody>
      </p:sp>
      <p:sp>
        <p:nvSpPr>
          <p:cNvPr id="10" name="Shape 7"/>
          <p:cNvSpPr/>
          <p:nvPr/>
        </p:nvSpPr>
        <p:spPr>
          <a:xfrm>
            <a:off x="4352544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52544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852160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80176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53712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Order Value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553712" y="275234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£24,076,021 vs £24,608,446 PY -2.2%</a:t>
            </a:r>
            <a:endParaRPr lang="en-US" sz="1020" dirty="0"/>
          </a:p>
        </p:txBody>
      </p:sp>
      <p:sp>
        <p:nvSpPr>
          <p:cNvPr id="16" name="Shape 13"/>
          <p:cNvSpPr/>
          <p:nvPr/>
        </p:nvSpPr>
        <p:spPr>
          <a:xfrm>
            <a:off x="8065008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065008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564624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692640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£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266176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8266176" y="275234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£903,086 vs £935,460 PY -3.5%</a:t>
            </a:r>
            <a:endParaRPr lang="en-US" sz="1020" dirty="0"/>
          </a:p>
        </p:txBody>
      </p:sp>
      <p:sp>
        <p:nvSpPr>
          <p:cNvPr id="22" name="Shape 19"/>
          <p:cNvSpPr/>
          <p:nvPr/>
        </p:nvSpPr>
        <p:spPr>
          <a:xfrm>
            <a:off x="2496312" y="3758184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496312" y="3758184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995928" y="3511296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123944" y="363931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£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2697480" y="4215384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2697480" y="4544568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£903,086 vs £935,460 PY -3.5%</a:t>
            </a:r>
            <a:endParaRPr lang="en-US" sz="1020" dirty="0"/>
          </a:p>
        </p:txBody>
      </p:sp>
      <p:sp>
        <p:nvSpPr>
          <p:cNvPr id="28" name="Shape 25"/>
          <p:cNvSpPr/>
          <p:nvPr/>
        </p:nvSpPr>
        <p:spPr>
          <a:xfrm>
            <a:off x="6208776" y="3758184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208776" y="3758184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708392" y="3511296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836408" y="363931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6409944" y="4215384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 Rate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6409944" y="4544568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0.13% vs 0.12% PY +9.6%</a:t>
            </a:r>
            <a:endParaRPr lang="en-US" sz="1020" dirty="0"/>
          </a:p>
        </p:txBody>
      </p:sp>
      <p:sp>
        <p:nvSpPr>
          <p:cNvPr id="34" name="Text 31"/>
          <p:cNvSpPr/>
          <p:nvPr/>
        </p:nvSpPr>
        <p:spPr>
          <a:xfrm>
            <a:off x="749808" y="536752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Across all programs connected to HP Store, performance was mixed in Dec 2025 – Mar 2026. Conversions moved -12.0% to 54,562 and conversion rate moved +9.6% to 0.13%. Publisher commission decreased -3.5% to £903,086, while digital wallet earnings changed N/A to -. Total earnings ended at £903,086 (-3.5%) and total order value decreased -2.2% to £24,076,021.</a:t>
            </a:r>
            <a:endParaRPr lang="en-US" sz="11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Summary Table: Conversions &amp; Earnings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Unified KPI breakdown vs prior year.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27632"/>
            <a:ext cx="11430000" cy="4578401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19072"/>
          <a:ext cx="11210544" cy="4432097"/>
        </p:xfrm>
        <a:graphic>
          <a:graphicData uri="http://schemas.openxmlformats.org/drawingml/2006/table">
            <a:tbl>
              <a:tblPr/>
              <a:tblGrid>
                <a:gridCol w="2242109"/>
                <a:gridCol w="2242109"/>
                <a:gridCol w="2242109"/>
                <a:gridCol w="2242109"/>
                <a:gridCol w="2242109"/>
              </a:tblGrid>
              <a:tr h="7178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Recent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Previous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Difference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% Variance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1904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54,562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61,984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-7,422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-12.0%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1904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 Rate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0.13%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0.12%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+0.01%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+9.6%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61904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Clicks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42,050,161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52,364,355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-10,314,194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-19.7%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1904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Order Value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£24,076,021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£24,608,446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-£532,425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-2.2%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61904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£903,086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£935,460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-£32,374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-3.5%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1904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£903,086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£935,460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-£32,374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-3.5%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75488" y="6260897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 = Publisher Commission + Digital Wallet. Conversion rate uses the source API's conversion-rate basis.</a:t>
            </a:r>
            <a:endParaRPr lang="en-US" sz="10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292608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Activation Status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089904" y="1298448"/>
            <a:ext cx="0" cy="18745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089904" y="3794760"/>
            <a:ext cx="0" cy="18745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42416" y="3483864"/>
            <a:ext cx="460857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28816" y="3483864"/>
            <a:ext cx="460857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47088" y="1243584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1847088" y="1865376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Joined programs</a:t>
            </a:r>
            <a:endParaRPr lang="en-US" sz="1360" dirty="0"/>
          </a:p>
        </p:txBody>
      </p:sp>
      <p:sp>
        <p:nvSpPr>
          <p:cNvPr id="10" name="Text 7"/>
          <p:cNvSpPr/>
          <p:nvPr/>
        </p:nvSpPr>
        <p:spPr>
          <a:xfrm>
            <a:off x="1847088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11" name="Text 8"/>
          <p:cNvSpPr/>
          <p:nvPr/>
        </p:nvSpPr>
        <p:spPr>
          <a:xfrm>
            <a:off x="1847088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12" name="Text 9"/>
          <p:cNvSpPr/>
          <p:nvPr/>
        </p:nvSpPr>
        <p:spPr>
          <a:xfrm>
            <a:off x="3566160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13" name="Text 10"/>
          <p:cNvSpPr/>
          <p:nvPr/>
        </p:nvSpPr>
        <p:spPr>
          <a:xfrm>
            <a:off x="3566160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14" name="Text 11"/>
          <p:cNvSpPr/>
          <p:nvPr/>
        </p:nvSpPr>
        <p:spPr>
          <a:xfrm>
            <a:off x="7278624" y="1243584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3800" dirty="0"/>
          </a:p>
        </p:txBody>
      </p:sp>
      <p:sp>
        <p:nvSpPr>
          <p:cNvPr id="15" name="Text 12"/>
          <p:cNvSpPr/>
          <p:nvPr/>
        </p:nvSpPr>
        <p:spPr>
          <a:xfrm>
            <a:off x="7278624" y="1865376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 clicks</a:t>
            </a:r>
            <a:endParaRPr lang="en-US" sz="1360" dirty="0"/>
          </a:p>
        </p:txBody>
      </p:sp>
      <p:sp>
        <p:nvSpPr>
          <p:cNvPr id="16" name="Text 13"/>
          <p:cNvSpPr/>
          <p:nvPr/>
        </p:nvSpPr>
        <p:spPr>
          <a:xfrm>
            <a:off x="7278624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17" name="Text 14"/>
          <p:cNvSpPr/>
          <p:nvPr/>
        </p:nvSpPr>
        <p:spPr>
          <a:xfrm>
            <a:off x="7278624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18" name="Text 15"/>
          <p:cNvSpPr/>
          <p:nvPr/>
        </p:nvSpPr>
        <p:spPr>
          <a:xfrm>
            <a:off x="8997696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8997696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20" name="Text 17"/>
          <p:cNvSpPr/>
          <p:nvPr/>
        </p:nvSpPr>
        <p:spPr>
          <a:xfrm>
            <a:off x="1847088" y="3794760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3800" dirty="0"/>
          </a:p>
        </p:txBody>
      </p:sp>
      <p:sp>
        <p:nvSpPr>
          <p:cNvPr id="21" name="Text 18"/>
          <p:cNvSpPr/>
          <p:nvPr/>
        </p:nvSpPr>
        <p:spPr>
          <a:xfrm>
            <a:off x="1847088" y="4416552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 commission</a:t>
            </a:r>
            <a:endParaRPr lang="en-US" sz="1360" dirty="0"/>
          </a:p>
        </p:txBody>
      </p:sp>
      <p:sp>
        <p:nvSpPr>
          <p:cNvPr id="22" name="Text 19"/>
          <p:cNvSpPr/>
          <p:nvPr/>
        </p:nvSpPr>
        <p:spPr>
          <a:xfrm>
            <a:off x="1847088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23" name="Text 20"/>
          <p:cNvSpPr/>
          <p:nvPr/>
        </p:nvSpPr>
        <p:spPr>
          <a:xfrm>
            <a:off x="1847088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24" name="Text 21"/>
          <p:cNvSpPr/>
          <p:nvPr/>
        </p:nvSpPr>
        <p:spPr>
          <a:xfrm>
            <a:off x="3566160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25" name="Text 22"/>
          <p:cNvSpPr/>
          <p:nvPr/>
        </p:nvSpPr>
        <p:spPr>
          <a:xfrm>
            <a:off x="3566160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26" name="Text 23"/>
          <p:cNvSpPr/>
          <p:nvPr/>
        </p:nvSpPr>
        <p:spPr>
          <a:xfrm>
            <a:off x="7278624" y="3794760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3800" dirty="0"/>
          </a:p>
        </p:txBody>
      </p:sp>
      <p:sp>
        <p:nvSpPr>
          <p:cNvPr id="27" name="Text 24"/>
          <p:cNvSpPr/>
          <p:nvPr/>
        </p:nvSpPr>
        <p:spPr>
          <a:xfrm>
            <a:off x="7278624" y="4416552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Inactive</a:t>
            </a:r>
            <a:endParaRPr lang="en-US" sz="1360" dirty="0"/>
          </a:p>
        </p:txBody>
      </p:sp>
      <p:sp>
        <p:nvSpPr>
          <p:cNvPr id="28" name="Text 25"/>
          <p:cNvSpPr/>
          <p:nvPr/>
        </p:nvSpPr>
        <p:spPr>
          <a:xfrm>
            <a:off x="7278624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29" name="Text 26"/>
          <p:cNvSpPr/>
          <p:nvPr/>
        </p:nvSpPr>
        <p:spPr>
          <a:xfrm>
            <a:off x="7278624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30" name="Text 27"/>
          <p:cNvSpPr/>
          <p:nvPr/>
        </p:nvSpPr>
        <p:spPr>
          <a:xfrm>
            <a:off x="8997696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31" name="Text 28"/>
          <p:cNvSpPr/>
          <p:nvPr/>
        </p:nvSpPr>
        <p:spPr>
          <a:xfrm>
            <a:off x="8997696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Program-Level Analysis: Publisher Commission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Per-program view ordered by publisher commission.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27632"/>
            <a:ext cx="11430000" cy="2884932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19072"/>
          <a:ext cx="11210544" cy="2738628"/>
        </p:xfrm>
        <a:graphic>
          <a:graphicData uri="http://schemas.openxmlformats.org/drawingml/2006/table">
            <a:tbl>
              <a:tblPr/>
              <a:tblGrid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</a:tblGrid>
              <a:tr h="7635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ID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Digital Wallet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 Value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Earnings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23456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HP Store Germany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19,084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€8,904,115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-13.4%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34567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HP Store Netherlands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7,067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€2,627,705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-2.1%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12345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HP Store 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28,411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£12,544,201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-10.2%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Movers &amp; Shakers: Publisher Commission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10 positive and top 10 negative period-on-period publisher commission changes.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30352" y="1298448"/>
            <a:ext cx="11137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Partners with most change in publisher commission period-on-period</a:t>
            </a:r>
            <a:endParaRPr lang="en-US" sz="880" dirty="0"/>
          </a:p>
        </p:txBody>
      </p:sp>
      <p:sp>
        <p:nvSpPr>
          <p:cNvPr id="6" name="Shape 3"/>
          <p:cNvSpPr/>
          <p:nvPr/>
        </p:nvSpPr>
        <p:spPr>
          <a:xfrm>
            <a:off x="4050792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721858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92924" y="1591056"/>
            <a:ext cx="0" cy="4846320"/>
          </a:xfrm>
          <a:prstGeom prst="line">
            <a:avLst/>
          </a:prstGeom>
          <a:noFill/>
          <a:ln w="12700">
            <a:solidFill>
              <a:srgbClr val="7B819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063990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735056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0352" y="3922776"/>
            <a:ext cx="3264408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qualifying program movement</a:t>
            </a:r>
            <a:endParaRPr lang="en-US" sz="640" dirty="0"/>
          </a:p>
        </p:txBody>
      </p:sp>
      <p:sp>
        <p:nvSpPr>
          <p:cNvPr id="12" name="Shape 9"/>
          <p:cNvSpPr/>
          <p:nvPr/>
        </p:nvSpPr>
        <p:spPr>
          <a:xfrm>
            <a:off x="7392924" y="3954780"/>
            <a:ext cx="18288" cy="11887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456932" y="3941064"/>
            <a:ext cx="8412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6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10 New Programs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Programs joined or first active for the primary publisher in the current period.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83080"/>
            <a:ext cx="11430000" cy="1568196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874520"/>
          <a:ext cx="11210544" cy="1421892"/>
        </p:xfrm>
        <a:graphic>
          <a:graphicData uri="http://schemas.openxmlformats.org/drawingml/2006/table">
            <a:tbl>
              <a:tblPr/>
              <a:tblGrid>
                <a:gridCol w="1601506"/>
                <a:gridCol w="1601506"/>
                <a:gridCol w="1601506"/>
                <a:gridCol w="1601506"/>
                <a:gridCol w="1601506"/>
                <a:gridCol w="1601506"/>
                <a:gridCol w="1601506"/>
              </a:tblGrid>
              <a:tr h="7635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ID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 Value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Digital Wallet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Competitor Analysis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Anonymous comparison of publisher commission coverage and white-space programmes.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64208"/>
            <a:ext cx="11430000" cy="1196950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55648"/>
          <a:ext cx="11210544" cy="1050646"/>
        </p:xfrm>
        <a:graphic>
          <a:graphicData uri="http://schemas.openxmlformats.org/drawingml/2006/table">
            <a:tbl>
              <a:tblPr/>
              <a:tblGrid>
                <a:gridCol w="1601506"/>
                <a:gridCol w="1601506"/>
                <a:gridCol w="1601506"/>
                <a:gridCol w="1601506"/>
                <a:gridCol w="1601506"/>
                <a:gridCol w="1601506"/>
                <a:gridCol w="1601506"/>
              </a:tblGrid>
              <a:tr h="56418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Competitor Group Summary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Your Site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1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2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3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4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Distinct comp. prog. #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4864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Within Competitor Group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 share for the primary publisher and four comparison publishers.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13232" y="1645920"/>
            <a:ext cx="10771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of publisher commission within competitor group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1207008" y="5513832"/>
            <a:ext cx="10058400" cy="0"/>
          </a:xfrm>
          <a:prstGeom prst="line">
            <a:avLst/>
          </a:prstGeom>
          <a:noFill/>
          <a:ln w="12700">
            <a:solidFill>
              <a:srgbClr val="AEB6C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07008" y="467944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07008" y="384505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07008" y="301066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207008" y="217627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61872" y="3931920"/>
            <a:ext cx="9674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Competitor share chart requires publisher commission values for the primary site and comparison group.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Programs Competitor Performance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of publisher commission by program across the primary publisher and four comparison publishers.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00784"/>
            <a:ext cx="11430000" cy="1021385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92224"/>
          <a:ext cx="11210544" cy="875081"/>
        </p:xfrm>
        <a:graphic>
          <a:graphicData uri="http://schemas.openxmlformats.org/drawingml/2006/table">
            <a:tbl>
              <a:tblPr/>
              <a:tblGrid>
                <a:gridCol w="3993185"/>
                <a:gridCol w="1688897"/>
                <a:gridCol w="1382573"/>
                <a:gridCol w="1382573"/>
                <a:gridCol w="1382573"/>
                <a:gridCol w="1382573"/>
              </a:tblGrid>
              <a:tr h="45445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Primary Publisher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A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B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C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D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Highlights &amp; Business Implications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numbers mean for the business - key signals and context.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31520" y="17007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Conversion Rate Movement</a:t>
            </a:r>
            <a:endParaRPr lang="en-US" sz="1320" dirty="0"/>
          </a:p>
        </p:txBody>
      </p:sp>
      <p:sp>
        <p:nvSpPr>
          <p:cNvPr id="6" name="Text 3"/>
          <p:cNvSpPr/>
          <p:nvPr/>
        </p:nvSpPr>
        <p:spPr>
          <a:xfrm>
            <a:off x="960120" y="19842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 rate increased +9.6% (0.12% to 0.13%). Conversions decreased -12.0% (-7,422), showing how efficiently programs converted traffic into outcomes.</a:t>
            </a:r>
            <a:endParaRPr lang="en-US" sz="1110" dirty="0"/>
          </a:p>
        </p:txBody>
      </p:sp>
      <p:sp>
        <p:nvSpPr>
          <p:cNvPr id="7" name="Text 4"/>
          <p:cNvSpPr/>
          <p:nvPr/>
        </p:nvSpPr>
        <p:spPr>
          <a:xfrm>
            <a:off x="731520" y="26151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Conversion Volume</a:t>
            </a:r>
            <a:endParaRPr lang="en-US" sz="1320" dirty="0"/>
          </a:p>
        </p:txBody>
      </p:sp>
      <p:sp>
        <p:nvSpPr>
          <p:cNvPr id="8" name="Text 5"/>
          <p:cNvSpPr/>
          <p:nvPr/>
        </p:nvSpPr>
        <p:spPr>
          <a:xfrm>
            <a:off x="960120" y="28986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conversions decreased -12.0% (-7,422). Largest declining programs were VoucherCodes (-14.4%).</a:t>
            </a:r>
            <a:endParaRPr lang="en-US" sz="1110" dirty="0"/>
          </a:p>
        </p:txBody>
      </p:sp>
      <p:sp>
        <p:nvSpPr>
          <p:cNvPr id="9" name="Text 6"/>
          <p:cNvSpPr/>
          <p:nvPr/>
        </p:nvSpPr>
        <p:spPr>
          <a:xfrm>
            <a:off x="731520" y="35295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Order Value</a:t>
            </a:r>
            <a:endParaRPr lang="en-US" sz="1320" dirty="0"/>
          </a:p>
        </p:txBody>
      </p:sp>
      <p:sp>
        <p:nvSpPr>
          <p:cNvPr id="10" name="Text 7"/>
          <p:cNvSpPr/>
          <p:nvPr/>
        </p:nvSpPr>
        <p:spPr>
          <a:xfrm>
            <a:off x="960120" y="38130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order value decreased -2.2% (£24,608,446 to £24,076,021). Value generation moved alongside conversion volume and earnings performance.</a:t>
            </a:r>
            <a:endParaRPr lang="en-US" sz="1110" dirty="0"/>
          </a:p>
        </p:txBody>
      </p:sp>
      <p:sp>
        <p:nvSpPr>
          <p:cNvPr id="11" name="Text 8"/>
          <p:cNvSpPr/>
          <p:nvPr/>
        </p:nvSpPr>
        <p:spPr>
          <a:xfrm>
            <a:off x="731520" y="44439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Publisher Commission</a:t>
            </a:r>
            <a:endParaRPr lang="en-US" sz="1320" dirty="0"/>
          </a:p>
        </p:txBody>
      </p:sp>
      <p:sp>
        <p:nvSpPr>
          <p:cNvPr id="12" name="Text 9"/>
          <p:cNvSpPr/>
          <p:nvPr/>
        </p:nvSpPr>
        <p:spPr>
          <a:xfrm>
            <a:off x="960120" y="47274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 decreased -3.5% (£935,460 to £903,086). Commission remains the core earning component for the program.</a:t>
            </a:r>
            <a:endParaRPr lang="en-US" sz="1110" dirty="0"/>
          </a:p>
        </p:txBody>
      </p:sp>
      <p:sp>
        <p:nvSpPr>
          <p:cNvPr id="13" name="Text 10"/>
          <p:cNvSpPr/>
          <p:nvPr/>
        </p:nvSpPr>
        <p:spPr>
          <a:xfrm>
            <a:off x="731520" y="53583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Total Earnings</a:t>
            </a:r>
            <a:endParaRPr lang="en-US" sz="1320" dirty="0"/>
          </a:p>
        </p:txBody>
      </p:sp>
      <p:sp>
        <p:nvSpPr>
          <p:cNvPr id="14" name="Text 11"/>
          <p:cNvSpPr/>
          <p:nvPr/>
        </p:nvSpPr>
        <p:spPr>
          <a:xfrm>
            <a:off x="960120" y="56418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 decreased -3.5% (£935,460 to £903,086). Digital wallet contribution was - (N/A), so total earnings combine commission and wallet income.</a:t>
            </a:r>
            <a:endParaRPr lang="en-US" sz="111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Risks &amp; Dependencies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risks to programme performance, external dependencies, and assigned action owners for the next review cycle.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83080"/>
            <a:ext cx="11430000" cy="4201668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874520"/>
          <a:ext cx="11210544" cy="4055364"/>
        </p:xfrm>
        <a:graphic>
          <a:graphicData uri="http://schemas.openxmlformats.org/drawingml/2006/table">
            <a:tbl>
              <a:tblPr/>
              <a:tblGrid>
                <a:gridCol w="4215384"/>
                <a:gridCol w="1121054"/>
                <a:gridCol w="5874106"/>
              </a:tblGrid>
              <a:tr h="7635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Risk / rationale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Impact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Mitigation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 value mix volatility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Medium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Review basket-value mix by program and separate volume issues from average-order-value movement.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 value mix volatility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Medium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Review basket-value mix by program and separate volume issues from average-order-value movement.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concentration risk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High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Reduce reliance on the exposed program set by building a second tier of contributors.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Traffic decline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High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Confirm the root cause with the program owner, then agree a recovery action for the largest lost metric.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 quality dependency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High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Confirm the root cause with the program owner, then agree a recovery action for the largest lost metric.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C:\Users\harcol\Workflows\Publisher QBR\ai-agent-agenthub\qbr-pptx-service\assets\fifth-element-wireframe-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368" y="73152"/>
            <a:ext cx="6309360" cy="63093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1325880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HP Store - Thank you.</a:t>
            </a:r>
            <a:endParaRPr lang="en-US" sz="2500" dirty="0"/>
          </a:p>
        </p:txBody>
      </p:sp>
      <p:sp>
        <p:nvSpPr>
          <p:cNvPr id="5" name="Shape 1"/>
          <p:cNvSpPr/>
          <p:nvPr/>
        </p:nvSpPr>
        <p:spPr>
          <a:xfrm>
            <a:off x="640080" y="2331720"/>
            <a:ext cx="2578608" cy="1024128"/>
          </a:xfrm>
          <a:prstGeom prst="roundRect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>
                <a:alpha val="45000"/>
              </a:srgbClr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640080" y="2331720"/>
            <a:ext cx="257860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Any Questions?</a:t>
            </a:r>
            <a:endParaRPr lang="en-US" sz="1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Appendix: Program YoY Table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65760" y="1783080"/>
            <a:ext cx="11430000" cy="4386377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874520"/>
          <a:ext cx="11210544" cy="4240073"/>
        </p:xfrm>
        <a:graphic>
          <a:graphicData uri="http://schemas.openxmlformats.org/drawingml/2006/table">
            <a:tbl>
              <a:tblPr/>
              <a:tblGrid>
                <a:gridCol w="2242109"/>
                <a:gridCol w="2242109"/>
                <a:gridCol w="2242109"/>
                <a:gridCol w="2242109"/>
                <a:gridCol w="2242109"/>
              </a:tblGrid>
              <a:tr h="45445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Previous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Difference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Variance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Clicks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42,050,161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52,364,355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-10,314,194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-19.7%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Sales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54,562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61,984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-7,422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-12.0%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 Rate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0.13%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0.12%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+0.01%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+9.6%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 value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£24,076,021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£24,608,446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-£532,425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-2.2%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AOV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£441.26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£397.01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+£44.25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+11.1%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 Commission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£903,086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£935,460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-£32,374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-3.5%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Commission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£903,086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£935,460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-£32,374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-3.5%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CPA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£16.55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£15.09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+£1.46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+9.7%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ROI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26.66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26.31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+0.35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+1.3%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Tradedoubler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QBR - HP Store</dc:title>
  <dc:subject>Quarterly business review</dc:subject>
  <dc:creator>QBR PPTX Service</dc:creator>
  <cp:lastModifiedBy>QBR PPTX Service</cp:lastModifiedBy>
  <cp:revision>1</cp:revision>
  <dcterms:created xsi:type="dcterms:W3CDTF">2026-05-19T09:05:49Z</dcterms:created>
  <dcterms:modified xsi:type="dcterms:W3CDTF">2026-05-19T09:05:49Z</dcterms:modified>
</cp:coreProperties>
</file>