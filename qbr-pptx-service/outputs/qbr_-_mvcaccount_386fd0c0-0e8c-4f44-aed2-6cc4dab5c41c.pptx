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1095</c:v>
                </c:pt>
                <c:pt idx="1">
                  <c:v>7201</c:v>
                </c:pt>
                <c:pt idx="2">
                  <c:v>1785</c:v>
                </c:pt>
                <c:pt idx="3">
                  <c:v>1608</c:v>
                </c:pt>
                <c:pt idx="4">
                  <c:v>1872</c:v>
                </c:pt>
                <c:pt idx="5">
                  <c:v>5346</c:v>
                </c:pt>
                <c:pt idx="6">
                  <c:v>1992</c:v>
                </c:pt>
                <c:pt idx="7">
                  <c:v>2736</c:v>
                </c:pt>
                <c:pt idx="8">
                  <c:v>2429</c:v>
                </c:pt>
                <c:pt idx="9">
                  <c:v>3597</c:v>
                </c:pt>
                <c:pt idx="10">
                  <c:v>4683</c:v>
                </c:pt>
                <c:pt idx="11">
                  <c:v>5082</c:v>
                </c:pt>
                <c:pt idx="12">
                  <c:v>3974</c:v>
                </c:pt>
                <c:pt idx="13">
                  <c:v>1102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3147</c:v>
                </c:pt>
                <c:pt idx="1">
                  <c:v>3618</c:v>
                </c:pt>
                <c:pt idx="2">
                  <c:v>4419</c:v>
                </c:pt>
                <c:pt idx="3">
                  <c:v>4043</c:v>
                </c:pt>
                <c:pt idx="4">
                  <c:v>2681</c:v>
                </c:pt>
                <c:pt idx="5">
                  <c:v>4090</c:v>
                </c:pt>
                <c:pt idx="6">
                  <c:v>3113</c:v>
                </c:pt>
                <c:pt idx="7">
                  <c:v>2675</c:v>
                </c:pt>
                <c:pt idx="8">
                  <c:v>3376</c:v>
                </c:pt>
                <c:pt idx="9">
                  <c:v>3420</c:v>
                </c:pt>
                <c:pt idx="10">
                  <c:v>6184</c:v>
                </c:pt>
                <c:pt idx="11">
                  <c:v>4671</c:v>
                </c:pt>
                <c:pt idx="12">
                  <c:v>5402</c:v>
                </c:pt>
                <c:pt idx="13">
                  <c:v>1629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133</c:v>
                </c:pt>
                <c:pt idx="1">
                  <c:v>256</c:v>
                </c:pt>
                <c:pt idx="2">
                  <c:v>96</c:v>
                </c:pt>
                <c:pt idx="3">
                  <c:v>105</c:v>
                </c:pt>
                <c:pt idx="4">
                  <c:v>251</c:v>
                </c:pt>
                <c:pt idx="5">
                  <c:v>1471</c:v>
                </c:pt>
                <c:pt idx="6">
                  <c:v>919</c:v>
                </c:pt>
                <c:pt idx="7">
                  <c:v>932</c:v>
                </c:pt>
                <c:pt idx="8">
                  <c:v>995</c:v>
                </c:pt>
                <c:pt idx="9">
                  <c:v>2025</c:v>
                </c:pt>
                <c:pt idx="10">
                  <c:v>2029</c:v>
                </c:pt>
                <c:pt idx="11">
                  <c:v>1996</c:v>
                </c:pt>
                <c:pt idx="12">
                  <c:v>1720</c:v>
                </c:pt>
                <c:pt idx="13">
                  <c:v>436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1435</c:v>
                </c:pt>
                <c:pt idx="1">
                  <c:v>1441</c:v>
                </c:pt>
                <c:pt idx="2">
                  <c:v>1421</c:v>
                </c:pt>
                <c:pt idx="3">
                  <c:v>960</c:v>
                </c:pt>
                <c:pt idx="4">
                  <c:v>1055</c:v>
                </c:pt>
                <c:pt idx="5">
                  <c:v>1120</c:v>
                </c:pt>
                <c:pt idx="6">
                  <c:v>970</c:v>
                </c:pt>
                <c:pt idx="7">
                  <c:v>982</c:v>
                </c:pt>
                <c:pt idx="8">
                  <c:v>2000</c:v>
                </c:pt>
                <c:pt idx="9">
                  <c:v>2627</c:v>
                </c:pt>
                <c:pt idx="10">
                  <c:v>2006</c:v>
                </c:pt>
                <c:pt idx="11">
                  <c:v>1953</c:v>
                </c:pt>
                <c:pt idx="12">
                  <c:v>2301</c:v>
                </c:pt>
                <c:pt idx="13">
                  <c:v>329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EB5757"/>
            </a:solidFill>
            <a:ln w="25400" cap="rnd">
              <a:solidFill>
                <a:srgbClr val="EB5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5757"/>
              </a:solidFill>
              <a:ln w="9525" cap="flat">
                <a:solidFill>
                  <a:srgbClr val="EB5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748</c:v>
                </c:pt>
                <c:pt idx="1">
                  <c:v>548</c:v>
                </c:pt>
                <c:pt idx="2">
                  <c:v>701</c:v>
                </c:pt>
                <c:pt idx="3">
                  <c:v>471</c:v>
                </c:pt>
                <c:pt idx="4">
                  <c:v>282</c:v>
                </c:pt>
                <c:pt idx="5">
                  <c:v>372</c:v>
                </c:pt>
                <c:pt idx="6">
                  <c:v>408</c:v>
                </c:pt>
                <c:pt idx="7">
                  <c:v>597</c:v>
                </c:pt>
                <c:pt idx="8">
                  <c:v>810</c:v>
                </c:pt>
                <c:pt idx="9">
                  <c:v>621</c:v>
                </c:pt>
                <c:pt idx="10">
                  <c:v>938</c:v>
                </c:pt>
                <c:pt idx="11">
                  <c:v>535</c:v>
                </c:pt>
                <c:pt idx="12">
                  <c:v>386</c:v>
                </c:pt>
                <c:pt idx="13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2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274320" y="932688"/>
            <a:ext cx="4251960" cy="4251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4920" y="71323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12064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93776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8920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845820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opportunities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£14.0k already accepted but inactive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5897880" y="32735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£19.9k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6692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79008" y="444398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 programs where the primary publisher is not earning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5074920" y="51023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accepted and click-led programs first, then build an application pipeline for no-connection gaps. The largest visible gap is InsureandGo (£7.4k).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competitor-funded gaps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receiving publisher commission from competitors while the primary publisher is not earning.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highest-value programs shown here. 109 remaining gap programs are available in the Excel report.</a:t>
            </a:r>
            <a:endParaRPr lang="en-US" sz="940" dirty="0"/>
          </a:p>
        </p:txBody>
      </p:sp>
      <p:sp>
        <p:nvSpPr>
          <p:cNvPr id="6" name="Shape 3"/>
          <p:cNvSpPr/>
          <p:nvPr/>
        </p:nvSpPr>
        <p:spPr>
          <a:xfrm>
            <a:off x="530352" y="1572768"/>
            <a:ext cx="11137392" cy="310896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642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53712" y="16642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status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6035040" y="166420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signal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7772400" y="16642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- Specified Sites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10625328" y="166420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530352" y="1883664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020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324414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535424" y="2048256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20208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035040" y="202082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7772400" y="204825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048256"/>
            <a:ext cx="214884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88752" y="20208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£7,380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30352" y="2304288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Radisson Hotels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246015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4535424" y="2468880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5152" y="24414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035040" y="244144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7772400" y="246888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0" y="2468880"/>
            <a:ext cx="66561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88752" y="24414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£2,286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0352" y="2724912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8620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Fraser Hart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356876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535424" y="2889504"/>
            <a:ext cx="73152" cy="73152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286207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6035040" y="2862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37" name="Shape 34"/>
          <p:cNvSpPr/>
          <p:nvPr/>
        </p:nvSpPr>
        <p:spPr>
          <a:xfrm>
            <a:off x="7772400" y="288950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2889504"/>
            <a:ext cx="491205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88752" y="28620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£1,687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30352" y="3145536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0352" y="3282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05840" y="3209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Laurastar UK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357181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535424" y="3310128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32826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6035040" y="328269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46" name="Shape 43"/>
          <p:cNvSpPr/>
          <p:nvPr/>
        </p:nvSpPr>
        <p:spPr>
          <a:xfrm>
            <a:off x="7772400" y="331012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0" y="3310128"/>
            <a:ext cx="34707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88752" y="3282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£1,192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530352" y="3566160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" y="3703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0584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8854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535424" y="3730752"/>
            <a:ext cx="73152" cy="7315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45152" y="3703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Denied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6035040" y="37033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55" name="Shape 52"/>
          <p:cNvSpPr/>
          <p:nvPr/>
        </p:nvSpPr>
        <p:spPr>
          <a:xfrm>
            <a:off x="7772400" y="373075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0" y="3730752"/>
            <a:ext cx="34562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88752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£1,187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530352" y="3986784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30352" y="4123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00584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SupremeCBD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335495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535424" y="4151376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45152" y="41239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035040" y="41239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64" name="Shape 61"/>
          <p:cNvSpPr/>
          <p:nvPr/>
        </p:nvSpPr>
        <p:spPr>
          <a:xfrm>
            <a:off x="7772400" y="415137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72400" y="4151376"/>
            <a:ext cx="303109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88752" y="412394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£1,041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30352" y="4407408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30352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00584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Cliphair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324415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4535424" y="4572000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45152" y="45445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035040" y="45445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73" name="Shape 70"/>
          <p:cNvSpPr/>
          <p:nvPr/>
        </p:nvSpPr>
        <p:spPr>
          <a:xfrm>
            <a:off x="7772400" y="457200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4572000"/>
            <a:ext cx="30048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588752" y="45445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£1,032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530352" y="4828032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49651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100584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720" dirty="0"/>
          </a:p>
        </p:txBody>
      </p:sp>
      <p:sp>
        <p:nvSpPr>
          <p:cNvPr id="79" name="Shape 76"/>
          <p:cNvSpPr/>
          <p:nvPr/>
        </p:nvSpPr>
        <p:spPr>
          <a:xfrm>
            <a:off x="4535424" y="4992624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645152" y="496519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6035040" y="496519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82" name="Shape 79"/>
          <p:cNvSpPr/>
          <p:nvPr/>
        </p:nvSpPr>
        <p:spPr>
          <a:xfrm>
            <a:off x="7772400" y="499262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72400" y="4992624"/>
            <a:ext cx="144421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588752" y="49651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£496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530352" y="5248656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30352" y="5385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1005840" y="5312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Aegean Airlines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359548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4535424" y="5413248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645152" y="53858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6035040" y="53858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91" name="Shape 88"/>
          <p:cNvSpPr/>
          <p:nvPr/>
        </p:nvSpPr>
        <p:spPr>
          <a:xfrm>
            <a:off x="7772400" y="541324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772400" y="5413248"/>
            <a:ext cx="133647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588752" y="53858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£459</a:t>
            </a:r>
            <a:endParaRPr lang="en-US" sz="780" dirty="0"/>
          </a:p>
        </p:txBody>
      </p:sp>
      <p:sp>
        <p:nvSpPr>
          <p:cNvPr id="94" name="Shape 91"/>
          <p:cNvSpPr/>
          <p:nvPr/>
        </p:nvSpPr>
        <p:spPr>
          <a:xfrm>
            <a:off x="530352" y="5669280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30352" y="58064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100584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359224</a:t>
            </a:r>
            <a:endParaRPr lang="en-US" sz="720" dirty="0"/>
          </a:p>
        </p:txBody>
      </p:sp>
      <p:sp>
        <p:nvSpPr>
          <p:cNvPr id="97" name="Shape 94"/>
          <p:cNvSpPr/>
          <p:nvPr/>
        </p:nvSpPr>
        <p:spPr>
          <a:xfrm>
            <a:off x="4535424" y="5833872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645152" y="58064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6035040" y="5806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100" name="Shape 97"/>
          <p:cNvSpPr/>
          <p:nvPr/>
        </p:nvSpPr>
        <p:spPr>
          <a:xfrm>
            <a:off x="7772400" y="583387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772400" y="5833872"/>
            <a:ext cx="116177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588752" y="58064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£399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programs reviewed | Page 1/2 | Not Connected: 55 | Accepted: 10 | Created from 1 October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programs reviewed | Page 2/2 | Not Connected: 55 | Accepted: 10 | Created from 1 October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2" name="Shape 6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4" name="Shape 7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2026-05-21T08:32:43Z</dcterms:created>
  <dcterms:modified xsi:type="dcterms:W3CDTF">2026-05-21T08:32:43Z</dcterms:modified>
</cp:coreProperties>
</file>