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Affiliate Program Quarterly </a:t>
            </a:r>
            <a:pPr indent="0" marL="0">
              <a:buNone/>
            </a:pPr>
            <a:r>
              <a:rPr lang="en-US" sz="29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Business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comprehensive year-over-year analysis of the HP Store affiliate program's performance, publisher dynamics, and strategic priorities to drive growth and optimise outcomes.</a:t>
            </a:r>
            <a:endParaRPr lang="en-US" sz="1220" dirty="0"/>
          </a:p>
        </p:txBody>
      </p:sp>
      <p:sp>
        <p:nvSpPr>
          <p:cNvPr id="5" name="Shape 2"/>
          <p:cNvSpPr/>
          <p:nvPr/>
        </p:nvSpPr>
        <p:spPr>
          <a:xfrm>
            <a:off x="621792" y="2743200"/>
            <a:ext cx="1170432" cy="329184"/>
          </a:xfrm>
          <a:prstGeom prst="roundRect">
            <a:avLst/>
          </a:prstGeom>
          <a:solidFill>
            <a:srgbClr val="F3F4F6">
              <a:alpha val="75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" y="281635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QBR Report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883664" y="2743200"/>
            <a:ext cx="2423160" cy="329184"/>
          </a:xfrm>
          <a:prstGeom prst="roundRect">
            <a:avLst/>
          </a:prstGeom>
          <a:solidFill>
            <a:srgbClr val="2F6FF2">
              <a:alpha val="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93392" y="28163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0D4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Dec 2025 – Mar 2026 Analysis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" y="3858768"/>
            <a:ext cx="196596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</a:t>
            </a:r>
            <a:endParaRPr lang="en-US" sz="11800" dirty="0"/>
          </a:p>
        </p:txBody>
      </p:sp>
      <p:sp>
        <p:nvSpPr>
          <p:cNvPr id="10" name="Text 7"/>
          <p:cNvSpPr/>
          <p:nvPr/>
        </p:nvSpPr>
        <p:spPr>
          <a:xfrm>
            <a:off x="694944" y="5879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tradedoubler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Selected period from the QBR request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40080" y="2057400"/>
            <a:ext cx="10927080" cy="1920240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2514600"/>
            <a:ext cx="10378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Reporting Period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 December 2025 – 25 March 2026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54,562 vs 61,984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-12.0%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£24,076,021 vs £24,608,446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-2.2%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↗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Average Order Value (AOV)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£441.26 vs £397.01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+11.1%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2496312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96312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995928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123944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2697480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697480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0.13% vs 0.12%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+9.6%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6208776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208776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08392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836408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409944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09944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£903,086 vs £935,460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-3.5%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Across 3 selected programs, performance was mixed in Dec 2025 – Mar 2026. While AOV grew +11.1% to £441.26 and conversion rate improved +9.6%, total sales declined -12.0% YoY driven by a -19.7% reduction in click volume. Total order value decreased -2.2% to £24,076,021. Full KPI breakdown follows on the next slides.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Summary Table: Volume, Conversion, Cost &amp; ROI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7748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118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56144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Period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Prior Year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% Variance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(Transactions)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Average Order Value (AOV)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Commission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Cost Per Acquisition (CPA)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837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Return on Investment (ROI)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5998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rate = Sales ÷ Clicks. AOV = Total Order Value ÷ Sales. ROI = Total Order Value ÷ Total Commission.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Program-Level Breakdown: Volume &amp; Conversion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Per-program view for selected request scope.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288493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2738628"/>
        </p:xfrm>
        <a:graphic>
          <a:graphicData uri="http://schemas.openxmlformats.org/drawingml/2006/table">
            <a:tbl>
              <a:tblPr/>
              <a:tblGrid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  <a:gridCol w="1245616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Program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Market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Impressions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Order Value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12345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28,411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£12,544,201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23456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19,084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€8,904,115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-3.6%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34567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7,067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€2,627,705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+4.2%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Sales Volume Pressure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Clicks decreased by 10,314,194 (-19.7%) and Sales decreased by 7,422 (-12.0%).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Conversion Rate Improvement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rate increased by 0.01% to 0.13% (+9.6%).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AOV Growth Partially Offsetting Volume Decline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 increased by £44.25 (+11.1%) while Order value decreased by £532,425 (-2.2%).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Rising CPA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Publisher/Total Commission decreased by £32,374 (-3.5%); CPA increased by £1.46 (+9.7%); ROI increased by 0.35 (+1.3%).</a:t>
            </a:r>
            <a:endParaRPr lang="en-US" sz="11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Performance Overview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High-level summary of publisher activity, segmentation and YoY movement.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20040" y="18653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Activity by Segment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320040" y="2176272"/>
            <a:ext cx="5074920" cy="2226564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2267712"/>
          <a:ext cx="4855464" cy="2080260"/>
        </p:xfrm>
        <a:graphic>
          <a:graphicData uri="http://schemas.openxmlformats.org/drawingml/2006/table">
            <a:tbl>
              <a:tblPr/>
              <a:tblGrid>
                <a:gridCol w="879653"/>
                <a:gridCol w="809244"/>
                <a:gridCol w="879653"/>
                <a:gridCol w="843991"/>
                <a:gridCol w="809244"/>
                <a:gridCol w="63367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OV 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19,221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-10.1%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£7,112,230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-8.4%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18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Content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15,604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+6.8%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£6,108,554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+7.2%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23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715000" y="1865376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Observations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724144" y="2340864"/>
            <a:ext cx="4773168" cy="4334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Skimlinks drove the strongest YoY uplift (Content), adding +£590,200 in OV (+18.3%).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VoucherCodes recorded the largest decline (Voucher), with OV movement -£780,112 (-14.2%).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• Publisher concentration remains high: VoucherCodes and Skimlinks account for £8,551,310 (64.7% of programme OV).</a:t>
            </a:r>
            <a:endParaRPr lang="en-US" sz="1140" dirty="0"/>
          </a:p>
        </p:txBody>
      </p:sp>
      <p:sp>
        <p:nvSpPr>
          <p:cNvPr id="10" name="Shape 6"/>
          <p:cNvSpPr/>
          <p:nvPr/>
        </p:nvSpPr>
        <p:spPr>
          <a:xfrm>
            <a:off x="320040" y="4494276"/>
            <a:ext cx="5074920" cy="0"/>
          </a:xfrm>
          <a:prstGeom prst="line">
            <a:avLst/>
          </a:prstGeom>
          <a:noFill/>
          <a:ln w="12700">
            <a:solidFill>
              <a:srgbClr val="E6EAF2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 Segment Performance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12064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3232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[V] Voucher - </a:t>
            </a:r>
            <a:pPr indent="0" marL="0">
              <a:buNone/>
            </a:pPr>
            <a:r>
              <a:rPr lang="en-US" sz="124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-8.4% OV YoY</a:t>
            </a:r>
            <a:endParaRPr lang="en-US" sz="1240" dirty="0"/>
          </a:p>
        </p:txBody>
      </p:sp>
      <p:sp>
        <p:nvSpPr>
          <p:cNvPr id="6" name="Text 3"/>
          <p:cNvSpPr/>
          <p:nvPr/>
        </p:nvSpPr>
        <p:spPr>
          <a:xfrm>
            <a:off x="713232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£7,112,230 total OV | 18 active publishers | Sales: 19,221 (-10.1% YoY). VoucherCodes is the primary drag, with -£780,112 OV YoY (-14.2%). Leading current contributors include VoucherCodes (£4,731,100).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36208" y="1408176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37376" y="1536192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[T] Content - </a:t>
            </a:r>
            <a:pPr indent="0" marL="0">
              <a:buNone/>
            </a:pPr>
            <a:r>
              <a:rPr lang="en-US" sz="124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+7.2% OV YoY</a:t>
            </a:r>
            <a:endParaRPr lang="en-US" sz="1240" dirty="0"/>
          </a:p>
        </p:txBody>
      </p:sp>
      <p:sp>
        <p:nvSpPr>
          <p:cNvPr id="9" name="Text 6"/>
          <p:cNvSpPr/>
          <p:nvPr/>
        </p:nvSpPr>
        <p:spPr>
          <a:xfrm>
            <a:off x="6437376" y="1847088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£6,108,554 total OV | 23 active publishers | Sales: 15,604 (+6.8% YoY). Skimlinks is the dominant growth driver, delivering +£590,200 OV YoY (+18.3%). Leading current contributors include Skimlinks (£3,820,210).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12064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40" dirty="0"/>
          </a:p>
        </p:txBody>
      </p:sp>
      <p:sp>
        <p:nvSpPr>
          <p:cNvPr id="12" name="Text 9"/>
          <p:cNvSpPr/>
          <p:nvPr/>
        </p:nvSpPr>
        <p:spPr>
          <a:xfrm>
            <a:off x="713232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movement not available from this extract.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36208" y="3255264"/>
            <a:ext cx="5349240" cy="1737360"/>
          </a:xfrm>
          <a:prstGeom prst="roundRect">
            <a:avLst>
              <a:gd name="adj" fmla="val 2195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37376" y="3383280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40" dirty="0"/>
          </a:p>
        </p:txBody>
      </p:sp>
      <p:sp>
        <p:nvSpPr>
          <p:cNvPr id="15" name="Text 12"/>
          <p:cNvSpPr/>
          <p:nvPr/>
        </p:nvSpPr>
        <p:spPr>
          <a:xfrm>
            <a:off x="6437376" y="3694176"/>
            <a:ext cx="50200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movement not available from this extract.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12064" y="5102352"/>
            <a:ext cx="11073384" cy="1572768"/>
          </a:xfrm>
          <a:prstGeom prst="roundRect">
            <a:avLst>
              <a:gd name="adj" fmla="val 2424"/>
            </a:avLst>
          </a:prstGeom>
          <a:solidFill>
            <a:srgbClr val="F3F4F6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" y="5230368"/>
            <a:ext cx="10744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Segment signal not available.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3232" y="5541264"/>
            <a:ext cx="1074420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Detailed movement not available from this extract.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Sales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sales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Order Value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order value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Movers &amp; Shakers: Clicks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Largest YoY click movers and decliners.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354330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3396996"/>
        </p:xfrm>
        <a:graphic>
          <a:graphicData uri="http://schemas.openxmlformats.org/drawingml/2006/table">
            <a:tbl>
              <a:tblPr/>
              <a:tblGrid>
                <a:gridCol w="3567074"/>
                <a:gridCol w="1834286"/>
                <a:gridCol w="2140610"/>
                <a:gridCol w="2140610"/>
                <a:gridCol w="152887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Site ID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Clicks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Change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YoY %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Up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Top 5 Down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8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Brand New </a:t>
            </a:r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Publishers activated for the first time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Segment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Sales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 OV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Sales Growth Signals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Factual observations from the data relevant to the programme's sales performance - 2025-12-01 to 2026-03-25.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658368" y="1773936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8096" y="1847088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78992" y="171907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 Segment: Highest YoY Sales Growth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992" y="2029968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Voucher growth signal is not fully available in the current extract.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58368" y="2761488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8096" y="2834640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78992" y="2706624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Conversion Rate: Improved to 0.13%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8992" y="3017520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Programme conversion rate moved from 0.12% to 0.13% (+9.6%). Sales changed -7,422 while clicks changed -10,314,194, indicating the quality shift in converting traffic.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658368" y="3749040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8096" y="3822192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078992" y="3694176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AOV Growth Across Multiple Publishers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8992" y="4005072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Programme AOV moved +11.1% to £441.26.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658368" y="4736592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" y="4809744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78992" y="4681728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Cashback Segment: Largest Volume Base with Sales Decline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8992" y="4992624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Cashback segment-level signal is not fully available in the current extract.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58368" y="5724144"/>
            <a:ext cx="310896" cy="310896"/>
          </a:xfrm>
          <a:prstGeom prst="roundRect">
            <a:avLst/>
          </a:prstGeom>
          <a:solidFill>
            <a:srgbClr val="F3F4F6">
              <a:alpha val="78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096" y="5797296"/>
            <a:ext cx="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1078992" y="5669280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Click Volume Decline Concentrated in Two Publishers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78992" y="5980176"/>
            <a:ext cx="10469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Top click decline concentration could not be confirmed from available movers data.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2510942"/>
                <a:gridCol w="1121054"/>
                <a:gridCol w="757854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Risk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Impact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Mitigation</a:t>
                      </a:r>
                      <a:endParaRPr lang="en-US" sz="105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 mix volatility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Skimlinks drove the strongest YoY uplift (Content), adding +£590,200 in OV (+18.3%).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 mix volatility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VoucherCodes recorded the largest decline (Voucher), with OV movement -£780,112 (-14.2%).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concentration risk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Publisher concentration remains high: VoucherCodes and Skimlinks account for £8,551,310 (64.7% of programme OV).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Traffic decline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High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 decreased by 10,314,194 (-19.7%) and Sales decreased by 7,422 (-12.0%).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quality dependency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Medium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Conversion rate increased by 0.01% to 0.13% (+9.6%).</a:t>
                      </a:r>
                      <a:endParaRPr lang="en-US" sz="10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HP Store - Thank you.</a:t>
            </a:r>
            <a:endParaRPr lang="en-US" sz="2500" dirty="0"/>
          </a:p>
        </p:txBody>
      </p:sp>
      <p:sp>
        <p:nvSpPr>
          <p:cNvPr id="4" name="Shape 1"/>
          <p:cNvSpPr/>
          <p:nvPr/>
        </p:nvSpPr>
        <p:spPr>
          <a:xfrm>
            <a:off x="566928" y="2331720"/>
            <a:ext cx="11018520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68680" y="259689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Any Questions?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68680" y="2898648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3F4F6">
                    <a:alpha val="85000"/>
                  </a:srgbClr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TD Affiliate Program - 2025-12-01 to 2026-03-25 Quarterly Business Review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Appendix: Program YoY Table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65760" y="1783080"/>
            <a:ext cx="11430000" cy="438637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40073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54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Metric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Current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Previous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Difference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Variance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Clicks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42,050,161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52,364,355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-10,314,194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Sales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54,562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61,984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-7,422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-12.0%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Conv Rate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0.12%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+0.01%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+9.6%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Order value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£24,076,021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£24,608,446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-£532,425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-2.2%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AOV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£441.26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£397.01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+£44.25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+11.1%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Publ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Total Commission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£903,086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£935,460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-£32,374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-3.5%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CPA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£16.55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£15.09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+£1.46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+9.7%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ROI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26.66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26.31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+0.35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57A66C"/>
                          </a:solidFill>
                          <a:latin typeface="Instrument Sans" pitchFamily="34" charset="0"/>
                          <a:ea typeface="Instrument Sans" pitchFamily="34" charset="-122"/>
                          <a:cs typeface="Instrument Sans" pitchFamily="34" charset="-120"/>
                        </a:rPr>
                        <a:t>+1.3%</a:t>
                      </a:r>
                      <a:endParaRPr lang="en-US" sz="900" dirty="0">
                        <a:latin typeface="Instrument Sans" charset="0"/>
                        <a:ea typeface="Instrument Sans" charset="0"/>
                        <a:cs typeface="Instrument San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HP Store</dc:title>
  <dc:subject>Quarterly business review</dc:subject>
  <dc:creator>QBR PPTX Service</dc:creator>
  <cp:lastModifiedBy>QBR PPTX Service</cp:lastModifiedBy>
  <cp:revision>1</cp:revision>
  <dcterms:created xsi:type="dcterms:W3CDTF">2026-04-17T08:20:47Z</dcterms:created>
  <dcterms:modified xsi:type="dcterms:W3CDTF">2026-04-17T08:20:47Z</dcterms:modified>
</cp:coreProperties>
</file>