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Site</c:v>
                </c:pt>
              </c:strCache>
            </c:strRef>
          </c:tx>
          <c:spPr>
            <a:solidFill>
              <a:srgbClr val="2F6FF2"/>
            </a:solidFill>
            <a:ln w="25400" cap="rnd">
              <a:solidFill>
                <a:srgbClr val="2F6F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FF2"/>
              </a:solidFill>
              <a:ln w="9525" cap="flat">
                <a:solidFill>
                  <a:srgbClr val="2F6F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1095</c:v>
                </c:pt>
                <c:pt idx="1">
                  <c:v>7201</c:v>
                </c:pt>
                <c:pt idx="2">
                  <c:v>1785</c:v>
                </c:pt>
                <c:pt idx="3">
                  <c:v>1608</c:v>
                </c:pt>
                <c:pt idx="4">
                  <c:v>1872</c:v>
                </c:pt>
                <c:pt idx="5">
                  <c:v>5346</c:v>
                </c:pt>
                <c:pt idx="6">
                  <c:v>1992</c:v>
                </c:pt>
                <c:pt idx="7">
                  <c:v>2736</c:v>
                </c:pt>
                <c:pt idx="8">
                  <c:v>2429</c:v>
                </c:pt>
                <c:pt idx="9">
                  <c:v>3597</c:v>
                </c:pt>
                <c:pt idx="10">
                  <c:v>4683</c:v>
                </c:pt>
                <c:pt idx="11">
                  <c:v>5082</c:v>
                </c:pt>
                <c:pt idx="12">
                  <c:v>3974</c:v>
                </c:pt>
                <c:pt idx="13">
                  <c:v>1102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Publisher 1</c:v>
                </c:pt>
              </c:strCache>
            </c:strRef>
          </c:tx>
          <c:spPr>
            <a:solidFill>
              <a:srgbClr val="F28E2B"/>
            </a:solidFill>
            <a:ln w="25400" cap="rnd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7680</c:v>
                </c:pt>
                <c:pt idx="1">
                  <c:v>9723</c:v>
                </c:pt>
                <c:pt idx="2">
                  <c:v>6693</c:v>
                </c:pt>
                <c:pt idx="3">
                  <c:v>10954</c:v>
                </c:pt>
                <c:pt idx="4">
                  <c:v>10615</c:v>
                </c:pt>
                <c:pt idx="5">
                  <c:v>6611</c:v>
                </c:pt>
                <c:pt idx="6">
                  <c:v>9917</c:v>
                </c:pt>
                <c:pt idx="7">
                  <c:v>7962</c:v>
                </c:pt>
                <c:pt idx="8">
                  <c:v>7045</c:v>
                </c:pt>
                <c:pt idx="9">
                  <c:v>5448</c:v>
                </c:pt>
                <c:pt idx="10">
                  <c:v>10025</c:v>
                </c:pt>
                <c:pt idx="11">
                  <c:v>7577</c:v>
                </c:pt>
                <c:pt idx="12">
                  <c:v>10259</c:v>
                </c:pt>
                <c:pt idx="13">
                  <c:v>2995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Publisher 2</c:v>
                </c:pt>
              </c:strCache>
            </c:strRef>
          </c:tx>
          <c:spPr>
            <a:solidFill>
              <a:srgbClr val="9AA3AD"/>
            </a:solidFill>
            <a:ln w="25400" cap="rnd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3147</c:v>
                </c:pt>
                <c:pt idx="1">
                  <c:v>3618</c:v>
                </c:pt>
                <c:pt idx="2">
                  <c:v>4419</c:v>
                </c:pt>
                <c:pt idx="3">
                  <c:v>4043</c:v>
                </c:pt>
                <c:pt idx="4">
                  <c:v>2681</c:v>
                </c:pt>
                <c:pt idx="5">
                  <c:v>4090</c:v>
                </c:pt>
                <c:pt idx="6">
                  <c:v>3113</c:v>
                </c:pt>
                <c:pt idx="7">
                  <c:v>2675</c:v>
                </c:pt>
                <c:pt idx="8">
                  <c:v>3376</c:v>
                </c:pt>
                <c:pt idx="9">
                  <c:v>3420</c:v>
                </c:pt>
                <c:pt idx="10">
                  <c:v>6184</c:v>
                </c:pt>
                <c:pt idx="11">
                  <c:v>4671</c:v>
                </c:pt>
                <c:pt idx="12">
                  <c:v>5402</c:v>
                </c:pt>
                <c:pt idx="13">
                  <c:v>1629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Publisher 3</c:v>
                </c:pt>
              </c:strCache>
            </c:strRef>
          </c:tx>
          <c:spPr>
            <a:solidFill>
              <a:srgbClr val="F2C94C"/>
            </a:solidFill>
            <a:ln w="25400" cap="rnd">
              <a:solidFill>
                <a:srgbClr val="F2C9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94C"/>
              </a:solidFill>
              <a:ln w="9525" cap="flat">
                <a:solidFill>
                  <a:srgbClr val="F2C9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3335</c:v>
                </c:pt>
                <c:pt idx="1">
                  <c:v>4326</c:v>
                </c:pt>
                <c:pt idx="2">
                  <c:v>5664</c:v>
                </c:pt>
                <c:pt idx="3">
                  <c:v>3441</c:v>
                </c:pt>
                <c:pt idx="4">
                  <c:v>3725</c:v>
                </c:pt>
                <c:pt idx="5">
                  <c:v>3639</c:v>
                </c:pt>
                <c:pt idx="6">
                  <c:v>6716</c:v>
                </c:pt>
                <c:pt idx="7">
                  <c:v>4072</c:v>
                </c:pt>
                <c:pt idx="8">
                  <c:v>4201</c:v>
                </c:pt>
                <c:pt idx="9">
                  <c:v>2625</c:v>
                </c:pt>
                <c:pt idx="10">
                  <c:v>4363</c:v>
                </c:pt>
                <c:pt idx="11">
                  <c:v>2576</c:v>
                </c:pt>
                <c:pt idx="12">
                  <c:v>2746</c:v>
                </c:pt>
                <c:pt idx="13">
                  <c:v>838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Publisher 4</c:v>
                </c:pt>
              </c:strCache>
            </c:strRef>
          </c:tx>
          <c:spPr>
            <a:solidFill>
              <a:srgbClr val="EB5757"/>
            </a:solidFill>
            <a:ln w="25400" cap="rnd">
              <a:solidFill>
                <a:srgbClr val="EB5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5757"/>
              </a:solidFill>
              <a:ln w="9525" cap="flat">
                <a:solidFill>
                  <a:srgbClr val="EB5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2025-12-29</c:v>
                  </c:pt>
                  <c:pt idx="1">
                    <c:v>2026-01-05</c:v>
                  </c:pt>
                  <c:pt idx="2">
                    <c:v>2026-01-12</c:v>
                  </c:pt>
                  <c:pt idx="3">
                    <c:v>2026-01-19</c:v>
                  </c:pt>
                  <c:pt idx="4">
                    <c:v>2026-01-26</c:v>
                  </c:pt>
                  <c:pt idx="5">
                    <c:v>2026-02-02</c:v>
                  </c:pt>
                  <c:pt idx="6">
                    <c:v>2026-02-09</c:v>
                  </c:pt>
                  <c:pt idx="7">
                    <c:v>2026-02-16</c:v>
                  </c:pt>
                  <c:pt idx="8">
                    <c:v>2026-02-23</c:v>
                  </c:pt>
                  <c:pt idx="9">
                    <c:v>2026-03-02</c:v>
                  </c:pt>
                  <c:pt idx="10">
                    <c:v>2026-03-09</c:v>
                  </c:pt>
                  <c:pt idx="11">
                    <c:v>2026-03-16</c:v>
                  </c:pt>
                  <c:pt idx="12">
                    <c:v>2026-03-23</c:v>
                  </c:pt>
                  <c:pt idx="13">
                    <c:v>2026-03-30</c:v>
                  </c:pt>
                </c:lvl>
              </c:multiLvlStrCache>
            </c:multiLvl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1435</c:v>
                </c:pt>
                <c:pt idx="1">
                  <c:v>1441</c:v>
                </c:pt>
                <c:pt idx="2">
                  <c:v>1421</c:v>
                </c:pt>
                <c:pt idx="3">
                  <c:v>960</c:v>
                </c:pt>
                <c:pt idx="4">
                  <c:v>1055</c:v>
                </c:pt>
                <c:pt idx="5">
                  <c:v>1120</c:v>
                </c:pt>
                <c:pt idx="6">
                  <c:v>970</c:v>
                </c:pt>
                <c:pt idx="7">
                  <c:v>982</c:v>
                </c:pt>
                <c:pt idx="8">
                  <c:v>2000</c:v>
                </c:pt>
                <c:pt idx="9">
                  <c:v>2627</c:v>
                </c:pt>
                <c:pt idx="10">
                  <c:v>2006</c:v>
                </c:pt>
                <c:pt idx="11">
                  <c:v>1953</c:v>
                </c:pt>
                <c:pt idx="12">
                  <c:v>2301</c:v>
                </c:pt>
                <c:pt idx="13">
                  <c:v>329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 cap="flat">
            <a:solidFill>
              <a:srgbClr val="D9DEE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"/>
          <c:min val="0"/>
        </c:scaling>
        <c:delete val="0"/>
        <c:axPos val="l"/>
        <c:majorGridlines>
          <c:spPr>
            <a:ln w="5715" cap="flat">
              <a:solidFill>
                <a:srgbClr val="D9DEE8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4"/>
        <c:crosses val="autoZero"/>
        <c:crossBetween val="between"/>
        <c:majorUnit val="4000"/>
      </c:valAx>
      <c:spPr>
        <a:solidFill>
          <a:srgbClr val="F3F4F6"/>
        </a:solidFill>
        <a:ln w="12700" cap="flat">
          <a:solidFill>
            <a:srgbClr val="F3F4F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B6372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F3F4F6"/>
    </a:solidFill>
    <a:ln w="12700" cap="flat">
      <a:solidFill>
        <a:srgbClr val="F3F4F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274320" y="932688"/>
            <a:ext cx="4251960" cy="4251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4920" y="713232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opportunity in the competitor gap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12064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113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93776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89204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requiring activation, application or recovery</a:t>
            </a:r>
            <a:endParaRPr lang="en-US" sz="980" dirty="0"/>
          </a:p>
        </p:txBody>
      </p:sp>
      <p:sp>
        <p:nvSpPr>
          <p:cNvPr id="8" name="Text 4"/>
          <p:cNvSpPr/>
          <p:nvPr/>
        </p:nvSpPr>
        <p:spPr>
          <a:xfrm>
            <a:off x="845820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827532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opportunities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£23.7k already accepted but inactive</a:t>
            </a:r>
            <a:endParaRPr lang="en-US" sz="980" dirty="0"/>
          </a:p>
        </p:txBody>
      </p:sp>
      <p:sp>
        <p:nvSpPr>
          <p:cNvPr id="11" name="Text 7"/>
          <p:cNvSpPr/>
          <p:nvPr/>
        </p:nvSpPr>
        <p:spPr>
          <a:xfrm>
            <a:off x="5897880" y="327355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£32.4k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5669280" y="4041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pub comm opportunity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779008" y="444398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113 programs where the primary publisher is not earning</a:t>
            </a:r>
            <a:endParaRPr lang="en-US" sz="1040" dirty="0"/>
          </a:p>
        </p:txBody>
      </p:sp>
      <p:sp>
        <p:nvSpPr>
          <p:cNvPr id="14" name="Text 10"/>
          <p:cNvSpPr/>
          <p:nvPr/>
        </p:nvSpPr>
        <p:spPr>
          <a:xfrm>
            <a:off x="5074920" y="5102352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accepted and click-led programs first, then build an application pipeline for no-connection gaps. The largest visible gap is InsureandGo (£6.5k).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competitor-funded gaps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receiving publisher commission from competitors while the primary publisher is not earning.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highest-value programs shown here. 113 remaining gap programs are available in the Excel report.</a:t>
            </a:r>
            <a:endParaRPr lang="en-US" sz="940" dirty="0"/>
          </a:p>
        </p:txBody>
      </p:sp>
      <p:sp>
        <p:nvSpPr>
          <p:cNvPr id="6" name="Shape 3"/>
          <p:cNvSpPr/>
          <p:nvPr/>
        </p:nvSpPr>
        <p:spPr>
          <a:xfrm>
            <a:off x="530352" y="1572768"/>
            <a:ext cx="11137392" cy="310896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66420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1005840" y="166420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/ ID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4553712" y="1664208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status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6035040" y="166420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signal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7772400" y="1664208"/>
            <a:ext cx="2688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 - Specified Sites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10625328" y="166420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530352" y="1883664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20208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05840" y="1947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324414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4535424" y="2048256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5152" y="202082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6035040" y="202082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19" name="Shape 16"/>
          <p:cNvSpPr/>
          <p:nvPr/>
        </p:nvSpPr>
        <p:spPr>
          <a:xfrm>
            <a:off x="7772400" y="2048256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2048256"/>
            <a:ext cx="2148840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88752" y="202082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£6,492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30352" y="2304288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24414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05840" y="2368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Radisson Hotels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246015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4535424" y="2468880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45152" y="244144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035040" y="244144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28" name="Shape 25"/>
          <p:cNvSpPr/>
          <p:nvPr/>
        </p:nvSpPr>
        <p:spPr>
          <a:xfrm>
            <a:off x="7772400" y="2468880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0" y="2468880"/>
            <a:ext cx="1636124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88752" y="244144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£4,943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30352" y="2724912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8620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0584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Autodoc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284852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4535424" y="2889504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45152" y="286207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6035040" y="286207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37" name="Shape 34"/>
          <p:cNvSpPr/>
          <p:nvPr/>
        </p:nvSpPr>
        <p:spPr>
          <a:xfrm>
            <a:off x="7772400" y="2889504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772400" y="2889504"/>
            <a:ext cx="1211784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588752" y="286207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£3,661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30352" y="3145536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0352" y="32826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005840" y="3209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Fraser Hart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356876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4535424" y="3310128"/>
            <a:ext cx="73152" cy="73152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45152" y="328269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6035040" y="328269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3/4 competitors earning</a:t>
            </a:r>
            <a:endParaRPr lang="en-US" sz="710" dirty="0"/>
          </a:p>
        </p:txBody>
      </p:sp>
      <p:sp>
        <p:nvSpPr>
          <p:cNvPr id="46" name="Shape 43"/>
          <p:cNvSpPr/>
          <p:nvPr/>
        </p:nvSpPr>
        <p:spPr>
          <a:xfrm>
            <a:off x="7772400" y="3310128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72400" y="3310128"/>
            <a:ext cx="817896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88752" y="328269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£2,471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530352" y="3566160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30352" y="37033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1005840" y="3630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Hue UK - AFF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354193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4535424" y="3730752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45152" y="37033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6035040" y="37033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55" name="Shape 52"/>
          <p:cNvSpPr/>
          <p:nvPr/>
        </p:nvSpPr>
        <p:spPr>
          <a:xfrm>
            <a:off x="7772400" y="3730752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72400" y="3730752"/>
            <a:ext cx="690462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588752" y="370332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£2,086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530352" y="3986784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30352" y="41239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1005840" y="4050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8854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4535424" y="4151376"/>
            <a:ext cx="73152" cy="73152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645152" y="412394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Denied</a:t>
            </a:r>
            <a:endParaRPr lang="en-US" sz="720" dirty="0"/>
          </a:p>
        </p:txBody>
      </p:sp>
      <p:sp>
        <p:nvSpPr>
          <p:cNvPr id="63" name="Text 60"/>
          <p:cNvSpPr/>
          <p:nvPr/>
        </p:nvSpPr>
        <p:spPr>
          <a:xfrm>
            <a:off x="6035040" y="41239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3/4 competitors earning</a:t>
            </a:r>
            <a:endParaRPr lang="en-US" sz="710" dirty="0"/>
          </a:p>
        </p:txBody>
      </p:sp>
      <p:sp>
        <p:nvSpPr>
          <p:cNvPr id="64" name="Shape 61"/>
          <p:cNvSpPr/>
          <p:nvPr/>
        </p:nvSpPr>
        <p:spPr>
          <a:xfrm>
            <a:off x="7772400" y="4151376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772400" y="4151376"/>
            <a:ext cx="595466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588752" y="412394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£1,799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530352" y="4407408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30352" y="4544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1005840" y="4471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Cliphair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324415</a:t>
            </a:r>
            <a:endParaRPr lang="en-US" sz="720" dirty="0"/>
          </a:p>
        </p:txBody>
      </p:sp>
      <p:sp>
        <p:nvSpPr>
          <p:cNvPr id="70" name="Shape 67"/>
          <p:cNvSpPr/>
          <p:nvPr/>
        </p:nvSpPr>
        <p:spPr>
          <a:xfrm>
            <a:off x="4535424" y="4572000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645152" y="454456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6035040" y="454456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4/4 competitors earning</a:t>
            </a:r>
            <a:endParaRPr lang="en-US" sz="710" dirty="0"/>
          </a:p>
        </p:txBody>
      </p:sp>
      <p:sp>
        <p:nvSpPr>
          <p:cNvPr id="73" name="Shape 70"/>
          <p:cNvSpPr/>
          <p:nvPr/>
        </p:nvSpPr>
        <p:spPr>
          <a:xfrm>
            <a:off x="7772400" y="4572000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772400" y="4572000"/>
            <a:ext cx="475975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588752" y="454456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£1,438</a:t>
            </a:r>
            <a:endParaRPr lang="en-US" sz="780" dirty="0"/>
          </a:p>
        </p:txBody>
      </p:sp>
      <p:sp>
        <p:nvSpPr>
          <p:cNvPr id="76" name="Shape 73"/>
          <p:cNvSpPr/>
          <p:nvPr/>
        </p:nvSpPr>
        <p:spPr>
          <a:xfrm>
            <a:off x="530352" y="4828032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496519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1005840" y="4892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Laurastar UK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357181</a:t>
            </a:r>
            <a:endParaRPr lang="en-US" sz="720" dirty="0"/>
          </a:p>
        </p:txBody>
      </p:sp>
      <p:sp>
        <p:nvSpPr>
          <p:cNvPr id="79" name="Shape 76"/>
          <p:cNvSpPr/>
          <p:nvPr/>
        </p:nvSpPr>
        <p:spPr>
          <a:xfrm>
            <a:off x="4535424" y="4992624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645152" y="496519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6035040" y="496519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82" name="Shape 79"/>
          <p:cNvSpPr/>
          <p:nvPr/>
        </p:nvSpPr>
        <p:spPr>
          <a:xfrm>
            <a:off x="7772400" y="4992624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772400" y="4992624"/>
            <a:ext cx="394550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0588752" y="49651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£1,192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530352" y="5248656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530352" y="53858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1005840" y="5312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Lufthansa UK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117842</a:t>
            </a:r>
            <a:endParaRPr lang="en-US" sz="720" dirty="0"/>
          </a:p>
        </p:txBody>
      </p:sp>
      <p:sp>
        <p:nvSpPr>
          <p:cNvPr id="88" name="Shape 85"/>
          <p:cNvSpPr/>
          <p:nvPr/>
        </p:nvSpPr>
        <p:spPr>
          <a:xfrm>
            <a:off x="4535424" y="5413248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645152" y="538581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6035040" y="538581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3/4 competitors earning</a:t>
            </a:r>
            <a:endParaRPr lang="en-US" sz="710" dirty="0"/>
          </a:p>
        </p:txBody>
      </p:sp>
      <p:sp>
        <p:nvSpPr>
          <p:cNvPr id="91" name="Shape 88"/>
          <p:cNvSpPr/>
          <p:nvPr/>
        </p:nvSpPr>
        <p:spPr>
          <a:xfrm>
            <a:off x="7772400" y="5413248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772400" y="5413248"/>
            <a:ext cx="388592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0588752" y="538581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£1,174</a:t>
            </a:r>
            <a:endParaRPr lang="en-US" sz="780" dirty="0"/>
          </a:p>
        </p:txBody>
      </p:sp>
      <p:sp>
        <p:nvSpPr>
          <p:cNvPr id="94" name="Shape 91"/>
          <p:cNvSpPr/>
          <p:nvPr/>
        </p:nvSpPr>
        <p:spPr>
          <a:xfrm>
            <a:off x="530352" y="5669280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30352" y="58064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6" name="Text 93"/>
          <p:cNvSpPr/>
          <p:nvPr/>
        </p:nvSpPr>
        <p:spPr>
          <a:xfrm>
            <a:off x="1005840" y="5733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Aegean Airlines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359548</a:t>
            </a:r>
            <a:endParaRPr lang="en-US" sz="720" dirty="0"/>
          </a:p>
        </p:txBody>
      </p:sp>
      <p:sp>
        <p:nvSpPr>
          <p:cNvPr id="97" name="Shape 94"/>
          <p:cNvSpPr/>
          <p:nvPr/>
        </p:nvSpPr>
        <p:spPr>
          <a:xfrm>
            <a:off x="4535424" y="5833872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4645152" y="580644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6035040" y="58064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100" name="Shape 97"/>
          <p:cNvSpPr/>
          <p:nvPr/>
        </p:nvSpPr>
        <p:spPr>
          <a:xfrm>
            <a:off x="7772400" y="5833872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772400" y="5833872"/>
            <a:ext cx="345893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10588752" y="58064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£1,045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 programs reviewed | Page 1/2 | Not Connected: 55 | Accepted: 10 | Created from 1 October 2025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 programs reviewed | Page 2/2 | Not Connected: 55 | Accepted: 10 | Created from 1 October 2025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2" name="Shape 69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4" name="Shape 71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£1,753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41248" y="3383280"/>
          <a:ext cx="10607040" cy="27980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5036561"/>
            <a:ext cx="438912" cy="47727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78052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989835"/>
            <a:ext cx="438912" cy="52399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73380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4075344"/>
            <a:ext cx="438912" cy="14384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8193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175470"/>
            <a:ext cx="438912" cy="133836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1943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4766219"/>
            <a:ext cx="438912" cy="747613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451018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4896383"/>
            <a:ext cx="438912" cy="617449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64035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4996510"/>
            <a:ext cx="438912" cy="51732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74047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4899721"/>
            <a:ext cx="438912" cy="614111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64368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356967"/>
            <a:ext cx="438912" cy="15686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510093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270190"/>
            <a:ext cx="438912" cy="24364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1415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2026-05-21T08:47:42Z</dcterms:created>
  <dcterms:modified xsi:type="dcterms:W3CDTF">2026-05-21T08:47:42Z</dcterms:modified>
</cp:coreProperties>
</file>