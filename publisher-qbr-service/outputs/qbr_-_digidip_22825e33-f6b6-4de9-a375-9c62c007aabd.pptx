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publisher-qbr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621792"/>
            <a:ext cx="10561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digidip performance review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21792" y="1828800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data-led review of digidip publisher programme performance, programme activation, competitor context and next-cycle priorities.</a:t>
            </a:r>
            <a:endParaRPr lang="en-US" sz="1220" dirty="0"/>
          </a:p>
        </p:txBody>
      </p:sp>
      <p:sp>
        <p:nvSpPr>
          <p:cNvPr id="5" name="Shape 2"/>
          <p:cNvSpPr/>
          <p:nvPr/>
        </p:nvSpPr>
        <p:spPr>
          <a:xfrm>
            <a:off x="621792" y="2743200"/>
            <a:ext cx="1170432" cy="329184"/>
          </a:xfrm>
          <a:prstGeom prst="roundRect">
            <a:avLst/>
          </a:prstGeom>
          <a:solidFill>
            <a:srgbClr val="F3F4F6">
              <a:alpha val="7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58952" y="28163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QBR Report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883664" y="2743200"/>
            <a:ext cx="2423160" cy="329184"/>
          </a:xfrm>
          <a:prstGeom prst="roundRect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993392" y="28163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0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 2026 – May 2026 Analysis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66928" y="3858768"/>
            <a:ext cx="19659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</a:t>
            </a:r>
            <a:endParaRPr lang="en-US" sz="11800" dirty="0"/>
          </a:p>
        </p:txBody>
      </p:sp>
      <p:sp>
        <p:nvSpPr>
          <p:cNvPr id="10" name="Text 7"/>
          <p:cNvSpPr/>
          <p:nvPr/>
        </p:nvSpPr>
        <p:spPr>
          <a:xfrm>
            <a:off x="694944" y="587959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tradedoubler</a:t>
            </a:r>
            <a:endParaRPr lang="en-US" sz="10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publisher-qbr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and YoY comparison windows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Period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630936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 (YoY)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40080" y="23317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Period: 1 April 2026 – 4 May 2026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640080" y="261518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as of: 4 May 2026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6309360" y="23317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Period: 1 April 2025 – 4 May 2025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6309360" y="261518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Basis: Year-over-Year (YoY)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640080" y="3246120"/>
            <a:ext cx="10927080" cy="96012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3566160"/>
            <a:ext cx="10378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▭  All figures are reported in USD ($) unless otherwise stated. YoY variance is calculated as Current Period vs Comparison Period.</a:t>
            </a:r>
            <a:endParaRPr lang="en-US" sz="11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publisher-qbr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139696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67712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☰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1248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41248" y="275234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vs 938 PY - </a:t>
            </a:r>
            <a:pPr indent="0" marL="0">
              <a:buNone/>
            </a:pPr>
            <a:r>
              <a:rPr lang="en-US" sz="102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▼ -96.8%</a:t>
            </a:r>
            <a:endParaRPr lang="en-US" sz="1020" dirty="0"/>
          </a:p>
        </p:txBody>
      </p:sp>
      <p:sp>
        <p:nvSpPr>
          <p:cNvPr id="10" name="Shape 7"/>
          <p:cNvSpPr/>
          <p:nvPr/>
        </p:nvSpPr>
        <p:spPr>
          <a:xfrm>
            <a:off x="4352544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52544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52160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80176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53712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53712" y="275234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$5,016 vs $197,999 PY - </a:t>
            </a:r>
            <a:pPr indent="0" marL="0">
              <a:buNone/>
            </a:pPr>
            <a:r>
              <a:rPr lang="en-US" sz="102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▼ -97.5%</a:t>
            </a:r>
            <a:endParaRPr lang="en-US" sz="1020" dirty="0"/>
          </a:p>
        </p:txBody>
      </p:sp>
      <p:sp>
        <p:nvSpPr>
          <p:cNvPr id="16" name="Shape 13"/>
          <p:cNvSpPr/>
          <p:nvPr/>
        </p:nvSpPr>
        <p:spPr>
          <a:xfrm>
            <a:off x="8065008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65008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564624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692640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266176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266176" y="275234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$182 vs $13,782 PY - </a:t>
            </a:r>
            <a:pPr indent="0" marL="0">
              <a:buNone/>
            </a:pPr>
            <a:r>
              <a:rPr lang="en-US" sz="102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▼ -98.7%</a:t>
            </a: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2496312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496312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995928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123944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2697480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Wallet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2697480" y="4544568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 vs $0 PY - </a:t>
            </a:r>
            <a:pPr indent="0" marL="0">
              <a:buNone/>
            </a:pPr>
            <a:r>
              <a:rPr lang="en-US" sz="10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20" dirty="0"/>
          </a:p>
        </p:txBody>
      </p:sp>
      <p:sp>
        <p:nvSpPr>
          <p:cNvPr id="28" name="Shape 25"/>
          <p:cNvSpPr/>
          <p:nvPr/>
        </p:nvSpPr>
        <p:spPr>
          <a:xfrm>
            <a:off x="6208776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208776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708392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836408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▲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409944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6409944" y="4544568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$182 vs $13,782 PY - </a:t>
            </a:r>
            <a:pPr indent="0" marL="0">
              <a:buNone/>
            </a:pPr>
            <a:r>
              <a:rPr lang="en-US" sz="102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▼ -98.7%</a:t>
            </a:r>
            <a:endParaRPr lang="en-US" sz="1020" dirty="0"/>
          </a:p>
        </p:txBody>
      </p:sp>
      <p:sp>
        <p:nvSpPr>
          <p:cNvPr id="34" name="Text 31"/>
          <p:cNvSpPr/>
          <p:nvPr/>
        </p:nvSpPr>
        <p:spPr>
          <a:xfrm>
            <a:off x="749808" y="536752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12 selected programs, publisher programme performance was mixed in Apr 2026 – May 2026. Conversions decreased ▼ -96.8% to 30, while conversion rate decreased ▼ -96.3% to 0.1%. Total order value decreased ▼ -97.5% to $5,016, publisher commission decreased ▼ -98.7% to $182, and total earnings decreased ▼ -98.7% to $182. Digital wallet contribution was flat N/A to $0. Full KPI breakdown follows on the next slides.</a:t>
            </a:r>
            <a:endParaRPr lang="en-US" sz="11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publisher-qbr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Summary Table: Conversions &amp; Earnings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KPI breakdown vs prior year.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354330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75488" y="1719072"/>
            <a:ext cx="934517" cy="763524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16636" y="1737360"/>
            <a:ext cx="852221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Period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1410005" y="1719072"/>
            <a:ext cx="934517" cy="763524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451153" y="1737360"/>
            <a:ext cx="852221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344522" y="1719072"/>
            <a:ext cx="934517" cy="763524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385670" y="1737360"/>
            <a:ext cx="852221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 Rate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79038" y="1719072"/>
            <a:ext cx="934517" cy="763524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20186" y="1737360"/>
            <a:ext cx="852221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213555" y="1719072"/>
            <a:ext cx="934517" cy="763524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54703" y="1737360"/>
            <a:ext cx="852221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Earnings per Click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148072" y="1719072"/>
            <a:ext cx="934517" cy="763524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89220" y="1737360"/>
            <a:ext cx="852221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Earnings per Commission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082589" y="1719072"/>
            <a:ext cx="934517" cy="763524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23737" y="1737360"/>
            <a:ext cx="852221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Value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017106" y="1719072"/>
            <a:ext cx="934517" cy="763524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058254" y="1737360"/>
            <a:ext cx="852221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7951622" y="1719072"/>
            <a:ext cx="934517" cy="763524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992770" y="1737360"/>
            <a:ext cx="852221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Wallet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8886139" y="1719072"/>
            <a:ext cx="934517" cy="763524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927287" y="1737360"/>
            <a:ext cx="852221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9820656" y="1719072"/>
            <a:ext cx="934517" cy="763524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861804" y="1737360"/>
            <a:ext cx="852221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 Programs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10755173" y="1719072"/>
            <a:ext cx="930859" cy="763524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796321" y="1737360"/>
            <a:ext cx="848563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w/ Commission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75488" y="2482596"/>
            <a:ext cx="934517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16636" y="2500884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Recent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1410005" y="2482596"/>
            <a:ext cx="934517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451153" y="2500884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2344522" y="2482596"/>
            <a:ext cx="934517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385670" y="2500884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0.1%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3279038" y="2482596"/>
            <a:ext cx="934517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320186" y="2500884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20,018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4213555" y="2482596"/>
            <a:ext cx="934517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254703" y="2500884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$0.01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5148072" y="2482596"/>
            <a:ext cx="934517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189220" y="2500884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1.00x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6082589" y="2482596"/>
            <a:ext cx="934517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123737" y="2500884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$5,016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7017106" y="2482596"/>
            <a:ext cx="934517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058254" y="2500884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$182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7951622" y="2482596"/>
            <a:ext cx="934517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992770" y="2500884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8886139" y="2482596"/>
            <a:ext cx="934517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8927287" y="2500884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$182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9820656" y="2482596"/>
            <a:ext cx="934517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9861804" y="2500884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10755173" y="2482596"/>
            <a:ext cx="930859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10796321" y="2500884"/>
            <a:ext cx="84856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475488" y="3140964"/>
            <a:ext cx="934517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16636" y="3159252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Previous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1410005" y="3140964"/>
            <a:ext cx="934517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1451153" y="3159252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938</a:t>
            </a:r>
            <a:endParaRPr 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2344522" y="3140964"/>
            <a:ext cx="934517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2385670" y="3159252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4.1%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3279038" y="3140964"/>
            <a:ext cx="934517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3320186" y="3159252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22,889</a:t>
            </a:r>
            <a:endParaRPr lang="en-US" sz="1000" dirty="0"/>
          </a:p>
        </p:txBody>
      </p:sp>
      <p:sp>
        <p:nvSpPr>
          <p:cNvPr id="62" name="Shape 59"/>
          <p:cNvSpPr/>
          <p:nvPr/>
        </p:nvSpPr>
        <p:spPr>
          <a:xfrm>
            <a:off x="4213555" y="3140964"/>
            <a:ext cx="934517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4254703" y="3159252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$0.60</a:t>
            </a:r>
            <a:endParaRPr lang="en-US" sz="1000" dirty="0"/>
          </a:p>
        </p:txBody>
      </p:sp>
      <p:sp>
        <p:nvSpPr>
          <p:cNvPr id="64" name="Shape 61"/>
          <p:cNvSpPr/>
          <p:nvPr/>
        </p:nvSpPr>
        <p:spPr>
          <a:xfrm>
            <a:off x="5148072" y="3140964"/>
            <a:ext cx="934517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5189220" y="3159252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1.00x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6082589" y="3140964"/>
            <a:ext cx="934517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6123737" y="3159252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$197,999</a:t>
            </a:r>
            <a:endParaRPr lang="en-US" sz="1000" dirty="0"/>
          </a:p>
        </p:txBody>
      </p:sp>
      <p:sp>
        <p:nvSpPr>
          <p:cNvPr id="68" name="Shape 65"/>
          <p:cNvSpPr/>
          <p:nvPr/>
        </p:nvSpPr>
        <p:spPr>
          <a:xfrm>
            <a:off x="7017106" y="3140964"/>
            <a:ext cx="934517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7058254" y="3159252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$13,782</a:t>
            </a:r>
            <a:endParaRPr lang="en-US" sz="1000" dirty="0"/>
          </a:p>
        </p:txBody>
      </p:sp>
      <p:sp>
        <p:nvSpPr>
          <p:cNvPr id="70" name="Shape 67"/>
          <p:cNvSpPr/>
          <p:nvPr/>
        </p:nvSpPr>
        <p:spPr>
          <a:xfrm>
            <a:off x="7951622" y="3140964"/>
            <a:ext cx="934517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7992770" y="3159252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8886139" y="3140964"/>
            <a:ext cx="934517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8927287" y="3159252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$13,782</a:t>
            </a:r>
            <a:endParaRPr lang="en-US" sz="1000" dirty="0"/>
          </a:p>
        </p:txBody>
      </p:sp>
      <p:sp>
        <p:nvSpPr>
          <p:cNvPr id="74" name="Shape 71"/>
          <p:cNvSpPr/>
          <p:nvPr/>
        </p:nvSpPr>
        <p:spPr>
          <a:xfrm>
            <a:off x="9820656" y="3140964"/>
            <a:ext cx="934517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9861804" y="3159252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</a:t>
            </a:r>
            <a:endParaRPr lang="en-US" sz="1000" dirty="0"/>
          </a:p>
        </p:txBody>
      </p:sp>
      <p:sp>
        <p:nvSpPr>
          <p:cNvPr id="76" name="Shape 73"/>
          <p:cNvSpPr/>
          <p:nvPr/>
        </p:nvSpPr>
        <p:spPr>
          <a:xfrm>
            <a:off x="10755173" y="3140964"/>
            <a:ext cx="930859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10796321" y="3159252"/>
            <a:ext cx="84856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5488" y="3799332"/>
            <a:ext cx="934517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516636" y="3817620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Difference</a:t>
            </a:r>
            <a:endParaRPr lang="en-US" sz="1000" dirty="0"/>
          </a:p>
        </p:txBody>
      </p:sp>
      <p:sp>
        <p:nvSpPr>
          <p:cNvPr id="80" name="Shape 77"/>
          <p:cNvSpPr/>
          <p:nvPr/>
        </p:nvSpPr>
        <p:spPr>
          <a:xfrm>
            <a:off x="1410005" y="3799332"/>
            <a:ext cx="934517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1451153" y="3817620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-908</a:t>
            </a:r>
            <a:endParaRPr lang="en-US" sz="1000" dirty="0"/>
          </a:p>
        </p:txBody>
      </p:sp>
      <p:sp>
        <p:nvSpPr>
          <p:cNvPr id="82" name="Shape 79"/>
          <p:cNvSpPr/>
          <p:nvPr/>
        </p:nvSpPr>
        <p:spPr>
          <a:xfrm>
            <a:off x="2344522" y="3799332"/>
            <a:ext cx="934517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2385670" y="3817620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-3.9%</a:t>
            </a:r>
            <a:endParaRPr lang="en-US" sz="1000" dirty="0"/>
          </a:p>
        </p:txBody>
      </p:sp>
      <p:sp>
        <p:nvSpPr>
          <p:cNvPr id="84" name="Shape 81"/>
          <p:cNvSpPr/>
          <p:nvPr/>
        </p:nvSpPr>
        <p:spPr>
          <a:xfrm>
            <a:off x="3279038" y="3799332"/>
            <a:ext cx="934517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3320186" y="3817620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-2,871</a:t>
            </a:r>
            <a:endParaRPr lang="en-US" sz="1000" dirty="0"/>
          </a:p>
        </p:txBody>
      </p:sp>
      <p:sp>
        <p:nvSpPr>
          <p:cNvPr id="86" name="Shape 83"/>
          <p:cNvSpPr/>
          <p:nvPr/>
        </p:nvSpPr>
        <p:spPr>
          <a:xfrm>
            <a:off x="4213555" y="3799332"/>
            <a:ext cx="934517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4254703" y="3817620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-$0.59</a:t>
            </a:r>
            <a:endParaRPr lang="en-US" sz="1000" dirty="0"/>
          </a:p>
        </p:txBody>
      </p:sp>
      <p:sp>
        <p:nvSpPr>
          <p:cNvPr id="88" name="Shape 85"/>
          <p:cNvSpPr/>
          <p:nvPr/>
        </p:nvSpPr>
        <p:spPr>
          <a:xfrm>
            <a:off x="5148072" y="3799332"/>
            <a:ext cx="934517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5189220" y="3817620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0.00x</a:t>
            </a:r>
            <a:endParaRPr lang="en-US" sz="1000" dirty="0"/>
          </a:p>
        </p:txBody>
      </p:sp>
      <p:sp>
        <p:nvSpPr>
          <p:cNvPr id="90" name="Shape 87"/>
          <p:cNvSpPr/>
          <p:nvPr/>
        </p:nvSpPr>
        <p:spPr>
          <a:xfrm>
            <a:off x="6082589" y="3799332"/>
            <a:ext cx="934517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6123737" y="3817620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-$192,983</a:t>
            </a:r>
            <a:endParaRPr lang="en-US" sz="1000" dirty="0"/>
          </a:p>
        </p:txBody>
      </p:sp>
      <p:sp>
        <p:nvSpPr>
          <p:cNvPr id="92" name="Shape 89"/>
          <p:cNvSpPr/>
          <p:nvPr/>
        </p:nvSpPr>
        <p:spPr>
          <a:xfrm>
            <a:off x="7017106" y="3799332"/>
            <a:ext cx="934517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7058254" y="3817620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-$13,600</a:t>
            </a:r>
            <a:endParaRPr lang="en-US" sz="1000" dirty="0"/>
          </a:p>
        </p:txBody>
      </p:sp>
      <p:sp>
        <p:nvSpPr>
          <p:cNvPr id="94" name="Shape 91"/>
          <p:cNvSpPr/>
          <p:nvPr/>
        </p:nvSpPr>
        <p:spPr>
          <a:xfrm>
            <a:off x="7951622" y="3799332"/>
            <a:ext cx="934517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7992770" y="3817620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96" name="Shape 93"/>
          <p:cNvSpPr/>
          <p:nvPr/>
        </p:nvSpPr>
        <p:spPr>
          <a:xfrm>
            <a:off x="8886139" y="3799332"/>
            <a:ext cx="934517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8927287" y="3817620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-$13,600</a:t>
            </a:r>
            <a:endParaRPr lang="en-US" sz="1000" dirty="0"/>
          </a:p>
        </p:txBody>
      </p:sp>
      <p:sp>
        <p:nvSpPr>
          <p:cNvPr id="98" name="Shape 95"/>
          <p:cNvSpPr/>
          <p:nvPr/>
        </p:nvSpPr>
        <p:spPr>
          <a:xfrm>
            <a:off x="9820656" y="3799332"/>
            <a:ext cx="934517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9861804" y="3817620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00" name="Shape 97"/>
          <p:cNvSpPr/>
          <p:nvPr/>
        </p:nvSpPr>
        <p:spPr>
          <a:xfrm>
            <a:off x="10755173" y="3799332"/>
            <a:ext cx="930859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1" name="Text 98"/>
          <p:cNvSpPr/>
          <p:nvPr/>
        </p:nvSpPr>
        <p:spPr>
          <a:xfrm>
            <a:off x="10796321" y="3817620"/>
            <a:ext cx="84856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-4</a:t>
            </a:r>
            <a:endParaRPr lang="en-US" sz="1000" dirty="0"/>
          </a:p>
        </p:txBody>
      </p:sp>
      <p:sp>
        <p:nvSpPr>
          <p:cNvPr id="102" name="Shape 99"/>
          <p:cNvSpPr/>
          <p:nvPr/>
        </p:nvSpPr>
        <p:spPr>
          <a:xfrm>
            <a:off x="475488" y="4457700"/>
            <a:ext cx="934517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3" name="Text 100"/>
          <p:cNvSpPr/>
          <p:nvPr/>
        </p:nvSpPr>
        <p:spPr>
          <a:xfrm>
            <a:off x="516636" y="4475988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 Variance</a:t>
            </a:r>
            <a:endParaRPr lang="en-US" sz="1000" dirty="0"/>
          </a:p>
        </p:txBody>
      </p:sp>
      <p:sp>
        <p:nvSpPr>
          <p:cNvPr id="104" name="Shape 101"/>
          <p:cNvSpPr/>
          <p:nvPr/>
        </p:nvSpPr>
        <p:spPr>
          <a:xfrm>
            <a:off x="1410005" y="4457700"/>
            <a:ext cx="934517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5" name="Text 102"/>
          <p:cNvSpPr/>
          <p:nvPr/>
        </p:nvSpPr>
        <p:spPr>
          <a:xfrm>
            <a:off x="1451153" y="4475988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▼ -96.8%</a:t>
            </a:r>
            <a:endParaRPr lang="en-US" sz="1000" dirty="0"/>
          </a:p>
        </p:txBody>
      </p:sp>
      <p:sp>
        <p:nvSpPr>
          <p:cNvPr id="106" name="Shape 103"/>
          <p:cNvSpPr/>
          <p:nvPr/>
        </p:nvSpPr>
        <p:spPr>
          <a:xfrm>
            <a:off x="2344522" y="4457700"/>
            <a:ext cx="934517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7" name="Text 104"/>
          <p:cNvSpPr/>
          <p:nvPr/>
        </p:nvSpPr>
        <p:spPr>
          <a:xfrm>
            <a:off x="2385670" y="4475988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▼ -96.3%</a:t>
            </a:r>
            <a:endParaRPr lang="en-US" sz="1000" dirty="0"/>
          </a:p>
        </p:txBody>
      </p:sp>
      <p:sp>
        <p:nvSpPr>
          <p:cNvPr id="108" name="Shape 105"/>
          <p:cNvSpPr/>
          <p:nvPr/>
        </p:nvSpPr>
        <p:spPr>
          <a:xfrm>
            <a:off x="3279038" y="4457700"/>
            <a:ext cx="934517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3320186" y="4475988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▼ -12.5%</a:t>
            </a:r>
            <a:endParaRPr lang="en-US" sz="1000" dirty="0"/>
          </a:p>
        </p:txBody>
      </p:sp>
      <p:sp>
        <p:nvSpPr>
          <p:cNvPr id="110" name="Shape 107"/>
          <p:cNvSpPr/>
          <p:nvPr/>
        </p:nvSpPr>
        <p:spPr>
          <a:xfrm>
            <a:off x="4213555" y="4457700"/>
            <a:ext cx="934517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1" name="Text 108"/>
          <p:cNvSpPr/>
          <p:nvPr/>
        </p:nvSpPr>
        <p:spPr>
          <a:xfrm>
            <a:off x="4254703" y="4475988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▼ -98.5%</a:t>
            </a:r>
            <a:endParaRPr lang="en-US" sz="1000" dirty="0"/>
          </a:p>
        </p:txBody>
      </p:sp>
      <p:sp>
        <p:nvSpPr>
          <p:cNvPr id="112" name="Shape 109"/>
          <p:cNvSpPr/>
          <p:nvPr/>
        </p:nvSpPr>
        <p:spPr>
          <a:xfrm>
            <a:off x="5148072" y="4457700"/>
            <a:ext cx="934517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3" name="Text 110"/>
          <p:cNvSpPr/>
          <p:nvPr/>
        </p:nvSpPr>
        <p:spPr>
          <a:xfrm>
            <a:off x="5189220" y="4475988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0.0%</a:t>
            </a:r>
            <a:endParaRPr lang="en-US" sz="1000" dirty="0"/>
          </a:p>
        </p:txBody>
      </p:sp>
      <p:sp>
        <p:nvSpPr>
          <p:cNvPr id="114" name="Shape 111"/>
          <p:cNvSpPr/>
          <p:nvPr/>
        </p:nvSpPr>
        <p:spPr>
          <a:xfrm>
            <a:off x="6082589" y="4457700"/>
            <a:ext cx="934517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5" name="Text 112"/>
          <p:cNvSpPr/>
          <p:nvPr/>
        </p:nvSpPr>
        <p:spPr>
          <a:xfrm>
            <a:off x="6123737" y="4475988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▼ -97.5%</a:t>
            </a:r>
            <a:endParaRPr lang="en-US" sz="1000" dirty="0"/>
          </a:p>
        </p:txBody>
      </p:sp>
      <p:sp>
        <p:nvSpPr>
          <p:cNvPr id="116" name="Shape 113"/>
          <p:cNvSpPr/>
          <p:nvPr/>
        </p:nvSpPr>
        <p:spPr>
          <a:xfrm>
            <a:off x="7017106" y="4457700"/>
            <a:ext cx="934517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7" name="Text 114"/>
          <p:cNvSpPr/>
          <p:nvPr/>
        </p:nvSpPr>
        <p:spPr>
          <a:xfrm>
            <a:off x="7058254" y="4475988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▼ -98.7%</a:t>
            </a:r>
            <a:endParaRPr lang="en-US" sz="1000" dirty="0"/>
          </a:p>
        </p:txBody>
      </p:sp>
      <p:sp>
        <p:nvSpPr>
          <p:cNvPr id="118" name="Shape 115"/>
          <p:cNvSpPr/>
          <p:nvPr/>
        </p:nvSpPr>
        <p:spPr>
          <a:xfrm>
            <a:off x="7951622" y="4457700"/>
            <a:ext cx="934517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9" name="Text 116"/>
          <p:cNvSpPr/>
          <p:nvPr/>
        </p:nvSpPr>
        <p:spPr>
          <a:xfrm>
            <a:off x="7992770" y="4475988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120" name="Shape 117"/>
          <p:cNvSpPr/>
          <p:nvPr/>
        </p:nvSpPr>
        <p:spPr>
          <a:xfrm>
            <a:off x="8886139" y="4457700"/>
            <a:ext cx="934517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1" name="Text 118"/>
          <p:cNvSpPr/>
          <p:nvPr/>
        </p:nvSpPr>
        <p:spPr>
          <a:xfrm>
            <a:off x="8927287" y="4475988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▼ -98.7%</a:t>
            </a:r>
            <a:endParaRPr lang="en-US" sz="1000" dirty="0"/>
          </a:p>
        </p:txBody>
      </p:sp>
      <p:sp>
        <p:nvSpPr>
          <p:cNvPr id="122" name="Shape 119"/>
          <p:cNvSpPr/>
          <p:nvPr/>
        </p:nvSpPr>
        <p:spPr>
          <a:xfrm>
            <a:off x="9820656" y="4457700"/>
            <a:ext cx="934517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3" name="Text 120"/>
          <p:cNvSpPr/>
          <p:nvPr/>
        </p:nvSpPr>
        <p:spPr>
          <a:xfrm>
            <a:off x="9861804" y="4475988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▲ +2.6%</a:t>
            </a:r>
            <a:endParaRPr lang="en-US" sz="1000" dirty="0"/>
          </a:p>
        </p:txBody>
      </p:sp>
      <p:sp>
        <p:nvSpPr>
          <p:cNvPr id="124" name="Shape 121"/>
          <p:cNvSpPr/>
          <p:nvPr/>
        </p:nvSpPr>
        <p:spPr>
          <a:xfrm>
            <a:off x="10755173" y="4457700"/>
            <a:ext cx="930859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5" name="Text 122"/>
          <p:cNvSpPr/>
          <p:nvPr/>
        </p:nvSpPr>
        <p:spPr>
          <a:xfrm>
            <a:off x="10796321" y="4475988"/>
            <a:ext cx="84856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▼ -33.3%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publisher-qbr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Activation Status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Activation depth across joined, active and inactive programmes.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354330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75488" y="1874520"/>
            <a:ext cx="2802636" cy="763524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16636" y="1892808"/>
            <a:ext cx="2720340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278124" y="1874520"/>
            <a:ext cx="2802636" cy="763524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319272" y="1892808"/>
            <a:ext cx="2720340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080760" y="1874520"/>
            <a:ext cx="2802636" cy="763524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21908" y="1892808"/>
            <a:ext cx="2720340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883396" y="1874520"/>
            <a:ext cx="2802636" cy="763524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24544" y="1892808"/>
            <a:ext cx="2720340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75488" y="2638044"/>
            <a:ext cx="2802636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16636" y="2656332"/>
            <a:ext cx="27203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Joined programs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278124" y="2638044"/>
            <a:ext cx="2802636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19272" y="2656332"/>
            <a:ext cx="27203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080760" y="2638044"/>
            <a:ext cx="2802636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21908" y="2656332"/>
            <a:ext cx="27203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8883396" y="2638044"/>
            <a:ext cx="2802636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924544" y="2656332"/>
            <a:ext cx="27203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53%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75488" y="3296412"/>
            <a:ext cx="2802636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16636" y="3314700"/>
            <a:ext cx="27203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clicks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278124" y="3296412"/>
            <a:ext cx="2802636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319272" y="3314700"/>
            <a:ext cx="27203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080760" y="3296412"/>
            <a:ext cx="2802636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21908" y="3314700"/>
            <a:ext cx="27203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8883396" y="3296412"/>
            <a:ext cx="2802636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924544" y="3314700"/>
            <a:ext cx="27203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53%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75488" y="3954780"/>
            <a:ext cx="2802636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16636" y="3973068"/>
            <a:ext cx="27203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pub commission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3278124" y="3954780"/>
            <a:ext cx="2802636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319272" y="3973068"/>
            <a:ext cx="27203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6080760" y="3954780"/>
            <a:ext cx="2802636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121908" y="3973068"/>
            <a:ext cx="27203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8883396" y="3954780"/>
            <a:ext cx="2802636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924544" y="3973068"/>
            <a:ext cx="27203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50%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475488" y="4613148"/>
            <a:ext cx="2802636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16636" y="4631436"/>
            <a:ext cx="27203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Inactive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3278124" y="4613148"/>
            <a:ext cx="2802636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319272" y="4631436"/>
            <a:ext cx="27203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6080760" y="4613148"/>
            <a:ext cx="2802636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121908" y="4631436"/>
            <a:ext cx="27203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8883396" y="4613148"/>
            <a:ext cx="2802636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924544" y="4631436"/>
            <a:ext cx="27203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53%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publisher-qbr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Program-Level Analysis: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Per-program view ordered by publisher commission.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504291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75488" y="1719072"/>
            <a:ext cx="1121054" cy="430682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16636" y="1737360"/>
            <a:ext cx="1038758" cy="394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ID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1596542" y="1719072"/>
            <a:ext cx="1121054" cy="430682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637690" y="1737360"/>
            <a:ext cx="1038758" cy="394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Name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717597" y="1719072"/>
            <a:ext cx="1121054" cy="430682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58745" y="1737360"/>
            <a:ext cx="1038758" cy="394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838651" y="1719072"/>
            <a:ext cx="1121054" cy="430682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79799" y="1737360"/>
            <a:ext cx="1038758" cy="394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Wallet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959706" y="1719072"/>
            <a:ext cx="1121054" cy="430682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00854" y="1737360"/>
            <a:ext cx="1038758" cy="394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080760" y="1719072"/>
            <a:ext cx="1121054" cy="430682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21908" y="1737360"/>
            <a:ext cx="1038758" cy="394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201814" y="1719072"/>
            <a:ext cx="1121054" cy="430682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242962" y="1737360"/>
            <a:ext cx="1038758" cy="394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Value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322869" y="1719072"/>
            <a:ext cx="1121054" cy="430682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364017" y="1737360"/>
            <a:ext cx="1038758" cy="394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YoY %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9443923" y="1719072"/>
            <a:ext cx="1121054" cy="430682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485071" y="1737360"/>
            <a:ext cx="1038758" cy="394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Earnings YoY %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10564978" y="1719072"/>
            <a:ext cx="1121054" cy="430682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606126" y="1737360"/>
            <a:ext cx="1038758" cy="394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Conversions YoY %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75488" y="2149754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16636" y="2168042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328779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1596542" y="2149754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637690" y="2168042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World Observatory - New York (US affiliates)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2717597" y="2149754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758745" y="2168042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$83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3838651" y="2149754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879799" y="2168042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959706" y="2149754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000854" y="2168042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$83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080760" y="2149754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121908" y="2168042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7201814" y="2149754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242962" y="2168042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$689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8322869" y="2149754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364017" y="2168042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-96.2%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9443923" y="2149754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485071" y="2168042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-96.2%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10564978" y="2149754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0606126" y="2168042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-94.6%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475488" y="2521915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16636" y="2540203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361155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1596542" y="2521915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1637690" y="2540203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View from The Shard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2717597" y="2521915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2758745" y="2540203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$26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3838651" y="2521915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3879799" y="2540203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4959706" y="2521915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000854" y="2540203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$26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6080760" y="2521915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121908" y="2540203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7201814" y="2521915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7242962" y="2540203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$264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8322869" y="2521915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8364017" y="2540203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-91.3%</a:t>
            </a:r>
            <a:endParaRPr lang="en-US" sz="1000" dirty="0"/>
          </a:p>
        </p:txBody>
      </p:sp>
      <p:sp>
        <p:nvSpPr>
          <p:cNvPr id="62" name="Shape 59"/>
          <p:cNvSpPr/>
          <p:nvPr/>
        </p:nvSpPr>
        <p:spPr>
          <a:xfrm>
            <a:off x="9443923" y="2521915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9485071" y="2540203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-91.3%</a:t>
            </a:r>
            <a:endParaRPr lang="en-US" sz="1000" dirty="0"/>
          </a:p>
        </p:txBody>
      </p:sp>
      <p:sp>
        <p:nvSpPr>
          <p:cNvPr id="64" name="Shape 61"/>
          <p:cNvSpPr/>
          <p:nvPr/>
        </p:nvSpPr>
        <p:spPr>
          <a:xfrm>
            <a:off x="10564978" y="2521915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10606126" y="2540203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-90.0%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475488" y="2894076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516636" y="2912364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383123</a:t>
            </a:r>
            <a:endParaRPr lang="en-US" sz="1000" dirty="0"/>
          </a:p>
        </p:txBody>
      </p:sp>
      <p:sp>
        <p:nvSpPr>
          <p:cNvPr id="68" name="Shape 65"/>
          <p:cNvSpPr/>
          <p:nvPr/>
        </p:nvSpPr>
        <p:spPr>
          <a:xfrm>
            <a:off x="1596542" y="2894076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1637690" y="2912364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Lucky Star Jewels</a:t>
            </a:r>
            <a:endParaRPr lang="en-US" sz="1000" dirty="0"/>
          </a:p>
        </p:txBody>
      </p:sp>
      <p:sp>
        <p:nvSpPr>
          <p:cNvPr id="70" name="Shape 67"/>
          <p:cNvSpPr/>
          <p:nvPr/>
        </p:nvSpPr>
        <p:spPr>
          <a:xfrm>
            <a:off x="2717597" y="2894076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2758745" y="2912364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$26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3838651" y="2894076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3879799" y="2912364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74" name="Shape 71"/>
          <p:cNvSpPr/>
          <p:nvPr/>
        </p:nvSpPr>
        <p:spPr>
          <a:xfrm>
            <a:off x="4959706" y="2894076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5000854" y="2912364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$26</a:t>
            </a:r>
            <a:endParaRPr lang="en-US" sz="1000" dirty="0"/>
          </a:p>
        </p:txBody>
      </p:sp>
      <p:sp>
        <p:nvSpPr>
          <p:cNvPr id="76" name="Shape 73"/>
          <p:cNvSpPr/>
          <p:nvPr/>
        </p:nvSpPr>
        <p:spPr>
          <a:xfrm>
            <a:off x="6080760" y="2894076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6121908" y="2912364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7201814" y="2894076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7242962" y="2912364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$260</a:t>
            </a:r>
            <a:endParaRPr lang="en-US" sz="1000" dirty="0"/>
          </a:p>
        </p:txBody>
      </p:sp>
      <p:sp>
        <p:nvSpPr>
          <p:cNvPr id="80" name="Shape 77"/>
          <p:cNvSpPr/>
          <p:nvPr/>
        </p:nvSpPr>
        <p:spPr>
          <a:xfrm>
            <a:off x="8322869" y="2894076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8364017" y="2912364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82" name="Shape 79"/>
          <p:cNvSpPr/>
          <p:nvPr/>
        </p:nvSpPr>
        <p:spPr>
          <a:xfrm>
            <a:off x="9443923" y="2894076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9485071" y="2912364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84" name="Shape 81"/>
          <p:cNvSpPr/>
          <p:nvPr/>
        </p:nvSpPr>
        <p:spPr>
          <a:xfrm>
            <a:off x="10564978" y="2894076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10606126" y="2912364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86" name="Shape 83"/>
          <p:cNvSpPr/>
          <p:nvPr/>
        </p:nvSpPr>
        <p:spPr>
          <a:xfrm>
            <a:off x="475488" y="3266237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516636" y="3284525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384454</a:t>
            </a:r>
            <a:endParaRPr lang="en-US" sz="1000" dirty="0"/>
          </a:p>
        </p:txBody>
      </p:sp>
      <p:sp>
        <p:nvSpPr>
          <p:cNvPr id="88" name="Shape 85"/>
          <p:cNvSpPr/>
          <p:nvPr/>
        </p:nvSpPr>
        <p:spPr>
          <a:xfrm>
            <a:off x="1596542" y="3266237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1637690" y="3284525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Great Gatsby Broadway</a:t>
            </a:r>
            <a:endParaRPr lang="en-US" sz="1000" dirty="0"/>
          </a:p>
        </p:txBody>
      </p:sp>
      <p:sp>
        <p:nvSpPr>
          <p:cNvPr id="90" name="Shape 87"/>
          <p:cNvSpPr/>
          <p:nvPr/>
        </p:nvSpPr>
        <p:spPr>
          <a:xfrm>
            <a:off x="2717597" y="3266237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2758745" y="3284525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$20</a:t>
            </a:r>
            <a:endParaRPr lang="en-US" sz="1000" dirty="0"/>
          </a:p>
        </p:txBody>
      </p:sp>
      <p:sp>
        <p:nvSpPr>
          <p:cNvPr id="92" name="Shape 89"/>
          <p:cNvSpPr/>
          <p:nvPr/>
        </p:nvSpPr>
        <p:spPr>
          <a:xfrm>
            <a:off x="3838651" y="3266237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3879799" y="3284525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94" name="Shape 91"/>
          <p:cNvSpPr/>
          <p:nvPr/>
        </p:nvSpPr>
        <p:spPr>
          <a:xfrm>
            <a:off x="4959706" y="3266237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5000854" y="3284525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$20</a:t>
            </a:r>
            <a:endParaRPr lang="en-US" sz="1000" dirty="0"/>
          </a:p>
        </p:txBody>
      </p:sp>
      <p:sp>
        <p:nvSpPr>
          <p:cNvPr id="96" name="Shape 93"/>
          <p:cNvSpPr/>
          <p:nvPr/>
        </p:nvSpPr>
        <p:spPr>
          <a:xfrm>
            <a:off x="6080760" y="3266237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6121908" y="3284525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98" name="Shape 95"/>
          <p:cNvSpPr/>
          <p:nvPr/>
        </p:nvSpPr>
        <p:spPr>
          <a:xfrm>
            <a:off x="7201814" y="3266237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7242962" y="3284525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$1,455</a:t>
            </a:r>
            <a:endParaRPr lang="en-US" sz="1000" dirty="0"/>
          </a:p>
        </p:txBody>
      </p:sp>
      <p:sp>
        <p:nvSpPr>
          <p:cNvPr id="100" name="Shape 97"/>
          <p:cNvSpPr/>
          <p:nvPr/>
        </p:nvSpPr>
        <p:spPr>
          <a:xfrm>
            <a:off x="8322869" y="3266237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1" name="Text 98"/>
          <p:cNvSpPr/>
          <p:nvPr/>
        </p:nvSpPr>
        <p:spPr>
          <a:xfrm>
            <a:off x="8364017" y="3284525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102" name="Shape 99"/>
          <p:cNvSpPr/>
          <p:nvPr/>
        </p:nvSpPr>
        <p:spPr>
          <a:xfrm>
            <a:off x="9443923" y="3266237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3" name="Text 100"/>
          <p:cNvSpPr/>
          <p:nvPr/>
        </p:nvSpPr>
        <p:spPr>
          <a:xfrm>
            <a:off x="9485071" y="3284525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104" name="Shape 101"/>
          <p:cNvSpPr/>
          <p:nvPr/>
        </p:nvSpPr>
        <p:spPr>
          <a:xfrm>
            <a:off x="10564978" y="3266237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5" name="Text 102"/>
          <p:cNvSpPr/>
          <p:nvPr/>
        </p:nvSpPr>
        <p:spPr>
          <a:xfrm>
            <a:off x="10606126" y="3284525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106" name="Shape 103"/>
          <p:cNvSpPr/>
          <p:nvPr/>
        </p:nvSpPr>
        <p:spPr>
          <a:xfrm>
            <a:off x="475488" y="3638398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7" name="Text 104"/>
          <p:cNvSpPr/>
          <p:nvPr/>
        </p:nvSpPr>
        <p:spPr>
          <a:xfrm>
            <a:off x="516636" y="3656686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366313</a:t>
            </a:r>
            <a:endParaRPr lang="en-US" sz="1000" dirty="0"/>
          </a:p>
        </p:txBody>
      </p:sp>
      <p:sp>
        <p:nvSpPr>
          <p:cNvPr id="108" name="Shape 105"/>
          <p:cNvSpPr/>
          <p:nvPr/>
        </p:nvSpPr>
        <p:spPr>
          <a:xfrm>
            <a:off x="1596542" y="3638398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1637690" y="3656686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Spitfire Audio US (closing 29.05.2026)</a:t>
            </a:r>
            <a:endParaRPr lang="en-US" sz="1000" dirty="0"/>
          </a:p>
        </p:txBody>
      </p:sp>
      <p:sp>
        <p:nvSpPr>
          <p:cNvPr id="110" name="Shape 107"/>
          <p:cNvSpPr/>
          <p:nvPr/>
        </p:nvSpPr>
        <p:spPr>
          <a:xfrm>
            <a:off x="2717597" y="3638398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1" name="Text 108"/>
          <p:cNvSpPr/>
          <p:nvPr/>
        </p:nvSpPr>
        <p:spPr>
          <a:xfrm>
            <a:off x="2758745" y="3656686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$14</a:t>
            </a:r>
            <a:endParaRPr lang="en-US" sz="1000" dirty="0"/>
          </a:p>
        </p:txBody>
      </p:sp>
      <p:sp>
        <p:nvSpPr>
          <p:cNvPr id="112" name="Shape 109"/>
          <p:cNvSpPr/>
          <p:nvPr/>
        </p:nvSpPr>
        <p:spPr>
          <a:xfrm>
            <a:off x="3838651" y="3638398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3" name="Text 110"/>
          <p:cNvSpPr/>
          <p:nvPr/>
        </p:nvSpPr>
        <p:spPr>
          <a:xfrm>
            <a:off x="3879799" y="3656686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14" name="Shape 111"/>
          <p:cNvSpPr/>
          <p:nvPr/>
        </p:nvSpPr>
        <p:spPr>
          <a:xfrm>
            <a:off x="4959706" y="3638398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5" name="Text 112"/>
          <p:cNvSpPr/>
          <p:nvPr/>
        </p:nvSpPr>
        <p:spPr>
          <a:xfrm>
            <a:off x="5000854" y="3656686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$14</a:t>
            </a:r>
            <a:endParaRPr lang="en-US" sz="1000" dirty="0"/>
          </a:p>
        </p:txBody>
      </p:sp>
      <p:sp>
        <p:nvSpPr>
          <p:cNvPr id="116" name="Shape 113"/>
          <p:cNvSpPr/>
          <p:nvPr/>
        </p:nvSpPr>
        <p:spPr>
          <a:xfrm>
            <a:off x="6080760" y="3638398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7" name="Text 114"/>
          <p:cNvSpPr/>
          <p:nvPr/>
        </p:nvSpPr>
        <p:spPr>
          <a:xfrm>
            <a:off x="6121908" y="3656686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1000" dirty="0"/>
          </a:p>
        </p:txBody>
      </p:sp>
      <p:sp>
        <p:nvSpPr>
          <p:cNvPr id="118" name="Shape 115"/>
          <p:cNvSpPr/>
          <p:nvPr/>
        </p:nvSpPr>
        <p:spPr>
          <a:xfrm>
            <a:off x="7201814" y="3638398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9" name="Text 116"/>
          <p:cNvSpPr/>
          <p:nvPr/>
        </p:nvSpPr>
        <p:spPr>
          <a:xfrm>
            <a:off x="7242962" y="3656686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$653</a:t>
            </a:r>
            <a:endParaRPr lang="en-US" sz="1000" dirty="0"/>
          </a:p>
        </p:txBody>
      </p:sp>
      <p:sp>
        <p:nvSpPr>
          <p:cNvPr id="120" name="Shape 117"/>
          <p:cNvSpPr/>
          <p:nvPr/>
        </p:nvSpPr>
        <p:spPr>
          <a:xfrm>
            <a:off x="8322869" y="3638398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1" name="Text 118"/>
          <p:cNvSpPr/>
          <p:nvPr/>
        </p:nvSpPr>
        <p:spPr>
          <a:xfrm>
            <a:off x="8364017" y="3656686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-96.1%</a:t>
            </a:r>
            <a:endParaRPr lang="en-US" sz="1000" dirty="0"/>
          </a:p>
        </p:txBody>
      </p:sp>
      <p:sp>
        <p:nvSpPr>
          <p:cNvPr id="122" name="Shape 119"/>
          <p:cNvSpPr/>
          <p:nvPr/>
        </p:nvSpPr>
        <p:spPr>
          <a:xfrm>
            <a:off x="9443923" y="3638398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3" name="Text 120"/>
          <p:cNvSpPr/>
          <p:nvPr/>
        </p:nvSpPr>
        <p:spPr>
          <a:xfrm>
            <a:off x="9485071" y="3656686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-96.1%</a:t>
            </a:r>
            <a:endParaRPr lang="en-US" sz="1000" dirty="0"/>
          </a:p>
        </p:txBody>
      </p:sp>
      <p:sp>
        <p:nvSpPr>
          <p:cNvPr id="124" name="Shape 121"/>
          <p:cNvSpPr/>
          <p:nvPr/>
        </p:nvSpPr>
        <p:spPr>
          <a:xfrm>
            <a:off x="10564978" y="3638398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5" name="Text 122"/>
          <p:cNvSpPr/>
          <p:nvPr/>
        </p:nvSpPr>
        <p:spPr>
          <a:xfrm>
            <a:off x="10606126" y="3656686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-88.3%</a:t>
            </a:r>
            <a:endParaRPr lang="en-US" sz="1000" dirty="0"/>
          </a:p>
        </p:txBody>
      </p:sp>
      <p:sp>
        <p:nvSpPr>
          <p:cNvPr id="126" name="Shape 123"/>
          <p:cNvSpPr/>
          <p:nvPr/>
        </p:nvSpPr>
        <p:spPr>
          <a:xfrm>
            <a:off x="475488" y="4010558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7" name="Text 124"/>
          <p:cNvSpPr/>
          <p:nvPr/>
        </p:nvSpPr>
        <p:spPr>
          <a:xfrm>
            <a:off x="516636" y="4028846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343146</a:t>
            </a:r>
            <a:endParaRPr lang="en-US" sz="1000" dirty="0"/>
          </a:p>
        </p:txBody>
      </p:sp>
      <p:sp>
        <p:nvSpPr>
          <p:cNvPr id="128" name="Shape 125"/>
          <p:cNvSpPr/>
          <p:nvPr/>
        </p:nvSpPr>
        <p:spPr>
          <a:xfrm>
            <a:off x="1596542" y="4010558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9" name="Text 126"/>
          <p:cNvSpPr/>
          <p:nvPr/>
        </p:nvSpPr>
        <p:spPr>
          <a:xfrm>
            <a:off x="1637690" y="4028846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Phantom of the Opera - London (US affiliates)</a:t>
            </a:r>
            <a:endParaRPr lang="en-US" sz="1000" dirty="0"/>
          </a:p>
        </p:txBody>
      </p:sp>
      <p:sp>
        <p:nvSpPr>
          <p:cNvPr id="130" name="Shape 127"/>
          <p:cNvSpPr/>
          <p:nvPr/>
        </p:nvSpPr>
        <p:spPr>
          <a:xfrm>
            <a:off x="2717597" y="4010558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1" name="Text 128"/>
          <p:cNvSpPr/>
          <p:nvPr/>
        </p:nvSpPr>
        <p:spPr>
          <a:xfrm>
            <a:off x="2758745" y="4028846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$8</a:t>
            </a:r>
            <a:endParaRPr lang="en-US" sz="1000" dirty="0"/>
          </a:p>
        </p:txBody>
      </p:sp>
      <p:sp>
        <p:nvSpPr>
          <p:cNvPr id="132" name="Shape 129"/>
          <p:cNvSpPr/>
          <p:nvPr/>
        </p:nvSpPr>
        <p:spPr>
          <a:xfrm>
            <a:off x="3838651" y="4010558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3" name="Text 130"/>
          <p:cNvSpPr/>
          <p:nvPr/>
        </p:nvSpPr>
        <p:spPr>
          <a:xfrm>
            <a:off x="3879799" y="4028846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34" name="Shape 131"/>
          <p:cNvSpPr/>
          <p:nvPr/>
        </p:nvSpPr>
        <p:spPr>
          <a:xfrm>
            <a:off x="4959706" y="4010558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5" name="Text 132"/>
          <p:cNvSpPr/>
          <p:nvPr/>
        </p:nvSpPr>
        <p:spPr>
          <a:xfrm>
            <a:off x="5000854" y="4028846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$8</a:t>
            </a:r>
            <a:endParaRPr lang="en-US" sz="1000" dirty="0"/>
          </a:p>
        </p:txBody>
      </p:sp>
      <p:sp>
        <p:nvSpPr>
          <p:cNvPr id="136" name="Shape 133"/>
          <p:cNvSpPr/>
          <p:nvPr/>
        </p:nvSpPr>
        <p:spPr>
          <a:xfrm>
            <a:off x="6080760" y="4010558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7" name="Text 134"/>
          <p:cNvSpPr/>
          <p:nvPr/>
        </p:nvSpPr>
        <p:spPr>
          <a:xfrm>
            <a:off x="6121908" y="4028846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38" name="Shape 135"/>
          <p:cNvSpPr/>
          <p:nvPr/>
        </p:nvSpPr>
        <p:spPr>
          <a:xfrm>
            <a:off x="7201814" y="4010558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9" name="Text 136"/>
          <p:cNvSpPr/>
          <p:nvPr/>
        </p:nvSpPr>
        <p:spPr>
          <a:xfrm>
            <a:off x="7242962" y="4028846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$536</a:t>
            </a:r>
            <a:endParaRPr lang="en-US" sz="1000" dirty="0"/>
          </a:p>
        </p:txBody>
      </p:sp>
      <p:sp>
        <p:nvSpPr>
          <p:cNvPr id="140" name="Shape 137"/>
          <p:cNvSpPr/>
          <p:nvPr/>
        </p:nvSpPr>
        <p:spPr>
          <a:xfrm>
            <a:off x="8322869" y="4010558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1" name="Text 138"/>
          <p:cNvSpPr/>
          <p:nvPr/>
        </p:nvSpPr>
        <p:spPr>
          <a:xfrm>
            <a:off x="8364017" y="4028846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+226.8%</a:t>
            </a:r>
            <a:endParaRPr lang="en-US" sz="1000" dirty="0"/>
          </a:p>
        </p:txBody>
      </p:sp>
      <p:sp>
        <p:nvSpPr>
          <p:cNvPr id="142" name="Shape 139"/>
          <p:cNvSpPr/>
          <p:nvPr/>
        </p:nvSpPr>
        <p:spPr>
          <a:xfrm>
            <a:off x="9443923" y="4010558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3" name="Text 140"/>
          <p:cNvSpPr/>
          <p:nvPr/>
        </p:nvSpPr>
        <p:spPr>
          <a:xfrm>
            <a:off x="9485071" y="4028846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+226.8%</a:t>
            </a:r>
            <a:endParaRPr lang="en-US" sz="1000" dirty="0"/>
          </a:p>
        </p:txBody>
      </p:sp>
      <p:sp>
        <p:nvSpPr>
          <p:cNvPr id="144" name="Shape 141"/>
          <p:cNvSpPr/>
          <p:nvPr/>
        </p:nvSpPr>
        <p:spPr>
          <a:xfrm>
            <a:off x="10564978" y="4010558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5" name="Text 142"/>
          <p:cNvSpPr/>
          <p:nvPr/>
        </p:nvSpPr>
        <p:spPr>
          <a:xfrm>
            <a:off x="10606126" y="4028846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0.0%</a:t>
            </a:r>
            <a:endParaRPr lang="en-US" sz="1000" dirty="0"/>
          </a:p>
        </p:txBody>
      </p:sp>
      <p:sp>
        <p:nvSpPr>
          <p:cNvPr id="146" name="Shape 143"/>
          <p:cNvSpPr/>
          <p:nvPr/>
        </p:nvSpPr>
        <p:spPr>
          <a:xfrm>
            <a:off x="475488" y="4382719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7" name="Text 144"/>
          <p:cNvSpPr/>
          <p:nvPr/>
        </p:nvSpPr>
        <p:spPr>
          <a:xfrm>
            <a:off x="516636" y="4401007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392636</a:t>
            </a:r>
            <a:endParaRPr lang="en-US" sz="1000" dirty="0"/>
          </a:p>
        </p:txBody>
      </p:sp>
      <p:sp>
        <p:nvSpPr>
          <p:cNvPr id="148" name="Shape 145"/>
          <p:cNvSpPr/>
          <p:nvPr/>
        </p:nvSpPr>
        <p:spPr>
          <a:xfrm>
            <a:off x="1596542" y="4382719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9" name="Text 146"/>
          <p:cNvSpPr/>
          <p:nvPr/>
        </p:nvSpPr>
        <p:spPr>
          <a:xfrm>
            <a:off x="1637690" y="4401007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Atlanta Braves</a:t>
            </a:r>
            <a:endParaRPr lang="en-US" sz="1000" dirty="0"/>
          </a:p>
        </p:txBody>
      </p:sp>
      <p:sp>
        <p:nvSpPr>
          <p:cNvPr id="150" name="Shape 147"/>
          <p:cNvSpPr/>
          <p:nvPr/>
        </p:nvSpPr>
        <p:spPr>
          <a:xfrm>
            <a:off x="2717597" y="4382719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1" name="Text 148"/>
          <p:cNvSpPr/>
          <p:nvPr/>
        </p:nvSpPr>
        <p:spPr>
          <a:xfrm>
            <a:off x="2758745" y="4401007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$4</a:t>
            </a:r>
            <a:endParaRPr lang="en-US" sz="1000" dirty="0"/>
          </a:p>
        </p:txBody>
      </p:sp>
      <p:sp>
        <p:nvSpPr>
          <p:cNvPr id="152" name="Shape 149"/>
          <p:cNvSpPr/>
          <p:nvPr/>
        </p:nvSpPr>
        <p:spPr>
          <a:xfrm>
            <a:off x="3838651" y="4382719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3" name="Text 150"/>
          <p:cNvSpPr/>
          <p:nvPr/>
        </p:nvSpPr>
        <p:spPr>
          <a:xfrm>
            <a:off x="3879799" y="4401007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54" name="Shape 151"/>
          <p:cNvSpPr/>
          <p:nvPr/>
        </p:nvSpPr>
        <p:spPr>
          <a:xfrm>
            <a:off x="4959706" y="4382719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5" name="Text 152"/>
          <p:cNvSpPr/>
          <p:nvPr/>
        </p:nvSpPr>
        <p:spPr>
          <a:xfrm>
            <a:off x="5000854" y="4401007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$4</a:t>
            </a:r>
            <a:endParaRPr lang="en-US" sz="1000" dirty="0"/>
          </a:p>
        </p:txBody>
      </p:sp>
      <p:sp>
        <p:nvSpPr>
          <p:cNvPr id="156" name="Shape 153"/>
          <p:cNvSpPr/>
          <p:nvPr/>
        </p:nvSpPr>
        <p:spPr>
          <a:xfrm>
            <a:off x="6080760" y="4382719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7" name="Text 154"/>
          <p:cNvSpPr/>
          <p:nvPr/>
        </p:nvSpPr>
        <p:spPr>
          <a:xfrm>
            <a:off x="6121908" y="4401007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58" name="Shape 155"/>
          <p:cNvSpPr/>
          <p:nvPr/>
        </p:nvSpPr>
        <p:spPr>
          <a:xfrm>
            <a:off x="7201814" y="4382719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9" name="Text 156"/>
          <p:cNvSpPr/>
          <p:nvPr/>
        </p:nvSpPr>
        <p:spPr>
          <a:xfrm>
            <a:off x="7242962" y="4401007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$87</a:t>
            </a:r>
            <a:endParaRPr lang="en-US" sz="1000" dirty="0"/>
          </a:p>
        </p:txBody>
      </p:sp>
      <p:sp>
        <p:nvSpPr>
          <p:cNvPr id="160" name="Shape 157"/>
          <p:cNvSpPr/>
          <p:nvPr/>
        </p:nvSpPr>
        <p:spPr>
          <a:xfrm>
            <a:off x="8322869" y="4382719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61" name="Text 158"/>
          <p:cNvSpPr/>
          <p:nvPr/>
        </p:nvSpPr>
        <p:spPr>
          <a:xfrm>
            <a:off x="8364017" y="4401007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162" name="Shape 159"/>
          <p:cNvSpPr/>
          <p:nvPr/>
        </p:nvSpPr>
        <p:spPr>
          <a:xfrm>
            <a:off x="9443923" y="4382719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63" name="Text 160"/>
          <p:cNvSpPr/>
          <p:nvPr/>
        </p:nvSpPr>
        <p:spPr>
          <a:xfrm>
            <a:off x="9485071" y="4401007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164" name="Shape 161"/>
          <p:cNvSpPr/>
          <p:nvPr/>
        </p:nvSpPr>
        <p:spPr>
          <a:xfrm>
            <a:off x="10564978" y="4382719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65" name="Text 162"/>
          <p:cNvSpPr/>
          <p:nvPr/>
        </p:nvSpPr>
        <p:spPr>
          <a:xfrm>
            <a:off x="10606126" y="4401007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166" name="Shape 163"/>
          <p:cNvSpPr/>
          <p:nvPr/>
        </p:nvSpPr>
        <p:spPr>
          <a:xfrm>
            <a:off x="475488" y="4754880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67" name="Text 164"/>
          <p:cNvSpPr/>
          <p:nvPr/>
        </p:nvSpPr>
        <p:spPr>
          <a:xfrm>
            <a:off x="516636" y="4773168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347243</a:t>
            </a:r>
            <a:endParaRPr lang="en-US" sz="1000" dirty="0"/>
          </a:p>
        </p:txBody>
      </p:sp>
      <p:sp>
        <p:nvSpPr>
          <p:cNvPr id="168" name="Shape 165"/>
          <p:cNvSpPr/>
          <p:nvPr/>
        </p:nvSpPr>
        <p:spPr>
          <a:xfrm>
            <a:off x="1596542" y="4754880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69" name="Text 166"/>
          <p:cNvSpPr/>
          <p:nvPr/>
        </p:nvSpPr>
        <p:spPr>
          <a:xfrm>
            <a:off x="1637690" y="4773168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Abba Voyage (US Affiliates)</a:t>
            </a:r>
            <a:endParaRPr lang="en-US" sz="1000" dirty="0"/>
          </a:p>
        </p:txBody>
      </p:sp>
      <p:sp>
        <p:nvSpPr>
          <p:cNvPr id="170" name="Shape 167"/>
          <p:cNvSpPr/>
          <p:nvPr/>
        </p:nvSpPr>
        <p:spPr>
          <a:xfrm>
            <a:off x="2717597" y="4754880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1" name="Text 168"/>
          <p:cNvSpPr/>
          <p:nvPr/>
        </p:nvSpPr>
        <p:spPr>
          <a:xfrm>
            <a:off x="2758745" y="4773168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</a:t>
            </a:r>
            <a:endParaRPr lang="en-US" sz="1000" dirty="0"/>
          </a:p>
        </p:txBody>
      </p:sp>
      <p:sp>
        <p:nvSpPr>
          <p:cNvPr id="172" name="Shape 169"/>
          <p:cNvSpPr/>
          <p:nvPr/>
        </p:nvSpPr>
        <p:spPr>
          <a:xfrm>
            <a:off x="3838651" y="4754880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3" name="Text 170"/>
          <p:cNvSpPr/>
          <p:nvPr/>
        </p:nvSpPr>
        <p:spPr>
          <a:xfrm>
            <a:off x="3879799" y="4773168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74" name="Shape 171"/>
          <p:cNvSpPr/>
          <p:nvPr/>
        </p:nvSpPr>
        <p:spPr>
          <a:xfrm>
            <a:off x="4959706" y="4754880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5" name="Text 172"/>
          <p:cNvSpPr/>
          <p:nvPr/>
        </p:nvSpPr>
        <p:spPr>
          <a:xfrm>
            <a:off x="5000854" y="4773168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</a:t>
            </a:r>
            <a:endParaRPr lang="en-US" sz="1000" dirty="0"/>
          </a:p>
        </p:txBody>
      </p:sp>
      <p:sp>
        <p:nvSpPr>
          <p:cNvPr id="176" name="Shape 173"/>
          <p:cNvSpPr/>
          <p:nvPr/>
        </p:nvSpPr>
        <p:spPr>
          <a:xfrm>
            <a:off x="6080760" y="4754880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7" name="Text 174"/>
          <p:cNvSpPr/>
          <p:nvPr/>
        </p:nvSpPr>
        <p:spPr>
          <a:xfrm>
            <a:off x="6121908" y="4773168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178" name="Shape 175"/>
          <p:cNvSpPr/>
          <p:nvPr/>
        </p:nvSpPr>
        <p:spPr>
          <a:xfrm>
            <a:off x="7201814" y="4754880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9" name="Text 176"/>
          <p:cNvSpPr/>
          <p:nvPr/>
        </p:nvSpPr>
        <p:spPr>
          <a:xfrm>
            <a:off x="7242962" y="4773168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$1,073</a:t>
            </a:r>
            <a:endParaRPr lang="en-US" sz="1000" dirty="0"/>
          </a:p>
        </p:txBody>
      </p:sp>
      <p:sp>
        <p:nvSpPr>
          <p:cNvPr id="180" name="Shape 177"/>
          <p:cNvSpPr/>
          <p:nvPr/>
        </p:nvSpPr>
        <p:spPr>
          <a:xfrm>
            <a:off x="8322869" y="4754880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81" name="Text 178"/>
          <p:cNvSpPr/>
          <p:nvPr/>
        </p:nvSpPr>
        <p:spPr>
          <a:xfrm>
            <a:off x="8364017" y="4773168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182" name="Shape 179"/>
          <p:cNvSpPr/>
          <p:nvPr/>
        </p:nvSpPr>
        <p:spPr>
          <a:xfrm>
            <a:off x="9443923" y="4754880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83" name="Text 180"/>
          <p:cNvSpPr/>
          <p:nvPr/>
        </p:nvSpPr>
        <p:spPr>
          <a:xfrm>
            <a:off x="9485071" y="4773168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184" name="Shape 181"/>
          <p:cNvSpPr/>
          <p:nvPr/>
        </p:nvSpPr>
        <p:spPr>
          <a:xfrm>
            <a:off x="10564978" y="4754880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85" name="Text 182"/>
          <p:cNvSpPr/>
          <p:nvPr/>
        </p:nvSpPr>
        <p:spPr>
          <a:xfrm>
            <a:off x="10606126" y="4773168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186" name="Shape 183"/>
          <p:cNvSpPr/>
          <p:nvPr/>
        </p:nvSpPr>
        <p:spPr>
          <a:xfrm>
            <a:off x="475488" y="5127041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87" name="Text 184"/>
          <p:cNvSpPr/>
          <p:nvPr/>
        </p:nvSpPr>
        <p:spPr>
          <a:xfrm>
            <a:off x="516636" y="5145329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378947</a:t>
            </a:r>
            <a:endParaRPr lang="en-US" sz="1000" dirty="0"/>
          </a:p>
        </p:txBody>
      </p:sp>
      <p:sp>
        <p:nvSpPr>
          <p:cNvPr id="188" name="Shape 185"/>
          <p:cNvSpPr/>
          <p:nvPr/>
        </p:nvSpPr>
        <p:spPr>
          <a:xfrm>
            <a:off x="1596542" y="5127041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89" name="Text 186"/>
          <p:cNvSpPr/>
          <p:nvPr/>
        </p:nvSpPr>
        <p:spPr>
          <a:xfrm>
            <a:off x="1637690" y="5145329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Arrita Studio</a:t>
            </a:r>
            <a:endParaRPr lang="en-US" sz="1000" dirty="0"/>
          </a:p>
        </p:txBody>
      </p:sp>
      <p:sp>
        <p:nvSpPr>
          <p:cNvPr id="190" name="Shape 187"/>
          <p:cNvSpPr/>
          <p:nvPr/>
        </p:nvSpPr>
        <p:spPr>
          <a:xfrm>
            <a:off x="2717597" y="5127041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1" name="Text 188"/>
          <p:cNvSpPr/>
          <p:nvPr/>
        </p:nvSpPr>
        <p:spPr>
          <a:xfrm>
            <a:off x="2758745" y="5145329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92" name="Shape 189"/>
          <p:cNvSpPr/>
          <p:nvPr/>
        </p:nvSpPr>
        <p:spPr>
          <a:xfrm>
            <a:off x="3838651" y="5127041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3" name="Text 190"/>
          <p:cNvSpPr/>
          <p:nvPr/>
        </p:nvSpPr>
        <p:spPr>
          <a:xfrm>
            <a:off x="3879799" y="5145329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94" name="Shape 191"/>
          <p:cNvSpPr/>
          <p:nvPr/>
        </p:nvSpPr>
        <p:spPr>
          <a:xfrm>
            <a:off x="4959706" y="5127041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5" name="Text 192"/>
          <p:cNvSpPr/>
          <p:nvPr/>
        </p:nvSpPr>
        <p:spPr>
          <a:xfrm>
            <a:off x="5000854" y="5145329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96" name="Shape 193"/>
          <p:cNvSpPr/>
          <p:nvPr/>
        </p:nvSpPr>
        <p:spPr>
          <a:xfrm>
            <a:off x="6080760" y="5127041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7" name="Text 194"/>
          <p:cNvSpPr/>
          <p:nvPr/>
        </p:nvSpPr>
        <p:spPr>
          <a:xfrm>
            <a:off x="6121908" y="5145329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000" dirty="0"/>
          </a:p>
        </p:txBody>
      </p:sp>
      <p:sp>
        <p:nvSpPr>
          <p:cNvPr id="198" name="Shape 195"/>
          <p:cNvSpPr/>
          <p:nvPr/>
        </p:nvSpPr>
        <p:spPr>
          <a:xfrm>
            <a:off x="7201814" y="5127041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9" name="Text 196"/>
          <p:cNvSpPr/>
          <p:nvPr/>
        </p:nvSpPr>
        <p:spPr>
          <a:xfrm>
            <a:off x="7242962" y="5145329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200" name="Shape 197"/>
          <p:cNvSpPr/>
          <p:nvPr/>
        </p:nvSpPr>
        <p:spPr>
          <a:xfrm>
            <a:off x="8322869" y="5127041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1" name="Text 198"/>
          <p:cNvSpPr/>
          <p:nvPr/>
        </p:nvSpPr>
        <p:spPr>
          <a:xfrm>
            <a:off x="8364017" y="5145329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202" name="Shape 199"/>
          <p:cNvSpPr/>
          <p:nvPr/>
        </p:nvSpPr>
        <p:spPr>
          <a:xfrm>
            <a:off x="9443923" y="5127041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3" name="Text 200"/>
          <p:cNvSpPr/>
          <p:nvPr/>
        </p:nvSpPr>
        <p:spPr>
          <a:xfrm>
            <a:off x="9485071" y="5145329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204" name="Shape 201"/>
          <p:cNvSpPr/>
          <p:nvPr/>
        </p:nvSpPr>
        <p:spPr>
          <a:xfrm>
            <a:off x="10564978" y="5127041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5" name="Text 202"/>
          <p:cNvSpPr/>
          <p:nvPr/>
        </p:nvSpPr>
        <p:spPr>
          <a:xfrm>
            <a:off x="10606126" y="5145329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206" name="Shape 203"/>
          <p:cNvSpPr/>
          <p:nvPr/>
        </p:nvSpPr>
        <p:spPr>
          <a:xfrm>
            <a:off x="475488" y="5499202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7" name="Text 204"/>
          <p:cNvSpPr/>
          <p:nvPr/>
        </p:nvSpPr>
        <p:spPr>
          <a:xfrm>
            <a:off x="516636" y="5517490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385020</a:t>
            </a:r>
            <a:endParaRPr lang="en-US" sz="1000" dirty="0"/>
          </a:p>
        </p:txBody>
      </p:sp>
      <p:sp>
        <p:nvSpPr>
          <p:cNvPr id="208" name="Shape 205"/>
          <p:cNvSpPr/>
          <p:nvPr/>
        </p:nvSpPr>
        <p:spPr>
          <a:xfrm>
            <a:off x="1596542" y="5499202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9" name="Text 206"/>
          <p:cNvSpPr/>
          <p:nvPr/>
        </p:nvSpPr>
        <p:spPr>
          <a:xfrm>
            <a:off x="1637690" y="5517490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Casaemma wines</a:t>
            </a:r>
            <a:endParaRPr lang="en-US" sz="1000" dirty="0"/>
          </a:p>
        </p:txBody>
      </p:sp>
      <p:sp>
        <p:nvSpPr>
          <p:cNvPr id="210" name="Shape 207"/>
          <p:cNvSpPr/>
          <p:nvPr/>
        </p:nvSpPr>
        <p:spPr>
          <a:xfrm>
            <a:off x="2717597" y="5499202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1" name="Text 208"/>
          <p:cNvSpPr/>
          <p:nvPr/>
        </p:nvSpPr>
        <p:spPr>
          <a:xfrm>
            <a:off x="2758745" y="5517490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212" name="Shape 209"/>
          <p:cNvSpPr/>
          <p:nvPr/>
        </p:nvSpPr>
        <p:spPr>
          <a:xfrm>
            <a:off x="3838651" y="5499202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3" name="Text 210"/>
          <p:cNvSpPr/>
          <p:nvPr/>
        </p:nvSpPr>
        <p:spPr>
          <a:xfrm>
            <a:off x="3879799" y="5517490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214" name="Shape 211"/>
          <p:cNvSpPr/>
          <p:nvPr/>
        </p:nvSpPr>
        <p:spPr>
          <a:xfrm>
            <a:off x="4959706" y="5499202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5" name="Text 212"/>
          <p:cNvSpPr/>
          <p:nvPr/>
        </p:nvSpPr>
        <p:spPr>
          <a:xfrm>
            <a:off x="5000854" y="5517490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216" name="Shape 213"/>
          <p:cNvSpPr/>
          <p:nvPr/>
        </p:nvSpPr>
        <p:spPr>
          <a:xfrm>
            <a:off x="6080760" y="5499202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7" name="Text 214"/>
          <p:cNvSpPr/>
          <p:nvPr/>
        </p:nvSpPr>
        <p:spPr>
          <a:xfrm>
            <a:off x="6121908" y="5517490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000" dirty="0"/>
          </a:p>
        </p:txBody>
      </p:sp>
      <p:sp>
        <p:nvSpPr>
          <p:cNvPr id="218" name="Shape 215"/>
          <p:cNvSpPr/>
          <p:nvPr/>
        </p:nvSpPr>
        <p:spPr>
          <a:xfrm>
            <a:off x="7201814" y="5499202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9" name="Text 216"/>
          <p:cNvSpPr/>
          <p:nvPr/>
        </p:nvSpPr>
        <p:spPr>
          <a:xfrm>
            <a:off x="7242962" y="5517490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220" name="Shape 217"/>
          <p:cNvSpPr/>
          <p:nvPr/>
        </p:nvSpPr>
        <p:spPr>
          <a:xfrm>
            <a:off x="8322869" y="5499202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21" name="Text 218"/>
          <p:cNvSpPr/>
          <p:nvPr/>
        </p:nvSpPr>
        <p:spPr>
          <a:xfrm>
            <a:off x="8364017" y="5517490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222" name="Shape 219"/>
          <p:cNvSpPr/>
          <p:nvPr/>
        </p:nvSpPr>
        <p:spPr>
          <a:xfrm>
            <a:off x="9443923" y="5499202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23" name="Text 220"/>
          <p:cNvSpPr/>
          <p:nvPr/>
        </p:nvSpPr>
        <p:spPr>
          <a:xfrm>
            <a:off x="9485071" y="5517490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224" name="Shape 221"/>
          <p:cNvSpPr/>
          <p:nvPr/>
        </p:nvSpPr>
        <p:spPr>
          <a:xfrm>
            <a:off x="10564978" y="5499202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25" name="Text 222"/>
          <p:cNvSpPr/>
          <p:nvPr/>
        </p:nvSpPr>
        <p:spPr>
          <a:xfrm>
            <a:off x="10606126" y="5517490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226" name="Shape 223"/>
          <p:cNvSpPr/>
          <p:nvPr/>
        </p:nvSpPr>
        <p:spPr>
          <a:xfrm>
            <a:off x="475488" y="5871362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27" name="Text 224"/>
          <p:cNvSpPr/>
          <p:nvPr/>
        </p:nvSpPr>
        <p:spPr>
          <a:xfrm>
            <a:off x="516636" y="5889650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358152</a:t>
            </a:r>
            <a:endParaRPr lang="en-US" sz="1000" dirty="0"/>
          </a:p>
        </p:txBody>
      </p:sp>
      <p:sp>
        <p:nvSpPr>
          <p:cNvPr id="228" name="Shape 225"/>
          <p:cNvSpPr/>
          <p:nvPr/>
        </p:nvSpPr>
        <p:spPr>
          <a:xfrm>
            <a:off x="1596542" y="5871362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29" name="Text 226"/>
          <p:cNvSpPr/>
          <p:nvPr/>
        </p:nvSpPr>
        <p:spPr>
          <a:xfrm>
            <a:off x="1637690" y="5889650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CLOUDWALKER SLIPPERS</a:t>
            </a:r>
            <a:endParaRPr lang="en-US" sz="1000" dirty="0"/>
          </a:p>
        </p:txBody>
      </p:sp>
      <p:sp>
        <p:nvSpPr>
          <p:cNvPr id="230" name="Shape 227"/>
          <p:cNvSpPr/>
          <p:nvPr/>
        </p:nvSpPr>
        <p:spPr>
          <a:xfrm>
            <a:off x="2717597" y="5871362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1" name="Text 228"/>
          <p:cNvSpPr/>
          <p:nvPr/>
        </p:nvSpPr>
        <p:spPr>
          <a:xfrm>
            <a:off x="2758745" y="5889650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232" name="Shape 229"/>
          <p:cNvSpPr/>
          <p:nvPr/>
        </p:nvSpPr>
        <p:spPr>
          <a:xfrm>
            <a:off x="3838651" y="5871362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3" name="Text 230"/>
          <p:cNvSpPr/>
          <p:nvPr/>
        </p:nvSpPr>
        <p:spPr>
          <a:xfrm>
            <a:off x="3879799" y="5889650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234" name="Shape 231"/>
          <p:cNvSpPr/>
          <p:nvPr/>
        </p:nvSpPr>
        <p:spPr>
          <a:xfrm>
            <a:off x="4959706" y="5871362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5" name="Text 232"/>
          <p:cNvSpPr/>
          <p:nvPr/>
        </p:nvSpPr>
        <p:spPr>
          <a:xfrm>
            <a:off x="5000854" y="5889650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236" name="Shape 233"/>
          <p:cNvSpPr/>
          <p:nvPr/>
        </p:nvSpPr>
        <p:spPr>
          <a:xfrm>
            <a:off x="6080760" y="5871362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7" name="Text 234"/>
          <p:cNvSpPr/>
          <p:nvPr/>
        </p:nvSpPr>
        <p:spPr>
          <a:xfrm>
            <a:off x="6121908" y="5889650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000" dirty="0"/>
          </a:p>
        </p:txBody>
      </p:sp>
      <p:sp>
        <p:nvSpPr>
          <p:cNvPr id="238" name="Shape 235"/>
          <p:cNvSpPr/>
          <p:nvPr/>
        </p:nvSpPr>
        <p:spPr>
          <a:xfrm>
            <a:off x="7201814" y="5871362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9" name="Text 236"/>
          <p:cNvSpPr/>
          <p:nvPr/>
        </p:nvSpPr>
        <p:spPr>
          <a:xfrm>
            <a:off x="7242962" y="5889650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240" name="Shape 237"/>
          <p:cNvSpPr/>
          <p:nvPr/>
        </p:nvSpPr>
        <p:spPr>
          <a:xfrm>
            <a:off x="8322869" y="5871362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41" name="Text 238"/>
          <p:cNvSpPr/>
          <p:nvPr/>
        </p:nvSpPr>
        <p:spPr>
          <a:xfrm>
            <a:off x="8364017" y="5889650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242" name="Shape 239"/>
          <p:cNvSpPr/>
          <p:nvPr/>
        </p:nvSpPr>
        <p:spPr>
          <a:xfrm>
            <a:off x="9443923" y="5871362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43" name="Text 240"/>
          <p:cNvSpPr/>
          <p:nvPr/>
        </p:nvSpPr>
        <p:spPr>
          <a:xfrm>
            <a:off x="9485071" y="5889650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244" name="Shape 241"/>
          <p:cNvSpPr/>
          <p:nvPr/>
        </p:nvSpPr>
        <p:spPr>
          <a:xfrm>
            <a:off x="10564978" y="5871362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45" name="Text 242"/>
          <p:cNvSpPr/>
          <p:nvPr/>
        </p:nvSpPr>
        <p:spPr>
          <a:xfrm>
            <a:off x="10606126" y="5889650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246" name="Shape 243"/>
          <p:cNvSpPr/>
          <p:nvPr/>
        </p:nvSpPr>
        <p:spPr>
          <a:xfrm>
            <a:off x="475488" y="6243523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47" name="Text 244"/>
          <p:cNvSpPr/>
          <p:nvPr/>
        </p:nvSpPr>
        <p:spPr>
          <a:xfrm>
            <a:off x="516636" y="6261811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377606</a:t>
            </a:r>
            <a:endParaRPr lang="en-US" sz="1000" dirty="0"/>
          </a:p>
        </p:txBody>
      </p:sp>
      <p:sp>
        <p:nvSpPr>
          <p:cNvPr id="248" name="Shape 245"/>
          <p:cNvSpPr/>
          <p:nvPr/>
        </p:nvSpPr>
        <p:spPr>
          <a:xfrm>
            <a:off x="1596542" y="6243523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49" name="Text 246"/>
          <p:cNvSpPr/>
          <p:nvPr/>
        </p:nvSpPr>
        <p:spPr>
          <a:xfrm>
            <a:off x="1637690" y="6261811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Cosara</a:t>
            </a:r>
            <a:endParaRPr lang="en-US" sz="1000" dirty="0"/>
          </a:p>
        </p:txBody>
      </p:sp>
      <p:sp>
        <p:nvSpPr>
          <p:cNvPr id="250" name="Shape 247"/>
          <p:cNvSpPr/>
          <p:nvPr/>
        </p:nvSpPr>
        <p:spPr>
          <a:xfrm>
            <a:off x="2717597" y="6243523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1" name="Text 248"/>
          <p:cNvSpPr/>
          <p:nvPr/>
        </p:nvSpPr>
        <p:spPr>
          <a:xfrm>
            <a:off x="2758745" y="6261811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252" name="Shape 249"/>
          <p:cNvSpPr/>
          <p:nvPr/>
        </p:nvSpPr>
        <p:spPr>
          <a:xfrm>
            <a:off x="3838651" y="6243523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3" name="Text 250"/>
          <p:cNvSpPr/>
          <p:nvPr/>
        </p:nvSpPr>
        <p:spPr>
          <a:xfrm>
            <a:off x="3879799" y="6261811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254" name="Shape 251"/>
          <p:cNvSpPr/>
          <p:nvPr/>
        </p:nvSpPr>
        <p:spPr>
          <a:xfrm>
            <a:off x="4959706" y="6243523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5" name="Text 252"/>
          <p:cNvSpPr/>
          <p:nvPr/>
        </p:nvSpPr>
        <p:spPr>
          <a:xfrm>
            <a:off x="5000854" y="6261811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256" name="Shape 253"/>
          <p:cNvSpPr/>
          <p:nvPr/>
        </p:nvSpPr>
        <p:spPr>
          <a:xfrm>
            <a:off x="6080760" y="6243523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7" name="Text 254"/>
          <p:cNvSpPr/>
          <p:nvPr/>
        </p:nvSpPr>
        <p:spPr>
          <a:xfrm>
            <a:off x="6121908" y="6261811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000" dirty="0"/>
          </a:p>
        </p:txBody>
      </p:sp>
      <p:sp>
        <p:nvSpPr>
          <p:cNvPr id="258" name="Shape 255"/>
          <p:cNvSpPr/>
          <p:nvPr/>
        </p:nvSpPr>
        <p:spPr>
          <a:xfrm>
            <a:off x="7201814" y="6243523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9" name="Text 256"/>
          <p:cNvSpPr/>
          <p:nvPr/>
        </p:nvSpPr>
        <p:spPr>
          <a:xfrm>
            <a:off x="7242962" y="6261811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260" name="Shape 257"/>
          <p:cNvSpPr/>
          <p:nvPr/>
        </p:nvSpPr>
        <p:spPr>
          <a:xfrm>
            <a:off x="8322869" y="6243523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1" name="Text 258"/>
          <p:cNvSpPr/>
          <p:nvPr/>
        </p:nvSpPr>
        <p:spPr>
          <a:xfrm>
            <a:off x="8364017" y="6261811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262" name="Shape 259"/>
          <p:cNvSpPr/>
          <p:nvPr/>
        </p:nvSpPr>
        <p:spPr>
          <a:xfrm>
            <a:off x="9443923" y="6243523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3" name="Text 260"/>
          <p:cNvSpPr/>
          <p:nvPr/>
        </p:nvSpPr>
        <p:spPr>
          <a:xfrm>
            <a:off x="9485071" y="6261811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264" name="Shape 261"/>
          <p:cNvSpPr/>
          <p:nvPr/>
        </p:nvSpPr>
        <p:spPr>
          <a:xfrm>
            <a:off x="10564978" y="6243523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5" name="Text 262"/>
          <p:cNvSpPr/>
          <p:nvPr/>
        </p:nvSpPr>
        <p:spPr>
          <a:xfrm>
            <a:off x="10606126" y="6261811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publisher-qbr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Movers &amp; Shakers: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positive and top 10 negative period-on-period publisher commission changes.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439369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75488" y="1874520"/>
            <a:ext cx="3567074" cy="373990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16636" y="1892808"/>
            <a:ext cx="3484778" cy="337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042562" y="1874520"/>
            <a:ext cx="1834286" cy="373990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83710" y="1892808"/>
            <a:ext cx="1751990" cy="337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ID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876849" y="1874520"/>
            <a:ext cx="2140610" cy="373990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17997" y="1892808"/>
            <a:ext cx="2058314" cy="337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Commission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017459" y="1874520"/>
            <a:ext cx="2140610" cy="373990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58607" y="1892808"/>
            <a:ext cx="2058314" cy="337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YoY Change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0158070" y="1874520"/>
            <a:ext cx="1528877" cy="373990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199218" y="1892808"/>
            <a:ext cx="1446581" cy="337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YoY %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75488" y="2248510"/>
            <a:ext cx="3567074" cy="322783"/>
          </a:xfrm>
          <a:prstGeom prst="rect">
            <a:avLst/>
          </a:prstGeom>
          <a:solidFill>
            <a:srgbClr val="E5E8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6636" y="2266798"/>
            <a:ext cx="348477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5 Up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042562" y="2248510"/>
            <a:ext cx="1834286" cy="322783"/>
          </a:xfrm>
          <a:prstGeom prst="rect">
            <a:avLst/>
          </a:prstGeom>
          <a:solidFill>
            <a:srgbClr val="E5E8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083710" y="2266798"/>
            <a:ext cx="175199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876849" y="2248510"/>
            <a:ext cx="2140610" cy="322783"/>
          </a:xfrm>
          <a:prstGeom prst="rect">
            <a:avLst/>
          </a:prstGeom>
          <a:solidFill>
            <a:srgbClr val="E5E8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17997" y="2266798"/>
            <a:ext cx="205831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017459" y="2248510"/>
            <a:ext cx="2140610" cy="322783"/>
          </a:xfrm>
          <a:prstGeom prst="rect">
            <a:avLst/>
          </a:prstGeom>
          <a:solidFill>
            <a:srgbClr val="E5E8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058607" y="2266798"/>
            <a:ext cx="205831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10158070" y="2248510"/>
            <a:ext cx="1528877" cy="322783"/>
          </a:xfrm>
          <a:prstGeom prst="rect">
            <a:avLst/>
          </a:prstGeom>
          <a:solidFill>
            <a:srgbClr val="E5E8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199218" y="2266798"/>
            <a:ext cx="144658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75488" y="2571293"/>
            <a:ext cx="3567074" cy="322783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16636" y="2589581"/>
            <a:ext cx="348477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Lucky Star Jewels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042562" y="2571293"/>
            <a:ext cx="1834286" cy="322783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083710" y="2589581"/>
            <a:ext cx="175199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383123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876849" y="2571293"/>
            <a:ext cx="2140610" cy="322783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17997" y="2589581"/>
            <a:ext cx="205831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017459" y="2571293"/>
            <a:ext cx="2140610" cy="322783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058607" y="2589581"/>
            <a:ext cx="205831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10158070" y="2571293"/>
            <a:ext cx="1528877" cy="322783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199218" y="2589581"/>
            <a:ext cx="144658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5488" y="2894076"/>
            <a:ext cx="3567074" cy="322783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16636" y="2912364"/>
            <a:ext cx="348477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Great Gatsby Broadway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4042562" y="2894076"/>
            <a:ext cx="1834286" cy="322783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083710" y="2912364"/>
            <a:ext cx="175199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384454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5876849" y="2894076"/>
            <a:ext cx="2140610" cy="322783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917997" y="2912364"/>
            <a:ext cx="205831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8017459" y="2894076"/>
            <a:ext cx="2140610" cy="322783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058607" y="2912364"/>
            <a:ext cx="205831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10158070" y="2894076"/>
            <a:ext cx="1528877" cy="322783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0199218" y="2912364"/>
            <a:ext cx="144658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475488" y="3216859"/>
            <a:ext cx="3567074" cy="322783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16636" y="3235147"/>
            <a:ext cx="348477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Phantom of the Opera - London (US a…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4042562" y="3216859"/>
            <a:ext cx="1834286" cy="322783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083710" y="3235147"/>
            <a:ext cx="175199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343146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5876849" y="3216859"/>
            <a:ext cx="2140610" cy="322783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917997" y="3235147"/>
            <a:ext cx="205831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8017459" y="3216859"/>
            <a:ext cx="2140610" cy="322783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8058607" y="3235147"/>
            <a:ext cx="205831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10158070" y="3216859"/>
            <a:ext cx="1528877" cy="322783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10199218" y="3235147"/>
            <a:ext cx="144658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475488" y="3539642"/>
            <a:ext cx="3567074" cy="322783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16636" y="3557930"/>
            <a:ext cx="348477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Atlanta Braves</a:t>
            </a:r>
            <a:endParaRPr 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4042562" y="3539642"/>
            <a:ext cx="1834286" cy="322783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4083710" y="3557930"/>
            <a:ext cx="175199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392636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5876849" y="3539642"/>
            <a:ext cx="2140610" cy="322783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5917997" y="3557930"/>
            <a:ext cx="205831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62" name="Shape 59"/>
          <p:cNvSpPr/>
          <p:nvPr/>
        </p:nvSpPr>
        <p:spPr>
          <a:xfrm>
            <a:off x="8017459" y="3539642"/>
            <a:ext cx="2140610" cy="322783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8058607" y="3557930"/>
            <a:ext cx="205831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64" name="Shape 61"/>
          <p:cNvSpPr/>
          <p:nvPr/>
        </p:nvSpPr>
        <p:spPr>
          <a:xfrm>
            <a:off x="10158070" y="3539642"/>
            <a:ext cx="1528877" cy="322783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10199218" y="3557930"/>
            <a:ext cx="144658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475488" y="3862426"/>
            <a:ext cx="3567074" cy="322783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516636" y="3880714"/>
            <a:ext cx="348477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Abba Voyage (US Affiliates)</a:t>
            </a:r>
            <a:endParaRPr lang="en-US" sz="1000" dirty="0"/>
          </a:p>
        </p:txBody>
      </p:sp>
      <p:sp>
        <p:nvSpPr>
          <p:cNvPr id="68" name="Shape 65"/>
          <p:cNvSpPr/>
          <p:nvPr/>
        </p:nvSpPr>
        <p:spPr>
          <a:xfrm>
            <a:off x="4042562" y="3862426"/>
            <a:ext cx="1834286" cy="322783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4083710" y="3880714"/>
            <a:ext cx="175199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347243</a:t>
            </a:r>
            <a:endParaRPr lang="en-US" sz="1000" dirty="0"/>
          </a:p>
        </p:txBody>
      </p:sp>
      <p:sp>
        <p:nvSpPr>
          <p:cNvPr id="70" name="Shape 67"/>
          <p:cNvSpPr/>
          <p:nvPr/>
        </p:nvSpPr>
        <p:spPr>
          <a:xfrm>
            <a:off x="5876849" y="3862426"/>
            <a:ext cx="2140610" cy="322783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5917997" y="3880714"/>
            <a:ext cx="205831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8017459" y="3862426"/>
            <a:ext cx="2140610" cy="322783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8058607" y="3880714"/>
            <a:ext cx="205831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74" name="Shape 71"/>
          <p:cNvSpPr/>
          <p:nvPr/>
        </p:nvSpPr>
        <p:spPr>
          <a:xfrm>
            <a:off x="10158070" y="3862426"/>
            <a:ext cx="1528877" cy="322783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10199218" y="3880714"/>
            <a:ext cx="144658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76" name="Shape 73"/>
          <p:cNvSpPr/>
          <p:nvPr/>
        </p:nvSpPr>
        <p:spPr>
          <a:xfrm>
            <a:off x="475488" y="4185209"/>
            <a:ext cx="3567074" cy="322783"/>
          </a:xfrm>
          <a:prstGeom prst="rect">
            <a:avLst/>
          </a:prstGeom>
          <a:solidFill>
            <a:srgbClr val="E5E8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516636" y="4203497"/>
            <a:ext cx="348477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5 Down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042562" y="4185209"/>
            <a:ext cx="1834286" cy="322783"/>
          </a:xfrm>
          <a:prstGeom prst="rect">
            <a:avLst/>
          </a:prstGeom>
          <a:solidFill>
            <a:srgbClr val="E5E8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4083710" y="4203497"/>
            <a:ext cx="175199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80" name="Shape 77"/>
          <p:cNvSpPr/>
          <p:nvPr/>
        </p:nvSpPr>
        <p:spPr>
          <a:xfrm>
            <a:off x="5876849" y="4185209"/>
            <a:ext cx="2140610" cy="322783"/>
          </a:xfrm>
          <a:prstGeom prst="rect">
            <a:avLst/>
          </a:prstGeom>
          <a:solidFill>
            <a:srgbClr val="E5E8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5917997" y="4203497"/>
            <a:ext cx="205831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82" name="Shape 79"/>
          <p:cNvSpPr/>
          <p:nvPr/>
        </p:nvSpPr>
        <p:spPr>
          <a:xfrm>
            <a:off x="8017459" y="4185209"/>
            <a:ext cx="2140610" cy="322783"/>
          </a:xfrm>
          <a:prstGeom prst="rect">
            <a:avLst/>
          </a:prstGeom>
          <a:solidFill>
            <a:srgbClr val="E5E8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8058607" y="4203497"/>
            <a:ext cx="205831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84" name="Shape 81"/>
          <p:cNvSpPr/>
          <p:nvPr/>
        </p:nvSpPr>
        <p:spPr>
          <a:xfrm>
            <a:off x="10158070" y="4185209"/>
            <a:ext cx="1528877" cy="322783"/>
          </a:xfrm>
          <a:prstGeom prst="rect">
            <a:avLst/>
          </a:prstGeom>
          <a:solidFill>
            <a:srgbClr val="E5E8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10199218" y="4203497"/>
            <a:ext cx="144658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86" name="Shape 83"/>
          <p:cNvSpPr/>
          <p:nvPr/>
        </p:nvSpPr>
        <p:spPr>
          <a:xfrm>
            <a:off x="475488" y="4507992"/>
            <a:ext cx="3567074" cy="322783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516636" y="4526280"/>
            <a:ext cx="348477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Julian Fashion US</a:t>
            </a:r>
            <a:endParaRPr lang="en-US" sz="1000" dirty="0"/>
          </a:p>
        </p:txBody>
      </p:sp>
      <p:sp>
        <p:nvSpPr>
          <p:cNvPr id="88" name="Shape 85"/>
          <p:cNvSpPr/>
          <p:nvPr/>
        </p:nvSpPr>
        <p:spPr>
          <a:xfrm>
            <a:off x="4042562" y="4507992"/>
            <a:ext cx="1834286" cy="322783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4083710" y="4526280"/>
            <a:ext cx="175199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309143</a:t>
            </a:r>
            <a:endParaRPr lang="en-US" sz="1000" dirty="0"/>
          </a:p>
        </p:txBody>
      </p:sp>
      <p:sp>
        <p:nvSpPr>
          <p:cNvPr id="90" name="Shape 87"/>
          <p:cNvSpPr/>
          <p:nvPr/>
        </p:nvSpPr>
        <p:spPr>
          <a:xfrm>
            <a:off x="5876849" y="4507992"/>
            <a:ext cx="2140610" cy="322783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5917997" y="4526280"/>
            <a:ext cx="205831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92" name="Shape 89"/>
          <p:cNvSpPr/>
          <p:nvPr/>
        </p:nvSpPr>
        <p:spPr>
          <a:xfrm>
            <a:off x="8017459" y="4507992"/>
            <a:ext cx="2140610" cy="322783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8058607" y="4526280"/>
            <a:ext cx="205831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94" name="Shape 91"/>
          <p:cNvSpPr/>
          <p:nvPr/>
        </p:nvSpPr>
        <p:spPr>
          <a:xfrm>
            <a:off x="10158070" y="4507992"/>
            <a:ext cx="1528877" cy="322783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10199218" y="4526280"/>
            <a:ext cx="144658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96" name="Shape 93"/>
          <p:cNvSpPr/>
          <p:nvPr/>
        </p:nvSpPr>
        <p:spPr>
          <a:xfrm>
            <a:off x="475488" y="4830775"/>
            <a:ext cx="3567074" cy="322783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516636" y="4849063"/>
            <a:ext cx="348477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World Observatory - New York (U…</a:t>
            </a:r>
            <a:endParaRPr lang="en-US" sz="1000" dirty="0"/>
          </a:p>
        </p:txBody>
      </p:sp>
      <p:sp>
        <p:nvSpPr>
          <p:cNvPr id="98" name="Shape 95"/>
          <p:cNvSpPr/>
          <p:nvPr/>
        </p:nvSpPr>
        <p:spPr>
          <a:xfrm>
            <a:off x="4042562" y="4830775"/>
            <a:ext cx="1834286" cy="322783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4083710" y="4849063"/>
            <a:ext cx="175199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328779</a:t>
            </a:r>
            <a:endParaRPr lang="en-US" sz="1000" dirty="0"/>
          </a:p>
        </p:txBody>
      </p:sp>
      <p:sp>
        <p:nvSpPr>
          <p:cNvPr id="100" name="Shape 97"/>
          <p:cNvSpPr/>
          <p:nvPr/>
        </p:nvSpPr>
        <p:spPr>
          <a:xfrm>
            <a:off x="5876849" y="4830775"/>
            <a:ext cx="2140610" cy="322783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1" name="Text 98"/>
          <p:cNvSpPr/>
          <p:nvPr/>
        </p:nvSpPr>
        <p:spPr>
          <a:xfrm>
            <a:off x="5917997" y="4849063"/>
            <a:ext cx="205831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102" name="Shape 99"/>
          <p:cNvSpPr/>
          <p:nvPr/>
        </p:nvSpPr>
        <p:spPr>
          <a:xfrm>
            <a:off x="8017459" y="4830775"/>
            <a:ext cx="2140610" cy="322783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3" name="Text 100"/>
          <p:cNvSpPr/>
          <p:nvPr/>
        </p:nvSpPr>
        <p:spPr>
          <a:xfrm>
            <a:off x="8058607" y="4849063"/>
            <a:ext cx="205831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104" name="Shape 101"/>
          <p:cNvSpPr/>
          <p:nvPr/>
        </p:nvSpPr>
        <p:spPr>
          <a:xfrm>
            <a:off x="10158070" y="4830775"/>
            <a:ext cx="1528877" cy="322783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5" name="Text 102"/>
          <p:cNvSpPr/>
          <p:nvPr/>
        </p:nvSpPr>
        <p:spPr>
          <a:xfrm>
            <a:off x="10199218" y="4849063"/>
            <a:ext cx="144658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106" name="Shape 103"/>
          <p:cNvSpPr/>
          <p:nvPr/>
        </p:nvSpPr>
        <p:spPr>
          <a:xfrm>
            <a:off x="475488" y="5153558"/>
            <a:ext cx="3567074" cy="322783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7" name="Text 104"/>
          <p:cNvSpPr/>
          <p:nvPr/>
        </p:nvSpPr>
        <p:spPr>
          <a:xfrm>
            <a:off x="516636" y="5171846"/>
            <a:ext cx="348477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Spitfire Audio US (closing 29.05.20…</a:t>
            </a:r>
            <a:endParaRPr lang="en-US" sz="1000" dirty="0"/>
          </a:p>
        </p:txBody>
      </p:sp>
      <p:sp>
        <p:nvSpPr>
          <p:cNvPr id="108" name="Shape 105"/>
          <p:cNvSpPr/>
          <p:nvPr/>
        </p:nvSpPr>
        <p:spPr>
          <a:xfrm>
            <a:off x="4042562" y="5153558"/>
            <a:ext cx="1834286" cy="322783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4083710" y="5171846"/>
            <a:ext cx="175199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366313</a:t>
            </a:r>
            <a:endParaRPr lang="en-US" sz="1000" dirty="0"/>
          </a:p>
        </p:txBody>
      </p:sp>
      <p:sp>
        <p:nvSpPr>
          <p:cNvPr id="110" name="Shape 107"/>
          <p:cNvSpPr/>
          <p:nvPr/>
        </p:nvSpPr>
        <p:spPr>
          <a:xfrm>
            <a:off x="5876849" y="5153558"/>
            <a:ext cx="2140610" cy="322783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1" name="Text 108"/>
          <p:cNvSpPr/>
          <p:nvPr/>
        </p:nvSpPr>
        <p:spPr>
          <a:xfrm>
            <a:off x="5917997" y="5171846"/>
            <a:ext cx="205831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112" name="Shape 109"/>
          <p:cNvSpPr/>
          <p:nvPr/>
        </p:nvSpPr>
        <p:spPr>
          <a:xfrm>
            <a:off x="8017459" y="5153558"/>
            <a:ext cx="2140610" cy="322783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3" name="Text 110"/>
          <p:cNvSpPr/>
          <p:nvPr/>
        </p:nvSpPr>
        <p:spPr>
          <a:xfrm>
            <a:off x="8058607" y="5171846"/>
            <a:ext cx="205831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114" name="Shape 111"/>
          <p:cNvSpPr/>
          <p:nvPr/>
        </p:nvSpPr>
        <p:spPr>
          <a:xfrm>
            <a:off x="10158070" y="5153558"/>
            <a:ext cx="1528877" cy="322783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5" name="Text 112"/>
          <p:cNvSpPr/>
          <p:nvPr/>
        </p:nvSpPr>
        <p:spPr>
          <a:xfrm>
            <a:off x="10199218" y="5171846"/>
            <a:ext cx="144658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116" name="Shape 113"/>
          <p:cNvSpPr/>
          <p:nvPr/>
        </p:nvSpPr>
        <p:spPr>
          <a:xfrm>
            <a:off x="475488" y="5476342"/>
            <a:ext cx="3567074" cy="322783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7" name="Text 114"/>
          <p:cNvSpPr/>
          <p:nvPr/>
        </p:nvSpPr>
        <p:spPr>
          <a:xfrm>
            <a:off x="516636" y="5494630"/>
            <a:ext cx="348477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View from The Shard</a:t>
            </a:r>
            <a:endParaRPr lang="en-US" sz="1000" dirty="0"/>
          </a:p>
        </p:txBody>
      </p:sp>
      <p:sp>
        <p:nvSpPr>
          <p:cNvPr id="118" name="Shape 115"/>
          <p:cNvSpPr/>
          <p:nvPr/>
        </p:nvSpPr>
        <p:spPr>
          <a:xfrm>
            <a:off x="4042562" y="5476342"/>
            <a:ext cx="1834286" cy="322783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9" name="Text 116"/>
          <p:cNvSpPr/>
          <p:nvPr/>
        </p:nvSpPr>
        <p:spPr>
          <a:xfrm>
            <a:off x="4083710" y="5494630"/>
            <a:ext cx="175199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361155</a:t>
            </a:r>
            <a:endParaRPr lang="en-US" sz="1000" dirty="0"/>
          </a:p>
        </p:txBody>
      </p:sp>
      <p:sp>
        <p:nvSpPr>
          <p:cNvPr id="120" name="Shape 117"/>
          <p:cNvSpPr/>
          <p:nvPr/>
        </p:nvSpPr>
        <p:spPr>
          <a:xfrm>
            <a:off x="5876849" y="5476342"/>
            <a:ext cx="2140610" cy="322783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1" name="Text 118"/>
          <p:cNvSpPr/>
          <p:nvPr/>
        </p:nvSpPr>
        <p:spPr>
          <a:xfrm>
            <a:off x="5917997" y="5494630"/>
            <a:ext cx="205831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122" name="Shape 119"/>
          <p:cNvSpPr/>
          <p:nvPr/>
        </p:nvSpPr>
        <p:spPr>
          <a:xfrm>
            <a:off x="8017459" y="5476342"/>
            <a:ext cx="2140610" cy="322783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3" name="Text 120"/>
          <p:cNvSpPr/>
          <p:nvPr/>
        </p:nvSpPr>
        <p:spPr>
          <a:xfrm>
            <a:off x="8058607" y="5494630"/>
            <a:ext cx="205831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124" name="Shape 121"/>
          <p:cNvSpPr/>
          <p:nvPr/>
        </p:nvSpPr>
        <p:spPr>
          <a:xfrm>
            <a:off x="10158070" y="5476342"/>
            <a:ext cx="1528877" cy="322783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5" name="Text 122"/>
          <p:cNvSpPr/>
          <p:nvPr/>
        </p:nvSpPr>
        <p:spPr>
          <a:xfrm>
            <a:off x="10199218" y="5494630"/>
            <a:ext cx="144658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126" name="Shape 123"/>
          <p:cNvSpPr/>
          <p:nvPr/>
        </p:nvSpPr>
        <p:spPr>
          <a:xfrm>
            <a:off x="475488" y="5799125"/>
            <a:ext cx="3567074" cy="322783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7" name="Text 124"/>
          <p:cNvSpPr/>
          <p:nvPr/>
        </p:nvSpPr>
        <p:spPr>
          <a:xfrm>
            <a:off x="516636" y="5817413"/>
            <a:ext cx="348477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Designer Plants USA</a:t>
            </a:r>
            <a:endParaRPr lang="en-US" sz="1000" dirty="0"/>
          </a:p>
        </p:txBody>
      </p:sp>
      <p:sp>
        <p:nvSpPr>
          <p:cNvPr id="128" name="Shape 125"/>
          <p:cNvSpPr/>
          <p:nvPr/>
        </p:nvSpPr>
        <p:spPr>
          <a:xfrm>
            <a:off x="4042562" y="5799125"/>
            <a:ext cx="1834286" cy="322783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9" name="Text 126"/>
          <p:cNvSpPr/>
          <p:nvPr/>
        </p:nvSpPr>
        <p:spPr>
          <a:xfrm>
            <a:off x="4083710" y="5817413"/>
            <a:ext cx="175199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339536</a:t>
            </a:r>
            <a:endParaRPr lang="en-US" sz="1000" dirty="0"/>
          </a:p>
        </p:txBody>
      </p:sp>
      <p:sp>
        <p:nvSpPr>
          <p:cNvPr id="130" name="Shape 127"/>
          <p:cNvSpPr/>
          <p:nvPr/>
        </p:nvSpPr>
        <p:spPr>
          <a:xfrm>
            <a:off x="5876849" y="5799125"/>
            <a:ext cx="2140610" cy="322783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1" name="Text 128"/>
          <p:cNvSpPr/>
          <p:nvPr/>
        </p:nvSpPr>
        <p:spPr>
          <a:xfrm>
            <a:off x="5917997" y="5817413"/>
            <a:ext cx="205831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132" name="Shape 129"/>
          <p:cNvSpPr/>
          <p:nvPr/>
        </p:nvSpPr>
        <p:spPr>
          <a:xfrm>
            <a:off x="8017459" y="5799125"/>
            <a:ext cx="2140610" cy="322783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3" name="Text 130"/>
          <p:cNvSpPr/>
          <p:nvPr/>
        </p:nvSpPr>
        <p:spPr>
          <a:xfrm>
            <a:off x="8058607" y="5817413"/>
            <a:ext cx="205831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134" name="Shape 131"/>
          <p:cNvSpPr/>
          <p:nvPr/>
        </p:nvSpPr>
        <p:spPr>
          <a:xfrm>
            <a:off x="10158070" y="5799125"/>
            <a:ext cx="1528877" cy="322783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5" name="Text 132"/>
          <p:cNvSpPr/>
          <p:nvPr/>
        </p:nvSpPr>
        <p:spPr>
          <a:xfrm>
            <a:off x="10199218" y="5817413"/>
            <a:ext cx="144658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publisher-qbr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New Programs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joined or first active for the primary publisher in the current period.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440192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75488" y="1874520"/>
            <a:ext cx="1601114" cy="442570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16636" y="1892808"/>
            <a:ext cx="1518818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ID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076602" y="1874520"/>
            <a:ext cx="1601114" cy="442570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117750" y="1892808"/>
            <a:ext cx="1518818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Name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677717" y="1874520"/>
            <a:ext cx="1601114" cy="442570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18865" y="1892808"/>
            <a:ext cx="1518818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278831" y="1874520"/>
            <a:ext cx="1601114" cy="442570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19979" y="1892808"/>
            <a:ext cx="1518818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Value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879946" y="1874520"/>
            <a:ext cx="1601114" cy="442570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21094" y="1892808"/>
            <a:ext cx="1518818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481060" y="1874520"/>
            <a:ext cx="1601114" cy="442570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22208" y="1892808"/>
            <a:ext cx="1518818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Wallet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0082174" y="1874520"/>
            <a:ext cx="1603858" cy="442570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123322" y="1892808"/>
            <a:ext cx="1521562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75488" y="2317090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16636" y="2335378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383123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076602" y="2317090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117750" y="2335378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Lucky Star Jewels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677717" y="2317090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718865" y="2335378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278831" y="2317090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319979" y="2335378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$260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879946" y="2317090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921094" y="2335378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$26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8481060" y="2317090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522208" y="2335378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10082174" y="2317090"/>
            <a:ext cx="1603858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0123322" y="2335378"/>
            <a:ext cx="1521562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$26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75488" y="2698394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16636" y="2716682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384454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2076602" y="2698394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2117750" y="2716682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Great Gatsby Broadway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3677717" y="2698394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718865" y="2716682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5278831" y="2698394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319979" y="2716682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$1,455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6879946" y="2698394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921094" y="2716682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$20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8481060" y="2698394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522208" y="2716682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10082174" y="2698394"/>
            <a:ext cx="1603858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10123322" y="2716682"/>
            <a:ext cx="1521562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$20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475488" y="3079699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16636" y="3097987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392636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2076602" y="3079699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2117750" y="3097987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Atlanta Braves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3677717" y="3079699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3718865" y="3097987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5278831" y="3079699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319979" y="3097987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$87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6879946" y="3079699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921094" y="3097987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$4</a:t>
            </a:r>
            <a:endParaRPr 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8481060" y="3079699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8522208" y="3097987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10082174" y="3079699"/>
            <a:ext cx="1603858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10123322" y="3097987"/>
            <a:ext cx="1521562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$4</a:t>
            </a:r>
            <a:endParaRPr lang="en-US" sz="1000" dirty="0"/>
          </a:p>
        </p:txBody>
      </p:sp>
      <p:sp>
        <p:nvSpPr>
          <p:cNvPr id="62" name="Shape 59"/>
          <p:cNvSpPr/>
          <p:nvPr/>
        </p:nvSpPr>
        <p:spPr>
          <a:xfrm>
            <a:off x="475488" y="3461004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516636" y="3479292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347243</a:t>
            </a:r>
            <a:endParaRPr lang="en-US" sz="1000" dirty="0"/>
          </a:p>
        </p:txBody>
      </p:sp>
      <p:sp>
        <p:nvSpPr>
          <p:cNvPr id="64" name="Shape 61"/>
          <p:cNvSpPr/>
          <p:nvPr/>
        </p:nvSpPr>
        <p:spPr>
          <a:xfrm>
            <a:off x="2076602" y="3461004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2117750" y="3479292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Abba Voyage (US Affiliates)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3677717" y="3461004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3718865" y="3479292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68" name="Shape 65"/>
          <p:cNvSpPr/>
          <p:nvPr/>
        </p:nvSpPr>
        <p:spPr>
          <a:xfrm>
            <a:off x="5278831" y="3461004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5319979" y="3479292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$1,073</a:t>
            </a:r>
            <a:endParaRPr lang="en-US" sz="1000" dirty="0"/>
          </a:p>
        </p:txBody>
      </p:sp>
      <p:sp>
        <p:nvSpPr>
          <p:cNvPr id="70" name="Shape 67"/>
          <p:cNvSpPr/>
          <p:nvPr/>
        </p:nvSpPr>
        <p:spPr>
          <a:xfrm>
            <a:off x="6879946" y="3461004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6921094" y="3479292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8481060" y="3461004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8522208" y="3479292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74" name="Shape 71"/>
          <p:cNvSpPr/>
          <p:nvPr/>
        </p:nvSpPr>
        <p:spPr>
          <a:xfrm>
            <a:off x="10082174" y="3461004"/>
            <a:ext cx="1603858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10123322" y="3479292"/>
            <a:ext cx="1521562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</a:t>
            </a:r>
            <a:endParaRPr lang="en-US" sz="1000" dirty="0"/>
          </a:p>
        </p:txBody>
      </p:sp>
      <p:sp>
        <p:nvSpPr>
          <p:cNvPr id="76" name="Shape 73"/>
          <p:cNvSpPr/>
          <p:nvPr/>
        </p:nvSpPr>
        <p:spPr>
          <a:xfrm>
            <a:off x="475488" y="3842309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516636" y="3860597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378947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2076602" y="3842309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2117750" y="3860597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Arrita Studio</a:t>
            </a:r>
            <a:endParaRPr lang="en-US" sz="1000" dirty="0"/>
          </a:p>
        </p:txBody>
      </p:sp>
      <p:sp>
        <p:nvSpPr>
          <p:cNvPr id="80" name="Shape 77"/>
          <p:cNvSpPr/>
          <p:nvPr/>
        </p:nvSpPr>
        <p:spPr>
          <a:xfrm>
            <a:off x="3677717" y="3842309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3718865" y="3860597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000" dirty="0"/>
          </a:p>
        </p:txBody>
      </p:sp>
      <p:sp>
        <p:nvSpPr>
          <p:cNvPr id="82" name="Shape 79"/>
          <p:cNvSpPr/>
          <p:nvPr/>
        </p:nvSpPr>
        <p:spPr>
          <a:xfrm>
            <a:off x="5278831" y="3842309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5319979" y="3860597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84" name="Shape 81"/>
          <p:cNvSpPr/>
          <p:nvPr/>
        </p:nvSpPr>
        <p:spPr>
          <a:xfrm>
            <a:off x="6879946" y="3842309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6921094" y="3860597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86" name="Shape 83"/>
          <p:cNvSpPr/>
          <p:nvPr/>
        </p:nvSpPr>
        <p:spPr>
          <a:xfrm>
            <a:off x="8481060" y="3842309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8522208" y="3860597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88" name="Shape 85"/>
          <p:cNvSpPr/>
          <p:nvPr/>
        </p:nvSpPr>
        <p:spPr>
          <a:xfrm>
            <a:off x="10082174" y="3842309"/>
            <a:ext cx="1603858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10123322" y="3860597"/>
            <a:ext cx="1521562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90" name="Shape 87"/>
          <p:cNvSpPr/>
          <p:nvPr/>
        </p:nvSpPr>
        <p:spPr>
          <a:xfrm>
            <a:off x="475488" y="4223614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516636" y="4241902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385020</a:t>
            </a:r>
            <a:endParaRPr lang="en-US" sz="1000" dirty="0"/>
          </a:p>
        </p:txBody>
      </p:sp>
      <p:sp>
        <p:nvSpPr>
          <p:cNvPr id="92" name="Shape 89"/>
          <p:cNvSpPr/>
          <p:nvPr/>
        </p:nvSpPr>
        <p:spPr>
          <a:xfrm>
            <a:off x="2076602" y="4223614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2117750" y="4241902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Casaemma wines</a:t>
            </a:r>
            <a:endParaRPr lang="en-US" sz="1000" dirty="0"/>
          </a:p>
        </p:txBody>
      </p:sp>
      <p:sp>
        <p:nvSpPr>
          <p:cNvPr id="94" name="Shape 91"/>
          <p:cNvSpPr/>
          <p:nvPr/>
        </p:nvSpPr>
        <p:spPr>
          <a:xfrm>
            <a:off x="3677717" y="4223614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3718865" y="4241902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000" dirty="0"/>
          </a:p>
        </p:txBody>
      </p:sp>
      <p:sp>
        <p:nvSpPr>
          <p:cNvPr id="96" name="Shape 93"/>
          <p:cNvSpPr/>
          <p:nvPr/>
        </p:nvSpPr>
        <p:spPr>
          <a:xfrm>
            <a:off x="5278831" y="4223614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5319979" y="4241902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98" name="Shape 95"/>
          <p:cNvSpPr/>
          <p:nvPr/>
        </p:nvSpPr>
        <p:spPr>
          <a:xfrm>
            <a:off x="6879946" y="4223614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6921094" y="4241902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00" name="Shape 97"/>
          <p:cNvSpPr/>
          <p:nvPr/>
        </p:nvSpPr>
        <p:spPr>
          <a:xfrm>
            <a:off x="8481060" y="4223614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1" name="Text 98"/>
          <p:cNvSpPr/>
          <p:nvPr/>
        </p:nvSpPr>
        <p:spPr>
          <a:xfrm>
            <a:off x="8522208" y="4241902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02" name="Shape 99"/>
          <p:cNvSpPr/>
          <p:nvPr/>
        </p:nvSpPr>
        <p:spPr>
          <a:xfrm>
            <a:off x="10082174" y="4223614"/>
            <a:ext cx="1603858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3" name="Text 100"/>
          <p:cNvSpPr/>
          <p:nvPr/>
        </p:nvSpPr>
        <p:spPr>
          <a:xfrm>
            <a:off x="10123322" y="4241902"/>
            <a:ext cx="1521562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04" name="Shape 101"/>
          <p:cNvSpPr/>
          <p:nvPr/>
        </p:nvSpPr>
        <p:spPr>
          <a:xfrm>
            <a:off x="475488" y="4604918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5" name="Text 102"/>
          <p:cNvSpPr/>
          <p:nvPr/>
        </p:nvSpPr>
        <p:spPr>
          <a:xfrm>
            <a:off x="516636" y="4623206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377606</a:t>
            </a:r>
            <a:endParaRPr lang="en-US" sz="1000" dirty="0"/>
          </a:p>
        </p:txBody>
      </p:sp>
      <p:sp>
        <p:nvSpPr>
          <p:cNvPr id="106" name="Shape 103"/>
          <p:cNvSpPr/>
          <p:nvPr/>
        </p:nvSpPr>
        <p:spPr>
          <a:xfrm>
            <a:off x="2076602" y="4604918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7" name="Text 104"/>
          <p:cNvSpPr/>
          <p:nvPr/>
        </p:nvSpPr>
        <p:spPr>
          <a:xfrm>
            <a:off x="2117750" y="4623206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Cosara</a:t>
            </a:r>
            <a:endParaRPr lang="en-US" sz="1000" dirty="0"/>
          </a:p>
        </p:txBody>
      </p:sp>
      <p:sp>
        <p:nvSpPr>
          <p:cNvPr id="108" name="Shape 105"/>
          <p:cNvSpPr/>
          <p:nvPr/>
        </p:nvSpPr>
        <p:spPr>
          <a:xfrm>
            <a:off x="3677717" y="4604918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3718865" y="4623206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000" dirty="0"/>
          </a:p>
        </p:txBody>
      </p:sp>
      <p:sp>
        <p:nvSpPr>
          <p:cNvPr id="110" name="Shape 107"/>
          <p:cNvSpPr/>
          <p:nvPr/>
        </p:nvSpPr>
        <p:spPr>
          <a:xfrm>
            <a:off x="5278831" y="4604918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1" name="Text 108"/>
          <p:cNvSpPr/>
          <p:nvPr/>
        </p:nvSpPr>
        <p:spPr>
          <a:xfrm>
            <a:off x="5319979" y="4623206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12" name="Shape 109"/>
          <p:cNvSpPr/>
          <p:nvPr/>
        </p:nvSpPr>
        <p:spPr>
          <a:xfrm>
            <a:off x="6879946" y="4604918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3" name="Text 110"/>
          <p:cNvSpPr/>
          <p:nvPr/>
        </p:nvSpPr>
        <p:spPr>
          <a:xfrm>
            <a:off x="6921094" y="4623206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14" name="Shape 111"/>
          <p:cNvSpPr/>
          <p:nvPr/>
        </p:nvSpPr>
        <p:spPr>
          <a:xfrm>
            <a:off x="8481060" y="4604918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5" name="Text 112"/>
          <p:cNvSpPr/>
          <p:nvPr/>
        </p:nvSpPr>
        <p:spPr>
          <a:xfrm>
            <a:off x="8522208" y="4623206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16" name="Shape 113"/>
          <p:cNvSpPr/>
          <p:nvPr/>
        </p:nvSpPr>
        <p:spPr>
          <a:xfrm>
            <a:off x="10082174" y="4604918"/>
            <a:ext cx="1603858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7" name="Text 114"/>
          <p:cNvSpPr/>
          <p:nvPr/>
        </p:nvSpPr>
        <p:spPr>
          <a:xfrm>
            <a:off x="10123322" y="4623206"/>
            <a:ext cx="1521562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18" name="Shape 115"/>
          <p:cNvSpPr/>
          <p:nvPr/>
        </p:nvSpPr>
        <p:spPr>
          <a:xfrm>
            <a:off x="475488" y="4986223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9" name="Text 116"/>
          <p:cNvSpPr/>
          <p:nvPr/>
        </p:nvSpPr>
        <p:spPr>
          <a:xfrm>
            <a:off x="516636" y="5004511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385133</a:t>
            </a:r>
            <a:endParaRPr lang="en-US" sz="1000" dirty="0"/>
          </a:p>
        </p:txBody>
      </p:sp>
      <p:sp>
        <p:nvSpPr>
          <p:cNvPr id="120" name="Shape 117"/>
          <p:cNvSpPr/>
          <p:nvPr/>
        </p:nvSpPr>
        <p:spPr>
          <a:xfrm>
            <a:off x="2076602" y="4986223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1" name="Text 118"/>
          <p:cNvSpPr/>
          <p:nvPr/>
        </p:nvSpPr>
        <p:spPr>
          <a:xfrm>
            <a:off x="2117750" y="5004511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Cosm</a:t>
            </a:r>
            <a:endParaRPr lang="en-US" sz="1000" dirty="0"/>
          </a:p>
        </p:txBody>
      </p:sp>
      <p:sp>
        <p:nvSpPr>
          <p:cNvPr id="122" name="Shape 119"/>
          <p:cNvSpPr/>
          <p:nvPr/>
        </p:nvSpPr>
        <p:spPr>
          <a:xfrm>
            <a:off x="3677717" y="4986223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3" name="Text 120"/>
          <p:cNvSpPr/>
          <p:nvPr/>
        </p:nvSpPr>
        <p:spPr>
          <a:xfrm>
            <a:off x="3718865" y="5004511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000" dirty="0"/>
          </a:p>
        </p:txBody>
      </p:sp>
      <p:sp>
        <p:nvSpPr>
          <p:cNvPr id="124" name="Shape 121"/>
          <p:cNvSpPr/>
          <p:nvPr/>
        </p:nvSpPr>
        <p:spPr>
          <a:xfrm>
            <a:off x="5278831" y="4986223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5" name="Text 122"/>
          <p:cNvSpPr/>
          <p:nvPr/>
        </p:nvSpPr>
        <p:spPr>
          <a:xfrm>
            <a:off x="5319979" y="5004511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26" name="Shape 123"/>
          <p:cNvSpPr/>
          <p:nvPr/>
        </p:nvSpPr>
        <p:spPr>
          <a:xfrm>
            <a:off x="6879946" y="4986223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7" name="Text 124"/>
          <p:cNvSpPr/>
          <p:nvPr/>
        </p:nvSpPr>
        <p:spPr>
          <a:xfrm>
            <a:off x="6921094" y="5004511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28" name="Shape 125"/>
          <p:cNvSpPr/>
          <p:nvPr/>
        </p:nvSpPr>
        <p:spPr>
          <a:xfrm>
            <a:off x="8481060" y="4986223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9" name="Text 126"/>
          <p:cNvSpPr/>
          <p:nvPr/>
        </p:nvSpPr>
        <p:spPr>
          <a:xfrm>
            <a:off x="8522208" y="5004511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30" name="Shape 127"/>
          <p:cNvSpPr/>
          <p:nvPr/>
        </p:nvSpPr>
        <p:spPr>
          <a:xfrm>
            <a:off x="10082174" y="4986223"/>
            <a:ext cx="1603858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1" name="Text 128"/>
          <p:cNvSpPr/>
          <p:nvPr/>
        </p:nvSpPr>
        <p:spPr>
          <a:xfrm>
            <a:off x="10123322" y="5004511"/>
            <a:ext cx="1521562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32" name="Shape 129"/>
          <p:cNvSpPr/>
          <p:nvPr/>
        </p:nvSpPr>
        <p:spPr>
          <a:xfrm>
            <a:off x="475488" y="5367528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3" name="Text 130"/>
          <p:cNvSpPr/>
          <p:nvPr/>
        </p:nvSpPr>
        <p:spPr>
          <a:xfrm>
            <a:off x="516636" y="5385816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376984</a:t>
            </a:r>
            <a:endParaRPr lang="en-US" sz="1000" dirty="0"/>
          </a:p>
        </p:txBody>
      </p:sp>
      <p:sp>
        <p:nvSpPr>
          <p:cNvPr id="134" name="Shape 131"/>
          <p:cNvSpPr/>
          <p:nvPr/>
        </p:nvSpPr>
        <p:spPr>
          <a:xfrm>
            <a:off x="2076602" y="5367528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5" name="Text 132"/>
          <p:cNvSpPr/>
          <p:nvPr/>
        </p:nvSpPr>
        <p:spPr>
          <a:xfrm>
            <a:off x="2117750" y="5385816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Eat and Play Card</a:t>
            </a:r>
            <a:endParaRPr lang="en-US" sz="1000" dirty="0"/>
          </a:p>
        </p:txBody>
      </p:sp>
      <p:sp>
        <p:nvSpPr>
          <p:cNvPr id="136" name="Shape 133"/>
          <p:cNvSpPr/>
          <p:nvPr/>
        </p:nvSpPr>
        <p:spPr>
          <a:xfrm>
            <a:off x="3677717" y="5367528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7" name="Text 134"/>
          <p:cNvSpPr/>
          <p:nvPr/>
        </p:nvSpPr>
        <p:spPr>
          <a:xfrm>
            <a:off x="3718865" y="5385816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000" dirty="0"/>
          </a:p>
        </p:txBody>
      </p:sp>
      <p:sp>
        <p:nvSpPr>
          <p:cNvPr id="138" name="Shape 135"/>
          <p:cNvSpPr/>
          <p:nvPr/>
        </p:nvSpPr>
        <p:spPr>
          <a:xfrm>
            <a:off x="5278831" y="5367528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9" name="Text 136"/>
          <p:cNvSpPr/>
          <p:nvPr/>
        </p:nvSpPr>
        <p:spPr>
          <a:xfrm>
            <a:off x="5319979" y="5385816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40" name="Shape 137"/>
          <p:cNvSpPr/>
          <p:nvPr/>
        </p:nvSpPr>
        <p:spPr>
          <a:xfrm>
            <a:off x="6879946" y="5367528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1" name="Text 138"/>
          <p:cNvSpPr/>
          <p:nvPr/>
        </p:nvSpPr>
        <p:spPr>
          <a:xfrm>
            <a:off x="6921094" y="5385816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42" name="Shape 139"/>
          <p:cNvSpPr/>
          <p:nvPr/>
        </p:nvSpPr>
        <p:spPr>
          <a:xfrm>
            <a:off x="8481060" y="5367528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3" name="Text 140"/>
          <p:cNvSpPr/>
          <p:nvPr/>
        </p:nvSpPr>
        <p:spPr>
          <a:xfrm>
            <a:off x="8522208" y="5385816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44" name="Shape 141"/>
          <p:cNvSpPr/>
          <p:nvPr/>
        </p:nvSpPr>
        <p:spPr>
          <a:xfrm>
            <a:off x="10082174" y="5367528"/>
            <a:ext cx="1603858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5" name="Text 142"/>
          <p:cNvSpPr/>
          <p:nvPr/>
        </p:nvSpPr>
        <p:spPr>
          <a:xfrm>
            <a:off x="10123322" y="5385816"/>
            <a:ext cx="1521562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46" name="Shape 143"/>
          <p:cNvSpPr/>
          <p:nvPr/>
        </p:nvSpPr>
        <p:spPr>
          <a:xfrm>
            <a:off x="475488" y="5748833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7" name="Text 144"/>
          <p:cNvSpPr/>
          <p:nvPr/>
        </p:nvSpPr>
        <p:spPr>
          <a:xfrm>
            <a:off x="516636" y="5767121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356533</a:t>
            </a:r>
            <a:endParaRPr lang="en-US" sz="1000" dirty="0"/>
          </a:p>
        </p:txBody>
      </p:sp>
      <p:sp>
        <p:nvSpPr>
          <p:cNvPr id="148" name="Shape 145"/>
          <p:cNvSpPr/>
          <p:nvPr/>
        </p:nvSpPr>
        <p:spPr>
          <a:xfrm>
            <a:off x="2076602" y="5748833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9" name="Text 146"/>
          <p:cNvSpPr/>
          <p:nvPr/>
        </p:nvSpPr>
        <p:spPr>
          <a:xfrm>
            <a:off x="2117750" y="5767121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EviDenS de Beauté: Elevating Skincare with Japanese Luxury</a:t>
            </a:r>
            <a:endParaRPr lang="en-US" sz="1000" dirty="0"/>
          </a:p>
        </p:txBody>
      </p:sp>
      <p:sp>
        <p:nvSpPr>
          <p:cNvPr id="150" name="Shape 147"/>
          <p:cNvSpPr/>
          <p:nvPr/>
        </p:nvSpPr>
        <p:spPr>
          <a:xfrm>
            <a:off x="3677717" y="5748833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1" name="Text 148"/>
          <p:cNvSpPr/>
          <p:nvPr/>
        </p:nvSpPr>
        <p:spPr>
          <a:xfrm>
            <a:off x="3718865" y="5767121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000" dirty="0"/>
          </a:p>
        </p:txBody>
      </p:sp>
      <p:sp>
        <p:nvSpPr>
          <p:cNvPr id="152" name="Shape 149"/>
          <p:cNvSpPr/>
          <p:nvPr/>
        </p:nvSpPr>
        <p:spPr>
          <a:xfrm>
            <a:off x="5278831" y="5748833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3" name="Text 150"/>
          <p:cNvSpPr/>
          <p:nvPr/>
        </p:nvSpPr>
        <p:spPr>
          <a:xfrm>
            <a:off x="5319979" y="5767121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54" name="Shape 151"/>
          <p:cNvSpPr/>
          <p:nvPr/>
        </p:nvSpPr>
        <p:spPr>
          <a:xfrm>
            <a:off x="6879946" y="5748833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5" name="Text 152"/>
          <p:cNvSpPr/>
          <p:nvPr/>
        </p:nvSpPr>
        <p:spPr>
          <a:xfrm>
            <a:off x="6921094" y="5767121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56" name="Shape 153"/>
          <p:cNvSpPr/>
          <p:nvPr/>
        </p:nvSpPr>
        <p:spPr>
          <a:xfrm>
            <a:off x="8481060" y="5748833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7" name="Text 154"/>
          <p:cNvSpPr/>
          <p:nvPr/>
        </p:nvSpPr>
        <p:spPr>
          <a:xfrm>
            <a:off x="8522208" y="5767121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58" name="Shape 155"/>
          <p:cNvSpPr/>
          <p:nvPr/>
        </p:nvSpPr>
        <p:spPr>
          <a:xfrm>
            <a:off x="10082174" y="5748833"/>
            <a:ext cx="1603858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9" name="Text 156"/>
          <p:cNvSpPr/>
          <p:nvPr/>
        </p:nvSpPr>
        <p:spPr>
          <a:xfrm>
            <a:off x="10123322" y="5767121"/>
            <a:ext cx="1521562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publisher-qbr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Growth opportunity in the competitor gap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requiring activation, application or recovery.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4201668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75488" y="1874520"/>
            <a:ext cx="3737153" cy="763524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16636" y="1892808"/>
            <a:ext cx="3654857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Type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212641" y="1874520"/>
            <a:ext cx="3737153" cy="763524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253789" y="1892808"/>
            <a:ext cx="3654857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949794" y="1874520"/>
            <a:ext cx="3736238" cy="763524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90942" y="1892808"/>
            <a:ext cx="3653942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Pub Comm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75488" y="2638044"/>
            <a:ext cx="3737153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16636" y="2656332"/>
            <a:ext cx="3654857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212641" y="2638044"/>
            <a:ext cx="3737153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53789" y="2656332"/>
            <a:ext cx="3654857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949794" y="2638044"/>
            <a:ext cx="3736238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990942" y="2656332"/>
            <a:ext cx="365394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$36,378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75488" y="3296412"/>
            <a:ext cx="3737153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6636" y="3314700"/>
            <a:ext cx="3654857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Leakage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212641" y="3296412"/>
            <a:ext cx="3737153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253789" y="3314700"/>
            <a:ext cx="3654857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949794" y="3296412"/>
            <a:ext cx="3736238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990942" y="3314700"/>
            <a:ext cx="365394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$20,417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75488" y="3954780"/>
            <a:ext cx="3737153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16636" y="3973068"/>
            <a:ext cx="3654857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Activation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212641" y="3954780"/>
            <a:ext cx="3737153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253789" y="3973068"/>
            <a:ext cx="3654857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949794" y="3954780"/>
            <a:ext cx="3736238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90942" y="3973068"/>
            <a:ext cx="365394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$720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75488" y="4613148"/>
            <a:ext cx="3737153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16636" y="4631436"/>
            <a:ext cx="3654857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212641" y="4613148"/>
            <a:ext cx="3737153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253789" y="4631436"/>
            <a:ext cx="3654857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7949794" y="4613148"/>
            <a:ext cx="3736238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990942" y="4631436"/>
            <a:ext cx="365394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5488" y="5271516"/>
            <a:ext cx="3737153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16636" y="5289804"/>
            <a:ext cx="3654857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Pending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4212641" y="5271516"/>
            <a:ext cx="3737153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253789" y="5289804"/>
            <a:ext cx="3654857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7949794" y="5271516"/>
            <a:ext cx="3736238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990942" y="5289804"/>
            <a:ext cx="365394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publisher-qbr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competitor-funded gaps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receiving publisher commission from competitors while the primary publisher is not earning.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440192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75488" y="1874520"/>
            <a:ext cx="1121054" cy="442570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16636" y="1892808"/>
            <a:ext cx="1038758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Name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1596542" y="1874520"/>
            <a:ext cx="1121054" cy="442570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637690" y="1892808"/>
            <a:ext cx="1038758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ID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717597" y="1874520"/>
            <a:ext cx="1121054" cy="442570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58745" y="1892808"/>
            <a:ext cx="1038758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digidip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838651" y="1874520"/>
            <a:ext cx="1121054" cy="442570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79799" y="1892808"/>
            <a:ext cx="1038758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1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959706" y="1874520"/>
            <a:ext cx="1121054" cy="442570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00854" y="1892808"/>
            <a:ext cx="1038758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2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080760" y="1874520"/>
            <a:ext cx="1121054" cy="442570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21908" y="1892808"/>
            <a:ext cx="1038758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3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201814" y="1874520"/>
            <a:ext cx="1121054" cy="442570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242962" y="1892808"/>
            <a:ext cx="1038758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4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322869" y="1874520"/>
            <a:ext cx="1121054" cy="442570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364017" y="1892808"/>
            <a:ext cx="1038758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Pub Comm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9443923" y="1874520"/>
            <a:ext cx="1121054" cy="442570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485071" y="1892808"/>
            <a:ext cx="1038758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Type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10564978" y="1874520"/>
            <a:ext cx="1121054" cy="442570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606126" y="1892808"/>
            <a:ext cx="1038758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Action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75488" y="2317090"/>
            <a:ext cx="112105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16636" y="2335378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York Yankees Limited Partnership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1596542" y="2317090"/>
            <a:ext cx="112105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637690" y="2335378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363704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2717597" y="2317090"/>
            <a:ext cx="112105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758745" y="2335378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Connection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3838651" y="2317090"/>
            <a:ext cx="112105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879799" y="2335378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959706" y="2317090"/>
            <a:ext cx="112105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000854" y="2335378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Connection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080760" y="2317090"/>
            <a:ext cx="112105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121908" y="2335378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7201814" y="2317090"/>
            <a:ext cx="112105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242962" y="2335378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8322869" y="2317090"/>
            <a:ext cx="112105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364017" y="2335378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$16,284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9443923" y="2317090"/>
            <a:ext cx="112105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485071" y="2335378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10564978" y="2317090"/>
            <a:ext cx="112105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0606126" y="2335378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475488" y="2698394"/>
            <a:ext cx="112105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16636" y="2716682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Cosm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1596542" y="2698394"/>
            <a:ext cx="112105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1637690" y="2716682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385133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2717597" y="2698394"/>
            <a:ext cx="112105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2758745" y="2716682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Clicks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3838651" y="2698394"/>
            <a:ext cx="112105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3879799" y="2716682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4959706" y="2698394"/>
            <a:ext cx="112105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000854" y="2716682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Connection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6080760" y="2698394"/>
            <a:ext cx="112105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121908" y="2716682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</a:t>
            </a:r>
            <a:endParaRPr 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7201814" y="2698394"/>
            <a:ext cx="112105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7242962" y="2716682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Connection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8322869" y="2698394"/>
            <a:ext cx="112105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8364017" y="2716682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$15,246</a:t>
            </a:r>
            <a:endParaRPr lang="en-US" sz="1000" dirty="0"/>
          </a:p>
        </p:txBody>
      </p:sp>
      <p:sp>
        <p:nvSpPr>
          <p:cNvPr id="62" name="Shape 59"/>
          <p:cNvSpPr/>
          <p:nvPr/>
        </p:nvSpPr>
        <p:spPr>
          <a:xfrm>
            <a:off x="9443923" y="2698394"/>
            <a:ext cx="112105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9485071" y="2716682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Leakage</a:t>
            </a:r>
            <a:endParaRPr lang="en-US" sz="1000" dirty="0"/>
          </a:p>
        </p:txBody>
      </p:sp>
      <p:sp>
        <p:nvSpPr>
          <p:cNvPr id="64" name="Shape 61"/>
          <p:cNvSpPr/>
          <p:nvPr/>
        </p:nvSpPr>
        <p:spPr>
          <a:xfrm>
            <a:off x="10564978" y="2698394"/>
            <a:ext cx="112105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10606126" y="2716682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 tracking / conversion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475488" y="3079699"/>
            <a:ext cx="112105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516636" y="3097987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Philips Hue US - AFF</a:t>
            </a:r>
            <a:endParaRPr lang="en-US" sz="1000" dirty="0"/>
          </a:p>
        </p:txBody>
      </p:sp>
      <p:sp>
        <p:nvSpPr>
          <p:cNvPr id="68" name="Shape 65"/>
          <p:cNvSpPr/>
          <p:nvPr/>
        </p:nvSpPr>
        <p:spPr>
          <a:xfrm>
            <a:off x="1596542" y="3079699"/>
            <a:ext cx="112105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1637690" y="3097987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354192</a:t>
            </a:r>
            <a:endParaRPr lang="en-US" sz="1000" dirty="0"/>
          </a:p>
        </p:txBody>
      </p:sp>
      <p:sp>
        <p:nvSpPr>
          <p:cNvPr id="70" name="Shape 67"/>
          <p:cNvSpPr/>
          <p:nvPr/>
        </p:nvSpPr>
        <p:spPr>
          <a:xfrm>
            <a:off x="2717597" y="3079699"/>
            <a:ext cx="112105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2758745" y="3097987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Connection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3838651" y="3079699"/>
            <a:ext cx="112105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3879799" y="3097987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</a:t>
            </a:r>
            <a:endParaRPr lang="en-US" sz="1000" dirty="0"/>
          </a:p>
        </p:txBody>
      </p:sp>
      <p:sp>
        <p:nvSpPr>
          <p:cNvPr id="74" name="Shape 71"/>
          <p:cNvSpPr/>
          <p:nvPr/>
        </p:nvSpPr>
        <p:spPr>
          <a:xfrm>
            <a:off x="4959706" y="3079699"/>
            <a:ext cx="112105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5000854" y="3097987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Clicks</a:t>
            </a:r>
            <a:endParaRPr lang="en-US" sz="1000" dirty="0"/>
          </a:p>
        </p:txBody>
      </p:sp>
      <p:sp>
        <p:nvSpPr>
          <p:cNvPr id="76" name="Shape 73"/>
          <p:cNvSpPr/>
          <p:nvPr/>
        </p:nvSpPr>
        <p:spPr>
          <a:xfrm>
            <a:off x="6080760" y="3079699"/>
            <a:ext cx="112105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6121908" y="3097987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Clicks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7201814" y="3079699"/>
            <a:ext cx="112105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7242962" y="3097987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Clicks</a:t>
            </a:r>
            <a:endParaRPr lang="en-US" sz="1000" dirty="0"/>
          </a:p>
        </p:txBody>
      </p:sp>
      <p:sp>
        <p:nvSpPr>
          <p:cNvPr id="80" name="Shape 77"/>
          <p:cNvSpPr/>
          <p:nvPr/>
        </p:nvSpPr>
        <p:spPr>
          <a:xfrm>
            <a:off x="8322869" y="3079699"/>
            <a:ext cx="112105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8364017" y="3097987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$3,158</a:t>
            </a:r>
            <a:endParaRPr lang="en-US" sz="1000" dirty="0"/>
          </a:p>
        </p:txBody>
      </p:sp>
      <p:sp>
        <p:nvSpPr>
          <p:cNvPr id="82" name="Shape 79"/>
          <p:cNvSpPr/>
          <p:nvPr/>
        </p:nvSpPr>
        <p:spPr>
          <a:xfrm>
            <a:off x="9443923" y="3079699"/>
            <a:ext cx="112105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9485071" y="3097987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84" name="Shape 81"/>
          <p:cNvSpPr/>
          <p:nvPr/>
        </p:nvSpPr>
        <p:spPr>
          <a:xfrm>
            <a:off x="10564978" y="3079699"/>
            <a:ext cx="112105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10606126" y="3097987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</a:t>
            </a:r>
            <a:endParaRPr lang="en-US" sz="1000" dirty="0"/>
          </a:p>
        </p:txBody>
      </p:sp>
      <p:sp>
        <p:nvSpPr>
          <p:cNvPr id="86" name="Shape 83"/>
          <p:cNvSpPr/>
          <p:nvPr/>
        </p:nvSpPr>
        <p:spPr>
          <a:xfrm>
            <a:off x="475488" y="3461004"/>
            <a:ext cx="112105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516636" y="3479292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EviDenS de Beauté: Elevating Skincare with Japanese Luxury</a:t>
            </a:r>
            <a:endParaRPr lang="en-US" sz="1000" dirty="0"/>
          </a:p>
        </p:txBody>
      </p:sp>
      <p:sp>
        <p:nvSpPr>
          <p:cNvPr id="88" name="Shape 85"/>
          <p:cNvSpPr/>
          <p:nvPr/>
        </p:nvSpPr>
        <p:spPr>
          <a:xfrm>
            <a:off x="1596542" y="3461004"/>
            <a:ext cx="112105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1637690" y="3479292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356533</a:t>
            </a:r>
            <a:endParaRPr lang="en-US" sz="1000" dirty="0"/>
          </a:p>
        </p:txBody>
      </p:sp>
      <p:sp>
        <p:nvSpPr>
          <p:cNvPr id="90" name="Shape 87"/>
          <p:cNvSpPr/>
          <p:nvPr/>
        </p:nvSpPr>
        <p:spPr>
          <a:xfrm>
            <a:off x="2717597" y="3461004"/>
            <a:ext cx="112105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2758745" y="3479292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Clicks</a:t>
            </a:r>
            <a:endParaRPr lang="en-US" sz="1000" dirty="0"/>
          </a:p>
        </p:txBody>
      </p:sp>
      <p:sp>
        <p:nvSpPr>
          <p:cNvPr id="92" name="Shape 89"/>
          <p:cNvSpPr/>
          <p:nvPr/>
        </p:nvSpPr>
        <p:spPr>
          <a:xfrm>
            <a:off x="3838651" y="3461004"/>
            <a:ext cx="112105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3879799" y="3479292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</a:t>
            </a:r>
            <a:endParaRPr lang="en-US" sz="1000" dirty="0"/>
          </a:p>
        </p:txBody>
      </p:sp>
      <p:sp>
        <p:nvSpPr>
          <p:cNvPr id="94" name="Shape 91"/>
          <p:cNvSpPr/>
          <p:nvPr/>
        </p:nvSpPr>
        <p:spPr>
          <a:xfrm>
            <a:off x="4959706" y="3461004"/>
            <a:ext cx="112105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5000854" y="3479292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</a:t>
            </a:r>
            <a:endParaRPr lang="en-US" sz="1000" dirty="0"/>
          </a:p>
        </p:txBody>
      </p:sp>
      <p:sp>
        <p:nvSpPr>
          <p:cNvPr id="96" name="Shape 93"/>
          <p:cNvSpPr/>
          <p:nvPr/>
        </p:nvSpPr>
        <p:spPr>
          <a:xfrm>
            <a:off x="6080760" y="3461004"/>
            <a:ext cx="112105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6121908" y="3479292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</a:t>
            </a:r>
            <a:endParaRPr lang="en-US" sz="1000" dirty="0"/>
          </a:p>
        </p:txBody>
      </p:sp>
      <p:sp>
        <p:nvSpPr>
          <p:cNvPr id="98" name="Shape 95"/>
          <p:cNvSpPr/>
          <p:nvPr/>
        </p:nvSpPr>
        <p:spPr>
          <a:xfrm>
            <a:off x="7201814" y="3461004"/>
            <a:ext cx="112105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7242962" y="3479292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Clicks</a:t>
            </a:r>
            <a:endParaRPr lang="en-US" sz="1000" dirty="0"/>
          </a:p>
        </p:txBody>
      </p:sp>
      <p:sp>
        <p:nvSpPr>
          <p:cNvPr id="100" name="Shape 97"/>
          <p:cNvSpPr/>
          <p:nvPr/>
        </p:nvSpPr>
        <p:spPr>
          <a:xfrm>
            <a:off x="8322869" y="3461004"/>
            <a:ext cx="112105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1" name="Text 98"/>
          <p:cNvSpPr/>
          <p:nvPr/>
        </p:nvSpPr>
        <p:spPr>
          <a:xfrm>
            <a:off x="8364017" y="3479292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$2,595</a:t>
            </a:r>
            <a:endParaRPr lang="en-US" sz="1000" dirty="0"/>
          </a:p>
        </p:txBody>
      </p:sp>
      <p:sp>
        <p:nvSpPr>
          <p:cNvPr id="102" name="Shape 99"/>
          <p:cNvSpPr/>
          <p:nvPr/>
        </p:nvSpPr>
        <p:spPr>
          <a:xfrm>
            <a:off x="9443923" y="3461004"/>
            <a:ext cx="112105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3" name="Text 100"/>
          <p:cNvSpPr/>
          <p:nvPr/>
        </p:nvSpPr>
        <p:spPr>
          <a:xfrm>
            <a:off x="9485071" y="3479292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Leakage</a:t>
            </a:r>
            <a:endParaRPr lang="en-US" sz="1000" dirty="0"/>
          </a:p>
        </p:txBody>
      </p:sp>
      <p:sp>
        <p:nvSpPr>
          <p:cNvPr id="104" name="Shape 101"/>
          <p:cNvSpPr/>
          <p:nvPr/>
        </p:nvSpPr>
        <p:spPr>
          <a:xfrm>
            <a:off x="10564978" y="3461004"/>
            <a:ext cx="112105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5" name="Text 102"/>
          <p:cNvSpPr/>
          <p:nvPr/>
        </p:nvSpPr>
        <p:spPr>
          <a:xfrm>
            <a:off x="10606126" y="3479292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 tracking / conversion</a:t>
            </a:r>
            <a:endParaRPr lang="en-US" sz="1000" dirty="0"/>
          </a:p>
        </p:txBody>
      </p:sp>
      <p:sp>
        <p:nvSpPr>
          <p:cNvPr id="106" name="Shape 103"/>
          <p:cNvSpPr/>
          <p:nvPr/>
        </p:nvSpPr>
        <p:spPr>
          <a:xfrm>
            <a:off x="475488" y="3842309"/>
            <a:ext cx="112105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7" name="Text 104"/>
          <p:cNvSpPr/>
          <p:nvPr/>
        </p:nvSpPr>
        <p:spPr>
          <a:xfrm>
            <a:off x="516636" y="3860597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Almada Label</a:t>
            </a:r>
            <a:endParaRPr lang="en-US" sz="1000" dirty="0"/>
          </a:p>
        </p:txBody>
      </p:sp>
      <p:sp>
        <p:nvSpPr>
          <p:cNvPr id="108" name="Shape 105"/>
          <p:cNvSpPr/>
          <p:nvPr/>
        </p:nvSpPr>
        <p:spPr>
          <a:xfrm>
            <a:off x="1596542" y="3842309"/>
            <a:ext cx="112105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1637690" y="3860597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342442</a:t>
            </a:r>
            <a:endParaRPr lang="en-US" sz="1000" dirty="0"/>
          </a:p>
        </p:txBody>
      </p:sp>
      <p:sp>
        <p:nvSpPr>
          <p:cNvPr id="110" name="Shape 107"/>
          <p:cNvSpPr/>
          <p:nvPr/>
        </p:nvSpPr>
        <p:spPr>
          <a:xfrm>
            <a:off x="2717597" y="3842309"/>
            <a:ext cx="112105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1" name="Text 108"/>
          <p:cNvSpPr/>
          <p:nvPr/>
        </p:nvSpPr>
        <p:spPr>
          <a:xfrm>
            <a:off x="2758745" y="3860597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Connection</a:t>
            </a:r>
            <a:endParaRPr lang="en-US" sz="1000" dirty="0"/>
          </a:p>
        </p:txBody>
      </p:sp>
      <p:sp>
        <p:nvSpPr>
          <p:cNvPr id="112" name="Shape 109"/>
          <p:cNvSpPr/>
          <p:nvPr/>
        </p:nvSpPr>
        <p:spPr>
          <a:xfrm>
            <a:off x="3838651" y="3842309"/>
            <a:ext cx="112105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3" name="Text 110"/>
          <p:cNvSpPr/>
          <p:nvPr/>
        </p:nvSpPr>
        <p:spPr>
          <a:xfrm>
            <a:off x="3879799" y="3860597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</a:t>
            </a:r>
            <a:endParaRPr lang="en-US" sz="1000" dirty="0"/>
          </a:p>
        </p:txBody>
      </p:sp>
      <p:sp>
        <p:nvSpPr>
          <p:cNvPr id="114" name="Shape 111"/>
          <p:cNvSpPr/>
          <p:nvPr/>
        </p:nvSpPr>
        <p:spPr>
          <a:xfrm>
            <a:off x="4959706" y="3842309"/>
            <a:ext cx="112105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5" name="Text 112"/>
          <p:cNvSpPr/>
          <p:nvPr/>
        </p:nvSpPr>
        <p:spPr>
          <a:xfrm>
            <a:off x="5000854" y="3860597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Connection</a:t>
            </a:r>
            <a:endParaRPr lang="en-US" sz="1000" dirty="0"/>
          </a:p>
        </p:txBody>
      </p:sp>
      <p:sp>
        <p:nvSpPr>
          <p:cNvPr id="116" name="Shape 113"/>
          <p:cNvSpPr/>
          <p:nvPr/>
        </p:nvSpPr>
        <p:spPr>
          <a:xfrm>
            <a:off x="6080760" y="3842309"/>
            <a:ext cx="112105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7" name="Text 114"/>
          <p:cNvSpPr/>
          <p:nvPr/>
        </p:nvSpPr>
        <p:spPr>
          <a:xfrm>
            <a:off x="6121908" y="3860597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Connection</a:t>
            </a:r>
            <a:endParaRPr lang="en-US" sz="1000" dirty="0"/>
          </a:p>
        </p:txBody>
      </p:sp>
      <p:sp>
        <p:nvSpPr>
          <p:cNvPr id="118" name="Shape 115"/>
          <p:cNvSpPr/>
          <p:nvPr/>
        </p:nvSpPr>
        <p:spPr>
          <a:xfrm>
            <a:off x="7201814" y="3842309"/>
            <a:ext cx="112105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9" name="Text 116"/>
          <p:cNvSpPr/>
          <p:nvPr/>
        </p:nvSpPr>
        <p:spPr>
          <a:xfrm>
            <a:off x="7242962" y="3860597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Connection</a:t>
            </a:r>
            <a:endParaRPr lang="en-US" sz="1000" dirty="0"/>
          </a:p>
        </p:txBody>
      </p:sp>
      <p:sp>
        <p:nvSpPr>
          <p:cNvPr id="120" name="Shape 117"/>
          <p:cNvSpPr/>
          <p:nvPr/>
        </p:nvSpPr>
        <p:spPr>
          <a:xfrm>
            <a:off x="8322869" y="3842309"/>
            <a:ext cx="112105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1" name="Text 118"/>
          <p:cNvSpPr/>
          <p:nvPr/>
        </p:nvSpPr>
        <p:spPr>
          <a:xfrm>
            <a:off x="8364017" y="3860597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$2,432</a:t>
            </a:r>
            <a:endParaRPr lang="en-US" sz="1000" dirty="0"/>
          </a:p>
        </p:txBody>
      </p:sp>
      <p:sp>
        <p:nvSpPr>
          <p:cNvPr id="122" name="Shape 119"/>
          <p:cNvSpPr/>
          <p:nvPr/>
        </p:nvSpPr>
        <p:spPr>
          <a:xfrm>
            <a:off x="9443923" y="3842309"/>
            <a:ext cx="112105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3" name="Text 120"/>
          <p:cNvSpPr/>
          <p:nvPr/>
        </p:nvSpPr>
        <p:spPr>
          <a:xfrm>
            <a:off x="9485071" y="3860597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124" name="Shape 121"/>
          <p:cNvSpPr/>
          <p:nvPr/>
        </p:nvSpPr>
        <p:spPr>
          <a:xfrm>
            <a:off x="10564978" y="3842309"/>
            <a:ext cx="112105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5" name="Text 122"/>
          <p:cNvSpPr/>
          <p:nvPr/>
        </p:nvSpPr>
        <p:spPr>
          <a:xfrm>
            <a:off x="10606126" y="3860597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</a:t>
            </a:r>
            <a:endParaRPr lang="en-US" sz="1000" dirty="0"/>
          </a:p>
        </p:txBody>
      </p:sp>
      <p:sp>
        <p:nvSpPr>
          <p:cNvPr id="126" name="Shape 123"/>
          <p:cNvSpPr/>
          <p:nvPr/>
        </p:nvSpPr>
        <p:spPr>
          <a:xfrm>
            <a:off x="475488" y="4223614"/>
            <a:ext cx="112105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7" name="Text 124"/>
          <p:cNvSpPr/>
          <p:nvPr/>
        </p:nvSpPr>
        <p:spPr>
          <a:xfrm>
            <a:off x="516636" y="4241902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Bershka US</a:t>
            </a:r>
            <a:endParaRPr lang="en-US" sz="1000" dirty="0"/>
          </a:p>
        </p:txBody>
      </p:sp>
      <p:sp>
        <p:nvSpPr>
          <p:cNvPr id="128" name="Shape 125"/>
          <p:cNvSpPr/>
          <p:nvPr/>
        </p:nvSpPr>
        <p:spPr>
          <a:xfrm>
            <a:off x="1596542" y="4223614"/>
            <a:ext cx="112105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9" name="Text 126"/>
          <p:cNvSpPr/>
          <p:nvPr/>
        </p:nvSpPr>
        <p:spPr>
          <a:xfrm>
            <a:off x="1637690" y="4241902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358628</a:t>
            </a:r>
            <a:endParaRPr lang="en-US" sz="1000" dirty="0"/>
          </a:p>
        </p:txBody>
      </p:sp>
      <p:sp>
        <p:nvSpPr>
          <p:cNvPr id="130" name="Shape 127"/>
          <p:cNvSpPr/>
          <p:nvPr/>
        </p:nvSpPr>
        <p:spPr>
          <a:xfrm>
            <a:off x="2717597" y="4223614"/>
            <a:ext cx="112105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1" name="Text 128"/>
          <p:cNvSpPr/>
          <p:nvPr/>
        </p:nvSpPr>
        <p:spPr>
          <a:xfrm>
            <a:off x="2758745" y="4241902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Connection</a:t>
            </a:r>
            <a:endParaRPr lang="en-US" sz="1000" dirty="0"/>
          </a:p>
        </p:txBody>
      </p:sp>
      <p:sp>
        <p:nvSpPr>
          <p:cNvPr id="132" name="Shape 129"/>
          <p:cNvSpPr/>
          <p:nvPr/>
        </p:nvSpPr>
        <p:spPr>
          <a:xfrm>
            <a:off x="3838651" y="4223614"/>
            <a:ext cx="112105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3" name="Text 130"/>
          <p:cNvSpPr/>
          <p:nvPr/>
        </p:nvSpPr>
        <p:spPr>
          <a:xfrm>
            <a:off x="3879799" y="4241902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</a:t>
            </a:r>
            <a:endParaRPr lang="en-US" sz="1000" dirty="0"/>
          </a:p>
        </p:txBody>
      </p:sp>
      <p:sp>
        <p:nvSpPr>
          <p:cNvPr id="134" name="Shape 131"/>
          <p:cNvSpPr/>
          <p:nvPr/>
        </p:nvSpPr>
        <p:spPr>
          <a:xfrm>
            <a:off x="4959706" y="4223614"/>
            <a:ext cx="112105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5" name="Text 132"/>
          <p:cNvSpPr/>
          <p:nvPr/>
        </p:nvSpPr>
        <p:spPr>
          <a:xfrm>
            <a:off x="5000854" y="4241902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</a:t>
            </a:r>
            <a:endParaRPr lang="en-US" sz="1000" dirty="0"/>
          </a:p>
        </p:txBody>
      </p:sp>
      <p:sp>
        <p:nvSpPr>
          <p:cNvPr id="136" name="Shape 133"/>
          <p:cNvSpPr/>
          <p:nvPr/>
        </p:nvSpPr>
        <p:spPr>
          <a:xfrm>
            <a:off x="6080760" y="4223614"/>
            <a:ext cx="112105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7" name="Text 134"/>
          <p:cNvSpPr/>
          <p:nvPr/>
        </p:nvSpPr>
        <p:spPr>
          <a:xfrm>
            <a:off x="6121908" y="4241902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</a:t>
            </a:r>
            <a:endParaRPr lang="en-US" sz="1000" dirty="0"/>
          </a:p>
        </p:txBody>
      </p:sp>
      <p:sp>
        <p:nvSpPr>
          <p:cNvPr id="138" name="Shape 135"/>
          <p:cNvSpPr/>
          <p:nvPr/>
        </p:nvSpPr>
        <p:spPr>
          <a:xfrm>
            <a:off x="7201814" y="4223614"/>
            <a:ext cx="112105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9" name="Text 136"/>
          <p:cNvSpPr/>
          <p:nvPr/>
        </p:nvSpPr>
        <p:spPr>
          <a:xfrm>
            <a:off x="7242962" y="4241902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</a:t>
            </a:r>
            <a:endParaRPr lang="en-US" sz="1000" dirty="0"/>
          </a:p>
        </p:txBody>
      </p:sp>
      <p:sp>
        <p:nvSpPr>
          <p:cNvPr id="140" name="Shape 137"/>
          <p:cNvSpPr/>
          <p:nvPr/>
        </p:nvSpPr>
        <p:spPr>
          <a:xfrm>
            <a:off x="8322869" y="4223614"/>
            <a:ext cx="112105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1" name="Text 138"/>
          <p:cNvSpPr/>
          <p:nvPr/>
        </p:nvSpPr>
        <p:spPr>
          <a:xfrm>
            <a:off x="8364017" y="4241902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$2,249</a:t>
            </a:r>
            <a:endParaRPr lang="en-US" sz="1000" dirty="0"/>
          </a:p>
        </p:txBody>
      </p:sp>
      <p:sp>
        <p:nvSpPr>
          <p:cNvPr id="142" name="Shape 139"/>
          <p:cNvSpPr/>
          <p:nvPr/>
        </p:nvSpPr>
        <p:spPr>
          <a:xfrm>
            <a:off x="9443923" y="4223614"/>
            <a:ext cx="112105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3" name="Text 140"/>
          <p:cNvSpPr/>
          <p:nvPr/>
        </p:nvSpPr>
        <p:spPr>
          <a:xfrm>
            <a:off x="9485071" y="4241902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144" name="Shape 141"/>
          <p:cNvSpPr/>
          <p:nvPr/>
        </p:nvSpPr>
        <p:spPr>
          <a:xfrm>
            <a:off x="10564978" y="4223614"/>
            <a:ext cx="112105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5" name="Text 142"/>
          <p:cNvSpPr/>
          <p:nvPr/>
        </p:nvSpPr>
        <p:spPr>
          <a:xfrm>
            <a:off x="10606126" y="4241902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</a:t>
            </a:r>
            <a:endParaRPr lang="en-US" sz="1000" dirty="0"/>
          </a:p>
        </p:txBody>
      </p:sp>
      <p:sp>
        <p:nvSpPr>
          <p:cNvPr id="146" name="Shape 143"/>
          <p:cNvSpPr/>
          <p:nvPr/>
        </p:nvSpPr>
        <p:spPr>
          <a:xfrm>
            <a:off x="475488" y="4604918"/>
            <a:ext cx="112105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7" name="Text 144"/>
          <p:cNvSpPr/>
          <p:nvPr/>
        </p:nvSpPr>
        <p:spPr>
          <a:xfrm>
            <a:off x="516636" y="4623206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Massimo Dutti US</a:t>
            </a:r>
            <a:endParaRPr lang="en-US" sz="1000" dirty="0"/>
          </a:p>
        </p:txBody>
      </p:sp>
      <p:sp>
        <p:nvSpPr>
          <p:cNvPr id="148" name="Shape 145"/>
          <p:cNvSpPr/>
          <p:nvPr/>
        </p:nvSpPr>
        <p:spPr>
          <a:xfrm>
            <a:off x="1596542" y="4604918"/>
            <a:ext cx="112105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9" name="Text 146"/>
          <p:cNvSpPr/>
          <p:nvPr/>
        </p:nvSpPr>
        <p:spPr>
          <a:xfrm>
            <a:off x="1637690" y="4623206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363642</a:t>
            </a:r>
            <a:endParaRPr lang="en-US" sz="1000" dirty="0"/>
          </a:p>
        </p:txBody>
      </p:sp>
      <p:sp>
        <p:nvSpPr>
          <p:cNvPr id="150" name="Shape 147"/>
          <p:cNvSpPr/>
          <p:nvPr/>
        </p:nvSpPr>
        <p:spPr>
          <a:xfrm>
            <a:off x="2717597" y="4604918"/>
            <a:ext cx="112105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1" name="Text 148"/>
          <p:cNvSpPr/>
          <p:nvPr/>
        </p:nvSpPr>
        <p:spPr>
          <a:xfrm>
            <a:off x="2758745" y="4623206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Connection</a:t>
            </a:r>
            <a:endParaRPr lang="en-US" sz="1000" dirty="0"/>
          </a:p>
        </p:txBody>
      </p:sp>
      <p:sp>
        <p:nvSpPr>
          <p:cNvPr id="152" name="Shape 149"/>
          <p:cNvSpPr/>
          <p:nvPr/>
        </p:nvSpPr>
        <p:spPr>
          <a:xfrm>
            <a:off x="3838651" y="4604918"/>
            <a:ext cx="112105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3" name="Text 150"/>
          <p:cNvSpPr/>
          <p:nvPr/>
        </p:nvSpPr>
        <p:spPr>
          <a:xfrm>
            <a:off x="3879799" y="4623206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</a:t>
            </a:r>
            <a:endParaRPr lang="en-US" sz="1000" dirty="0"/>
          </a:p>
        </p:txBody>
      </p:sp>
      <p:sp>
        <p:nvSpPr>
          <p:cNvPr id="154" name="Shape 151"/>
          <p:cNvSpPr/>
          <p:nvPr/>
        </p:nvSpPr>
        <p:spPr>
          <a:xfrm>
            <a:off x="4959706" y="4604918"/>
            <a:ext cx="112105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5" name="Text 152"/>
          <p:cNvSpPr/>
          <p:nvPr/>
        </p:nvSpPr>
        <p:spPr>
          <a:xfrm>
            <a:off x="5000854" y="4623206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Connection</a:t>
            </a:r>
            <a:endParaRPr lang="en-US" sz="1000" dirty="0"/>
          </a:p>
        </p:txBody>
      </p:sp>
      <p:sp>
        <p:nvSpPr>
          <p:cNvPr id="156" name="Shape 153"/>
          <p:cNvSpPr/>
          <p:nvPr/>
        </p:nvSpPr>
        <p:spPr>
          <a:xfrm>
            <a:off x="6080760" y="4604918"/>
            <a:ext cx="112105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7" name="Text 154"/>
          <p:cNvSpPr/>
          <p:nvPr/>
        </p:nvSpPr>
        <p:spPr>
          <a:xfrm>
            <a:off x="6121908" y="4623206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Connection</a:t>
            </a:r>
            <a:endParaRPr lang="en-US" sz="1000" dirty="0"/>
          </a:p>
        </p:txBody>
      </p:sp>
      <p:sp>
        <p:nvSpPr>
          <p:cNvPr id="158" name="Shape 155"/>
          <p:cNvSpPr/>
          <p:nvPr/>
        </p:nvSpPr>
        <p:spPr>
          <a:xfrm>
            <a:off x="7201814" y="4604918"/>
            <a:ext cx="112105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9" name="Text 156"/>
          <p:cNvSpPr/>
          <p:nvPr/>
        </p:nvSpPr>
        <p:spPr>
          <a:xfrm>
            <a:off x="7242962" y="4623206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Connection</a:t>
            </a:r>
            <a:endParaRPr lang="en-US" sz="1000" dirty="0"/>
          </a:p>
        </p:txBody>
      </p:sp>
      <p:sp>
        <p:nvSpPr>
          <p:cNvPr id="160" name="Shape 157"/>
          <p:cNvSpPr/>
          <p:nvPr/>
        </p:nvSpPr>
        <p:spPr>
          <a:xfrm>
            <a:off x="8322869" y="4604918"/>
            <a:ext cx="112105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61" name="Text 158"/>
          <p:cNvSpPr/>
          <p:nvPr/>
        </p:nvSpPr>
        <p:spPr>
          <a:xfrm>
            <a:off x="8364017" y="4623206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$2,099</a:t>
            </a:r>
            <a:endParaRPr lang="en-US" sz="1000" dirty="0"/>
          </a:p>
        </p:txBody>
      </p:sp>
      <p:sp>
        <p:nvSpPr>
          <p:cNvPr id="162" name="Shape 159"/>
          <p:cNvSpPr/>
          <p:nvPr/>
        </p:nvSpPr>
        <p:spPr>
          <a:xfrm>
            <a:off x="9443923" y="4604918"/>
            <a:ext cx="112105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63" name="Text 160"/>
          <p:cNvSpPr/>
          <p:nvPr/>
        </p:nvSpPr>
        <p:spPr>
          <a:xfrm>
            <a:off x="9485071" y="4623206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164" name="Shape 161"/>
          <p:cNvSpPr/>
          <p:nvPr/>
        </p:nvSpPr>
        <p:spPr>
          <a:xfrm>
            <a:off x="10564978" y="4604918"/>
            <a:ext cx="112105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65" name="Text 162"/>
          <p:cNvSpPr/>
          <p:nvPr/>
        </p:nvSpPr>
        <p:spPr>
          <a:xfrm>
            <a:off x="10606126" y="4623206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</a:t>
            </a:r>
            <a:endParaRPr lang="en-US" sz="1000" dirty="0"/>
          </a:p>
        </p:txBody>
      </p:sp>
      <p:sp>
        <p:nvSpPr>
          <p:cNvPr id="166" name="Shape 163"/>
          <p:cNvSpPr/>
          <p:nvPr/>
        </p:nvSpPr>
        <p:spPr>
          <a:xfrm>
            <a:off x="475488" y="4986223"/>
            <a:ext cx="112105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67" name="Text 164"/>
          <p:cNvSpPr/>
          <p:nvPr/>
        </p:nvSpPr>
        <p:spPr>
          <a:xfrm>
            <a:off x="516636" y="5004511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FASHION SQUARE | Experiencing Luxury Fashion</a:t>
            </a:r>
            <a:endParaRPr lang="en-US" sz="1000" dirty="0"/>
          </a:p>
        </p:txBody>
      </p:sp>
      <p:sp>
        <p:nvSpPr>
          <p:cNvPr id="168" name="Shape 165"/>
          <p:cNvSpPr/>
          <p:nvPr/>
        </p:nvSpPr>
        <p:spPr>
          <a:xfrm>
            <a:off x="1596542" y="4986223"/>
            <a:ext cx="112105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69" name="Text 166"/>
          <p:cNvSpPr/>
          <p:nvPr/>
        </p:nvSpPr>
        <p:spPr>
          <a:xfrm>
            <a:off x="1637690" y="5004511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355892</a:t>
            </a:r>
            <a:endParaRPr lang="en-US" sz="1000" dirty="0"/>
          </a:p>
        </p:txBody>
      </p:sp>
      <p:sp>
        <p:nvSpPr>
          <p:cNvPr id="170" name="Shape 167"/>
          <p:cNvSpPr/>
          <p:nvPr/>
        </p:nvSpPr>
        <p:spPr>
          <a:xfrm>
            <a:off x="2717597" y="4986223"/>
            <a:ext cx="112105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1" name="Text 168"/>
          <p:cNvSpPr/>
          <p:nvPr/>
        </p:nvSpPr>
        <p:spPr>
          <a:xfrm>
            <a:off x="2758745" y="5004511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Connection</a:t>
            </a:r>
            <a:endParaRPr lang="en-US" sz="1000" dirty="0"/>
          </a:p>
        </p:txBody>
      </p:sp>
      <p:sp>
        <p:nvSpPr>
          <p:cNvPr id="172" name="Shape 169"/>
          <p:cNvSpPr/>
          <p:nvPr/>
        </p:nvSpPr>
        <p:spPr>
          <a:xfrm>
            <a:off x="3838651" y="4986223"/>
            <a:ext cx="112105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3" name="Text 170"/>
          <p:cNvSpPr/>
          <p:nvPr/>
        </p:nvSpPr>
        <p:spPr>
          <a:xfrm>
            <a:off x="3879799" y="5004511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Clicks</a:t>
            </a:r>
            <a:endParaRPr lang="en-US" sz="1000" dirty="0"/>
          </a:p>
        </p:txBody>
      </p:sp>
      <p:sp>
        <p:nvSpPr>
          <p:cNvPr id="174" name="Shape 171"/>
          <p:cNvSpPr/>
          <p:nvPr/>
        </p:nvSpPr>
        <p:spPr>
          <a:xfrm>
            <a:off x="4959706" y="4986223"/>
            <a:ext cx="112105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5" name="Text 172"/>
          <p:cNvSpPr/>
          <p:nvPr/>
        </p:nvSpPr>
        <p:spPr>
          <a:xfrm>
            <a:off x="5000854" y="5004511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</a:t>
            </a:r>
            <a:endParaRPr lang="en-US" sz="1000" dirty="0"/>
          </a:p>
        </p:txBody>
      </p:sp>
      <p:sp>
        <p:nvSpPr>
          <p:cNvPr id="176" name="Shape 173"/>
          <p:cNvSpPr/>
          <p:nvPr/>
        </p:nvSpPr>
        <p:spPr>
          <a:xfrm>
            <a:off x="6080760" y="4986223"/>
            <a:ext cx="112105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7" name="Text 174"/>
          <p:cNvSpPr/>
          <p:nvPr/>
        </p:nvSpPr>
        <p:spPr>
          <a:xfrm>
            <a:off x="6121908" y="5004511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</a:t>
            </a:r>
            <a:endParaRPr lang="en-US" sz="1000" dirty="0"/>
          </a:p>
        </p:txBody>
      </p:sp>
      <p:sp>
        <p:nvSpPr>
          <p:cNvPr id="178" name="Shape 175"/>
          <p:cNvSpPr/>
          <p:nvPr/>
        </p:nvSpPr>
        <p:spPr>
          <a:xfrm>
            <a:off x="7201814" y="4986223"/>
            <a:ext cx="112105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9" name="Text 176"/>
          <p:cNvSpPr/>
          <p:nvPr/>
        </p:nvSpPr>
        <p:spPr>
          <a:xfrm>
            <a:off x="7242962" y="5004511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Clicks</a:t>
            </a:r>
            <a:endParaRPr lang="en-US" sz="1000" dirty="0"/>
          </a:p>
        </p:txBody>
      </p:sp>
      <p:sp>
        <p:nvSpPr>
          <p:cNvPr id="180" name="Shape 177"/>
          <p:cNvSpPr/>
          <p:nvPr/>
        </p:nvSpPr>
        <p:spPr>
          <a:xfrm>
            <a:off x="8322869" y="4986223"/>
            <a:ext cx="112105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81" name="Text 178"/>
          <p:cNvSpPr/>
          <p:nvPr/>
        </p:nvSpPr>
        <p:spPr>
          <a:xfrm>
            <a:off x="8364017" y="5004511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$1,986</a:t>
            </a:r>
            <a:endParaRPr lang="en-US" sz="1000" dirty="0"/>
          </a:p>
        </p:txBody>
      </p:sp>
      <p:sp>
        <p:nvSpPr>
          <p:cNvPr id="182" name="Shape 179"/>
          <p:cNvSpPr/>
          <p:nvPr/>
        </p:nvSpPr>
        <p:spPr>
          <a:xfrm>
            <a:off x="9443923" y="4986223"/>
            <a:ext cx="112105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83" name="Text 180"/>
          <p:cNvSpPr/>
          <p:nvPr/>
        </p:nvSpPr>
        <p:spPr>
          <a:xfrm>
            <a:off x="9485071" y="5004511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184" name="Shape 181"/>
          <p:cNvSpPr/>
          <p:nvPr/>
        </p:nvSpPr>
        <p:spPr>
          <a:xfrm>
            <a:off x="10564978" y="4986223"/>
            <a:ext cx="112105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85" name="Text 182"/>
          <p:cNvSpPr/>
          <p:nvPr/>
        </p:nvSpPr>
        <p:spPr>
          <a:xfrm>
            <a:off x="10606126" y="5004511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</a:t>
            </a:r>
            <a:endParaRPr lang="en-US" sz="1000" dirty="0"/>
          </a:p>
        </p:txBody>
      </p:sp>
      <p:sp>
        <p:nvSpPr>
          <p:cNvPr id="186" name="Shape 183"/>
          <p:cNvSpPr/>
          <p:nvPr/>
        </p:nvSpPr>
        <p:spPr>
          <a:xfrm>
            <a:off x="475488" y="5367528"/>
            <a:ext cx="112105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87" name="Text 184"/>
          <p:cNvSpPr/>
          <p:nvPr/>
        </p:nvSpPr>
        <p:spPr>
          <a:xfrm>
            <a:off x="516636" y="5385816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getyourguide US</a:t>
            </a:r>
            <a:endParaRPr lang="en-US" sz="1000" dirty="0"/>
          </a:p>
        </p:txBody>
      </p:sp>
      <p:sp>
        <p:nvSpPr>
          <p:cNvPr id="188" name="Shape 185"/>
          <p:cNvSpPr/>
          <p:nvPr/>
        </p:nvSpPr>
        <p:spPr>
          <a:xfrm>
            <a:off x="1596542" y="5367528"/>
            <a:ext cx="112105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89" name="Text 186"/>
          <p:cNvSpPr/>
          <p:nvPr/>
        </p:nvSpPr>
        <p:spPr>
          <a:xfrm>
            <a:off x="1637690" y="5385816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362232</a:t>
            </a:r>
            <a:endParaRPr lang="en-US" sz="1000" dirty="0"/>
          </a:p>
        </p:txBody>
      </p:sp>
      <p:sp>
        <p:nvSpPr>
          <p:cNvPr id="190" name="Shape 187"/>
          <p:cNvSpPr/>
          <p:nvPr/>
        </p:nvSpPr>
        <p:spPr>
          <a:xfrm>
            <a:off x="2717597" y="5367528"/>
            <a:ext cx="112105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1" name="Text 188"/>
          <p:cNvSpPr/>
          <p:nvPr/>
        </p:nvSpPr>
        <p:spPr>
          <a:xfrm>
            <a:off x="2758745" y="5385816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Connection</a:t>
            </a:r>
            <a:endParaRPr lang="en-US" sz="1000" dirty="0"/>
          </a:p>
        </p:txBody>
      </p:sp>
      <p:sp>
        <p:nvSpPr>
          <p:cNvPr id="192" name="Shape 189"/>
          <p:cNvSpPr/>
          <p:nvPr/>
        </p:nvSpPr>
        <p:spPr>
          <a:xfrm>
            <a:off x="3838651" y="5367528"/>
            <a:ext cx="112105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3" name="Text 190"/>
          <p:cNvSpPr/>
          <p:nvPr/>
        </p:nvSpPr>
        <p:spPr>
          <a:xfrm>
            <a:off x="3879799" y="5385816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Connection</a:t>
            </a:r>
            <a:endParaRPr lang="en-US" sz="1000" dirty="0"/>
          </a:p>
        </p:txBody>
      </p:sp>
      <p:sp>
        <p:nvSpPr>
          <p:cNvPr id="194" name="Shape 191"/>
          <p:cNvSpPr/>
          <p:nvPr/>
        </p:nvSpPr>
        <p:spPr>
          <a:xfrm>
            <a:off x="4959706" y="5367528"/>
            <a:ext cx="112105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5" name="Text 192"/>
          <p:cNvSpPr/>
          <p:nvPr/>
        </p:nvSpPr>
        <p:spPr>
          <a:xfrm>
            <a:off x="5000854" y="5385816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</a:t>
            </a:r>
            <a:endParaRPr lang="en-US" sz="1000" dirty="0"/>
          </a:p>
        </p:txBody>
      </p:sp>
      <p:sp>
        <p:nvSpPr>
          <p:cNvPr id="196" name="Shape 193"/>
          <p:cNvSpPr/>
          <p:nvPr/>
        </p:nvSpPr>
        <p:spPr>
          <a:xfrm>
            <a:off x="6080760" y="5367528"/>
            <a:ext cx="112105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7" name="Text 194"/>
          <p:cNvSpPr/>
          <p:nvPr/>
        </p:nvSpPr>
        <p:spPr>
          <a:xfrm>
            <a:off x="6121908" y="5385816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Clicks</a:t>
            </a:r>
            <a:endParaRPr lang="en-US" sz="1000" dirty="0"/>
          </a:p>
        </p:txBody>
      </p:sp>
      <p:sp>
        <p:nvSpPr>
          <p:cNvPr id="198" name="Shape 195"/>
          <p:cNvSpPr/>
          <p:nvPr/>
        </p:nvSpPr>
        <p:spPr>
          <a:xfrm>
            <a:off x="7201814" y="5367528"/>
            <a:ext cx="112105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9" name="Text 196"/>
          <p:cNvSpPr/>
          <p:nvPr/>
        </p:nvSpPr>
        <p:spPr>
          <a:xfrm>
            <a:off x="7242962" y="5385816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</a:t>
            </a:r>
            <a:endParaRPr lang="en-US" sz="1000" dirty="0"/>
          </a:p>
        </p:txBody>
      </p:sp>
      <p:sp>
        <p:nvSpPr>
          <p:cNvPr id="200" name="Shape 197"/>
          <p:cNvSpPr/>
          <p:nvPr/>
        </p:nvSpPr>
        <p:spPr>
          <a:xfrm>
            <a:off x="8322869" y="5367528"/>
            <a:ext cx="112105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1" name="Text 198"/>
          <p:cNvSpPr/>
          <p:nvPr/>
        </p:nvSpPr>
        <p:spPr>
          <a:xfrm>
            <a:off x="8364017" y="5385816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$1,401</a:t>
            </a:r>
            <a:endParaRPr lang="en-US" sz="1000" dirty="0"/>
          </a:p>
        </p:txBody>
      </p:sp>
      <p:sp>
        <p:nvSpPr>
          <p:cNvPr id="202" name="Shape 199"/>
          <p:cNvSpPr/>
          <p:nvPr/>
        </p:nvSpPr>
        <p:spPr>
          <a:xfrm>
            <a:off x="9443923" y="5367528"/>
            <a:ext cx="112105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3" name="Text 200"/>
          <p:cNvSpPr/>
          <p:nvPr/>
        </p:nvSpPr>
        <p:spPr>
          <a:xfrm>
            <a:off x="9485071" y="5385816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204" name="Shape 201"/>
          <p:cNvSpPr/>
          <p:nvPr/>
        </p:nvSpPr>
        <p:spPr>
          <a:xfrm>
            <a:off x="10564978" y="5367528"/>
            <a:ext cx="112105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5" name="Text 202"/>
          <p:cNvSpPr/>
          <p:nvPr/>
        </p:nvSpPr>
        <p:spPr>
          <a:xfrm>
            <a:off x="10606126" y="5385816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</a:t>
            </a:r>
            <a:endParaRPr lang="en-US" sz="1000" dirty="0"/>
          </a:p>
        </p:txBody>
      </p:sp>
      <p:sp>
        <p:nvSpPr>
          <p:cNvPr id="206" name="Shape 203"/>
          <p:cNvSpPr/>
          <p:nvPr/>
        </p:nvSpPr>
        <p:spPr>
          <a:xfrm>
            <a:off x="475488" y="5748833"/>
            <a:ext cx="112105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7" name="Text 204"/>
          <p:cNvSpPr/>
          <p:nvPr/>
        </p:nvSpPr>
        <p:spPr>
          <a:xfrm>
            <a:off x="516636" y="5767121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Blenheim Palace</a:t>
            </a:r>
            <a:endParaRPr lang="en-US" sz="1000" dirty="0"/>
          </a:p>
        </p:txBody>
      </p:sp>
      <p:sp>
        <p:nvSpPr>
          <p:cNvPr id="208" name="Shape 205"/>
          <p:cNvSpPr/>
          <p:nvPr/>
        </p:nvSpPr>
        <p:spPr>
          <a:xfrm>
            <a:off x="1596542" y="5748833"/>
            <a:ext cx="112105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9" name="Text 206"/>
          <p:cNvSpPr/>
          <p:nvPr/>
        </p:nvSpPr>
        <p:spPr>
          <a:xfrm>
            <a:off x="1637690" y="5767121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377568</a:t>
            </a:r>
            <a:endParaRPr lang="en-US" sz="1000" dirty="0"/>
          </a:p>
        </p:txBody>
      </p:sp>
      <p:sp>
        <p:nvSpPr>
          <p:cNvPr id="210" name="Shape 207"/>
          <p:cNvSpPr/>
          <p:nvPr/>
        </p:nvSpPr>
        <p:spPr>
          <a:xfrm>
            <a:off x="2717597" y="5748833"/>
            <a:ext cx="112105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1" name="Text 208"/>
          <p:cNvSpPr/>
          <p:nvPr/>
        </p:nvSpPr>
        <p:spPr>
          <a:xfrm>
            <a:off x="2758745" y="5767121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Connection</a:t>
            </a:r>
            <a:endParaRPr lang="en-US" sz="1000" dirty="0"/>
          </a:p>
        </p:txBody>
      </p:sp>
      <p:sp>
        <p:nvSpPr>
          <p:cNvPr id="212" name="Shape 209"/>
          <p:cNvSpPr/>
          <p:nvPr/>
        </p:nvSpPr>
        <p:spPr>
          <a:xfrm>
            <a:off x="3838651" y="5748833"/>
            <a:ext cx="112105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3" name="Text 210"/>
          <p:cNvSpPr/>
          <p:nvPr/>
        </p:nvSpPr>
        <p:spPr>
          <a:xfrm>
            <a:off x="3879799" y="5767121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</a:t>
            </a:r>
            <a:endParaRPr lang="en-US" sz="1000" dirty="0"/>
          </a:p>
        </p:txBody>
      </p:sp>
      <p:sp>
        <p:nvSpPr>
          <p:cNvPr id="214" name="Shape 211"/>
          <p:cNvSpPr/>
          <p:nvPr/>
        </p:nvSpPr>
        <p:spPr>
          <a:xfrm>
            <a:off x="4959706" y="5748833"/>
            <a:ext cx="112105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5" name="Text 212"/>
          <p:cNvSpPr/>
          <p:nvPr/>
        </p:nvSpPr>
        <p:spPr>
          <a:xfrm>
            <a:off x="5000854" y="5767121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Connection</a:t>
            </a:r>
            <a:endParaRPr lang="en-US" sz="1000" dirty="0"/>
          </a:p>
        </p:txBody>
      </p:sp>
      <p:sp>
        <p:nvSpPr>
          <p:cNvPr id="216" name="Shape 213"/>
          <p:cNvSpPr/>
          <p:nvPr/>
        </p:nvSpPr>
        <p:spPr>
          <a:xfrm>
            <a:off x="6080760" y="5748833"/>
            <a:ext cx="112105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7" name="Text 214"/>
          <p:cNvSpPr/>
          <p:nvPr/>
        </p:nvSpPr>
        <p:spPr>
          <a:xfrm>
            <a:off x="6121908" y="5767121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</a:t>
            </a:r>
            <a:endParaRPr lang="en-US" sz="1000" dirty="0"/>
          </a:p>
        </p:txBody>
      </p:sp>
      <p:sp>
        <p:nvSpPr>
          <p:cNvPr id="218" name="Shape 215"/>
          <p:cNvSpPr/>
          <p:nvPr/>
        </p:nvSpPr>
        <p:spPr>
          <a:xfrm>
            <a:off x="7201814" y="5748833"/>
            <a:ext cx="112105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9" name="Text 216"/>
          <p:cNvSpPr/>
          <p:nvPr/>
        </p:nvSpPr>
        <p:spPr>
          <a:xfrm>
            <a:off x="7242962" y="5767121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Connection</a:t>
            </a:r>
            <a:endParaRPr lang="en-US" sz="1000" dirty="0"/>
          </a:p>
        </p:txBody>
      </p:sp>
      <p:sp>
        <p:nvSpPr>
          <p:cNvPr id="220" name="Shape 217"/>
          <p:cNvSpPr/>
          <p:nvPr/>
        </p:nvSpPr>
        <p:spPr>
          <a:xfrm>
            <a:off x="8322869" y="5748833"/>
            <a:ext cx="112105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21" name="Text 218"/>
          <p:cNvSpPr/>
          <p:nvPr/>
        </p:nvSpPr>
        <p:spPr>
          <a:xfrm>
            <a:off x="8364017" y="5767121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$1,189</a:t>
            </a:r>
            <a:endParaRPr lang="en-US" sz="1000" dirty="0"/>
          </a:p>
        </p:txBody>
      </p:sp>
      <p:sp>
        <p:nvSpPr>
          <p:cNvPr id="222" name="Shape 219"/>
          <p:cNvSpPr/>
          <p:nvPr/>
        </p:nvSpPr>
        <p:spPr>
          <a:xfrm>
            <a:off x="9443923" y="5748833"/>
            <a:ext cx="112105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23" name="Text 220"/>
          <p:cNvSpPr/>
          <p:nvPr/>
        </p:nvSpPr>
        <p:spPr>
          <a:xfrm>
            <a:off x="9485071" y="5767121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224" name="Shape 221"/>
          <p:cNvSpPr/>
          <p:nvPr/>
        </p:nvSpPr>
        <p:spPr>
          <a:xfrm>
            <a:off x="10564978" y="5748833"/>
            <a:ext cx="112105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25" name="Text 222"/>
          <p:cNvSpPr/>
          <p:nvPr/>
        </p:nvSpPr>
        <p:spPr>
          <a:xfrm>
            <a:off x="10606126" y="5767121"/>
            <a:ext cx="103875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publisher-qbr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Connection Status (1/2)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Programme connection status for the current activation scope.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440375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75488" y="1874520"/>
            <a:ext cx="3737153" cy="241402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16636" y="1892808"/>
            <a:ext cx="3654857" cy="204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ID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212641" y="1874520"/>
            <a:ext cx="3737153" cy="241402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253789" y="1892808"/>
            <a:ext cx="3654857" cy="204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Name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949794" y="1874520"/>
            <a:ext cx="3736238" cy="241402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90942" y="1892808"/>
            <a:ext cx="3653942" cy="204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Connection Status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75488" y="2115922"/>
            <a:ext cx="3737153" cy="223114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16636" y="2134210"/>
            <a:ext cx="3654857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402341</a:t>
            </a:r>
            <a:endParaRPr lang="en-US" sz="840" dirty="0"/>
          </a:p>
        </p:txBody>
      </p:sp>
      <p:sp>
        <p:nvSpPr>
          <p:cNvPr id="14" name="Shape 11"/>
          <p:cNvSpPr/>
          <p:nvPr/>
        </p:nvSpPr>
        <p:spPr>
          <a:xfrm>
            <a:off x="4212641" y="2115922"/>
            <a:ext cx="3737153" cy="223114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53789" y="2134210"/>
            <a:ext cx="3654857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Z1 Tech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7949794" y="2115922"/>
            <a:ext cx="3736238" cy="223114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990942" y="2134210"/>
            <a:ext cx="3653942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840" dirty="0"/>
          </a:p>
        </p:txBody>
      </p:sp>
      <p:sp>
        <p:nvSpPr>
          <p:cNvPr id="18" name="Shape 15"/>
          <p:cNvSpPr/>
          <p:nvPr/>
        </p:nvSpPr>
        <p:spPr>
          <a:xfrm>
            <a:off x="475488" y="2339035"/>
            <a:ext cx="3737153" cy="223114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6636" y="2357323"/>
            <a:ext cx="3654857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401928</a:t>
            </a:r>
            <a:endParaRPr lang="en-US" sz="840" dirty="0"/>
          </a:p>
        </p:txBody>
      </p:sp>
      <p:sp>
        <p:nvSpPr>
          <p:cNvPr id="20" name="Shape 17"/>
          <p:cNvSpPr/>
          <p:nvPr/>
        </p:nvSpPr>
        <p:spPr>
          <a:xfrm>
            <a:off x="4212641" y="2339035"/>
            <a:ext cx="3737153" cy="223114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253789" y="2357323"/>
            <a:ext cx="3654857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Sinatra the Musical US</a:t>
            </a:r>
            <a:endParaRPr lang="en-US" sz="840" dirty="0"/>
          </a:p>
        </p:txBody>
      </p:sp>
      <p:sp>
        <p:nvSpPr>
          <p:cNvPr id="22" name="Shape 19"/>
          <p:cNvSpPr/>
          <p:nvPr/>
        </p:nvSpPr>
        <p:spPr>
          <a:xfrm>
            <a:off x="7949794" y="2339035"/>
            <a:ext cx="3736238" cy="223114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990942" y="2357323"/>
            <a:ext cx="3653942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840" dirty="0"/>
          </a:p>
        </p:txBody>
      </p:sp>
      <p:sp>
        <p:nvSpPr>
          <p:cNvPr id="24" name="Shape 21"/>
          <p:cNvSpPr/>
          <p:nvPr/>
        </p:nvSpPr>
        <p:spPr>
          <a:xfrm>
            <a:off x="475488" y="2562149"/>
            <a:ext cx="3737153" cy="223114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16636" y="2580437"/>
            <a:ext cx="3654857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398144</a:t>
            </a:r>
            <a:endParaRPr lang="en-US" sz="840" dirty="0"/>
          </a:p>
        </p:txBody>
      </p:sp>
      <p:sp>
        <p:nvSpPr>
          <p:cNvPr id="26" name="Shape 23"/>
          <p:cNvSpPr/>
          <p:nvPr/>
        </p:nvSpPr>
        <p:spPr>
          <a:xfrm>
            <a:off x="4212641" y="2562149"/>
            <a:ext cx="3737153" cy="223114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253789" y="2580437"/>
            <a:ext cx="3654857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School Yard Snacks</a:t>
            </a:r>
            <a:endParaRPr lang="en-US" sz="840" dirty="0"/>
          </a:p>
        </p:txBody>
      </p:sp>
      <p:sp>
        <p:nvSpPr>
          <p:cNvPr id="28" name="Shape 25"/>
          <p:cNvSpPr/>
          <p:nvPr/>
        </p:nvSpPr>
        <p:spPr>
          <a:xfrm>
            <a:off x="7949794" y="2562149"/>
            <a:ext cx="3736238" cy="223114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90942" y="2580437"/>
            <a:ext cx="3653942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840" dirty="0"/>
          </a:p>
        </p:txBody>
      </p:sp>
      <p:sp>
        <p:nvSpPr>
          <p:cNvPr id="30" name="Shape 27"/>
          <p:cNvSpPr/>
          <p:nvPr/>
        </p:nvSpPr>
        <p:spPr>
          <a:xfrm>
            <a:off x="475488" y="2785262"/>
            <a:ext cx="3737153" cy="223114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16636" y="2803550"/>
            <a:ext cx="3654857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397982</a:t>
            </a:r>
            <a:endParaRPr lang="en-US" sz="840" dirty="0"/>
          </a:p>
        </p:txBody>
      </p:sp>
      <p:sp>
        <p:nvSpPr>
          <p:cNvPr id="32" name="Shape 29"/>
          <p:cNvSpPr/>
          <p:nvPr/>
        </p:nvSpPr>
        <p:spPr>
          <a:xfrm>
            <a:off x="4212641" y="2785262"/>
            <a:ext cx="3737153" cy="223114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253789" y="2803550"/>
            <a:ext cx="3654857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WholyMe</a:t>
            </a:r>
            <a:endParaRPr lang="en-US" sz="840" dirty="0"/>
          </a:p>
        </p:txBody>
      </p:sp>
      <p:sp>
        <p:nvSpPr>
          <p:cNvPr id="34" name="Shape 31"/>
          <p:cNvSpPr/>
          <p:nvPr/>
        </p:nvSpPr>
        <p:spPr>
          <a:xfrm>
            <a:off x="7949794" y="2785262"/>
            <a:ext cx="3736238" cy="223114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990942" y="2803550"/>
            <a:ext cx="3653942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840" dirty="0"/>
          </a:p>
        </p:txBody>
      </p:sp>
      <p:sp>
        <p:nvSpPr>
          <p:cNvPr id="36" name="Shape 33"/>
          <p:cNvSpPr/>
          <p:nvPr/>
        </p:nvSpPr>
        <p:spPr>
          <a:xfrm>
            <a:off x="475488" y="3008376"/>
            <a:ext cx="3737153" cy="223114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16636" y="3026664"/>
            <a:ext cx="3654857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397946</a:t>
            </a:r>
            <a:endParaRPr lang="en-US" sz="840" dirty="0"/>
          </a:p>
        </p:txBody>
      </p:sp>
      <p:sp>
        <p:nvSpPr>
          <p:cNvPr id="38" name="Shape 35"/>
          <p:cNvSpPr/>
          <p:nvPr/>
        </p:nvSpPr>
        <p:spPr>
          <a:xfrm>
            <a:off x="4212641" y="3008376"/>
            <a:ext cx="3737153" cy="223114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253789" y="3026664"/>
            <a:ext cx="3654857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F**K US</a:t>
            </a:r>
            <a:endParaRPr lang="en-US" sz="840" dirty="0"/>
          </a:p>
        </p:txBody>
      </p:sp>
      <p:sp>
        <p:nvSpPr>
          <p:cNvPr id="40" name="Shape 37"/>
          <p:cNvSpPr/>
          <p:nvPr/>
        </p:nvSpPr>
        <p:spPr>
          <a:xfrm>
            <a:off x="7949794" y="3008376"/>
            <a:ext cx="3736238" cy="223114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990942" y="3026664"/>
            <a:ext cx="3653942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840" dirty="0"/>
          </a:p>
        </p:txBody>
      </p:sp>
      <p:sp>
        <p:nvSpPr>
          <p:cNvPr id="42" name="Shape 39"/>
          <p:cNvSpPr/>
          <p:nvPr/>
        </p:nvSpPr>
        <p:spPr>
          <a:xfrm>
            <a:off x="475488" y="3231490"/>
            <a:ext cx="3737153" cy="223114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16636" y="3249778"/>
            <a:ext cx="3654857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397935</a:t>
            </a:r>
            <a:endParaRPr lang="en-US" sz="840" dirty="0"/>
          </a:p>
        </p:txBody>
      </p:sp>
      <p:sp>
        <p:nvSpPr>
          <p:cNvPr id="44" name="Shape 41"/>
          <p:cNvSpPr/>
          <p:nvPr/>
        </p:nvSpPr>
        <p:spPr>
          <a:xfrm>
            <a:off x="4212641" y="3231490"/>
            <a:ext cx="3737153" cy="223114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253789" y="3249778"/>
            <a:ext cx="3654857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Hunger Games on Stage US</a:t>
            </a:r>
            <a:endParaRPr lang="en-US" sz="840" dirty="0"/>
          </a:p>
        </p:txBody>
      </p:sp>
      <p:sp>
        <p:nvSpPr>
          <p:cNvPr id="46" name="Shape 43"/>
          <p:cNvSpPr/>
          <p:nvPr/>
        </p:nvSpPr>
        <p:spPr>
          <a:xfrm>
            <a:off x="7949794" y="3231490"/>
            <a:ext cx="3736238" cy="223114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990942" y="3249778"/>
            <a:ext cx="3653942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840" dirty="0"/>
          </a:p>
        </p:txBody>
      </p:sp>
      <p:sp>
        <p:nvSpPr>
          <p:cNvPr id="48" name="Shape 45"/>
          <p:cNvSpPr/>
          <p:nvPr/>
        </p:nvSpPr>
        <p:spPr>
          <a:xfrm>
            <a:off x="475488" y="3454603"/>
            <a:ext cx="3737153" cy="223114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16636" y="3472891"/>
            <a:ext cx="3654857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397848</a:t>
            </a:r>
            <a:endParaRPr lang="en-US" sz="840" dirty="0"/>
          </a:p>
        </p:txBody>
      </p:sp>
      <p:sp>
        <p:nvSpPr>
          <p:cNvPr id="50" name="Shape 47"/>
          <p:cNvSpPr/>
          <p:nvPr/>
        </p:nvSpPr>
        <p:spPr>
          <a:xfrm>
            <a:off x="4212641" y="3454603"/>
            <a:ext cx="3737153" cy="223114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4253789" y="3472891"/>
            <a:ext cx="3654857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Racquet Sports USA</a:t>
            </a:r>
            <a:endParaRPr lang="en-US" sz="840" dirty="0"/>
          </a:p>
        </p:txBody>
      </p:sp>
      <p:sp>
        <p:nvSpPr>
          <p:cNvPr id="52" name="Shape 49"/>
          <p:cNvSpPr/>
          <p:nvPr/>
        </p:nvSpPr>
        <p:spPr>
          <a:xfrm>
            <a:off x="7949794" y="3454603"/>
            <a:ext cx="3736238" cy="223114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7990942" y="3472891"/>
            <a:ext cx="3653942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840" dirty="0"/>
          </a:p>
        </p:txBody>
      </p:sp>
      <p:sp>
        <p:nvSpPr>
          <p:cNvPr id="54" name="Shape 51"/>
          <p:cNvSpPr/>
          <p:nvPr/>
        </p:nvSpPr>
        <p:spPr>
          <a:xfrm>
            <a:off x="475488" y="3677717"/>
            <a:ext cx="3737153" cy="223114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16636" y="3696005"/>
            <a:ext cx="3654857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397173</a:t>
            </a:r>
            <a:endParaRPr lang="en-US" sz="840" dirty="0"/>
          </a:p>
        </p:txBody>
      </p:sp>
      <p:sp>
        <p:nvSpPr>
          <p:cNvPr id="56" name="Shape 53"/>
          <p:cNvSpPr/>
          <p:nvPr/>
        </p:nvSpPr>
        <p:spPr>
          <a:xfrm>
            <a:off x="4212641" y="3677717"/>
            <a:ext cx="3737153" cy="223114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4253789" y="3696005"/>
            <a:ext cx="3654857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 Kantar US</a:t>
            </a:r>
            <a:endParaRPr lang="en-US" sz="840" dirty="0"/>
          </a:p>
        </p:txBody>
      </p:sp>
      <p:sp>
        <p:nvSpPr>
          <p:cNvPr id="58" name="Shape 55"/>
          <p:cNvSpPr/>
          <p:nvPr/>
        </p:nvSpPr>
        <p:spPr>
          <a:xfrm>
            <a:off x="7949794" y="3677717"/>
            <a:ext cx="3736238" cy="223114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7990942" y="3696005"/>
            <a:ext cx="3653942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840" dirty="0"/>
          </a:p>
        </p:txBody>
      </p:sp>
      <p:sp>
        <p:nvSpPr>
          <p:cNvPr id="60" name="Shape 57"/>
          <p:cNvSpPr/>
          <p:nvPr/>
        </p:nvSpPr>
        <p:spPr>
          <a:xfrm>
            <a:off x="475488" y="3900830"/>
            <a:ext cx="3737153" cy="223114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516636" y="3919118"/>
            <a:ext cx="3654857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397006</a:t>
            </a:r>
            <a:endParaRPr lang="en-US" sz="840" dirty="0"/>
          </a:p>
        </p:txBody>
      </p:sp>
      <p:sp>
        <p:nvSpPr>
          <p:cNvPr id="62" name="Shape 59"/>
          <p:cNvSpPr/>
          <p:nvPr/>
        </p:nvSpPr>
        <p:spPr>
          <a:xfrm>
            <a:off x="4212641" y="3900830"/>
            <a:ext cx="3737153" cy="223114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4253789" y="3919118"/>
            <a:ext cx="3654857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 The Musical London US</a:t>
            </a:r>
            <a:endParaRPr lang="en-US" sz="840" dirty="0"/>
          </a:p>
        </p:txBody>
      </p:sp>
      <p:sp>
        <p:nvSpPr>
          <p:cNvPr id="64" name="Shape 61"/>
          <p:cNvSpPr/>
          <p:nvPr/>
        </p:nvSpPr>
        <p:spPr>
          <a:xfrm>
            <a:off x="7949794" y="3900830"/>
            <a:ext cx="3736238" cy="223114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7990942" y="3919118"/>
            <a:ext cx="3653942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840" dirty="0"/>
          </a:p>
        </p:txBody>
      </p:sp>
      <p:sp>
        <p:nvSpPr>
          <p:cNvPr id="66" name="Shape 63"/>
          <p:cNvSpPr/>
          <p:nvPr/>
        </p:nvSpPr>
        <p:spPr>
          <a:xfrm>
            <a:off x="475488" y="4123944"/>
            <a:ext cx="3737153" cy="223114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516636" y="4142232"/>
            <a:ext cx="3654857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396968</a:t>
            </a:r>
            <a:endParaRPr lang="en-US" sz="840" dirty="0"/>
          </a:p>
        </p:txBody>
      </p:sp>
      <p:sp>
        <p:nvSpPr>
          <p:cNvPr id="68" name="Shape 65"/>
          <p:cNvSpPr/>
          <p:nvPr/>
        </p:nvSpPr>
        <p:spPr>
          <a:xfrm>
            <a:off x="4212641" y="4123944"/>
            <a:ext cx="3737153" cy="223114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4253789" y="4142232"/>
            <a:ext cx="3654857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RV Water Filter Store</a:t>
            </a:r>
            <a:endParaRPr lang="en-US" sz="840" dirty="0"/>
          </a:p>
        </p:txBody>
      </p:sp>
      <p:sp>
        <p:nvSpPr>
          <p:cNvPr id="70" name="Shape 67"/>
          <p:cNvSpPr/>
          <p:nvPr/>
        </p:nvSpPr>
        <p:spPr>
          <a:xfrm>
            <a:off x="7949794" y="4123944"/>
            <a:ext cx="3736238" cy="223114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7990942" y="4142232"/>
            <a:ext cx="3653942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840" dirty="0"/>
          </a:p>
        </p:txBody>
      </p:sp>
      <p:sp>
        <p:nvSpPr>
          <p:cNvPr id="72" name="Shape 69"/>
          <p:cNvSpPr/>
          <p:nvPr/>
        </p:nvSpPr>
        <p:spPr>
          <a:xfrm>
            <a:off x="475488" y="4347058"/>
            <a:ext cx="3737153" cy="223114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516636" y="4365346"/>
            <a:ext cx="3654857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396627</a:t>
            </a:r>
            <a:endParaRPr lang="en-US" sz="840" dirty="0"/>
          </a:p>
        </p:txBody>
      </p:sp>
      <p:sp>
        <p:nvSpPr>
          <p:cNvPr id="74" name="Shape 71"/>
          <p:cNvSpPr/>
          <p:nvPr/>
        </p:nvSpPr>
        <p:spPr>
          <a:xfrm>
            <a:off x="4212641" y="4347058"/>
            <a:ext cx="3737153" cy="223114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4253789" y="4365346"/>
            <a:ext cx="3654857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NordVPN US</a:t>
            </a:r>
            <a:endParaRPr lang="en-US" sz="840" dirty="0"/>
          </a:p>
        </p:txBody>
      </p:sp>
      <p:sp>
        <p:nvSpPr>
          <p:cNvPr id="76" name="Shape 73"/>
          <p:cNvSpPr/>
          <p:nvPr/>
        </p:nvSpPr>
        <p:spPr>
          <a:xfrm>
            <a:off x="7949794" y="4347058"/>
            <a:ext cx="3736238" cy="223114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7990942" y="4365346"/>
            <a:ext cx="3653942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840" dirty="0"/>
          </a:p>
        </p:txBody>
      </p:sp>
      <p:sp>
        <p:nvSpPr>
          <p:cNvPr id="78" name="Shape 75"/>
          <p:cNvSpPr/>
          <p:nvPr/>
        </p:nvSpPr>
        <p:spPr>
          <a:xfrm>
            <a:off x="475488" y="4570171"/>
            <a:ext cx="3737153" cy="223114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516636" y="4588459"/>
            <a:ext cx="3654857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396609</a:t>
            </a:r>
            <a:endParaRPr lang="en-US" sz="840" dirty="0"/>
          </a:p>
        </p:txBody>
      </p:sp>
      <p:sp>
        <p:nvSpPr>
          <p:cNvPr id="80" name="Shape 77"/>
          <p:cNvSpPr/>
          <p:nvPr/>
        </p:nvSpPr>
        <p:spPr>
          <a:xfrm>
            <a:off x="4212641" y="4570171"/>
            <a:ext cx="3737153" cy="223114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4253789" y="4588459"/>
            <a:ext cx="3654857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 of Mormon London (US)</a:t>
            </a:r>
            <a:endParaRPr lang="en-US" sz="840" dirty="0"/>
          </a:p>
        </p:txBody>
      </p:sp>
      <p:sp>
        <p:nvSpPr>
          <p:cNvPr id="82" name="Shape 79"/>
          <p:cNvSpPr/>
          <p:nvPr/>
        </p:nvSpPr>
        <p:spPr>
          <a:xfrm>
            <a:off x="7949794" y="4570171"/>
            <a:ext cx="3736238" cy="223114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7990942" y="4588459"/>
            <a:ext cx="3653942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840" dirty="0"/>
          </a:p>
        </p:txBody>
      </p:sp>
      <p:sp>
        <p:nvSpPr>
          <p:cNvPr id="84" name="Shape 81"/>
          <p:cNvSpPr/>
          <p:nvPr/>
        </p:nvSpPr>
        <p:spPr>
          <a:xfrm>
            <a:off x="475488" y="4793285"/>
            <a:ext cx="3737153" cy="223114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516636" y="4811573"/>
            <a:ext cx="3654857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396479</a:t>
            </a:r>
            <a:endParaRPr lang="en-US" sz="840" dirty="0"/>
          </a:p>
        </p:txBody>
      </p:sp>
      <p:sp>
        <p:nvSpPr>
          <p:cNvPr id="86" name="Shape 83"/>
          <p:cNvSpPr/>
          <p:nvPr/>
        </p:nvSpPr>
        <p:spPr>
          <a:xfrm>
            <a:off x="4212641" y="4793285"/>
            <a:ext cx="3737153" cy="223114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4253789" y="4811573"/>
            <a:ext cx="3654857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Mekas Sensory Play</a:t>
            </a:r>
            <a:endParaRPr lang="en-US" sz="840" dirty="0"/>
          </a:p>
        </p:txBody>
      </p:sp>
      <p:sp>
        <p:nvSpPr>
          <p:cNvPr id="88" name="Shape 85"/>
          <p:cNvSpPr/>
          <p:nvPr/>
        </p:nvSpPr>
        <p:spPr>
          <a:xfrm>
            <a:off x="7949794" y="4793285"/>
            <a:ext cx="3736238" cy="223114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7990942" y="4811573"/>
            <a:ext cx="3653942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840" dirty="0"/>
          </a:p>
        </p:txBody>
      </p:sp>
      <p:sp>
        <p:nvSpPr>
          <p:cNvPr id="90" name="Shape 87"/>
          <p:cNvSpPr/>
          <p:nvPr/>
        </p:nvSpPr>
        <p:spPr>
          <a:xfrm>
            <a:off x="475488" y="5016398"/>
            <a:ext cx="3737153" cy="223114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516636" y="5034686"/>
            <a:ext cx="3654857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402367</a:t>
            </a:r>
            <a:endParaRPr lang="en-US" sz="840" dirty="0"/>
          </a:p>
        </p:txBody>
      </p:sp>
      <p:sp>
        <p:nvSpPr>
          <p:cNvPr id="92" name="Shape 89"/>
          <p:cNvSpPr/>
          <p:nvPr/>
        </p:nvSpPr>
        <p:spPr>
          <a:xfrm>
            <a:off x="4212641" y="5016398"/>
            <a:ext cx="3737153" cy="223114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4253789" y="5034686"/>
            <a:ext cx="3654857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Arcadia US</a:t>
            </a:r>
            <a:endParaRPr lang="en-US" sz="840" dirty="0"/>
          </a:p>
        </p:txBody>
      </p:sp>
      <p:sp>
        <p:nvSpPr>
          <p:cNvPr id="94" name="Shape 91"/>
          <p:cNvSpPr/>
          <p:nvPr/>
        </p:nvSpPr>
        <p:spPr>
          <a:xfrm>
            <a:off x="7949794" y="5016398"/>
            <a:ext cx="3736238" cy="223114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7990942" y="5034686"/>
            <a:ext cx="3653942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Connected</a:t>
            </a:r>
            <a:endParaRPr lang="en-US" sz="840" dirty="0"/>
          </a:p>
        </p:txBody>
      </p:sp>
      <p:sp>
        <p:nvSpPr>
          <p:cNvPr id="96" name="Shape 93"/>
          <p:cNvSpPr/>
          <p:nvPr/>
        </p:nvSpPr>
        <p:spPr>
          <a:xfrm>
            <a:off x="475488" y="5239512"/>
            <a:ext cx="3737153" cy="223114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516636" y="5257800"/>
            <a:ext cx="3654857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394491</a:t>
            </a:r>
            <a:endParaRPr lang="en-US" sz="840" dirty="0"/>
          </a:p>
        </p:txBody>
      </p:sp>
      <p:sp>
        <p:nvSpPr>
          <p:cNvPr id="98" name="Shape 95"/>
          <p:cNvSpPr/>
          <p:nvPr/>
        </p:nvSpPr>
        <p:spPr>
          <a:xfrm>
            <a:off x="4212641" y="5239512"/>
            <a:ext cx="3737153" cy="223114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4253789" y="5257800"/>
            <a:ext cx="3654857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Kind Patches</a:t>
            </a:r>
            <a:endParaRPr lang="en-US" sz="840" dirty="0"/>
          </a:p>
        </p:txBody>
      </p:sp>
      <p:sp>
        <p:nvSpPr>
          <p:cNvPr id="100" name="Shape 97"/>
          <p:cNvSpPr/>
          <p:nvPr/>
        </p:nvSpPr>
        <p:spPr>
          <a:xfrm>
            <a:off x="7949794" y="5239512"/>
            <a:ext cx="3736238" cy="223114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1" name="Text 98"/>
          <p:cNvSpPr/>
          <p:nvPr/>
        </p:nvSpPr>
        <p:spPr>
          <a:xfrm>
            <a:off x="7990942" y="5257800"/>
            <a:ext cx="3653942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Ended</a:t>
            </a:r>
            <a:endParaRPr lang="en-US" sz="840" dirty="0"/>
          </a:p>
        </p:txBody>
      </p:sp>
      <p:sp>
        <p:nvSpPr>
          <p:cNvPr id="102" name="Shape 99"/>
          <p:cNvSpPr/>
          <p:nvPr/>
        </p:nvSpPr>
        <p:spPr>
          <a:xfrm>
            <a:off x="475488" y="5462626"/>
            <a:ext cx="3737153" cy="223114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3" name="Text 100"/>
          <p:cNvSpPr/>
          <p:nvPr/>
        </p:nvSpPr>
        <p:spPr>
          <a:xfrm>
            <a:off x="516636" y="5480914"/>
            <a:ext cx="3654857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397853</a:t>
            </a:r>
            <a:endParaRPr lang="en-US" sz="840" dirty="0"/>
          </a:p>
        </p:txBody>
      </p:sp>
      <p:sp>
        <p:nvSpPr>
          <p:cNvPr id="104" name="Shape 101"/>
          <p:cNvSpPr/>
          <p:nvPr/>
        </p:nvSpPr>
        <p:spPr>
          <a:xfrm>
            <a:off x="4212641" y="5462626"/>
            <a:ext cx="3737153" cy="223114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5" name="Text 102"/>
          <p:cNvSpPr/>
          <p:nvPr/>
        </p:nvSpPr>
        <p:spPr>
          <a:xfrm>
            <a:off x="4253789" y="5480914"/>
            <a:ext cx="3654857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 Acceptance</a:t>
            </a:r>
            <a:endParaRPr lang="en-US" sz="840" dirty="0"/>
          </a:p>
        </p:txBody>
      </p:sp>
      <p:sp>
        <p:nvSpPr>
          <p:cNvPr id="106" name="Shape 103"/>
          <p:cNvSpPr/>
          <p:nvPr/>
        </p:nvSpPr>
        <p:spPr>
          <a:xfrm>
            <a:off x="7949794" y="5462626"/>
            <a:ext cx="3736238" cy="223114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7" name="Text 104"/>
          <p:cNvSpPr/>
          <p:nvPr/>
        </p:nvSpPr>
        <p:spPr>
          <a:xfrm>
            <a:off x="7990942" y="5480914"/>
            <a:ext cx="3653942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Denied</a:t>
            </a:r>
            <a:endParaRPr lang="en-US" sz="840" dirty="0"/>
          </a:p>
        </p:txBody>
      </p:sp>
      <p:sp>
        <p:nvSpPr>
          <p:cNvPr id="108" name="Shape 105"/>
          <p:cNvSpPr/>
          <p:nvPr/>
        </p:nvSpPr>
        <p:spPr>
          <a:xfrm>
            <a:off x="475488" y="5685739"/>
            <a:ext cx="3737153" cy="223114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516636" y="5704027"/>
            <a:ext cx="3654857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398174</a:t>
            </a:r>
            <a:endParaRPr lang="en-US" sz="840" dirty="0"/>
          </a:p>
        </p:txBody>
      </p:sp>
      <p:sp>
        <p:nvSpPr>
          <p:cNvPr id="110" name="Shape 107"/>
          <p:cNvSpPr/>
          <p:nvPr/>
        </p:nvSpPr>
        <p:spPr>
          <a:xfrm>
            <a:off x="4212641" y="5685739"/>
            <a:ext cx="3737153" cy="223114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1" name="Text 108"/>
          <p:cNvSpPr/>
          <p:nvPr/>
        </p:nvSpPr>
        <p:spPr>
          <a:xfrm>
            <a:off x="4253789" y="5704027"/>
            <a:ext cx="3654857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TheBS</a:t>
            </a:r>
            <a:endParaRPr lang="en-US" sz="840" dirty="0"/>
          </a:p>
        </p:txBody>
      </p:sp>
      <p:sp>
        <p:nvSpPr>
          <p:cNvPr id="112" name="Shape 109"/>
          <p:cNvSpPr/>
          <p:nvPr/>
        </p:nvSpPr>
        <p:spPr>
          <a:xfrm>
            <a:off x="7949794" y="5685739"/>
            <a:ext cx="3736238" cy="223114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3" name="Text 110"/>
          <p:cNvSpPr/>
          <p:nvPr/>
        </p:nvSpPr>
        <p:spPr>
          <a:xfrm>
            <a:off x="7990942" y="5704027"/>
            <a:ext cx="3653942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 Consideration</a:t>
            </a:r>
            <a:endParaRPr lang="en-US" sz="840" dirty="0"/>
          </a:p>
        </p:txBody>
      </p:sp>
      <p:sp>
        <p:nvSpPr>
          <p:cNvPr id="114" name="Shape 111"/>
          <p:cNvSpPr/>
          <p:nvPr/>
        </p:nvSpPr>
        <p:spPr>
          <a:xfrm>
            <a:off x="475488" y="5908853"/>
            <a:ext cx="3737153" cy="223114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5" name="Text 112"/>
          <p:cNvSpPr/>
          <p:nvPr/>
        </p:nvSpPr>
        <p:spPr>
          <a:xfrm>
            <a:off x="516636" y="5927141"/>
            <a:ext cx="3654857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394765</a:t>
            </a:r>
            <a:endParaRPr lang="en-US" sz="840" dirty="0"/>
          </a:p>
        </p:txBody>
      </p:sp>
      <p:sp>
        <p:nvSpPr>
          <p:cNvPr id="116" name="Shape 113"/>
          <p:cNvSpPr/>
          <p:nvPr/>
        </p:nvSpPr>
        <p:spPr>
          <a:xfrm>
            <a:off x="4212641" y="5908853"/>
            <a:ext cx="3737153" cy="223114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7" name="Text 114"/>
          <p:cNvSpPr/>
          <p:nvPr/>
        </p:nvSpPr>
        <p:spPr>
          <a:xfrm>
            <a:off x="4253789" y="5927141"/>
            <a:ext cx="3654857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 Ferries US</a:t>
            </a:r>
            <a:endParaRPr lang="en-US" sz="840" dirty="0"/>
          </a:p>
        </p:txBody>
      </p:sp>
      <p:sp>
        <p:nvSpPr>
          <p:cNvPr id="118" name="Shape 115"/>
          <p:cNvSpPr/>
          <p:nvPr/>
        </p:nvSpPr>
        <p:spPr>
          <a:xfrm>
            <a:off x="7949794" y="5908853"/>
            <a:ext cx="3736238" cy="223114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9" name="Text 116"/>
          <p:cNvSpPr/>
          <p:nvPr/>
        </p:nvSpPr>
        <p:spPr>
          <a:xfrm>
            <a:off x="7990942" y="5927141"/>
            <a:ext cx="3653942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 Consideration</a:t>
            </a:r>
            <a:endParaRPr lang="en-US" sz="8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publisher-qbr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Connection Status (2/2)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Programme connection status for the current activation scope.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1021385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75488" y="1874520"/>
            <a:ext cx="3737153" cy="454457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16636" y="1892808"/>
            <a:ext cx="3654857" cy="4178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ID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212641" y="1874520"/>
            <a:ext cx="3737153" cy="454457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253789" y="1892808"/>
            <a:ext cx="3654857" cy="4178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Name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949794" y="1874520"/>
            <a:ext cx="3736238" cy="454457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90942" y="1892808"/>
            <a:ext cx="3653942" cy="4178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Connection Status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75488" y="2328977"/>
            <a:ext cx="3737153" cy="420624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16636" y="2347265"/>
            <a:ext cx="365485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212641" y="2328977"/>
            <a:ext cx="3737153" cy="420624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53789" y="2347265"/>
            <a:ext cx="365485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949794" y="2328977"/>
            <a:ext cx="3736238" cy="420624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990942" y="2347265"/>
            <a:ext cx="36539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publisher-qbr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Analysis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publisher performance against anonymised comparison publishers.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288493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75488" y="1874520"/>
            <a:ext cx="1601114" cy="763524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16636" y="1892808"/>
            <a:ext cx="1518818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Group Summary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076602" y="1874520"/>
            <a:ext cx="1601114" cy="763524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117750" y="1892808"/>
            <a:ext cx="1518818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Site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677717" y="1874520"/>
            <a:ext cx="1601114" cy="763524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18865" y="1892808"/>
            <a:ext cx="1518818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1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278831" y="1874520"/>
            <a:ext cx="1601114" cy="763524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19979" y="1892808"/>
            <a:ext cx="1518818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2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879946" y="1874520"/>
            <a:ext cx="1601114" cy="763524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21094" y="1892808"/>
            <a:ext cx="1518818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3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481060" y="1874520"/>
            <a:ext cx="1601114" cy="763524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22208" y="1892808"/>
            <a:ext cx="1518818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4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0082174" y="1874520"/>
            <a:ext cx="1603858" cy="763524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123322" y="1892808"/>
            <a:ext cx="1521562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Distinct comp. prog. #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75488" y="2638044"/>
            <a:ext cx="1601114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16636" y="2656332"/>
            <a:ext cx="151881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with Pub Comm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076602" y="2638044"/>
            <a:ext cx="1601114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117750" y="2656332"/>
            <a:ext cx="151881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677717" y="2638044"/>
            <a:ext cx="1601114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718865" y="2656332"/>
            <a:ext cx="151881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278831" y="2638044"/>
            <a:ext cx="1601114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319979" y="2656332"/>
            <a:ext cx="151881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879946" y="2638044"/>
            <a:ext cx="1601114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921094" y="2656332"/>
            <a:ext cx="151881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54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8481060" y="2638044"/>
            <a:ext cx="1601114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522208" y="2656332"/>
            <a:ext cx="151881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10082174" y="2638044"/>
            <a:ext cx="1603858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0123322" y="2656332"/>
            <a:ext cx="152156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72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75488" y="3296412"/>
            <a:ext cx="1601114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16636" y="3314700"/>
            <a:ext cx="151881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 which you have 0 Pub Comm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2076602" y="3296412"/>
            <a:ext cx="1601114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2117750" y="3314700"/>
            <a:ext cx="151881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3677717" y="3296412"/>
            <a:ext cx="1601114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718865" y="3314700"/>
            <a:ext cx="151881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5278831" y="3296412"/>
            <a:ext cx="1601114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319979" y="3314700"/>
            <a:ext cx="151881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6879946" y="3296412"/>
            <a:ext cx="1601114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921094" y="3314700"/>
            <a:ext cx="151881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48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8481060" y="3296412"/>
            <a:ext cx="1601114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522208" y="3314700"/>
            <a:ext cx="151881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10082174" y="3296412"/>
            <a:ext cx="1603858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10123322" y="3314700"/>
            <a:ext cx="152156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475488" y="3954780"/>
            <a:ext cx="1601114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16636" y="3973068"/>
            <a:ext cx="151881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 of the above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2076602" y="3954780"/>
            <a:ext cx="1601114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2117750" y="3973068"/>
            <a:ext cx="151881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3677717" y="3954780"/>
            <a:ext cx="1601114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3718865" y="3973068"/>
            <a:ext cx="151881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$14,110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5278831" y="3954780"/>
            <a:ext cx="1601114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319979" y="3973068"/>
            <a:ext cx="151881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$1,424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6879946" y="3954780"/>
            <a:ext cx="1601114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921094" y="3973068"/>
            <a:ext cx="151881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$39,307</a:t>
            </a:r>
            <a:endParaRPr 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8481060" y="3954780"/>
            <a:ext cx="1601114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8522208" y="3973068"/>
            <a:ext cx="151881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$2,675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10082174" y="3954780"/>
            <a:ext cx="1603858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10123322" y="3973068"/>
            <a:ext cx="152156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$57,515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publisher-qbr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Within Competitor Group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share for the primary publisher and four comparison publishers.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2226564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75488" y="1874520"/>
            <a:ext cx="1868119" cy="763524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16636" y="1892808"/>
            <a:ext cx="1785823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Group Summary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343607" y="1874520"/>
            <a:ext cx="1868119" cy="763524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384755" y="1892808"/>
            <a:ext cx="1785823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Site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11726" y="1874520"/>
            <a:ext cx="1868119" cy="763524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252874" y="1892808"/>
            <a:ext cx="1785823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A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079846" y="1874520"/>
            <a:ext cx="1868119" cy="763524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20994" y="1892808"/>
            <a:ext cx="1785823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B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947965" y="1874520"/>
            <a:ext cx="1868119" cy="763524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989113" y="1892808"/>
            <a:ext cx="1785823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C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9816084" y="1874520"/>
            <a:ext cx="1869948" cy="763524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57232" y="1892808"/>
            <a:ext cx="1787652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D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75488" y="2638044"/>
            <a:ext cx="1868119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6636" y="2656332"/>
            <a:ext cx="178582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PP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343607" y="2638044"/>
            <a:ext cx="1868119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384755" y="2656332"/>
            <a:ext cx="178582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$13,782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211726" y="2638044"/>
            <a:ext cx="1868119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252874" y="2656332"/>
            <a:ext cx="178582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$6,179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079846" y="2638044"/>
            <a:ext cx="1868119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120994" y="2656332"/>
            <a:ext cx="178582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$2,359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947965" y="2638044"/>
            <a:ext cx="1868119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989113" y="2656332"/>
            <a:ext cx="178582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$68,881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9816084" y="2638044"/>
            <a:ext cx="1869948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857232" y="2656332"/>
            <a:ext cx="17876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$90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75488" y="3296412"/>
            <a:ext cx="1868119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16636" y="3314700"/>
            <a:ext cx="178582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2343607" y="3296412"/>
            <a:ext cx="1868119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384755" y="3314700"/>
            <a:ext cx="178582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$182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211726" y="3296412"/>
            <a:ext cx="1868119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252874" y="3314700"/>
            <a:ext cx="178582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$14,447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079846" y="3296412"/>
            <a:ext cx="1868119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120994" y="3314700"/>
            <a:ext cx="178582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$1,837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7947965" y="3296412"/>
            <a:ext cx="1868119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989113" y="3314700"/>
            <a:ext cx="178582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$42,529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9816084" y="3296412"/>
            <a:ext cx="1869948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857232" y="3314700"/>
            <a:ext cx="17876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$2,971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publisher-qbr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Programs Competitor Performance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publisher share against four comparison publishers by programme.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440192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75488" y="1874520"/>
            <a:ext cx="1868119" cy="442570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16636" y="1892808"/>
            <a:ext cx="1785823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Name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343607" y="1874520"/>
            <a:ext cx="1868119" cy="442570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384755" y="1892808"/>
            <a:ext cx="1785823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digidip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11726" y="1874520"/>
            <a:ext cx="1868119" cy="442570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252874" y="1892808"/>
            <a:ext cx="1785823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A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079846" y="1874520"/>
            <a:ext cx="1868119" cy="442570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20994" y="1892808"/>
            <a:ext cx="1785823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B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947965" y="1874520"/>
            <a:ext cx="1868119" cy="442570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989113" y="1892808"/>
            <a:ext cx="1785823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C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9816084" y="1874520"/>
            <a:ext cx="1869948" cy="442570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57232" y="1892808"/>
            <a:ext cx="1787652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D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75488" y="2317090"/>
            <a:ext cx="1868119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6636" y="2335378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World Observatory - New York (US affiliates)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343607" y="2317090"/>
            <a:ext cx="1868119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384755" y="2335378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3%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211726" y="2317090"/>
            <a:ext cx="1868119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252874" y="2335378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079846" y="2317090"/>
            <a:ext cx="1868119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120994" y="2335378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2%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947965" y="2317090"/>
            <a:ext cx="1868119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989113" y="2335378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76%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9816084" y="2317090"/>
            <a:ext cx="1869948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857232" y="2335378"/>
            <a:ext cx="1787652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9%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75488" y="2698394"/>
            <a:ext cx="1868119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16636" y="2716682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View from The Shard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2343607" y="2698394"/>
            <a:ext cx="1868119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384755" y="2716682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9%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211726" y="2698394"/>
            <a:ext cx="1868119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252874" y="2716682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079846" y="2698394"/>
            <a:ext cx="1868119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120994" y="2716682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7947965" y="2698394"/>
            <a:ext cx="1868119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989113" y="2716682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91%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9816084" y="2698394"/>
            <a:ext cx="1869948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857232" y="2716682"/>
            <a:ext cx="1787652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475488" y="3079699"/>
            <a:ext cx="1868119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16636" y="3097987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Lucky Star Jewels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2343607" y="3079699"/>
            <a:ext cx="1868119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2384755" y="3097987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4211726" y="3079699"/>
            <a:ext cx="1868119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252874" y="3097987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6079846" y="3079699"/>
            <a:ext cx="1868119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120994" y="3097987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7947965" y="3079699"/>
            <a:ext cx="1868119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7989113" y="3097987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9816084" y="3079699"/>
            <a:ext cx="1869948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9857232" y="3097987"/>
            <a:ext cx="1787652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475488" y="3461004"/>
            <a:ext cx="1868119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16636" y="3479292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Great Gatsby Broadway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2343607" y="3461004"/>
            <a:ext cx="1868119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2384755" y="3479292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4%</a:t>
            </a:r>
            <a:endParaRPr 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4211726" y="3461004"/>
            <a:ext cx="1868119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4252874" y="3479292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6079846" y="3461004"/>
            <a:ext cx="1868119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6120994" y="3479292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12%</a:t>
            </a:r>
            <a:endParaRPr lang="en-US" sz="1000" dirty="0"/>
          </a:p>
        </p:txBody>
      </p:sp>
      <p:sp>
        <p:nvSpPr>
          <p:cNvPr id="62" name="Shape 59"/>
          <p:cNvSpPr/>
          <p:nvPr/>
        </p:nvSpPr>
        <p:spPr>
          <a:xfrm>
            <a:off x="7947965" y="3461004"/>
            <a:ext cx="1868119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7989113" y="3479292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83%</a:t>
            </a:r>
            <a:endParaRPr lang="en-US" sz="1000" dirty="0"/>
          </a:p>
        </p:txBody>
      </p:sp>
      <p:sp>
        <p:nvSpPr>
          <p:cNvPr id="64" name="Shape 61"/>
          <p:cNvSpPr/>
          <p:nvPr/>
        </p:nvSpPr>
        <p:spPr>
          <a:xfrm>
            <a:off x="9816084" y="3461004"/>
            <a:ext cx="1869948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9857232" y="3479292"/>
            <a:ext cx="1787652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1%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475488" y="3842309"/>
            <a:ext cx="1868119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516636" y="3860597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Spitfire Audio US (closing 29.05.2026)</a:t>
            </a:r>
            <a:endParaRPr lang="en-US" sz="1000" dirty="0"/>
          </a:p>
        </p:txBody>
      </p:sp>
      <p:sp>
        <p:nvSpPr>
          <p:cNvPr id="68" name="Shape 65"/>
          <p:cNvSpPr/>
          <p:nvPr/>
        </p:nvSpPr>
        <p:spPr>
          <a:xfrm>
            <a:off x="2343607" y="3842309"/>
            <a:ext cx="1868119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2384755" y="3860597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17%</a:t>
            </a:r>
            <a:endParaRPr lang="en-US" sz="1000" dirty="0"/>
          </a:p>
        </p:txBody>
      </p:sp>
      <p:sp>
        <p:nvSpPr>
          <p:cNvPr id="70" name="Shape 67"/>
          <p:cNvSpPr/>
          <p:nvPr/>
        </p:nvSpPr>
        <p:spPr>
          <a:xfrm>
            <a:off x="4211726" y="3842309"/>
            <a:ext cx="1868119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4252874" y="3860597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6079846" y="3842309"/>
            <a:ext cx="1868119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6120994" y="3860597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20%</a:t>
            </a:r>
            <a:endParaRPr lang="en-US" sz="1000" dirty="0"/>
          </a:p>
        </p:txBody>
      </p:sp>
      <p:sp>
        <p:nvSpPr>
          <p:cNvPr id="74" name="Shape 71"/>
          <p:cNvSpPr/>
          <p:nvPr/>
        </p:nvSpPr>
        <p:spPr>
          <a:xfrm>
            <a:off x="7947965" y="3842309"/>
            <a:ext cx="1868119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7989113" y="3860597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62%</a:t>
            </a:r>
            <a:endParaRPr lang="en-US" sz="1000" dirty="0"/>
          </a:p>
        </p:txBody>
      </p:sp>
      <p:sp>
        <p:nvSpPr>
          <p:cNvPr id="76" name="Shape 73"/>
          <p:cNvSpPr/>
          <p:nvPr/>
        </p:nvSpPr>
        <p:spPr>
          <a:xfrm>
            <a:off x="9816084" y="3842309"/>
            <a:ext cx="1869948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9857232" y="3860597"/>
            <a:ext cx="1787652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1%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5488" y="4223614"/>
            <a:ext cx="1868119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516636" y="4241902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Phantom of the Opera - London (US affiliates)</a:t>
            </a:r>
            <a:endParaRPr lang="en-US" sz="1000" dirty="0"/>
          </a:p>
        </p:txBody>
      </p:sp>
      <p:sp>
        <p:nvSpPr>
          <p:cNvPr id="80" name="Shape 77"/>
          <p:cNvSpPr/>
          <p:nvPr/>
        </p:nvSpPr>
        <p:spPr>
          <a:xfrm>
            <a:off x="2343607" y="4223614"/>
            <a:ext cx="1868119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2384755" y="4241902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2%</a:t>
            </a:r>
            <a:endParaRPr lang="en-US" sz="1000" dirty="0"/>
          </a:p>
        </p:txBody>
      </p:sp>
      <p:sp>
        <p:nvSpPr>
          <p:cNvPr id="82" name="Shape 79"/>
          <p:cNvSpPr/>
          <p:nvPr/>
        </p:nvSpPr>
        <p:spPr>
          <a:xfrm>
            <a:off x="4211726" y="4223614"/>
            <a:ext cx="1868119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4252874" y="4241902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000" dirty="0"/>
          </a:p>
        </p:txBody>
      </p:sp>
      <p:sp>
        <p:nvSpPr>
          <p:cNvPr id="84" name="Shape 81"/>
          <p:cNvSpPr/>
          <p:nvPr/>
        </p:nvSpPr>
        <p:spPr>
          <a:xfrm>
            <a:off x="6079846" y="4223614"/>
            <a:ext cx="1868119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6120994" y="4241902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77%</a:t>
            </a:r>
            <a:endParaRPr lang="en-US" sz="1000" dirty="0"/>
          </a:p>
        </p:txBody>
      </p:sp>
      <p:sp>
        <p:nvSpPr>
          <p:cNvPr id="86" name="Shape 83"/>
          <p:cNvSpPr/>
          <p:nvPr/>
        </p:nvSpPr>
        <p:spPr>
          <a:xfrm>
            <a:off x="7947965" y="4223614"/>
            <a:ext cx="1868119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7989113" y="4241902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21%</a:t>
            </a:r>
            <a:endParaRPr lang="en-US" sz="1000" dirty="0"/>
          </a:p>
        </p:txBody>
      </p:sp>
      <p:sp>
        <p:nvSpPr>
          <p:cNvPr id="88" name="Shape 85"/>
          <p:cNvSpPr/>
          <p:nvPr/>
        </p:nvSpPr>
        <p:spPr>
          <a:xfrm>
            <a:off x="9816084" y="4223614"/>
            <a:ext cx="1869948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9857232" y="4241902"/>
            <a:ext cx="1787652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000" dirty="0"/>
          </a:p>
        </p:txBody>
      </p:sp>
      <p:sp>
        <p:nvSpPr>
          <p:cNvPr id="90" name="Shape 87"/>
          <p:cNvSpPr/>
          <p:nvPr/>
        </p:nvSpPr>
        <p:spPr>
          <a:xfrm>
            <a:off x="475488" y="4604918"/>
            <a:ext cx="1868119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516636" y="4623206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Atlanta Braves</a:t>
            </a:r>
            <a:endParaRPr lang="en-US" sz="1000" dirty="0"/>
          </a:p>
        </p:txBody>
      </p:sp>
      <p:sp>
        <p:nvSpPr>
          <p:cNvPr id="92" name="Shape 89"/>
          <p:cNvSpPr/>
          <p:nvPr/>
        </p:nvSpPr>
        <p:spPr>
          <a:xfrm>
            <a:off x="2343607" y="4604918"/>
            <a:ext cx="1868119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2384755" y="4623206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1000" dirty="0"/>
          </a:p>
        </p:txBody>
      </p:sp>
      <p:sp>
        <p:nvSpPr>
          <p:cNvPr id="94" name="Shape 91"/>
          <p:cNvSpPr/>
          <p:nvPr/>
        </p:nvSpPr>
        <p:spPr>
          <a:xfrm>
            <a:off x="4211726" y="4604918"/>
            <a:ext cx="1868119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4252874" y="4623206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000" dirty="0"/>
          </a:p>
        </p:txBody>
      </p:sp>
      <p:sp>
        <p:nvSpPr>
          <p:cNvPr id="96" name="Shape 93"/>
          <p:cNvSpPr/>
          <p:nvPr/>
        </p:nvSpPr>
        <p:spPr>
          <a:xfrm>
            <a:off x="6079846" y="4604918"/>
            <a:ext cx="1868119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6120994" y="4623206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000" dirty="0"/>
          </a:p>
        </p:txBody>
      </p:sp>
      <p:sp>
        <p:nvSpPr>
          <p:cNvPr id="98" name="Shape 95"/>
          <p:cNvSpPr/>
          <p:nvPr/>
        </p:nvSpPr>
        <p:spPr>
          <a:xfrm>
            <a:off x="7947965" y="4604918"/>
            <a:ext cx="1868119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7989113" y="4623206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000" dirty="0"/>
          </a:p>
        </p:txBody>
      </p:sp>
      <p:sp>
        <p:nvSpPr>
          <p:cNvPr id="100" name="Shape 97"/>
          <p:cNvSpPr/>
          <p:nvPr/>
        </p:nvSpPr>
        <p:spPr>
          <a:xfrm>
            <a:off x="9816084" y="4604918"/>
            <a:ext cx="1869948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1" name="Text 98"/>
          <p:cNvSpPr/>
          <p:nvPr/>
        </p:nvSpPr>
        <p:spPr>
          <a:xfrm>
            <a:off x="9857232" y="4623206"/>
            <a:ext cx="1787652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000" dirty="0"/>
          </a:p>
        </p:txBody>
      </p:sp>
      <p:sp>
        <p:nvSpPr>
          <p:cNvPr id="102" name="Shape 99"/>
          <p:cNvSpPr/>
          <p:nvPr/>
        </p:nvSpPr>
        <p:spPr>
          <a:xfrm>
            <a:off x="475488" y="4986223"/>
            <a:ext cx="1868119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3" name="Text 100"/>
          <p:cNvSpPr/>
          <p:nvPr/>
        </p:nvSpPr>
        <p:spPr>
          <a:xfrm>
            <a:off x="516636" y="5004511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Abba Voyage (US Affiliates)</a:t>
            </a:r>
            <a:endParaRPr lang="en-US" sz="1000" dirty="0"/>
          </a:p>
        </p:txBody>
      </p:sp>
      <p:sp>
        <p:nvSpPr>
          <p:cNvPr id="104" name="Shape 101"/>
          <p:cNvSpPr/>
          <p:nvPr/>
        </p:nvSpPr>
        <p:spPr>
          <a:xfrm>
            <a:off x="2343607" y="4986223"/>
            <a:ext cx="1868119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5" name="Text 102"/>
          <p:cNvSpPr/>
          <p:nvPr/>
        </p:nvSpPr>
        <p:spPr>
          <a:xfrm>
            <a:off x="2384755" y="5004511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6%</a:t>
            </a:r>
            <a:endParaRPr lang="en-US" sz="1000" dirty="0"/>
          </a:p>
        </p:txBody>
      </p:sp>
      <p:sp>
        <p:nvSpPr>
          <p:cNvPr id="106" name="Shape 103"/>
          <p:cNvSpPr/>
          <p:nvPr/>
        </p:nvSpPr>
        <p:spPr>
          <a:xfrm>
            <a:off x="4211726" y="4986223"/>
            <a:ext cx="1868119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7" name="Text 104"/>
          <p:cNvSpPr/>
          <p:nvPr/>
        </p:nvSpPr>
        <p:spPr>
          <a:xfrm>
            <a:off x="4252874" y="5004511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49%</a:t>
            </a:r>
            <a:endParaRPr lang="en-US" sz="1000" dirty="0"/>
          </a:p>
        </p:txBody>
      </p:sp>
      <p:sp>
        <p:nvSpPr>
          <p:cNvPr id="108" name="Shape 105"/>
          <p:cNvSpPr/>
          <p:nvPr/>
        </p:nvSpPr>
        <p:spPr>
          <a:xfrm>
            <a:off x="6079846" y="4986223"/>
            <a:ext cx="1868119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6120994" y="5004511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000" dirty="0"/>
          </a:p>
        </p:txBody>
      </p:sp>
      <p:sp>
        <p:nvSpPr>
          <p:cNvPr id="110" name="Shape 107"/>
          <p:cNvSpPr/>
          <p:nvPr/>
        </p:nvSpPr>
        <p:spPr>
          <a:xfrm>
            <a:off x="7947965" y="4986223"/>
            <a:ext cx="1868119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1" name="Text 108"/>
          <p:cNvSpPr/>
          <p:nvPr/>
        </p:nvSpPr>
        <p:spPr>
          <a:xfrm>
            <a:off x="7989113" y="5004511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45%</a:t>
            </a:r>
            <a:endParaRPr lang="en-US" sz="1000" dirty="0"/>
          </a:p>
        </p:txBody>
      </p:sp>
      <p:sp>
        <p:nvSpPr>
          <p:cNvPr id="112" name="Shape 109"/>
          <p:cNvSpPr/>
          <p:nvPr/>
        </p:nvSpPr>
        <p:spPr>
          <a:xfrm>
            <a:off x="9816084" y="4986223"/>
            <a:ext cx="1869948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3" name="Text 110"/>
          <p:cNvSpPr/>
          <p:nvPr/>
        </p:nvSpPr>
        <p:spPr>
          <a:xfrm>
            <a:off x="9857232" y="5004511"/>
            <a:ext cx="1787652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000" dirty="0"/>
          </a:p>
        </p:txBody>
      </p:sp>
      <p:sp>
        <p:nvSpPr>
          <p:cNvPr id="114" name="Shape 111"/>
          <p:cNvSpPr/>
          <p:nvPr/>
        </p:nvSpPr>
        <p:spPr>
          <a:xfrm>
            <a:off x="475488" y="5367528"/>
            <a:ext cx="1868119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5" name="Text 112"/>
          <p:cNvSpPr/>
          <p:nvPr/>
        </p:nvSpPr>
        <p:spPr>
          <a:xfrm>
            <a:off x="516636" y="5385816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York Yankees Limited Partnership</a:t>
            </a:r>
            <a:endParaRPr lang="en-US" sz="1000" dirty="0"/>
          </a:p>
        </p:txBody>
      </p:sp>
      <p:sp>
        <p:nvSpPr>
          <p:cNvPr id="116" name="Shape 113"/>
          <p:cNvSpPr/>
          <p:nvPr/>
        </p:nvSpPr>
        <p:spPr>
          <a:xfrm>
            <a:off x="2343607" y="5367528"/>
            <a:ext cx="1868119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7" name="Text 114"/>
          <p:cNvSpPr/>
          <p:nvPr/>
        </p:nvSpPr>
        <p:spPr>
          <a:xfrm>
            <a:off x="2384755" y="5385816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000" dirty="0"/>
          </a:p>
        </p:txBody>
      </p:sp>
      <p:sp>
        <p:nvSpPr>
          <p:cNvPr id="118" name="Shape 115"/>
          <p:cNvSpPr/>
          <p:nvPr/>
        </p:nvSpPr>
        <p:spPr>
          <a:xfrm>
            <a:off x="4211726" y="5367528"/>
            <a:ext cx="1868119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9" name="Text 116"/>
          <p:cNvSpPr/>
          <p:nvPr/>
        </p:nvSpPr>
        <p:spPr>
          <a:xfrm>
            <a:off x="4252874" y="5385816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4%</a:t>
            </a:r>
            <a:endParaRPr lang="en-US" sz="1000" dirty="0"/>
          </a:p>
        </p:txBody>
      </p:sp>
      <p:sp>
        <p:nvSpPr>
          <p:cNvPr id="120" name="Shape 117"/>
          <p:cNvSpPr/>
          <p:nvPr/>
        </p:nvSpPr>
        <p:spPr>
          <a:xfrm>
            <a:off x="6079846" y="5367528"/>
            <a:ext cx="1868119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1" name="Text 118"/>
          <p:cNvSpPr/>
          <p:nvPr/>
        </p:nvSpPr>
        <p:spPr>
          <a:xfrm>
            <a:off x="6120994" y="5385816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000" dirty="0"/>
          </a:p>
        </p:txBody>
      </p:sp>
      <p:sp>
        <p:nvSpPr>
          <p:cNvPr id="122" name="Shape 119"/>
          <p:cNvSpPr/>
          <p:nvPr/>
        </p:nvSpPr>
        <p:spPr>
          <a:xfrm>
            <a:off x="7947965" y="5367528"/>
            <a:ext cx="1868119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3" name="Text 120"/>
          <p:cNvSpPr/>
          <p:nvPr/>
        </p:nvSpPr>
        <p:spPr>
          <a:xfrm>
            <a:off x="7989113" y="5385816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92%</a:t>
            </a:r>
            <a:endParaRPr lang="en-US" sz="1000" dirty="0"/>
          </a:p>
        </p:txBody>
      </p:sp>
      <p:sp>
        <p:nvSpPr>
          <p:cNvPr id="124" name="Shape 121"/>
          <p:cNvSpPr/>
          <p:nvPr/>
        </p:nvSpPr>
        <p:spPr>
          <a:xfrm>
            <a:off x="9816084" y="5367528"/>
            <a:ext cx="1869948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5" name="Text 122"/>
          <p:cNvSpPr/>
          <p:nvPr/>
        </p:nvSpPr>
        <p:spPr>
          <a:xfrm>
            <a:off x="9857232" y="5385816"/>
            <a:ext cx="1787652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4%</a:t>
            </a:r>
            <a:endParaRPr lang="en-US" sz="1000" dirty="0"/>
          </a:p>
        </p:txBody>
      </p:sp>
      <p:sp>
        <p:nvSpPr>
          <p:cNvPr id="126" name="Shape 123"/>
          <p:cNvSpPr/>
          <p:nvPr/>
        </p:nvSpPr>
        <p:spPr>
          <a:xfrm>
            <a:off x="475488" y="5748833"/>
            <a:ext cx="1868119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7" name="Text 124"/>
          <p:cNvSpPr/>
          <p:nvPr/>
        </p:nvSpPr>
        <p:spPr>
          <a:xfrm>
            <a:off x="516636" y="5767121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Cosm</a:t>
            </a:r>
            <a:endParaRPr lang="en-US" sz="1000" dirty="0"/>
          </a:p>
        </p:txBody>
      </p:sp>
      <p:sp>
        <p:nvSpPr>
          <p:cNvPr id="128" name="Shape 125"/>
          <p:cNvSpPr/>
          <p:nvPr/>
        </p:nvSpPr>
        <p:spPr>
          <a:xfrm>
            <a:off x="2343607" y="5748833"/>
            <a:ext cx="1868119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9" name="Text 126"/>
          <p:cNvSpPr/>
          <p:nvPr/>
        </p:nvSpPr>
        <p:spPr>
          <a:xfrm>
            <a:off x="2384755" y="5767121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000" dirty="0"/>
          </a:p>
        </p:txBody>
      </p:sp>
      <p:sp>
        <p:nvSpPr>
          <p:cNvPr id="130" name="Shape 127"/>
          <p:cNvSpPr/>
          <p:nvPr/>
        </p:nvSpPr>
        <p:spPr>
          <a:xfrm>
            <a:off x="4211726" y="5748833"/>
            <a:ext cx="1868119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1" name="Text 128"/>
          <p:cNvSpPr/>
          <p:nvPr/>
        </p:nvSpPr>
        <p:spPr>
          <a:xfrm>
            <a:off x="4252874" y="5767121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3%</a:t>
            </a:r>
            <a:endParaRPr lang="en-US" sz="1000" dirty="0"/>
          </a:p>
        </p:txBody>
      </p:sp>
      <p:sp>
        <p:nvSpPr>
          <p:cNvPr id="132" name="Shape 129"/>
          <p:cNvSpPr/>
          <p:nvPr/>
        </p:nvSpPr>
        <p:spPr>
          <a:xfrm>
            <a:off x="6079846" y="5748833"/>
            <a:ext cx="1868119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3" name="Text 130"/>
          <p:cNvSpPr/>
          <p:nvPr/>
        </p:nvSpPr>
        <p:spPr>
          <a:xfrm>
            <a:off x="6120994" y="5767121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000" dirty="0"/>
          </a:p>
        </p:txBody>
      </p:sp>
      <p:sp>
        <p:nvSpPr>
          <p:cNvPr id="134" name="Shape 131"/>
          <p:cNvSpPr/>
          <p:nvPr/>
        </p:nvSpPr>
        <p:spPr>
          <a:xfrm>
            <a:off x="7947965" y="5748833"/>
            <a:ext cx="1868119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5" name="Text 132"/>
          <p:cNvSpPr/>
          <p:nvPr/>
        </p:nvSpPr>
        <p:spPr>
          <a:xfrm>
            <a:off x="7989113" y="5767121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97%</a:t>
            </a:r>
            <a:endParaRPr lang="en-US" sz="1000" dirty="0"/>
          </a:p>
        </p:txBody>
      </p:sp>
      <p:sp>
        <p:nvSpPr>
          <p:cNvPr id="136" name="Shape 133"/>
          <p:cNvSpPr/>
          <p:nvPr/>
        </p:nvSpPr>
        <p:spPr>
          <a:xfrm>
            <a:off x="9816084" y="5748833"/>
            <a:ext cx="1869948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7" name="Text 134"/>
          <p:cNvSpPr/>
          <p:nvPr/>
        </p:nvSpPr>
        <p:spPr>
          <a:xfrm>
            <a:off x="9857232" y="5767121"/>
            <a:ext cx="1787652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publisher-qbr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Highlights &amp; Business Implications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58368" y="1773936"/>
            <a:ext cx="310896" cy="310896"/>
          </a:xfrm>
          <a:prstGeom prst="roundRect">
            <a:avLst/>
          </a:prstGeom>
          <a:solidFill>
            <a:srgbClr val="F3F4F6">
              <a:alpha val="7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" y="1847088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78992" y="171907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78992" y="2029968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$182 vs $13,782 (-98.7%).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58368" y="2761488"/>
            <a:ext cx="310896" cy="310896"/>
          </a:xfrm>
          <a:prstGeom prst="roundRect">
            <a:avLst/>
          </a:prstGeom>
          <a:solidFill>
            <a:srgbClr val="F3F4F6">
              <a:alpha val="7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8096" y="2834640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8992" y="270662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78992" y="3017520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$182 vs $13,782 (-98.7%).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658368" y="3749040"/>
            <a:ext cx="310896" cy="310896"/>
          </a:xfrm>
          <a:prstGeom prst="roundRect">
            <a:avLst/>
          </a:prstGeom>
          <a:solidFill>
            <a:srgbClr val="F3F4F6">
              <a:alpha val="7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8096" y="3822192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78992" y="369417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Wallet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78992" y="4005072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 vs $0 (N/A).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658368" y="4736592"/>
            <a:ext cx="310896" cy="310896"/>
          </a:xfrm>
          <a:prstGeom prst="roundRect">
            <a:avLst/>
          </a:prstGeom>
          <a:solidFill>
            <a:srgbClr val="F3F4F6">
              <a:alpha val="7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8096" y="4809744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78992" y="4681728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Value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078992" y="4992624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$5,016 vs $197,999 (-97.5%).</a:t>
            </a:r>
            <a:endParaRPr lang="en-US" sz="1080" dirty="0"/>
          </a:p>
        </p:txBody>
      </p:sp>
      <p:sp>
        <p:nvSpPr>
          <p:cNvPr id="21" name="Shape 18"/>
          <p:cNvSpPr/>
          <p:nvPr/>
        </p:nvSpPr>
        <p:spPr>
          <a:xfrm>
            <a:off x="658368" y="5724144"/>
            <a:ext cx="310896" cy="310896"/>
          </a:xfrm>
          <a:prstGeom prst="roundRect">
            <a:avLst/>
          </a:prstGeom>
          <a:solidFill>
            <a:srgbClr val="F3F4F6">
              <a:alpha val="7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68096" y="5797296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078992" y="566928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Conversions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078992" y="5980176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vs 938 (-96.8%).</a:t>
            </a:r>
            <a:endParaRPr lang="en-US" sz="10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publisher-qbr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risks and dependencies for the next review cycle.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4201668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75488" y="1874520"/>
            <a:ext cx="1677010" cy="763524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16636" y="1892808"/>
            <a:ext cx="1594714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152498" y="1874520"/>
            <a:ext cx="2648102" cy="763524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193646" y="1892808"/>
            <a:ext cx="2565806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800600" y="1874520"/>
            <a:ext cx="2029968" cy="763524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41748" y="1892808"/>
            <a:ext cx="1947672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 / Risk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830568" y="1874520"/>
            <a:ext cx="4854550" cy="763524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71716" y="1892808"/>
            <a:ext cx="4772254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Detail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75488" y="2638044"/>
            <a:ext cx="1677010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16636" y="2656332"/>
            <a:ext cx="159471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/ Dependency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152498" y="2638044"/>
            <a:ext cx="2648102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193646" y="2656332"/>
            <a:ext cx="256580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800600" y="2638044"/>
            <a:ext cx="2029968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41748" y="2656332"/>
            <a:ext cx="1947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830568" y="2638044"/>
            <a:ext cx="4854550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871716" y="2656332"/>
            <a:ext cx="47722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75488" y="3296412"/>
            <a:ext cx="1677010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16636" y="3314700"/>
            <a:ext cx="159471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/ Dependency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2152498" y="3296412"/>
            <a:ext cx="2648102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193646" y="3314700"/>
            <a:ext cx="256580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800600" y="3296412"/>
            <a:ext cx="2029968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41748" y="3314700"/>
            <a:ext cx="1947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830568" y="3296412"/>
            <a:ext cx="4854550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871716" y="3314700"/>
            <a:ext cx="47722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75488" y="3954780"/>
            <a:ext cx="1677010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16636" y="3973068"/>
            <a:ext cx="159471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/ Dependency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2152498" y="3954780"/>
            <a:ext cx="2648102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193646" y="3973068"/>
            <a:ext cx="256580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800600" y="3954780"/>
            <a:ext cx="2029968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841748" y="3973068"/>
            <a:ext cx="1947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830568" y="3954780"/>
            <a:ext cx="4854550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871716" y="3973068"/>
            <a:ext cx="47722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475488" y="4613148"/>
            <a:ext cx="1677010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16636" y="4631436"/>
            <a:ext cx="159471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/ Dependency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2152498" y="4613148"/>
            <a:ext cx="2648102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2193646" y="4631436"/>
            <a:ext cx="256580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4800600" y="4613148"/>
            <a:ext cx="2029968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841748" y="4631436"/>
            <a:ext cx="1947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6830568" y="4613148"/>
            <a:ext cx="4854550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871716" y="4631436"/>
            <a:ext cx="47722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475488" y="5271516"/>
            <a:ext cx="1677010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16636" y="5289804"/>
            <a:ext cx="159471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/ Dependency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2152498" y="5271516"/>
            <a:ext cx="2648102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2193646" y="5289804"/>
            <a:ext cx="256580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4800600" y="5271516"/>
            <a:ext cx="2029968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4841748" y="5289804"/>
            <a:ext cx="1947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6830568" y="5271516"/>
            <a:ext cx="4854550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6871716" y="5289804"/>
            <a:ext cx="47722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publisher-qbr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3258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digidip - Thank you.</a:t>
            </a:r>
            <a:endParaRPr lang="en-US" sz="2500" dirty="0"/>
          </a:p>
        </p:txBody>
      </p:sp>
      <p:sp>
        <p:nvSpPr>
          <p:cNvPr id="4" name="Shape 1"/>
          <p:cNvSpPr/>
          <p:nvPr/>
        </p:nvSpPr>
        <p:spPr>
          <a:xfrm>
            <a:off x="566928" y="2331720"/>
            <a:ext cx="11018520" cy="1024128"/>
          </a:xfrm>
          <a:prstGeom prst="roundRect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>
                <a:alpha val="45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" y="2596896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Questions?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digidip</dc:title>
  <dc:subject>Quarterly business review</dc:subject>
  <dc:creator>QBR PPTX Service</dc:creator>
  <cp:lastModifiedBy>QBR PPTX Service</cp:lastModifiedBy>
  <cp:revision>1</cp:revision>
  <dcterms:created xsi:type="dcterms:W3CDTF">2026-06-04T12:58:45Z</dcterms:created>
  <dcterms:modified xsi:type="dcterms:W3CDTF">2026-06-04T12:58:45Z</dcterms:modified>
</cp:coreProperties>
</file>