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F6F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publisher-qbr\assets\qbr-bg-blu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1792" y="621792"/>
            <a:ext cx="1056132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digidip performance review</a:t>
            </a:r>
            <a:endParaRPr lang="en-US" sz="2900" dirty="0"/>
          </a:p>
        </p:txBody>
      </p:sp>
      <p:sp>
        <p:nvSpPr>
          <p:cNvPr id="4" name="Text 1"/>
          <p:cNvSpPr/>
          <p:nvPr/>
        </p:nvSpPr>
        <p:spPr>
          <a:xfrm>
            <a:off x="621792" y="1828800"/>
            <a:ext cx="103784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data-led review of digidip publisher programme performance, programme activation, competitor context and next-cycle priorities.</a:t>
            </a:r>
            <a:endParaRPr lang="en-US" sz="1220" dirty="0"/>
          </a:p>
        </p:txBody>
      </p:sp>
      <p:sp>
        <p:nvSpPr>
          <p:cNvPr id="5" name="Shape 2"/>
          <p:cNvSpPr/>
          <p:nvPr/>
        </p:nvSpPr>
        <p:spPr>
          <a:xfrm>
            <a:off x="621792" y="2743200"/>
            <a:ext cx="1170432" cy="329184"/>
          </a:xfrm>
          <a:prstGeom prst="roundRect">
            <a:avLst/>
          </a:prstGeom>
          <a:solidFill>
            <a:srgbClr val="F3F4F6">
              <a:alpha val="7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58952" y="2816352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QBR Report</a:t>
            </a:r>
            <a:endParaRPr lang="en-US" sz="850" dirty="0"/>
          </a:p>
        </p:txBody>
      </p:sp>
      <p:sp>
        <p:nvSpPr>
          <p:cNvPr id="7" name="Shape 4"/>
          <p:cNvSpPr/>
          <p:nvPr/>
        </p:nvSpPr>
        <p:spPr>
          <a:xfrm>
            <a:off x="1883664" y="2743200"/>
            <a:ext cx="2423160" cy="329184"/>
          </a:xfrm>
          <a:prstGeom prst="roundRect">
            <a:avLst/>
          </a:prstGeom>
          <a:solidFill>
            <a:srgbClr val="2F6FF2">
              <a:alpha val="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993392" y="2816352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80D4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Apr 2026 – May 2026 Analysis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566928" y="3858768"/>
            <a:ext cx="1965960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80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td</a:t>
            </a:r>
            <a:endParaRPr lang="en-US" sz="11800" dirty="0"/>
          </a:p>
        </p:txBody>
      </p:sp>
      <p:sp>
        <p:nvSpPr>
          <p:cNvPr id="10" name="Text 7"/>
          <p:cNvSpPr/>
          <p:nvPr/>
        </p:nvSpPr>
        <p:spPr>
          <a:xfrm>
            <a:off x="694944" y="5879592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tradedoubler</a:t>
            </a:r>
            <a:endParaRPr lang="en-US" sz="102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publisher-qbr\assets\qbr-bg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6F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Reporting Period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640080" y="131673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F6F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Current and YoY comparison windows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182880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Current Period</a:t>
            </a:r>
            <a:endParaRPr lang="en-US" sz="2100" dirty="0"/>
          </a:p>
        </p:txBody>
      </p:sp>
      <p:sp>
        <p:nvSpPr>
          <p:cNvPr id="6" name="Text 3"/>
          <p:cNvSpPr/>
          <p:nvPr/>
        </p:nvSpPr>
        <p:spPr>
          <a:xfrm>
            <a:off x="6309360" y="182880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Comparison Period (YoY)</a:t>
            </a:r>
            <a:endParaRPr lang="en-US" sz="2100" dirty="0"/>
          </a:p>
        </p:txBody>
      </p:sp>
      <p:sp>
        <p:nvSpPr>
          <p:cNvPr id="7" name="Text 4"/>
          <p:cNvSpPr/>
          <p:nvPr/>
        </p:nvSpPr>
        <p:spPr>
          <a:xfrm>
            <a:off x="640080" y="233172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Reporting Period: 1 April 2026 – 4 May 2026</a:t>
            </a:r>
            <a:endParaRPr lang="en-US" sz="1080" dirty="0"/>
          </a:p>
        </p:txBody>
      </p:sp>
      <p:sp>
        <p:nvSpPr>
          <p:cNvPr id="8" name="Text 5"/>
          <p:cNvSpPr/>
          <p:nvPr/>
        </p:nvSpPr>
        <p:spPr>
          <a:xfrm>
            <a:off x="640080" y="2615184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 as of: 4 May 2026</a:t>
            </a:r>
            <a:endParaRPr lang="en-US" sz="1080" dirty="0"/>
          </a:p>
        </p:txBody>
      </p:sp>
      <p:sp>
        <p:nvSpPr>
          <p:cNvPr id="9" name="Text 6"/>
          <p:cNvSpPr/>
          <p:nvPr/>
        </p:nvSpPr>
        <p:spPr>
          <a:xfrm>
            <a:off x="6309360" y="233172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Comparison Period: 1 April 2025 – 4 May 2025</a:t>
            </a:r>
            <a:endParaRPr lang="en-US" sz="1080" dirty="0"/>
          </a:p>
        </p:txBody>
      </p:sp>
      <p:sp>
        <p:nvSpPr>
          <p:cNvPr id="10" name="Text 7"/>
          <p:cNvSpPr/>
          <p:nvPr/>
        </p:nvSpPr>
        <p:spPr>
          <a:xfrm>
            <a:off x="6309360" y="2615184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Basis: Year-over-Year (YoY)</a:t>
            </a:r>
            <a:endParaRPr lang="en-US" sz="1080" dirty="0"/>
          </a:p>
        </p:txBody>
      </p:sp>
      <p:sp>
        <p:nvSpPr>
          <p:cNvPr id="11" name="Shape 8"/>
          <p:cNvSpPr/>
          <p:nvPr/>
        </p:nvSpPr>
        <p:spPr>
          <a:xfrm>
            <a:off x="640080" y="3246120"/>
            <a:ext cx="10927080" cy="960120"/>
          </a:xfrm>
          <a:prstGeom prst="roundRect">
            <a:avLst/>
          </a:prstGeom>
          <a:solidFill>
            <a:srgbClr val="AFC4F5">
              <a:alpha val="90000"/>
            </a:srgbClr>
          </a:solidFill>
          <a:ln w="12700">
            <a:solidFill>
              <a:srgbClr val="AFC4F5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68680" y="3566160"/>
            <a:ext cx="10378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4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▭  All figures are reported in USD ($) unless otherwise stated. YoY variance is calculated as Current Period vs Comparison Period.</a:t>
            </a:r>
            <a:endParaRPr lang="en-US" sz="114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publisher-qbr\assets\qbr-bg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Executive KPI Tiles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640080" y="1965960"/>
            <a:ext cx="3493008" cy="1353312"/>
          </a:xfrm>
          <a:prstGeom prst="rect">
            <a:avLst/>
          </a:prstGeom>
          <a:solidFill>
            <a:srgbClr val="F3F4F6"/>
          </a:solidFill>
          <a:ln w="12700">
            <a:solidFill>
              <a:srgbClr val="D8DCE5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640080" y="1965960"/>
            <a:ext cx="3493008" cy="73152"/>
          </a:xfrm>
          <a:prstGeom prst="rect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2139696" y="1719072"/>
            <a:ext cx="493776" cy="493776"/>
          </a:xfrm>
          <a:prstGeom prst="ellipse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2267712" y="1847088"/>
            <a:ext cx="2377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3F4F6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☰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841248" y="2423160"/>
            <a:ext cx="32186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Conversions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841248" y="2752344"/>
            <a:ext cx="31729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30 vs 938 PY - </a:t>
            </a:r>
            <a:pPr indent="0" marL="0">
              <a:buNone/>
            </a:pPr>
            <a:r>
              <a:rPr lang="en-US" sz="1020" dirty="0">
                <a:solidFill>
                  <a:srgbClr val="EB57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▼ -96.8%</a:t>
            </a:r>
            <a:endParaRPr lang="en-US" sz="1020" dirty="0"/>
          </a:p>
        </p:txBody>
      </p:sp>
      <p:sp>
        <p:nvSpPr>
          <p:cNvPr id="10" name="Shape 7"/>
          <p:cNvSpPr/>
          <p:nvPr/>
        </p:nvSpPr>
        <p:spPr>
          <a:xfrm>
            <a:off x="4352544" y="1965960"/>
            <a:ext cx="3493008" cy="1353312"/>
          </a:xfrm>
          <a:prstGeom prst="rect">
            <a:avLst/>
          </a:prstGeom>
          <a:solidFill>
            <a:srgbClr val="F3F4F6"/>
          </a:solidFill>
          <a:ln w="12700">
            <a:solidFill>
              <a:srgbClr val="D8DCE5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352544" y="1965960"/>
            <a:ext cx="3493008" cy="73152"/>
          </a:xfrm>
          <a:prstGeom prst="rect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5852160" y="1719072"/>
            <a:ext cx="493776" cy="493776"/>
          </a:xfrm>
          <a:prstGeom prst="ellipse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980176" y="1847088"/>
            <a:ext cx="2377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3F4F6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▤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4553712" y="2423160"/>
            <a:ext cx="32186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Total Order Value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4553712" y="2752344"/>
            <a:ext cx="31729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$5,016 vs $197,999 PY - </a:t>
            </a:r>
            <a:pPr indent="0" marL="0">
              <a:buNone/>
            </a:pPr>
            <a:r>
              <a:rPr lang="en-US" sz="1020" dirty="0">
                <a:solidFill>
                  <a:srgbClr val="EB57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▼ -97.5%</a:t>
            </a:r>
            <a:endParaRPr lang="en-US" sz="1020" dirty="0"/>
          </a:p>
        </p:txBody>
      </p:sp>
      <p:sp>
        <p:nvSpPr>
          <p:cNvPr id="16" name="Shape 13"/>
          <p:cNvSpPr/>
          <p:nvPr/>
        </p:nvSpPr>
        <p:spPr>
          <a:xfrm>
            <a:off x="8065008" y="1965960"/>
            <a:ext cx="3493008" cy="1353312"/>
          </a:xfrm>
          <a:prstGeom prst="rect">
            <a:avLst/>
          </a:prstGeom>
          <a:solidFill>
            <a:srgbClr val="F3F4F6"/>
          </a:solidFill>
          <a:ln w="12700">
            <a:solidFill>
              <a:srgbClr val="D8DCE5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8065008" y="1965960"/>
            <a:ext cx="3493008" cy="73152"/>
          </a:xfrm>
          <a:prstGeom prst="rect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9564624" y="1719072"/>
            <a:ext cx="493776" cy="493776"/>
          </a:xfrm>
          <a:prstGeom prst="ellipse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9692640" y="1847088"/>
            <a:ext cx="2377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3F4F6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◆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8266176" y="2423160"/>
            <a:ext cx="32186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Publisher Commission</a:t>
            </a:r>
            <a:endParaRPr lang="en-US" sz="1050" dirty="0"/>
          </a:p>
        </p:txBody>
      </p:sp>
      <p:sp>
        <p:nvSpPr>
          <p:cNvPr id="21" name="Text 18"/>
          <p:cNvSpPr/>
          <p:nvPr/>
        </p:nvSpPr>
        <p:spPr>
          <a:xfrm>
            <a:off x="8266176" y="2752344"/>
            <a:ext cx="31729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$182 vs $13,782 PY - </a:t>
            </a:r>
            <a:pPr indent="0" marL="0">
              <a:buNone/>
            </a:pPr>
            <a:r>
              <a:rPr lang="en-US" sz="1020" dirty="0">
                <a:solidFill>
                  <a:srgbClr val="EB57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▼ -98.7%</a:t>
            </a:r>
            <a:endParaRPr lang="en-US" sz="1020" dirty="0"/>
          </a:p>
        </p:txBody>
      </p:sp>
      <p:sp>
        <p:nvSpPr>
          <p:cNvPr id="22" name="Shape 19"/>
          <p:cNvSpPr/>
          <p:nvPr/>
        </p:nvSpPr>
        <p:spPr>
          <a:xfrm>
            <a:off x="2496312" y="3758184"/>
            <a:ext cx="3493008" cy="1353312"/>
          </a:xfrm>
          <a:prstGeom prst="rect">
            <a:avLst/>
          </a:prstGeom>
          <a:solidFill>
            <a:srgbClr val="F3F4F6"/>
          </a:solidFill>
          <a:ln w="12700">
            <a:solidFill>
              <a:srgbClr val="D8DCE5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2496312" y="3758184"/>
            <a:ext cx="3493008" cy="73152"/>
          </a:xfrm>
          <a:prstGeom prst="rect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3995928" y="3511296"/>
            <a:ext cx="493776" cy="493776"/>
          </a:xfrm>
          <a:prstGeom prst="ellipse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4123944" y="3639312"/>
            <a:ext cx="2377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3F4F6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▣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2697480" y="4215384"/>
            <a:ext cx="32186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Digital Wallet</a:t>
            </a:r>
            <a:endParaRPr lang="en-US" sz="1050" dirty="0"/>
          </a:p>
        </p:txBody>
      </p:sp>
      <p:sp>
        <p:nvSpPr>
          <p:cNvPr id="27" name="Text 24"/>
          <p:cNvSpPr/>
          <p:nvPr/>
        </p:nvSpPr>
        <p:spPr>
          <a:xfrm>
            <a:off x="2697480" y="4544568"/>
            <a:ext cx="31729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$0 vs $0 PY - </a:t>
            </a:r>
            <a:pPr indent="0" marL="0">
              <a:buNone/>
            </a:pPr>
            <a:r>
              <a:rPr lang="en-US" sz="102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N/A</a:t>
            </a:r>
            <a:endParaRPr lang="en-US" sz="1020" dirty="0"/>
          </a:p>
        </p:txBody>
      </p:sp>
      <p:sp>
        <p:nvSpPr>
          <p:cNvPr id="28" name="Shape 25"/>
          <p:cNvSpPr/>
          <p:nvPr/>
        </p:nvSpPr>
        <p:spPr>
          <a:xfrm>
            <a:off x="6208776" y="3758184"/>
            <a:ext cx="3493008" cy="1353312"/>
          </a:xfrm>
          <a:prstGeom prst="rect">
            <a:avLst/>
          </a:prstGeom>
          <a:solidFill>
            <a:srgbClr val="F3F4F6"/>
          </a:solidFill>
          <a:ln w="12700">
            <a:solidFill>
              <a:srgbClr val="D8DCE5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6208776" y="3758184"/>
            <a:ext cx="3493008" cy="73152"/>
          </a:xfrm>
          <a:prstGeom prst="rect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7708392" y="3511296"/>
            <a:ext cx="493776" cy="493776"/>
          </a:xfrm>
          <a:prstGeom prst="ellipse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7836408" y="3639312"/>
            <a:ext cx="2377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3F4F6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▲</a:t>
            </a:r>
            <a:endParaRPr lang="en-US" sz="1200" dirty="0"/>
          </a:p>
        </p:txBody>
      </p:sp>
      <p:sp>
        <p:nvSpPr>
          <p:cNvPr id="32" name="Text 29"/>
          <p:cNvSpPr/>
          <p:nvPr/>
        </p:nvSpPr>
        <p:spPr>
          <a:xfrm>
            <a:off x="6409944" y="4215384"/>
            <a:ext cx="32186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Total Earnings</a:t>
            </a:r>
            <a:endParaRPr lang="en-US" sz="1050" dirty="0"/>
          </a:p>
        </p:txBody>
      </p:sp>
      <p:sp>
        <p:nvSpPr>
          <p:cNvPr id="33" name="Text 30"/>
          <p:cNvSpPr/>
          <p:nvPr/>
        </p:nvSpPr>
        <p:spPr>
          <a:xfrm>
            <a:off x="6409944" y="4544568"/>
            <a:ext cx="31729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$182 vs $13,782 PY - </a:t>
            </a:r>
            <a:pPr indent="0" marL="0">
              <a:buNone/>
            </a:pPr>
            <a:r>
              <a:rPr lang="en-US" sz="1020" dirty="0">
                <a:solidFill>
                  <a:srgbClr val="EB57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▼ -98.7%</a:t>
            </a:r>
            <a:endParaRPr lang="en-US" sz="1020" dirty="0"/>
          </a:p>
        </p:txBody>
      </p:sp>
      <p:sp>
        <p:nvSpPr>
          <p:cNvPr id="34" name="Text 31"/>
          <p:cNvSpPr/>
          <p:nvPr/>
        </p:nvSpPr>
        <p:spPr>
          <a:xfrm>
            <a:off x="749808" y="5367528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3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Across 12 selected programs, performance was mixed in Apr 2026 – May 2026. While AOV grew N/A to - and conversion rate improved ▼ -96.3%, total sales declined N/A YoY driven by a ▼ -12.5% reduction in click volume. Total order value decreased ▼ -97.5% to $5,016. Full KPI breakdown follows on the next slides.</a:t>
            </a:r>
            <a:endParaRPr lang="en-US" sz="113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publisher-qbr\assets\qbr-bg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KPI Summary Table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640080" y="131673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F6F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Unified KPI breakdown vs prior year.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365760" y="1627632"/>
            <a:ext cx="11430000" cy="3543300"/>
          </a:xfrm>
          <a:prstGeom prst="rect">
            <a:avLst/>
          </a:prstGeom>
          <a:solidFill>
            <a:srgbClr val="F3F4F6"/>
          </a:solidFill>
          <a:ln w="12700">
            <a:solidFill>
              <a:srgbClr val="D6DAE3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75488" y="1719072"/>
            <a:ext cx="934517" cy="763524"/>
          </a:xfrm>
          <a:prstGeom prst="rect">
            <a:avLst/>
          </a:prstGeom>
          <a:solidFill>
            <a:srgbClr val="F1F3F7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16636" y="1737360"/>
            <a:ext cx="852221" cy="7269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Period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1410005" y="1719072"/>
            <a:ext cx="934517" cy="763524"/>
          </a:xfrm>
          <a:prstGeom prst="rect">
            <a:avLst/>
          </a:prstGeom>
          <a:solidFill>
            <a:srgbClr val="F1F3F7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451153" y="1737360"/>
            <a:ext cx="852221" cy="7269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Conversions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2344522" y="1719072"/>
            <a:ext cx="934517" cy="763524"/>
          </a:xfrm>
          <a:prstGeom prst="rect">
            <a:avLst/>
          </a:prstGeom>
          <a:solidFill>
            <a:srgbClr val="F1F3F7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2385670" y="1737360"/>
            <a:ext cx="852221" cy="7269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Conv Rate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3279038" y="1719072"/>
            <a:ext cx="934517" cy="763524"/>
          </a:xfrm>
          <a:prstGeom prst="rect">
            <a:avLst/>
          </a:prstGeom>
          <a:solidFill>
            <a:srgbClr val="F1F3F7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320186" y="1737360"/>
            <a:ext cx="852221" cy="7269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Clicks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4213555" y="1719072"/>
            <a:ext cx="934517" cy="763524"/>
          </a:xfrm>
          <a:prstGeom prst="rect">
            <a:avLst/>
          </a:prstGeom>
          <a:solidFill>
            <a:srgbClr val="F1F3F7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254703" y="1737360"/>
            <a:ext cx="852221" cy="7269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Earnings per Click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5148072" y="1719072"/>
            <a:ext cx="934517" cy="763524"/>
          </a:xfrm>
          <a:prstGeom prst="rect">
            <a:avLst/>
          </a:prstGeom>
          <a:solidFill>
            <a:srgbClr val="F1F3F7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189220" y="1737360"/>
            <a:ext cx="852221" cy="7269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Earnings per Commission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6082589" y="1719072"/>
            <a:ext cx="934517" cy="763524"/>
          </a:xfrm>
          <a:prstGeom prst="rect">
            <a:avLst/>
          </a:prstGeom>
          <a:solidFill>
            <a:srgbClr val="F1F3F7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123737" y="1737360"/>
            <a:ext cx="852221" cy="7269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Order Value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7017106" y="1719072"/>
            <a:ext cx="934517" cy="763524"/>
          </a:xfrm>
          <a:prstGeom prst="rect">
            <a:avLst/>
          </a:prstGeom>
          <a:solidFill>
            <a:srgbClr val="F1F3F7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7058254" y="1737360"/>
            <a:ext cx="852221" cy="7269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Publisher Commission</a:t>
            </a:r>
            <a:endParaRPr lang="en-US" sz="1050" dirty="0"/>
          </a:p>
        </p:txBody>
      </p:sp>
      <p:sp>
        <p:nvSpPr>
          <p:cNvPr id="22" name="Shape 19"/>
          <p:cNvSpPr/>
          <p:nvPr/>
        </p:nvSpPr>
        <p:spPr>
          <a:xfrm>
            <a:off x="7951622" y="1719072"/>
            <a:ext cx="934517" cy="763524"/>
          </a:xfrm>
          <a:prstGeom prst="rect">
            <a:avLst/>
          </a:prstGeom>
          <a:solidFill>
            <a:srgbClr val="F1F3F7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7992770" y="1737360"/>
            <a:ext cx="852221" cy="7269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Digital Wallet</a:t>
            </a:r>
            <a:endParaRPr lang="en-US" sz="1050" dirty="0"/>
          </a:p>
        </p:txBody>
      </p:sp>
      <p:sp>
        <p:nvSpPr>
          <p:cNvPr id="24" name="Shape 21"/>
          <p:cNvSpPr/>
          <p:nvPr/>
        </p:nvSpPr>
        <p:spPr>
          <a:xfrm>
            <a:off x="8886139" y="1719072"/>
            <a:ext cx="934517" cy="763524"/>
          </a:xfrm>
          <a:prstGeom prst="rect">
            <a:avLst/>
          </a:prstGeom>
          <a:solidFill>
            <a:srgbClr val="F1F3F7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8927287" y="1737360"/>
            <a:ext cx="852221" cy="7269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Total Earnings</a:t>
            </a:r>
            <a:endParaRPr lang="en-US" sz="1050" dirty="0"/>
          </a:p>
        </p:txBody>
      </p:sp>
      <p:sp>
        <p:nvSpPr>
          <p:cNvPr id="26" name="Shape 23"/>
          <p:cNvSpPr/>
          <p:nvPr/>
        </p:nvSpPr>
        <p:spPr>
          <a:xfrm>
            <a:off x="9820656" y="1719072"/>
            <a:ext cx="934517" cy="763524"/>
          </a:xfrm>
          <a:prstGeom prst="rect">
            <a:avLst/>
          </a:prstGeom>
          <a:solidFill>
            <a:srgbClr val="F1F3F7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9861804" y="1737360"/>
            <a:ext cx="852221" cy="7269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Active Programs</a:t>
            </a:r>
            <a:endParaRPr lang="en-US" sz="1050" dirty="0"/>
          </a:p>
        </p:txBody>
      </p:sp>
      <p:sp>
        <p:nvSpPr>
          <p:cNvPr id="28" name="Shape 25"/>
          <p:cNvSpPr/>
          <p:nvPr/>
        </p:nvSpPr>
        <p:spPr>
          <a:xfrm>
            <a:off x="10755173" y="1719072"/>
            <a:ext cx="930859" cy="763524"/>
          </a:xfrm>
          <a:prstGeom prst="rect">
            <a:avLst/>
          </a:prstGeom>
          <a:solidFill>
            <a:srgbClr val="F1F3F7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10796321" y="1737360"/>
            <a:ext cx="848563" cy="7269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Programs w/ Commission</a:t>
            </a:r>
            <a:endParaRPr lang="en-US" sz="1050" dirty="0"/>
          </a:p>
        </p:txBody>
      </p:sp>
      <p:sp>
        <p:nvSpPr>
          <p:cNvPr id="30" name="Shape 27"/>
          <p:cNvSpPr/>
          <p:nvPr/>
        </p:nvSpPr>
        <p:spPr>
          <a:xfrm>
            <a:off x="475488" y="2482596"/>
            <a:ext cx="934517" cy="658368"/>
          </a:xfrm>
          <a:prstGeom prst="rect">
            <a:avLst/>
          </a:prstGeom>
          <a:solidFill>
            <a:srgbClr val="F4F5F7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516636" y="2500884"/>
            <a:ext cx="852221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Recent</a:t>
            </a:r>
            <a:endParaRPr lang="en-US" sz="1000" dirty="0"/>
          </a:p>
        </p:txBody>
      </p:sp>
      <p:sp>
        <p:nvSpPr>
          <p:cNvPr id="32" name="Shape 29"/>
          <p:cNvSpPr/>
          <p:nvPr/>
        </p:nvSpPr>
        <p:spPr>
          <a:xfrm>
            <a:off x="1410005" y="2482596"/>
            <a:ext cx="934517" cy="658368"/>
          </a:xfrm>
          <a:prstGeom prst="rect">
            <a:avLst/>
          </a:prstGeom>
          <a:solidFill>
            <a:srgbClr val="F4F5F7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1451153" y="2500884"/>
            <a:ext cx="852221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30</a:t>
            </a:r>
            <a:endParaRPr lang="en-US" sz="1000" dirty="0"/>
          </a:p>
        </p:txBody>
      </p:sp>
      <p:sp>
        <p:nvSpPr>
          <p:cNvPr id="34" name="Shape 31"/>
          <p:cNvSpPr/>
          <p:nvPr/>
        </p:nvSpPr>
        <p:spPr>
          <a:xfrm>
            <a:off x="2344522" y="2482596"/>
            <a:ext cx="934517" cy="658368"/>
          </a:xfrm>
          <a:prstGeom prst="rect">
            <a:avLst/>
          </a:prstGeom>
          <a:solidFill>
            <a:srgbClr val="F4F5F7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2385670" y="2500884"/>
            <a:ext cx="852221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0.1%</a:t>
            </a:r>
            <a:endParaRPr lang="en-US" sz="1000" dirty="0"/>
          </a:p>
        </p:txBody>
      </p:sp>
      <p:sp>
        <p:nvSpPr>
          <p:cNvPr id="36" name="Shape 33"/>
          <p:cNvSpPr/>
          <p:nvPr/>
        </p:nvSpPr>
        <p:spPr>
          <a:xfrm>
            <a:off x="3279038" y="2482596"/>
            <a:ext cx="934517" cy="658368"/>
          </a:xfrm>
          <a:prstGeom prst="rect">
            <a:avLst/>
          </a:prstGeom>
          <a:solidFill>
            <a:srgbClr val="F4F5F7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3320186" y="2500884"/>
            <a:ext cx="852221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20,018</a:t>
            </a:r>
            <a:endParaRPr lang="en-US" sz="1000" dirty="0"/>
          </a:p>
        </p:txBody>
      </p:sp>
      <p:sp>
        <p:nvSpPr>
          <p:cNvPr id="38" name="Shape 35"/>
          <p:cNvSpPr/>
          <p:nvPr/>
        </p:nvSpPr>
        <p:spPr>
          <a:xfrm>
            <a:off x="4213555" y="2482596"/>
            <a:ext cx="934517" cy="658368"/>
          </a:xfrm>
          <a:prstGeom prst="rect">
            <a:avLst/>
          </a:prstGeom>
          <a:solidFill>
            <a:srgbClr val="F4F5F7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4254703" y="2500884"/>
            <a:ext cx="852221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$0.01</a:t>
            </a:r>
            <a:endParaRPr lang="en-US" sz="1000" dirty="0"/>
          </a:p>
        </p:txBody>
      </p:sp>
      <p:sp>
        <p:nvSpPr>
          <p:cNvPr id="40" name="Shape 37"/>
          <p:cNvSpPr/>
          <p:nvPr/>
        </p:nvSpPr>
        <p:spPr>
          <a:xfrm>
            <a:off x="5148072" y="2482596"/>
            <a:ext cx="934517" cy="658368"/>
          </a:xfrm>
          <a:prstGeom prst="rect">
            <a:avLst/>
          </a:prstGeom>
          <a:solidFill>
            <a:srgbClr val="F4F5F7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5189220" y="2500884"/>
            <a:ext cx="852221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1.00x</a:t>
            </a:r>
            <a:endParaRPr lang="en-US" sz="1000" dirty="0"/>
          </a:p>
        </p:txBody>
      </p:sp>
      <p:sp>
        <p:nvSpPr>
          <p:cNvPr id="42" name="Shape 39"/>
          <p:cNvSpPr/>
          <p:nvPr/>
        </p:nvSpPr>
        <p:spPr>
          <a:xfrm>
            <a:off x="6082589" y="2482596"/>
            <a:ext cx="934517" cy="658368"/>
          </a:xfrm>
          <a:prstGeom prst="rect">
            <a:avLst/>
          </a:prstGeom>
          <a:solidFill>
            <a:srgbClr val="F4F5F7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6123737" y="2500884"/>
            <a:ext cx="852221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$5,016</a:t>
            </a:r>
            <a:endParaRPr lang="en-US" sz="1000" dirty="0"/>
          </a:p>
        </p:txBody>
      </p:sp>
      <p:sp>
        <p:nvSpPr>
          <p:cNvPr id="44" name="Shape 41"/>
          <p:cNvSpPr/>
          <p:nvPr/>
        </p:nvSpPr>
        <p:spPr>
          <a:xfrm>
            <a:off x="7017106" y="2482596"/>
            <a:ext cx="934517" cy="658368"/>
          </a:xfrm>
          <a:prstGeom prst="rect">
            <a:avLst/>
          </a:prstGeom>
          <a:solidFill>
            <a:srgbClr val="F4F5F7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45" name="Text 42"/>
          <p:cNvSpPr/>
          <p:nvPr/>
        </p:nvSpPr>
        <p:spPr>
          <a:xfrm>
            <a:off x="7058254" y="2500884"/>
            <a:ext cx="852221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$182</a:t>
            </a:r>
            <a:endParaRPr lang="en-US" sz="1000" dirty="0"/>
          </a:p>
        </p:txBody>
      </p:sp>
      <p:sp>
        <p:nvSpPr>
          <p:cNvPr id="46" name="Shape 43"/>
          <p:cNvSpPr/>
          <p:nvPr/>
        </p:nvSpPr>
        <p:spPr>
          <a:xfrm>
            <a:off x="7951622" y="2482596"/>
            <a:ext cx="934517" cy="658368"/>
          </a:xfrm>
          <a:prstGeom prst="rect">
            <a:avLst/>
          </a:prstGeom>
          <a:solidFill>
            <a:srgbClr val="F4F5F7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47" name="Text 44"/>
          <p:cNvSpPr/>
          <p:nvPr/>
        </p:nvSpPr>
        <p:spPr>
          <a:xfrm>
            <a:off x="7992770" y="2500884"/>
            <a:ext cx="852221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$0</a:t>
            </a:r>
            <a:endParaRPr lang="en-US" sz="1000" dirty="0"/>
          </a:p>
        </p:txBody>
      </p:sp>
      <p:sp>
        <p:nvSpPr>
          <p:cNvPr id="48" name="Shape 45"/>
          <p:cNvSpPr/>
          <p:nvPr/>
        </p:nvSpPr>
        <p:spPr>
          <a:xfrm>
            <a:off x="8886139" y="2482596"/>
            <a:ext cx="934517" cy="658368"/>
          </a:xfrm>
          <a:prstGeom prst="rect">
            <a:avLst/>
          </a:prstGeom>
          <a:solidFill>
            <a:srgbClr val="F4F5F7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49" name="Text 46"/>
          <p:cNvSpPr/>
          <p:nvPr/>
        </p:nvSpPr>
        <p:spPr>
          <a:xfrm>
            <a:off x="8927287" y="2500884"/>
            <a:ext cx="852221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$182</a:t>
            </a:r>
            <a:endParaRPr lang="en-US" sz="1000" dirty="0"/>
          </a:p>
        </p:txBody>
      </p:sp>
      <p:sp>
        <p:nvSpPr>
          <p:cNvPr id="50" name="Shape 47"/>
          <p:cNvSpPr/>
          <p:nvPr/>
        </p:nvSpPr>
        <p:spPr>
          <a:xfrm>
            <a:off x="9820656" y="2482596"/>
            <a:ext cx="934517" cy="658368"/>
          </a:xfrm>
          <a:prstGeom prst="rect">
            <a:avLst/>
          </a:prstGeom>
          <a:solidFill>
            <a:srgbClr val="F4F5F7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51" name="Text 48"/>
          <p:cNvSpPr/>
          <p:nvPr/>
        </p:nvSpPr>
        <p:spPr>
          <a:xfrm>
            <a:off x="9861804" y="2500884"/>
            <a:ext cx="852221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40</a:t>
            </a:r>
            <a:endParaRPr lang="en-US" sz="1000" dirty="0"/>
          </a:p>
        </p:txBody>
      </p:sp>
      <p:sp>
        <p:nvSpPr>
          <p:cNvPr id="52" name="Shape 49"/>
          <p:cNvSpPr/>
          <p:nvPr/>
        </p:nvSpPr>
        <p:spPr>
          <a:xfrm>
            <a:off x="10755173" y="2482596"/>
            <a:ext cx="930859" cy="658368"/>
          </a:xfrm>
          <a:prstGeom prst="rect">
            <a:avLst/>
          </a:prstGeom>
          <a:solidFill>
            <a:srgbClr val="F4F5F7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53" name="Text 50"/>
          <p:cNvSpPr/>
          <p:nvPr/>
        </p:nvSpPr>
        <p:spPr>
          <a:xfrm>
            <a:off x="10796321" y="2500884"/>
            <a:ext cx="848563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</a:t>
            </a:r>
            <a:endParaRPr lang="en-US" sz="1000" dirty="0"/>
          </a:p>
        </p:txBody>
      </p:sp>
      <p:sp>
        <p:nvSpPr>
          <p:cNvPr id="54" name="Shape 51"/>
          <p:cNvSpPr/>
          <p:nvPr/>
        </p:nvSpPr>
        <p:spPr>
          <a:xfrm>
            <a:off x="475488" y="3140964"/>
            <a:ext cx="934517" cy="658368"/>
          </a:xfrm>
          <a:prstGeom prst="rect">
            <a:avLst/>
          </a:prstGeom>
          <a:solidFill>
            <a:srgbClr val="ECEDEF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55" name="Text 52"/>
          <p:cNvSpPr/>
          <p:nvPr/>
        </p:nvSpPr>
        <p:spPr>
          <a:xfrm>
            <a:off x="516636" y="3159252"/>
            <a:ext cx="852221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Previous</a:t>
            </a:r>
            <a:endParaRPr lang="en-US" sz="1000" dirty="0"/>
          </a:p>
        </p:txBody>
      </p:sp>
      <p:sp>
        <p:nvSpPr>
          <p:cNvPr id="56" name="Shape 53"/>
          <p:cNvSpPr/>
          <p:nvPr/>
        </p:nvSpPr>
        <p:spPr>
          <a:xfrm>
            <a:off x="1410005" y="3140964"/>
            <a:ext cx="934517" cy="658368"/>
          </a:xfrm>
          <a:prstGeom prst="rect">
            <a:avLst/>
          </a:prstGeom>
          <a:solidFill>
            <a:srgbClr val="ECEDEF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57" name="Text 54"/>
          <p:cNvSpPr/>
          <p:nvPr/>
        </p:nvSpPr>
        <p:spPr>
          <a:xfrm>
            <a:off x="1451153" y="3159252"/>
            <a:ext cx="852221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938</a:t>
            </a:r>
            <a:endParaRPr lang="en-US" sz="1000" dirty="0"/>
          </a:p>
        </p:txBody>
      </p:sp>
      <p:sp>
        <p:nvSpPr>
          <p:cNvPr id="58" name="Shape 55"/>
          <p:cNvSpPr/>
          <p:nvPr/>
        </p:nvSpPr>
        <p:spPr>
          <a:xfrm>
            <a:off x="2344522" y="3140964"/>
            <a:ext cx="934517" cy="658368"/>
          </a:xfrm>
          <a:prstGeom prst="rect">
            <a:avLst/>
          </a:prstGeom>
          <a:solidFill>
            <a:srgbClr val="ECEDEF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59" name="Text 56"/>
          <p:cNvSpPr/>
          <p:nvPr/>
        </p:nvSpPr>
        <p:spPr>
          <a:xfrm>
            <a:off x="2385670" y="3159252"/>
            <a:ext cx="852221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4.1%</a:t>
            </a:r>
            <a:endParaRPr lang="en-US" sz="1000" dirty="0"/>
          </a:p>
        </p:txBody>
      </p:sp>
      <p:sp>
        <p:nvSpPr>
          <p:cNvPr id="60" name="Shape 57"/>
          <p:cNvSpPr/>
          <p:nvPr/>
        </p:nvSpPr>
        <p:spPr>
          <a:xfrm>
            <a:off x="3279038" y="3140964"/>
            <a:ext cx="934517" cy="658368"/>
          </a:xfrm>
          <a:prstGeom prst="rect">
            <a:avLst/>
          </a:prstGeom>
          <a:solidFill>
            <a:srgbClr val="ECEDEF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61" name="Text 58"/>
          <p:cNvSpPr/>
          <p:nvPr/>
        </p:nvSpPr>
        <p:spPr>
          <a:xfrm>
            <a:off x="3320186" y="3159252"/>
            <a:ext cx="852221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22,889</a:t>
            </a:r>
            <a:endParaRPr lang="en-US" sz="1000" dirty="0"/>
          </a:p>
        </p:txBody>
      </p:sp>
      <p:sp>
        <p:nvSpPr>
          <p:cNvPr id="62" name="Shape 59"/>
          <p:cNvSpPr/>
          <p:nvPr/>
        </p:nvSpPr>
        <p:spPr>
          <a:xfrm>
            <a:off x="4213555" y="3140964"/>
            <a:ext cx="934517" cy="658368"/>
          </a:xfrm>
          <a:prstGeom prst="rect">
            <a:avLst/>
          </a:prstGeom>
          <a:solidFill>
            <a:srgbClr val="ECEDEF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63" name="Text 60"/>
          <p:cNvSpPr/>
          <p:nvPr/>
        </p:nvSpPr>
        <p:spPr>
          <a:xfrm>
            <a:off x="4254703" y="3159252"/>
            <a:ext cx="852221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$0.60</a:t>
            </a:r>
            <a:endParaRPr lang="en-US" sz="1000" dirty="0"/>
          </a:p>
        </p:txBody>
      </p:sp>
      <p:sp>
        <p:nvSpPr>
          <p:cNvPr id="64" name="Shape 61"/>
          <p:cNvSpPr/>
          <p:nvPr/>
        </p:nvSpPr>
        <p:spPr>
          <a:xfrm>
            <a:off x="5148072" y="3140964"/>
            <a:ext cx="934517" cy="658368"/>
          </a:xfrm>
          <a:prstGeom prst="rect">
            <a:avLst/>
          </a:prstGeom>
          <a:solidFill>
            <a:srgbClr val="ECEDEF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65" name="Text 62"/>
          <p:cNvSpPr/>
          <p:nvPr/>
        </p:nvSpPr>
        <p:spPr>
          <a:xfrm>
            <a:off x="5189220" y="3159252"/>
            <a:ext cx="852221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1.00x</a:t>
            </a:r>
            <a:endParaRPr lang="en-US" sz="1000" dirty="0"/>
          </a:p>
        </p:txBody>
      </p:sp>
      <p:sp>
        <p:nvSpPr>
          <p:cNvPr id="66" name="Shape 63"/>
          <p:cNvSpPr/>
          <p:nvPr/>
        </p:nvSpPr>
        <p:spPr>
          <a:xfrm>
            <a:off x="6082589" y="3140964"/>
            <a:ext cx="934517" cy="658368"/>
          </a:xfrm>
          <a:prstGeom prst="rect">
            <a:avLst/>
          </a:prstGeom>
          <a:solidFill>
            <a:srgbClr val="ECEDEF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67" name="Text 64"/>
          <p:cNvSpPr/>
          <p:nvPr/>
        </p:nvSpPr>
        <p:spPr>
          <a:xfrm>
            <a:off x="6123737" y="3159252"/>
            <a:ext cx="852221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$197,999</a:t>
            </a:r>
            <a:endParaRPr lang="en-US" sz="1000" dirty="0"/>
          </a:p>
        </p:txBody>
      </p:sp>
      <p:sp>
        <p:nvSpPr>
          <p:cNvPr id="68" name="Shape 65"/>
          <p:cNvSpPr/>
          <p:nvPr/>
        </p:nvSpPr>
        <p:spPr>
          <a:xfrm>
            <a:off x="7017106" y="3140964"/>
            <a:ext cx="934517" cy="658368"/>
          </a:xfrm>
          <a:prstGeom prst="rect">
            <a:avLst/>
          </a:prstGeom>
          <a:solidFill>
            <a:srgbClr val="ECEDEF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69" name="Text 66"/>
          <p:cNvSpPr/>
          <p:nvPr/>
        </p:nvSpPr>
        <p:spPr>
          <a:xfrm>
            <a:off x="7058254" y="3159252"/>
            <a:ext cx="852221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$13,782</a:t>
            </a:r>
            <a:endParaRPr lang="en-US" sz="1000" dirty="0"/>
          </a:p>
        </p:txBody>
      </p:sp>
      <p:sp>
        <p:nvSpPr>
          <p:cNvPr id="70" name="Shape 67"/>
          <p:cNvSpPr/>
          <p:nvPr/>
        </p:nvSpPr>
        <p:spPr>
          <a:xfrm>
            <a:off x="7951622" y="3140964"/>
            <a:ext cx="934517" cy="658368"/>
          </a:xfrm>
          <a:prstGeom prst="rect">
            <a:avLst/>
          </a:prstGeom>
          <a:solidFill>
            <a:srgbClr val="ECEDEF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71" name="Text 68"/>
          <p:cNvSpPr/>
          <p:nvPr/>
        </p:nvSpPr>
        <p:spPr>
          <a:xfrm>
            <a:off x="7992770" y="3159252"/>
            <a:ext cx="852221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$0</a:t>
            </a:r>
            <a:endParaRPr lang="en-US" sz="1000" dirty="0"/>
          </a:p>
        </p:txBody>
      </p:sp>
      <p:sp>
        <p:nvSpPr>
          <p:cNvPr id="72" name="Shape 69"/>
          <p:cNvSpPr/>
          <p:nvPr/>
        </p:nvSpPr>
        <p:spPr>
          <a:xfrm>
            <a:off x="8886139" y="3140964"/>
            <a:ext cx="934517" cy="658368"/>
          </a:xfrm>
          <a:prstGeom prst="rect">
            <a:avLst/>
          </a:prstGeom>
          <a:solidFill>
            <a:srgbClr val="ECEDEF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73" name="Text 70"/>
          <p:cNvSpPr/>
          <p:nvPr/>
        </p:nvSpPr>
        <p:spPr>
          <a:xfrm>
            <a:off x="8927287" y="3159252"/>
            <a:ext cx="852221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$13,782</a:t>
            </a:r>
            <a:endParaRPr lang="en-US" sz="1000" dirty="0"/>
          </a:p>
        </p:txBody>
      </p:sp>
      <p:sp>
        <p:nvSpPr>
          <p:cNvPr id="74" name="Shape 71"/>
          <p:cNvSpPr/>
          <p:nvPr/>
        </p:nvSpPr>
        <p:spPr>
          <a:xfrm>
            <a:off x="9820656" y="3140964"/>
            <a:ext cx="934517" cy="658368"/>
          </a:xfrm>
          <a:prstGeom prst="rect">
            <a:avLst/>
          </a:prstGeom>
          <a:solidFill>
            <a:srgbClr val="ECEDEF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75" name="Text 72"/>
          <p:cNvSpPr/>
          <p:nvPr/>
        </p:nvSpPr>
        <p:spPr>
          <a:xfrm>
            <a:off x="9861804" y="3159252"/>
            <a:ext cx="852221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</a:t>
            </a:r>
            <a:endParaRPr lang="en-US" sz="1000" dirty="0"/>
          </a:p>
        </p:txBody>
      </p:sp>
      <p:sp>
        <p:nvSpPr>
          <p:cNvPr id="76" name="Shape 73"/>
          <p:cNvSpPr/>
          <p:nvPr/>
        </p:nvSpPr>
        <p:spPr>
          <a:xfrm>
            <a:off x="10755173" y="3140964"/>
            <a:ext cx="930859" cy="658368"/>
          </a:xfrm>
          <a:prstGeom prst="rect">
            <a:avLst/>
          </a:prstGeom>
          <a:solidFill>
            <a:srgbClr val="ECEDEF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77" name="Text 74"/>
          <p:cNvSpPr/>
          <p:nvPr/>
        </p:nvSpPr>
        <p:spPr>
          <a:xfrm>
            <a:off x="10796321" y="3159252"/>
            <a:ext cx="848563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</a:t>
            </a:r>
            <a:endParaRPr lang="en-US" sz="1000" dirty="0"/>
          </a:p>
        </p:txBody>
      </p:sp>
      <p:sp>
        <p:nvSpPr>
          <p:cNvPr id="78" name="Shape 75"/>
          <p:cNvSpPr/>
          <p:nvPr/>
        </p:nvSpPr>
        <p:spPr>
          <a:xfrm>
            <a:off x="475488" y="3799332"/>
            <a:ext cx="934517" cy="658368"/>
          </a:xfrm>
          <a:prstGeom prst="rect">
            <a:avLst/>
          </a:prstGeom>
          <a:solidFill>
            <a:srgbClr val="F4F5F7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79" name="Text 76"/>
          <p:cNvSpPr/>
          <p:nvPr/>
        </p:nvSpPr>
        <p:spPr>
          <a:xfrm>
            <a:off x="516636" y="3817620"/>
            <a:ext cx="852221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Difference</a:t>
            </a:r>
            <a:endParaRPr lang="en-US" sz="1000" dirty="0"/>
          </a:p>
        </p:txBody>
      </p:sp>
      <p:sp>
        <p:nvSpPr>
          <p:cNvPr id="80" name="Shape 77"/>
          <p:cNvSpPr/>
          <p:nvPr/>
        </p:nvSpPr>
        <p:spPr>
          <a:xfrm>
            <a:off x="1410005" y="3799332"/>
            <a:ext cx="934517" cy="658368"/>
          </a:xfrm>
          <a:prstGeom prst="rect">
            <a:avLst/>
          </a:prstGeom>
          <a:solidFill>
            <a:srgbClr val="F4F5F7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81" name="Text 78"/>
          <p:cNvSpPr/>
          <p:nvPr/>
        </p:nvSpPr>
        <p:spPr>
          <a:xfrm>
            <a:off x="1451153" y="3817620"/>
            <a:ext cx="852221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-908</a:t>
            </a:r>
            <a:endParaRPr lang="en-US" sz="1000" dirty="0"/>
          </a:p>
        </p:txBody>
      </p:sp>
      <p:sp>
        <p:nvSpPr>
          <p:cNvPr id="82" name="Shape 79"/>
          <p:cNvSpPr/>
          <p:nvPr/>
        </p:nvSpPr>
        <p:spPr>
          <a:xfrm>
            <a:off x="2344522" y="3799332"/>
            <a:ext cx="934517" cy="658368"/>
          </a:xfrm>
          <a:prstGeom prst="rect">
            <a:avLst/>
          </a:prstGeom>
          <a:solidFill>
            <a:srgbClr val="F4F5F7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83" name="Text 80"/>
          <p:cNvSpPr/>
          <p:nvPr/>
        </p:nvSpPr>
        <p:spPr>
          <a:xfrm>
            <a:off x="2385670" y="3817620"/>
            <a:ext cx="852221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-3.9%</a:t>
            </a:r>
            <a:endParaRPr lang="en-US" sz="1000" dirty="0"/>
          </a:p>
        </p:txBody>
      </p:sp>
      <p:sp>
        <p:nvSpPr>
          <p:cNvPr id="84" name="Shape 81"/>
          <p:cNvSpPr/>
          <p:nvPr/>
        </p:nvSpPr>
        <p:spPr>
          <a:xfrm>
            <a:off x="3279038" y="3799332"/>
            <a:ext cx="934517" cy="658368"/>
          </a:xfrm>
          <a:prstGeom prst="rect">
            <a:avLst/>
          </a:prstGeom>
          <a:solidFill>
            <a:srgbClr val="F4F5F7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85" name="Text 82"/>
          <p:cNvSpPr/>
          <p:nvPr/>
        </p:nvSpPr>
        <p:spPr>
          <a:xfrm>
            <a:off x="3320186" y="3817620"/>
            <a:ext cx="852221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-2,871</a:t>
            </a:r>
            <a:endParaRPr lang="en-US" sz="1000" dirty="0"/>
          </a:p>
        </p:txBody>
      </p:sp>
      <p:sp>
        <p:nvSpPr>
          <p:cNvPr id="86" name="Shape 83"/>
          <p:cNvSpPr/>
          <p:nvPr/>
        </p:nvSpPr>
        <p:spPr>
          <a:xfrm>
            <a:off x="4213555" y="3799332"/>
            <a:ext cx="934517" cy="658368"/>
          </a:xfrm>
          <a:prstGeom prst="rect">
            <a:avLst/>
          </a:prstGeom>
          <a:solidFill>
            <a:srgbClr val="F4F5F7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87" name="Text 84"/>
          <p:cNvSpPr/>
          <p:nvPr/>
        </p:nvSpPr>
        <p:spPr>
          <a:xfrm>
            <a:off x="4254703" y="3817620"/>
            <a:ext cx="852221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-$0.59</a:t>
            </a:r>
            <a:endParaRPr lang="en-US" sz="1000" dirty="0"/>
          </a:p>
        </p:txBody>
      </p:sp>
      <p:sp>
        <p:nvSpPr>
          <p:cNvPr id="88" name="Shape 85"/>
          <p:cNvSpPr/>
          <p:nvPr/>
        </p:nvSpPr>
        <p:spPr>
          <a:xfrm>
            <a:off x="5148072" y="3799332"/>
            <a:ext cx="934517" cy="658368"/>
          </a:xfrm>
          <a:prstGeom prst="rect">
            <a:avLst/>
          </a:prstGeom>
          <a:solidFill>
            <a:srgbClr val="F4F5F7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89" name="Text 86"/>
          <p:cNvSpPr/>
          <p:nvPr/>
        </p:nvSpPr>
        <p:spPr>
          <a:xfrm>
            <a:off x="5189220" y="3817620"/>
            <a:ext cx="852221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0.00x</a:t>
            </a:r>
            <a:endParaRPr lang="en-US" sz="1000" dirty="0"/>
          </a:p>
        </p:txBody>
      </p:sp>
      <p:sp>
        <p:nvSpPr>
          <p:cNvPr id="90" name="Shape 87"/>
          <p:cNvSpPr/>
          <p:nvPr/>
        </p:nvSpPr>
        <p:spPr>
          <a:xfrm>
            <a:off x="6082589" y="3799332"/>
            <a:ext cx="934517" cy="658368"/>
          </a:xfrm>
          <a:prstGeom prst="rect">
            <a:avLst/>
          </a:prstGeom>
          <a:solidFill>
            <a:srgbClr val="F4F5F7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91" name="Text 88"/>
          <p:cNvSpPr/>
          <p:nvPr/>
        </p:nvSpPr>
        <p:spPr>
          <a:xfrm>
            <a:off x="6123737" y="3817620"/>
            <a:ext cx="852221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-$192,983</a:t>
            </a:r>
            <a:endParaRPr lang="en-US" sz="1000" dirty="0"/>
          </a:p>
        </p:txBody>
      </p:sp>
      <p:sp>
        <p:nvSpPr>
          <p:cNvPr id="92" name="Shape 89"/>
          <p:cNvSpPr/>
          <p:nvPr/>
        </p:nvSpPr>
        <p:spPr>
          <a:xfrm>
            <a:off x="7017106" y="3799332"/>
            <a:ext cx="934517" cy="658368"/>
          </a:xfrm>
          <a:prstGeom prst="rect">
            <a:avLst/>
          </a:prstGeom>
          <a:solidFill>
            <a:srgbClr val="F4F5F7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93" name="Text 90"/>
          <p:cNvSpPr/>
          <p:nvPr/>
        </p:nvSpPr>
        <p:spPr>
          <a:xfrm>
            <a:off x="7058254" y="3817620"/>
            <a:ext cx="852221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-$13,600</a:t>
            </a:r>
            <a:endParaRPr lang="en-US" sz="1000" dirty="0"/>
          </a:p>
        </p:txBody>
      </p:sp>
      <p:sp>
        <p:nvSpPr>
          <p:cNvPr id="94" name="Shape 91"/>
          <p:cNvSpPr/>
          <p:nvPr/>
        </p:nvSpPr>
        <p:spPr>
          <a:xfrm>
            <a:off x="7951622" y="3799332"/>
            <a:ext cx="934517" cy="658368"/>
          </a:xfrm>
          <a:prstGeom prst="rect">
            <a:avLst/>
          </a:prstGeom>
          <a:solidFill>
            <a:srgbClr val="F4F5F7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95" name="Text 92"/>
          <p:cNvSpPr/>
          <p:nvPr/>
        </p:nvSpPr>
        <p:spPr>
          <a:xfrm>
            <a:off x="7992770" y="3817620"/>
            <a:ext cx="852221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$0</a:t>
            </a:r>
            <a:endParaRPr lang="en-US" sz="1000" dirty="0"/>
          </a:p>
        </p:txBody>
      </p:sp>
      <p:sp>
        <p:nvSpPr>
          <p:cNvPr id="96" name="Shape 93"/>
          <p:cNvSpPr/>
          <p:nvPr/>
        </p:nvSpPr>
        <p:spPr>
          <a:xfrm>
            <a:off x="8886139" y="3799332"/>
            <a:ext cx="934517" cy="658368"/>
          </a:xfrm>
          <a:prstGeom prst="rect">
            <a:avLst/>
          </a:prstGeom>
          <a:solidFill>
            <a:srgbClr val="F4F5F7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97" name="Text 94"/>
          <p:cNvSpPr/>
          <p:nvPr/>
        </p:nvSpPr>
        <p:spPr>
          <a:xfrm>
            <a:off x="8927287" y="3817620"/>
            <a:ext cx="852221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-$13,600</a:t>
            </a:r>
            <a:endParaRPr lang="en-US" sz="1000" dirty="0"/>
          </a:p>
        </p:txBody>
      </p:sp>
      <p:sp>
        <p:nvSpPr>
          <p:cNvPr id="98" name="Shape 95"/>
          <p:cNvSpPr/>
          <p:nvPr/>
        </p:nvSpPr>
        <p:spPr>
          <a:xfrm>
            <a:off x="9820656" y="3799332"/>
            <a:ext cx="934517" cy="658368"/>
          </a:xfrm>
          <a:prstGeom prst="rect">
            <a:avLst/>
          </a:prstGeom>
          <a:solidFill>
            <a:srgbClr val="F4F5F7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99" name="Text 96"/>
          <p:cNvSpPr/>
          <p:nvPr/>
        </p:nvSpPr>
        <p:spPr>
          <a:xfrm>
            <a:off x="9861804" y="3817620"/>
            <a:ext cx="852221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000" dirty="0"/>
          </a:p>
        </p:txBody>
      </p:sp>
      <p:sp>
        <p:nvSpPr>
          <p:cNvPr id="100" name="Shape 97"/>
          <p:cNvSpPr/>
          <p:nvPr/>
        </p:nvSpPr>
        <p:spPr>
          <a:xfrm>
            <a:off x="10755173" y="3799332"/>
            <a:ext cx="930859" cy="658368"/>
          </a:xfrm>
          <a:prstGeom prst="rect">
            <a:avLst/>
          </a:prstGeom>
          <a:solidFill>
            <a:srgbClr val="F4F5F7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01" name="Text 98"/>
          <p:cNvSpPr/>
          <p:nvPr/>
        </p:nvSpPr>
        <p:spPr>
          <a:xfrm>
            <a:off x="10796321" y="3817620"/>
            <a:ext cx="848563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-4</a:t>
            </a:r>
            <a:endParaRPr lang="en-US" sz="1000" dirty="0"/>
          </a:p>
        </p:txBody>
      </p:sp>
      <p:sp>
        <p:nvSpPr>
          <p:cNvPr id="102" name="Shape 99"/>
          <p:cNvSpPr/>
          <p:nvPr/>
        </p:nvSpPr>
        <p:spPr>
          <a:xfrm>
            <a:off x="475488" y="4457700"/>
            <a:ext cx="934517" cy="658368"/>
          </a:xfrm>
          <a:prstGeom prst="rect">
            <a:avLst/>
          </a:prstGeom>
          <a:solidFill>
            <a:srgbClr val="ECEDEF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03" name="Text 100"/>
          <p:cNvSpPr/>
          <p:nvPr/>
        </p:nvSpPr>
        <p:spPr>
          <a:xfrm>
            <a:off x="516636" y="4475988"/>
            <a:ext cx="852221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% Variance</a:t>
            </a:r>
            <a:endParaRPr lang="en-US" sz="1000" dirty="0"/>
          </a:p>
        </p:txBody>
      </p:sp>
      <p:sp>
        <p:nvSpPr>
          <p:cNvPr id="104" name="Shape 101"/>
          <p:cNvSpPr/>
          <p:nvPr/>
        </p:nvSpPr>
        <p:spPr>
          <a:xfrm>
            <a:off x="1410005" y="4457700"/>
            <a:ext cx="934517" cy="658368"/>
          </a:xfrm>
          <a:prstGeom prst="rect">
            <a:avLst/>
          </a:prstGeom>
          <a:solidFill>
            <a:srgbClr val="ECEDEF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05" name="Text 102"/>
          <p:cNvSpPr/>
          <p:nvPr/>
        </p:nvSpPr>
        <p:spPr>
          <a:xfrm>
            <a:off x="1451153" y="4475988"/>
            <a:ext cx="852221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EB57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▼ -96.8%</a:t>
            </a:r>
            <a:endParaRPr lang="en-US" sz="1000" dirty="0"/>
          </a:p>
        </p:txBody>
      </p:sp>
      <p:sp>
        <p:nvSpPr>
          <p:cNvPr id="106" name="Shape 103"/>
          <p:cNvSpPr/>
          <p:nvPr/>
        </p:nvSpPr>
        <p:spPr>
          <a:xfrm>
            <a:off x="2344522" y="4457700"/>
            <a:ext cx="934517" cy="658368"/>
          </a:xfrm>
          <a:prstGeom prst="rect">
            <a:avLst/>
          </a:prstGeom>
          <a:solidFill>
            <a:srgbClr val="ECEDEF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07" name="Text 104"/>
          <p:cNvSpPr/>
          <p:nvPr/>
        </p:nvSpPr>
        <p:spPr>
          <a:xfrm>
            <a:off x="2385670" y="4475988"/>
            <a:ext cx="852221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EB57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▼ -96.3%</a:t>
            </a:r>
            <a:endParaRPr lang="en-US" sz="1000" dirty="0"/>
          </a:p>
        </p:txBody>
      </p:sp>
      <p:sp>
        <p:nvSpPr>
          <p:cNvPr id="108" name="Shape 105"/>
          <p:cNvSpPr/>
          <p:nvPr/>
        </p:nvSpPr>
        <p:spPr>
          <a:xfrm>
            <a:off x="3279038" y="4457700"/>
            <a:ext cx="934517" cy="658368"/>
          </a:xfrm>
          <a:prstGeom prst="rect">
            <a:avLst/>
          </a:prstGeom>
          <a:solidFill>
            <a:srgbClr val="ECEDEF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09" name="Text 106"/>
          <p:cNvSpPr/>
          <p:nvPr/>
        </p:nvSpPr>
        <p:spPr>
          <a:xfrm>
            <a:off x="3320186" y="4475988"/>
            <a:ext cx="852221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EB57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▼ -12.5%</a:t>
            </a:r>
            <a:endParaRPr lang="en-US" sz="1000" dirty="0"/>
          </a:p>
        </p:txBody>
      </p:sp>
      <p:sp>
        <p:nvSpPr>
          <p:cNvPr id="110" name="Shape 107"/>
          <p:cNvSpPr/>
          <p:nvPr/>
        </p:nvSpPr>
        <p:spPr>
          <a:xfrm>
            <a:off x="4213555" y="4457700"/>
            <a:ext cx="934517" cy="658368"/>
          </a:xfrm>
          <a:prstGeom prst="rect">
            <a:avLst/>
          </a:prstGeom>
          <a:solidFill>
            <a:srgbClr val="ECEDEF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11" name="Text 108"/>
          <p:cNvSpPr/>
          <p:nvPr/>
        </p:nvSpPr>
        <p:spPr>
          <a:xfrm>
            <a:off x="4254703" y="4475988"/>
            <a:ext cx="852221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EB57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▼ -98.5%</a:t>
            </a:r>
            <a:endParaRPr lang="en-US" sz="1000" dirty="0"/>
          </a:p>
        </p:txBody>
      </p:sp>
      <p:sp>
        <p:nvSpPr>
          <p:cNvPr id="112" name="Shape 109"/>
          <p:cNvSpPr/>
          <p:nvPr/>
        </p:nvSpPr>
        <p:spPr>
          <a:xfrm>
            <a:off x="5148072" y="4457700"/>
            <a:ext cx="934517" cy="658368"/>
          </a:xfrm>
          <a:prstGeom prst="rect">
            <a:avLst/>
          </a:prstGeom>
          <a:solidFill>
            <a:srgbClr val="ECEDEF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13" name="Text 110"/>
          <p:cNvSpPr/>
          <p:nvPr/>
        </p:nvSpPr>
        <p:spPr>
          <a:xfrm>
            <a:off x="5189220" y="4475988"/>
            <a:ext cx="852221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0.0%</a:t>
            </a:r>
            <a:endParaRPr lang="en-US" sz="1000" dirty="0"/>
          </a:p>
        </p:txBody>
      </p:sp>
      <p:sp>
        <p:nvSpPr>
          <p:cNvPr id="114" name="Shape 111"/>
          <p:cNvSpPr/>
          <p:nvPr/>
        </p:nvSpPr>
        <p:spPr>
          <a:xfrm>
            <a:off x="6082589" y="4457700"/>
            <a:ext cx="934517" cy="658368"/>
          </a:xfrm>
          <a:prstGeom prst="rect">
            <a:avLst/>
          </a:prstGeom>
          <a:solidFill>
            <a:srgbClr val="ECEDEF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15" name="Text 112"/>
          <p:cNvSpPr/>
          <p:nvPr/>
        </p:nvSpPr>
        <p:spPr>
          <a:xfrm>
            <a:off x="6123737" y="4475988"/>
            <a:ext cx="852221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EB57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▼ -97.5%</a:t>
            </a:r>
            <a:endParaRPr lang="en-US" sz="1000" dirty="0"/>
          </a:p>
        </p:txBody>
      </p:sp>
      <p:sp>
        <p:nvSpPr>
          <p:cNvPr id="116" name="Shape 113"/>
          <p:cNvSpPr/>
          <p:nvPr/>
        </p:nvSpPr>
        <p:spPr>
          <a:xfrm>
            <a:off x="7017106" y="4457700"/>
            <a:ext cx="934517" cy="658368"/>
          </a:xfrm>
          <a:prstGeom prst="rect">
            <a:avLst/>
          </a:prstGeom>
          <a:solidFill>
            <a:srgbClr val="ECEDEF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17" name="Text 114"/>
          <p:cNvSpPr/>
          <p:nvPr/>
        </p:nvSpPr>
        <p:spPr>
          <a:xfrm>
            <a:off x="7058254" y="4475988"/>
            <a:ext cx="852221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EB57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▼ -98.7%</a:t>
            </a:r>
            <a:endParaRPr lang="en-US" sz="1000" dirty="0"/>
          </a:p>
        </p:txBody>
      </p:sp>
      <p:sp>
        <p:nvSpPr>
          <p:cNvPr id="118" name="Shape 115"/>
          <p:cNvSpPr/>
          <p:nvPr/>
        </p:nvSpPr>
        <p:spPr>
          <a:xfrm>
            <a:off x="7951622" y="4457700"/>
            <a:ext cx="934517" cy="658368"/>
          </a:xfrm>
          <a:prstGeom prst="rect">
            <a:avLst/>
          </a:prstGeom>
          <a:solidFill>
            <a:srgbClr val="ECEDEF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19" name="Text 116"/>
          <p:cNvSpPr/>
          <p:nvPr/>
        </p:nvSpPr>
        <p:spPr>
          <a:xfrm>
            <a:off x="7992770" y="4475988"/>
            <a:ext cx="852221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N/A</a:t>
            </a:r>
            <a:endParaRPr lang="en-US" sz="1000" dirty="0"/>
          </a:p>
        </p:txBody>
      </p:sp>
      <p:sp>
        <p:nvSpPr>
          <p:cNvPr id="120" name="Shape 117"/>
          <p:cNvSpPr/>
          <p:nvPr/>
        </p:nvSpPr>
        <p:spPr>
          <a:xfrm>
            <a:off x="8886139" y="4457700"/>
            <a:ext cx="934517" cy="658368"/>
          </a:xfrm>
          <a:prstGeom prst="rect">
            <a:avLst/>
          </a:prstGeom>
          <a:solidFill>
            <a:srgbClr val="ECEDEF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21" name="Text 118"/>
          <p:cNvSpPr/>
          <p:nvPr/>
        </p:nvSpPr>
        <p:spPr>
          <a:xfrm>
            <a:off x="8927287" y="4475988"/>
            <a:ext cx="852221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EB57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▼ -98.7%</a:t>
            </a:r>
            <a:endParaRPr lang="en-US" sz="1000" dirty="0"/>
          </a:p>
        </p:txBody>
      </p:sp>
      <p:sp>
        <p:nvSpPr>
          <p:cNvPr id="122" name="Shape 119"/>
          <p:cNvSpPr/>
          <p:nvPr/>
        </p:nvSpPr>
        <p:spPr>
          <a:xfrm>
            <a:off x="9820656" y="4457700"/>
            <a:ext cx="934517" cy="658368"/>
          </a:xfrm>
          <a:prstGeom prst="rect">
            <a:avLst/>
          </a:prstGeom>
          <a:solidFill>
            <a:srgbClr val="ECEDEF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23" name="Text 120"/>
          <p:cNvSpPr/>
          <p:nvPr/>
        </p:nvSpPr>
        <p:spPr>
          <a:xfrm>
            <a:off x="9861804" y="4475988"/>
            <a:ext cx="852221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7A6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▲ +2.6%</a:t>
            </a:r>
            <a:endParaRPr lang="en-US" sz="1000" dirty="0"/>
          </a:p>
        </p:txBody>
      </p:sp>
      <p:sp>
        <p:nvSpPr>
          <p:cNvPr id="124" name="Shape 121"/>
          <p:cNvSpPr/>
          <p:nvPr/>
        </p:nvSpPr>
        <p:spPr>
          <a:xfrm>
            <a:off x="10755173" y="4457700"/>
            <a:ext cx="930859" cy="658368"/>
          </a:xfrm>
          <a:prstGeom prst="rect">
            <a:avLst/>
          </a:prstGeom>
          <a:solidFill>
            <a:srgbClr val="ECEDEF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25" name="Text 122"/>
          <p:cNvSpPr/>
          <p:nvPr/>
        </p:nvSpPr>
        <p:spPr>
          <a:xfrm>
            <a:off x="10796321" y="4475988"/>
            <a:ext cx="848563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EB57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▼ -33.3%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publisher-qbr\assets\qbr-bg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 Activation Snapshot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640080" y="131673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F6F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Activation depth across joined, active and inactive programmes.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365760" y="1783080"/>
            <a:ext cx="11430000" cy="3543300"/>
          </a:xfrm>
          <a:prstGeom prst="rect">
            <a:avLst/>
          </a:prstGeom>
          <a:solidFill>
            <a:srgbClr val="F3F4F6"/>
          </a:solidFill>
          <a:ln w="12700">
            <a:solidFill>
              <a:srgbClr val="D6DAE3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75488" y="1874520"/>
            <a:ext cx="2802636" cy="763524"/>
          </a:xfrm>
          <a:prstGeom prst="rect">
            <a:avLst/>
          </a:prstGeom>
          <a:solidFill>
            <a:srgbClr val="F1F3F7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16636" y="1892808"/>
            <a:ext cx="2720340" cy="7269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Metric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3278124" y="1874520"/>
            <a:ext cx="2802636" cy="763524"/>
          </a:xfrm>
          <a:prstGeom prst="rect">
            <a:avLst/>
          </a:prstGeom>
          <a:solidFill>
            <a:srgbClr val="F1F3F7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319272" y="1892808"/>
            <a:ext cx="2720340" cy="7269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Total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6080760" y="1874520"/>
            <a:ext cx="2802636" cy="763524"/>
          </a:xfrm>
          <a:prstGeom prst="rect">
            <a:avLst/>
          </a:prstGeom>
          <a:solidFill>
            <a:srgbClr val="F1F3F7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121908" y="1892808"/>
            <a:ext cx="2720340" cy="7269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New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8883396" y="1874520"/>
            <a:ext cx="2802636" cy="763524"/>
          </a:xfrm>
          <a:prstGeom prst="rect">
            <a:avLst/>
          </a:prstGeom>
          <a:solidFill>
            <a:srgbClr val="F1F3F7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924544" y="1892808"/>
            <a:ext cx="2720340" cy="7269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New %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475488" y="2638044"/>
            <a:ext cx="2802636" cy="658368"/>
          </a:xfrm>
          <a:prstGeom prst="rect">
            <a:avLst/>
          </a:prstGeom>
          <a:solidFill>
            <a:srgbClr val="F4F5F7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16636" y="2656332"/>
            <a:ext cx="27203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Joined programs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3278124" y="2638044"/>
            <a:ext cx="2802636" cy="658368"/>
          </a:xfrm>
          <a:prstGeom prst="rect">
            <a:avLst/>
          </a:prstGeom>
          <a:solidFill>
            <a:srgbClr val="F4F5F7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3319272" y="2656332"/>
            <a:ext cx="27203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40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6080760" y="2638044"/>
            <a:ext cx="2802636" cy="658368"/>
          </a:xfrm>
          <a:prstGeom prst="rect">
            <a:avLst/>
          </a:prstGeom>
          <a:solidFill>
            <a:srgbClr val="F4F5F7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121908" y="2656332"/>
            <a:ext cx="27203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21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8883396" y="2638044"/>
            <a:ext cx="2802636" cy="658368"/>
          </a:xfrm>
          <a:prstGeom prst="rect">
            <a:avLst/>
          </a:prstGeom>
          <a:solidFill>
            <a:srgbClr val="F4F5F7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8924544" y="2656332"/>
            <a:ext cx="27203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53%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475488" y="3296412"/>
            <a:ext cx="2802636" cy="658368"/>
          </a:xfrm>
          <a:prstGeom prst="rect">
            <a:avLst/>
          </a:prstGeom>
          <a:solidFill>
            <a:srgbClr val="ECEDEF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516636" y="3314700"/>
            <a:ext cx="27203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With clicks</a:t>
            </a:r>
            <a:endParaRPr lang="en-US" sz="1000" dirty="0"/>
          </a:p>
        </p:txBody>
      </p:sp>
      <p:sp>
        <p:nvSpPr>
          <p:cNvPr id="24" name="Shape 21"/>
          <p:cNvSpPr/>
          <p:nvPr/>
        </p:nvSpPr>
        <p:spPr>
          <a:xfrm>
            <a:off x="3278124" y="3296412"/>
            <a:ext cx="2802636" cy="658368"/>
          </a:xfrm>
          <a:prstGeom prst="rect">
            <a:avLst/>
          </a:prstGeom>
          <a:solidFill>
            <a:srgbClr val="ECEDEF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3319272" y="3314700"/>
            <a:ext cx="27203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40</a:t>
            </a:r>
            <a:endParaRPr lang="en-US" sz="1000" dirty="0"/>
          </a:p>
        </p:txBody>
      </p:sp>
      <p:sp>
        <p:nvSpPr>
          <p:cNvPr id="26" name="Shape 23"/>
          <p:cNvSpPr/>
          <p:nvPr/>
        </p:nvSpPr>
        <p:spPr>
          <a:xfrm>
            <a:off x="6080760" y="3296412"/>
            <a:ext cx="2802636" cy="658368"/>
          </a:xfrm>
          <a:prstGeom prst="rect">
            <a:avLst/>
          </a:prstGeom>
          <a:solidFill>
            <a:srgbClr val="ECEDEF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6121908" y="3314700"/>
            <a:ext cx="27203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21</a:t>
            </a:r>
            <a:endParaRPr lang="en-US" sz="1000" dirty="0"/>
          </a:p>
        </p:txBody>
      </p:sp>
      <p:sp>
        <p:nvSpPr>
          <p:cNvPr id="28" name="Shape 25"/>
          <p:cNvSpPr/>
          <p:nvPr/>
        </p:nvSpPr>
        <p:spPr>
          <a:xfrm>
            <a:off x="8883396" y="3296412"/>
            <a:ext cx="2802636" cy="658368"/>
          </a:xfrm>
          <a:prstGeom prst="rect">
            <a:avLst/>
          </a:prstGeom>
          <a:solidFill>
            <a:srgbClr val="ECEDEF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8924544" y="3314700"/>
            <a:ext cx="27203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53%</a:t>
            </a:r>
            <a:endParaRPr lang="en-US" sz="1000" dirty="0"/>
          </a:p>
        </p:txBody>
      </p:sp>
      <p:sp>
        <p:nvSpPr>
          <p:cNvPr id="30" name="Shape 27"/>
          <p:cNvSpPr/>
          <p:nvPr/>
        </p:nvSpPr>
        <p:spPr>
          <a:xfrm>
            <a:off x="475488" y="3954780"/>
            <a:ext cx="2802636" cy="658368"/>
          </a:xfrm>
          <a:prstGeom prst="rect">
            <a:avLst/>
          </a:prstGeom>
          <a:solidFill>
            <a:srgbClr val="F4F5F7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516636" y="3973068"/>
            <a:ext cx="27203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With pub commission</a:t>
            </a:r>
            <a:endParaRPr lang="en-US" sz="1000" dirty="0"/>
          </a:p>
        </p:txBody>
      </p:sp>
      <p:sp>
        <p:nvSpPr>
          <p:cNvPr id="32" name="Shape 29"/>
          <p:cNvSpPr/>
          <p:nvPr/>
        </p:nvSpPr>
        <p:spPr>
          <a:xfrm>
            <a:off x="3278124" y="3954780"/>
            <a:ext cx="2802636" cy="658368"/>
          </a:xfrm>
          <a:prstGeom prst="rect">
            <a:avLst/>
          </a:prstGeom>
          <a:solidFill>
            <a:srgbClr val="F4F5F7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3319272" y="3973068"/>
            <a:ext cx="27203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</a:t>
            </a:r>
            <a:endParaRPr lang="en-US" sz="1000" dirty="0"/>
          </a:p>
        </p:txBody>
      </p:sp>
      <p:sp>
        <p:nvSpPr>
          <p:cNvPr id="34" name="Shape 31"/>
          <p:cNvSpPr/>
          <p:nvPr/>
        </p:nvSpPr>
        <p:spPr>
          <a:xfrm>
            <a:off x="6080760" y="3954780"/>
            <a:ext cx="2802636" cy="658368"/>
          </a:xfrm>
          <a:prstGeom prst="rect">
            <a:avLst/>
          </a:prstGeom>
          <a:solidFill>
            <a:srgbClr val="F4F5F7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6121908" y="3973068"/>
            <a:ext cx="27203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000" dirty="0"/>
          </a:p>
        </p:txBody>
      </p:sp>
      <p:sp>
        <p:nvSpPr>
          <p:cNvPr id="36" name="Shape 33"/>
          <p:cNvSpPr/>
          <p:nvPr/>
        </p:nvSpPr>
        <p:spPr>
          <a:xfrm>
            <a:off x="8883396" y="3954780"/>
            <a:ext cx="2802636" cy="658368"/>
          </a:xfrm>
          <a:prstGeom prst="rect">
            <a:avLst/>
          </a:prstGeom>
          <a:solidFill>
            <a:srgbClr val="F4F5F7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8924544" y="3973068"/>
            <a:ext cx="27203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50%</a:t>
            </a:r>
            <a:endParaRPr lang="en-US" sz="1000" dirty="0"/>
          </a:p>
        </p:txBody>
      </p:sp>
      <p:sp>
        <p:nvSpPr>
          <p:cNvPr id="38" name="Shape 35"/>
          <p:cNvSpPr/>
          <p:nvPr/>
        </p:nvSpPr>
        <p:spPr>
          <a:xfrm>
            <a:off x="475488" y="4613148"/>
            <a:ext cx="2802636" cy="658368"/>
          </a:xfrm>
          <a:prstGeom prst="rect">
            <a:avLst/>
          </a:prstGeom>
          <a:solidFill>
            <a:srgbClr val="ECEDEF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516636" y="4631436"/>
            <a:ext cx="27203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Inactive</a:t>
            </a:r>
            <a:endParaRPr lang="en-US" sz="1000" dirty="0"/>
          </a:p>
        </p:txBody>
      </p:sp>
      <p:sp>
        <p:nvSpPr>
          <p:cNvPr id="40" name="Shape 37"/>
          <p:cNvSpPr/>
          <p:nvPr/>
        </p:nvSpPr>
        <p:spPr>
          <a:xfrm>
            <a:off x="3278124" y="4613148"/>
            <a:ext cx="2802636" cy="658368"/>
          </a:xfrm>
          <a:prstGeom prst="rect">
            <a:avLst/>
          </a:prstGeom>
          <a:solidFill>
            <a:srgbClr val="ECEDEF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3319272" y="4631436"/>
            <a:ext cx="27203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32</a:t>
            </a:r>
            <a:endParaRPr lang="en-US" sz="1000" dirty="0"/>
          </a:p>
        </p:txBody>
      </p:sp>
      <p:sp>
        <p:nvSpPr>
          <p:cNvPr id="42" name="Shape 39"/>
          <p:cNvSpPr/>
          <p:nvPr/>
        </p:nvSpPr>
        <p:spPr>
          <a:xfrm>
            <a:off x="6080760" y="4613148"/>
            <a:ext cx="2802636" cy="658368"/>
          </a:xfrm>
          <a:prstGeom prst="rect">
            <a:avLst/>
          </a:prstGeom>
          <a:solidFill>
            <a:srgbClr val="ECEDEF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6121908" y="4631436"/>
            <a:ext cx="27203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17</a:t>
            </a:r>
            <a:endParaRPr lang="en-US" sz="1000" dirty="0"/>
          </a:p>
        </p:txBody>
      </p:sp>
      <p:sp>
        <p:nvSpPr>
          <p:cNvPr id="44" name="Shape 41"/>
          <p:cNvSpPr/>
          <p:nvPr/>
        </p:nvSpPr>
        <p:spPr>
          <a:xfrm>
            <a:off x="8883396" y="4613148"/>
            <a:ext cx="2802636" cy="658368"/>
          </a:xfrm>
          <a:prstGeom prst="rect">
            <a:avLst/>
          </a:prstGeom>
          <a:solidFill>
            <a:srgbClr val="ECEDEF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45" name="Text 42"/>
          <p:cNvSpPr/>
          <p:nvPr/>
        </p:nvSpPr>
        <p:spPr>
          <a:xfrm>
            <a:off x="8924544" y="4631436"/>
            <a:ext cx="27203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53%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publisher-qbr\assets\qbr-bg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 Level Analysis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640080" y="131673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F6F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Per-program publisher performance for current period vs prior year.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365760" y="1627632"/>
            <a:ext cx="11430000" cy="5042916"/>
          </a:xfrm>
          <a:prstGeom prst="rect">
            <a:avLst/>
          </a:prstGeom>
          <a:solidFill>
            <a:srgbClr val="F3F4F6"/>
          </a:solidFill>
          <a:ln w="12700">
            <a:solidFill>
              <a:srgbClr val="D6DAE3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75488" y="1719072"/>
            <a:ext cx="1121054" cy="430682"/>
          </a:xfrm>
          <a:prstGeom prst="rect">
            <a:avLst/>
          </a:prstGeom>
          <a:solidFill>
            <a:srgbClr val="F1F3F7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16636" y="1737360"/>
            <a:ext cx="1038758" cy="3941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 ID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1596542" y="1719072"/>
            <a:ext cx="1121054" cy="430682"/>
          </a:xfrm>
          <a:prstGeom prst="rect">
            <a:avLst/>
          </a:prstGeom>
          <a:solidFill>
            <a:srgbClr val="F1F3F7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637690" y="1737360"/>
            <a:ext cx="1038758" cy="3941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 Name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2717597" y="1719072"/>
            <a:ext cx="1121054" cy="430682"/>
          </a:xfrm>
          <a:prstGeom prst="rect">
            <a:avLst/>
          </a:prstGeom>
          <a:solidFill>
            <a:srgbClr val="F1F3F7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2758745" y="1737360"/>
            <a:ext cx="1038758" cy="3941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Publisher Commission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3838651" y="1719072"/>
            <a:ext cx="1121054" cy="430682"/>
          </a:xfrm>
          <a:prstGeom prst="rect">
            <a:avLst/>
          </a:prstGeom>
          <a:solidFill>
            <a:srgbClr val="F1F3F7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879799" y="1737360"/>
            <a:ext cx="1038758" cy="3941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Digital Wallet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4959706" y="1719072"/>
            <a:ext cx="1121054" cy="430682"/>
          </a:xfrm>
          <a:prstGeom prst="rect">
            <a:avLst/>
          </a:prstGeom>
          <a:solidFill>
            <a:srgbClr val="F1F3F7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000854" y="1737360"/>
            <a:ext cx="1038758" cy="3941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Total Earnings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6080760" y="1719072"/>
            <a:ext cx="1121054" cy="430682"/>
          </a:xfrm>
          <a:prstGeom prst="rect">
            <a:avLst/>
          </a:prstGeom>
          <a:solidFill>
            <a:srgbClr val="F1F3F7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121908" y="1737360"/>
            <a:ext cx="1038758" cy="3941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Conversions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7201814" y="1719072"/>
            <a:ext cx="1121054" cy="430682"/>
          </a:xfrm>
          <a:prstGeom prst="rect">
            <a:avLst/>
          </a:prstGeom>
          <a:solidFill>
            <a:srgbClr val="F1F3F7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7242962" y="1737360"/>
            <a:ext cx="1038758" cy="3941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Order Value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8322869" y="1719072"/>
            <a:ext cx="1121054" cy="430682"/>
          </a:xfrm>
          <a:prstGeom prst="rect">
            <a:avLst/>
          </a:prstGeom>
          <a:solidFill>
            <a:srgbClr val="F1F3F7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8364017" y="1737360"/>
            <a:ext cx="1038758" cy="3941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Publisher Commission YoY %</a:t>
            </a:r>
            <a:endParaRPr lang="en-US" sz="1050" dirty="0"/>
          </a:p>
        </p:txBody>
      </p:sp>
      <p:sp>
        <p:nvSpPr>
          <p:cNvPr id="22" name="Shape 19"/>
          <p:cNvSpPr/>
          <p:nvPr/>
        </p:nvSpPr>
        <p:spPr>
          <a:xfrm>
            <a:off x="9443923" y="1719072"/>
            <a:ext cx="1121054" cy="430682"/>
          </a:xfrm>
          <a:prstGeom prst="rect">
            <a:avLst/>
          </a:prstGeom>
          <a:solidFill>
            <a:srgbClr val="F1F3F7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9485071" y="1737360"/>
            <a:ext cx="1038758" cy="3941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Earnings YoY %</a:t>
            </a:r>
            <a:endParaRPr lang="en-US" sz="1050" dirty="0"/>
          </a:p>
        </p:txBody>
      </p:sp>
      <p:sp>
        <p:nvSpPr>
          <p:cNvPr id="24" name="Shape 21"/>
          <p:cNvSpPr/>
          <p:nvPr/>
        </p:nvSpPr>
        <p:spPr>
          <a:xfrm>
            <a:off x="10564978" y="1719072"/>
            <a:ext cx="1121054" cy="430682"/>
          </a:xfrm>
          <a:prstGeom prst="rect">
            <a:avLst/>
          </a:prstGeom>
          <a:solidFill>
            <a:srgbClr val="F1F3F7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10606126" y="1737360"/>
            <a:ext cx="1038758" cy="3941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Conversions YoY %</a:t>
            </a:r>
            <a:endParaRPr lang="en-US" sz="1050" dirty="0"/>
          </a:p>
        </p:txBody>
      </p:sp>
      <p:sp>
        <p:nvSpPr>
          <p:cNvPr id="26" name="Shape 23"/>
          <p:cNvSpPr/>
          <p:nvPr/>
        </p:nvSpPr>
        <p:spPr>
          <a:xfrm>
            <a:off x="475488" y="2149754"/>
            <a:ext cx="1121054" cy="372161"/>
          </a:xfrm>
          <a:prstGeom prst="rect">
            <a:avLst/>
          </a:prstGeom>
          <a:solidFill>
            <a:srgbClr val="F4F5F7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516636" y="2168042"/>
            <a:ext cx="1038758" cy="3355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328779</a:t>
            </a:r>
            <a:endParaRPr lang="en-US" sz="1000" dirty="0"/>
          </a:p>
        </p:txBody>
      </p:sp>
      <p:sp>
        <p:nvSpPr>
          <p:cNvPr id="28" name="Shape 25"/>
          <p:cNvSpPr/>
          <p:nvPr/>
        </p:nvSpPr>
        <p:spPr>
          <a:xfrm>
            <a:off x="1596542" y="2149754"/>
            <a:ext cx="1121054" cy="372161"/>
          </a:xfrm>
          <a:prstGeom prst="rect">
            <a:avLst/>
          </a:prstGeom>
          <a:solidFill>
            <a:srgbClr val="F4F5F7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1637690" y="2168042"/>
            <a:ext cx="1038758" cy="3355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 World Observatory - New York (US affiliates)</a:t>
            </a:r>
            <a:endParaRPr lang="en-US" sz="1000" dirty="0"/>
          </a:p>
        </p:txBody>
      </p:sp>
      <p:sp>
        <p:nvSpPr>
          <p:cNvPr id="30" name="Shape 27"/>
          <p:cNvSpPr/>
          <p:nvPr/>
        </p:nvSpPr>
        <p:spPr>
          <a:xfrm>
            <a:off x="2717597" y="2149754"/>
            <a:ext cx="1121054" cy="372161"/>
          </a:xfrm>
          <a:prstGeom prst="rect">
            <a:avLst/>
          </a:prstGeom>
          <a:solidFill>
            <a:srgbClr val="F4F5F7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2758745" y="2168042"/>
            <a:ext cx="1038758" cy="3355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$83</a:t>
            </a:r>
            <a:endParaRPr lang="en-US" sz="1000" dirty="0"/>
          </a:p>
        </p:txBody>
      </p:sp>
      <p:sp>
        <p:nvSpPr>
          <p:cNvPr id="32" name="Shape 29"/>
          <p:cNvSpPr/>
          <p:nvPr/>
        </p:nvSpPr>
        <p:spPr>
          <a:xfrm>
            <a:off x="3838651" y="2149754"/>
            <a:ext cx="1121054" cy="372161"/>
          </a:xfrm>
          <a:prstGeom prst="rect">
            <a:avLst/>
          </a:prstGeom>
          <a:solidFill>
            <a:srgbClr val="F4F5F7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3879799" y="2168042"/>
            <a:ext cx="1038758" cy="3355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$0</a:t>
            </a:r>
            <a:endParaRPr lang="en-US" sz="1000" dirty="0"/>
          </a:p>
        </p:txBody>
      </p:sp>
      <p:sp>
        <p:nvSpPr>
          <p:cNvPr id="34" name="Shape 31"/>
          <p:cNvSpPr/>
          <p:nvPr/>
        </p:nvSpPr>
        <p:spPr>
          <a:xfrm>
            <a:off x="4959706" y="2149754"/>
            <a:ext cx="1121054" cy="372161"/>
          </a:xfrm>
          <a:prstGeom prst="rect">
            <a:avLst/>
          </a:prstGeom>
          <a:solidFill>
            <a:srgbClr val="F4F5F7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5000854" y="2168042"/>
            <a:ext cx="1038758" cy="3355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$83</a:t>
            </a:r>
            <a:endParaRPr lang="en-US" sz="1000" dirty="0"/>
          </a:p>
        </p:txBody>
      </p:sp>
      <p:sp>
        <p:nvSpPr>
          <p:cNvPr id="36" name="Shape 33"/>
          <p:cNvSpPr/>
          <p:nvPr/>
        </p:nvSpPr>
        <p:spPr>
          <a:xfrm>
            <a:off x="6080760" y="2149754"/>
            <a:ext cx="1121054" cy="372161"/>
          </a:xfrm>
          <a:prstGeom prst="rect">
            <a:avLst/>
          </a:prstGeom>
          <a:solidFill>
            <a:srgbClr val="F4F5F7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6121908" y="2168042"/>
            <a:ext cx="1038758" cy="3355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1000" dirty="0"/>
          </a:p>
        </p:txBody>
      </p:sp>
      <p:sp>
        <p:nvSpPr>
          <p:cNvPr id="38" name="Shape 35"/>
          <p:cNvSpPr/>
          <p:nvPr/>
        </p:nvSpPr>
        <p:spPr>
          <a:xfrm>
            <a:off x="7201814" y="2149754"/>
            <a:ext cx="1121054" cy="372161"/>
          </a:xfrm>
          <a:prstGeom prst="rect">
            <a:avLst/>
          </a:prstGeom>
          <a:solidFill>
            <a:srgbClr val="F4F5F7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7242962" y="2168042"/>
            <a:ext cx="1038758" cy="3355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$689</a:t>
            </a:r>
            <a:endParaRPr lang="en-US" sz="1000" dirty="0"/>
          </a:p>
        </p:txBody>
      </p:sp>
      <p:sp>
        <p:nvSpPr>
          <p:cNvPr id="40" name="Shape 37"/>
          <p:cNvSpPr/>
          <p:nvPr/>
        </p:nvSpPr>
        <p:spPr>
          <a:xfrm>
            <a:off x="8322869" y="2149754"/>
            <a:ext cx="1121054" cy="372161"/>
          </a:xfrm>
          <a:prstGeom prst="rect">
            <a:avLst/>
          </a:prstGeom>
          <a:solidFill>
            <a:srgbClr val="F4F5F7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8364017" y="2168042"/>
            <a:ext cx="1038758" cy="3355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EB57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-96.2%</a:t>
            </a:r>
            <a:endParaRPr lang="en-US" sz="1000" dirty="0"/>
          </a:p>
        </p:txBody>
      </p:sp>
      <p:sp>
        <p:nvSpPr>
          <p:cNvPr id="42" name="Shape 39"/>
          <p:cNvSpPr/>
          <p:nvPr/>
        </p:nvSpPr>
        <p:spPr>
          <a:xfrm>
            <a:off x="9443923" y="2149754"/>
            <a:ext cx="1121054" cy="372161"/>
          </a:xfrm>
          <a:prstGeom prst="rect">
            <a:avLst/>
          </a:prstGeom>
          <a:solidFill>
            <a:srgbClr val="F4F5F7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9485071" y="2168042"/>
            <a:ext cx="1038758" cy="3355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EB57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-96.2%</a:t>
            </a:r>
            <a:endParaRPr lang="en-US" sz="1000" dirty="0"/>
          </a:p>
        </p:txBody>
      </p:sp>
      <p:sp>
        <p:nvSpPr>
          <p:cNvPr id="44" name="Shape 41"/>
          <p:cNvSpPr/>
          <p:nvPr/>
        </p:nvSpPr>
        <p:spPr>
          <a:xfrm>
            <a:off x="10564978" y="2149754"/>
            <a:ext cx="1121054" cy="372161"/>
          </a:xfrm>
          <a:prstGeom prst="rect">
            <a:avLst/>
          </a:prstGeom>
          <a:solidFill>
            <a:srgbClr val="F4F5F7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45" name="Text 42"/>
          <p:cNvSpPr/>
          <p:nvPr/>
        </p:nvSpPr>
        <p:spPr>
          <a:xfrm>
            <a:off x="10606126" y="2168042"/>
            <a:ext cx="1038758" cy="3355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EB57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-94.6%</a:t>
            </a:r>
            <a:endParaRPr lang="en-US" sz="1000" dirty="0"/>
          </a:p>
        </p:txBody>
      </p:sp>
      <p:sp>
        <p:nvSpPr>
          <p:cNvPr id="46" name="Shape 43"/>
          <p:cNvSpPr/>
          <p:nvPr/>
        </p:nvSpPr>
        <p:spPr>
          <a:xfrm>
            <a:off x="475488" y="2521915"/>
            <a:ext cx="1121054" cy="372161"/>
          </a:xfrm>
          <a:prstGeom prst="rect">
            <a:avLst/>
          </a:prstGeom>
          <a:solidFill>
            <a:srgbClr val="ECEDEF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47" name="Text 44"/>
          <p:cNvSpPr/>
          <p:nvPr/>
        </p:nvSpPr>
        <p:spPr>
          <a:xfrm>
            <a:off x="516636" y="2540203"/>
            <a:ext cx="1038758" cy="3355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361155</a:t>
            </a:r>
            <a:endParaRPr lang="en-US" sz="1000" dirty="0"/>
          </a:p>
        </p:txBody>
      </p:sp>
      <p:sp>
        <p:nvSpPr>
          <p:cNvPr id="48" name="Shape 45"/>
          <p:cNvSpPr/>
          <p:nvPr/>
        </p:nvSpPr>
        <p:spPr>
          <a:xfrm>
            <a:off x="1596542" y="2521915"/>
            <a:ext cx="1121054" cy="372161"/>
          </a:xfrm>
          <a:prstGeom prst="rect">
            <a:avLst/>
          </a:prstGeom>
          <a:solidFill>
            <a:srgbClr val="ECEDEF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49" name="Text 46"/>
          <p:cNvSpPr/>
          <p:nvPr/>
        </p:nvSpPr>
        <p:spPr>
          <a:xfrm>
            <a:off x="1637690" y="2540203"/>
            <a:ext cx="1038758" cy="3355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View from The Shard</a:t>
            </a:r>
            <a:endParaRPr lang="en-US" sz="1000" dirty="0"/>
          </a:p>
        </p:txBody>
      </p:sp>
      <p:sp>
        <p:nvSpPr>
          <p:cNvPr id="50" name="Shape 47"/>
          <p:cNvSpPr/>
          <p:nvPr/>
        </p:nvSpPr>
        <p:spPr>
          <a:xfrm>
            <a:off x="2717597" y="2521915"/>
            <a:ext cx="1121054" cy="372161"/>
          </a:xfrm>
          <a:prstGeom prst="rect">
            <a:avLst/>
          </a:prstGeom>
          <a:solidFill>
            <a:srgbClr val="ECEDEF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51" name="Text 48"/>
          <p:cNvSpPr/>
          <p:nvPr/>
        </p:nvSpPr>
        <p:spPr>
          <a:xfrm>
            <a:off x="2758745" y="2540203"/>
            <a:ext cx="1038758" cy="3355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$26</a:t>
            </a:r>
            <a:endParaRPr lang="en-US" sz="1000" dirty="0"/>
          </a:p>
        </p:txBody>
      </p:sp>
      <p:sp>
        <p:nvSpPr>
          <p:cNvPr id="52" name="Shape 49"/>
          <p:cNvSpPr/>
          <p:nvPr/>
        </p:nvSpPr>
        <p:spPr>
          <a:xfrm>
            <a:off x="3838651" y="2521915"/>
            <a:ext cx="1121054" cy="372161"/>
          </a:xfrm>
          <a:prstGeom prst="rect">
            <a:avLst/>
          </a:prstGeom>
          <a:solidFill>
            <a:srgbClr val="ECEDEF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53" name="Text 50"/>
          <p:cNvSpPr/>
          <p:nvPr/>
        </p:nvSpPr>
        <p:spPr>
          <a:xfrm>
            <a:off x="3879799" y="2540203"/>
            <a:ext cx="1038758" cy="3355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$0</a:t>
            </a:r>
            <a:endParaRPr lang="en-US" sz="1000" dirty="0"/>
          </a:p>
        </p:txBody>
      </p:sp>
      <p:sp>
        <p:nvSpPr>
          <p:cNvPr id="54" name="Shape 51"/>
          <p:cNvSpPr/>
          <p:nvPr/>
        </p:nvSpPr>
        <p:spPr>
          <a:xfrm>
            <a:off x="4959706" y="2521915"/>
            <a:ext cx="1121054" cy="372161"/>
          </a:xfrm>
          <a:prstGeom prst="rect">
            <a:avLst/>
          </a:prstGeom>
          <a:solidFill>
            <a:srgbClr val="ECEDEF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55" name="Text 52"/>
          <p:cNvSpPr/>
          <p:nvPr/>
        </p:nvSpPr>
        <p:spPr>
          <a:xfrm>
            <a:off x="5000854" y="2540203"/>
            <a:ext cx="1038758" cy="3355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$26</a:t>
            </a:r>
            <a:endParaRPr lang="en-US" sz="1000" dirty="0"/>
          </a:p>
        </p:txBody>
      </p:sp>
      <p:sp>
        <p:nvSpPr>
          <p:cNvPr id="56" name="Shape 53"/>
          <p:cNvSpPr/>
          <p:nvPr/>
        </p:nvSpPr>
        <p:spPr>
          <a:xfrm>
            <a:off x="6080760" y="2521915"/>
            <a:ext cx="1121054" cy="372161"/>
          </a:xfrm>
          <a:prstGeom prst="rect">
            <a:avLst/>
          </a:prstGeom>
          <a:solidFill>
            <a:srgbClr val="ECEDEF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57" name="Text 54"/>
          <p:cNvSpPr/>
          <p:nvPr/>
        </p:nvSpPr>
        <p:spPr>
          <a:xfrm>
            <a:off x="6121908" y="2540203"/>
            <a:ext cx="1038758" cy="3355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000" dirty="0"/>
          </a:p>
        </p:txBody>
      </p:sp>
      <p:sp>
        <p:nvSpPr>
          <p:cNvPr id="58" name="Shape 55"/>
          <p:cNvSpPr/>
          <p:nvPr/>
        </p:nvSpPr>
        <p:spPr>
          <a:xfrm>
            <a:off x="7201814" y="2521915"/>
            <a:ext cx="1121054" cy="372161"/>
          </a:xfrm>
          <a:prstGeom prst="rect">
            <a:avLst/>
          </a:prstGeom>
          <a:solidFill>
            <a:srgbClr val="ECEDEF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59" name="Text 56"/>
          <p:cNvSpPr/>
          <p:nvPr/>
        </p:nvSpPr>
        <p:spPr>
          <a:xfrm>
            <a:off x="7242962" y="2540203"/>
            <a:ext cx="1038758" cy="3355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$264</a:t>
            </a:r>
            <a:endParaRPr lang="en-US" sz="1000" dirty="0"/>
          </a:p>
        </p:txBody>
      </p:sp>
      <p:sp>
        <p:nvSpPr>
          <p:cNvPr id="60" name="Shape 57"/>
          <p:cNvSpPr/>
          <p:nvPr/>
        </p:nvSpPr>
        <p:spPr>
          <a:xfrm>
            <a:off x="8322869" y="2521915"/>
            <a:ext cx="1121054" cy="372161"/>
          </a:xfrm>
          <a:prstGeom prst="rect">
            <a:avLst/>
          </a:prstGeom>
          <a:solidFill>
            <a:srgbClr val="ECEDEF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61" name="Text 58"/>
          <p:cNvSpPr/>
          <p:nvPr/>
        </p:nvSpPr>
        <p:spPr>
          <a:xfrm>
            <a:off x="8364017" y="2540203"/>
            <a:ext cx="1038758" cy="3355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EB57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-91.3%</a:t>
            </a:r>
            <a:endParaRPr lang="en-US" sz="1000" dirty="0"/>
          </a:p>
        </p:txBody>
      </p:sp>
      <p:sp>
        <p:nvSpPr>
          <p:cNvPr id="62" name="Shape 59"/>
          <p:cNvSpPr/>
          <p:nvPr/>
        </p:nvSpPr>
        <p:spPr>
          <a:xfrm>
            <a:off x="9443923" y="2521915"/>
            <a:ext cx="1121054" cy="372161"/>
          </a:xfrm>
          <a:prstGeom prst="rect">
            <a:avLst/>
          </a:prstGeom>
          <a:solidFill>
            <a:srgbClr val="ECEDEF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63" name="Text 60"/>
          <p:cNvSpPr/>
          <p:nvPr/>
        </p:nvSpPr>
        <p:spPr>
          <a:xfrm>
            <a:off x="9485071" y="2540203"/>
            <a:ext cx="1038758" cy="3355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EB57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-91.3%</a:t>
            </a:r>
            <a:endParaRPr lang="en-US" sz="1000" dirty="0"/>
          </a:p>
        </p:txBody>
      </p:sp>
      <p:sp>
        <p:nvSpPr>
          <p:cNvPr id="64" name="Shape 61"/>
          <p:cNvSpPr/>
          <p:nvPr/>
        </p:nvSpPr>
        <p:spPr>
          <a:xfrm>
            <a:off x="10564978" y="2521915"/>
            <a:ext cx="1121054" cy="372161"/>
          </a:xfrm>
          <a:prstGeom prst="rect">
            <a:avLst/>
          </a:prstGeom>
          <a:solidFill>
            <a:srgbClr val="ECEDEF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65" name="Text 62"/>
          <p:cNvSpPr/>
          <p:nvPr/>
        </p:nvSpPr>
        <p:spPr>
          <a:xfrm>
            <a:off x="10606126" y="2540203"/>
            <a:ext cx="1038758" cy="3355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EB57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-90.0%</a:t>
            </a:r>
            <a:endParaRPr lang="en-US" sz="1000" dirty="0"/>
          </a:p>
        </p:txBody>
      </p:sp>
      <p:sp>
        <p:nvSpPr>
          <p:cNvPr id="66" name="Shape 63"/>
          <p:cNvSpPr/>
          <p:nvPr/>
        </p:nvSpPr>
        <p:spPr>
          <a:xfrm>
            <a:off x="475488" y="2894076"/>
            <a:ext cx="1121054" cy="372161"/>
          </a:xfrm>
          <a:prstGeom prst="rect">
            <a:avLst/>
          </a:prstGeom>
          <a:solidFill>
            <a:srgbClr val="F4F5F7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67" name="Text 64"/>
          <p:cNvSpPr/>
          <p:nvPr/>
        </p:nvSpPr>
        <p:spPr>
          <a:xfrm>
            <a:off x="516636" y="2912364"/>
            <a:ext cx="1038758" cy="3355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383123</a:t>
            </a:r>
            <a:endParaRPr lang="en-US" sz="1000" dirty="0"/>
          </a:p>
        </p:txBody>
      </p:sp>
      <p:sp>
        <p:nvSpPr>
          <p:cNvPr id="68" name="Shape 65"/>
          <p:cNvSpPr/>
          <p:nvPr/>
        </p:nvSpPr>
        <p:spPr>
          <a:xfrm>
            <a:off x="1596542" y="2894076"/>
            <a:ext cx="1121054" cy="372161"/>
          </a:xfrm>
          <a:prstGeom prst="rect">
            <a:avLst/>
          </a:prstGeom>
          <a:solidFill>
            <a:srgbClr val="F4F5F7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69" name="Text 66"/>
          <p:cNvSpPr/>
          <p:nvPr/>
        </p:nvSpPr>
        <p:spPr>
          <a:xfrm>
            <a:off x="1637690" y="2912364"/>
            <a:ext cx="1038758" cy="3355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Lucky Star Jewels</a:t>
            </a:r>
            <a:endParaRPr lang="en-US" sz="1000" dirty="0"/>
          </a:p>
        </p:txBody>
      </p:sp>
      <p:sp>
        <p:nvSpPr>
          <p:cNvPr id="70" name="Shape 67"/>
          <p:cNvSpPr/>
          <p:nvPr/>
        </p:nvSpPr>
        <p:spPr>
          <a:xfrm>
            <a:off x="2717597" y="2894076"/>
            <a:ext cx="1121054" cy="372161"/>
          </a:xfrm>
          <a:prstGeom prst="rect">
            <a:avLst/>
          </a:prstGeom>
          <a:solidFill>
            <a:srgbClr val="F4F5F7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71" name="Text 68"/>
          <p:cNvSpPr/>
          <p:nvPr/>
        </p:nvSpPr>
        <p:spPr>
          <a:xfrm>
            <a:off x="2758745" y="2912364"/>
            <a:ext cx="1038758" cy="3355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$26</a:t>
            </a:r>
            <a:endParaRPr lang="en-US" sz="1000" dirty="0"/>
          </a:p>
        </p:txBody>
      </p:sp>
      <p:sp>
        <p:nvSpPr>
          <p:cNvPr id="72" name="Shape 69"/>
          <p:cNvSpPr/>
          <p:nvPr/>
        </p:nvSpPr>
        <p:spPr>
          <a:xfrm>
            <a:off x="3838651" y="2894076"/>
            <a:ext cx="1121054" cy="372161"/>
          </a:xfrm>
          <a:prstGeom prst="rect">
            <a:avLst/>
          </a:prstGeom>
          <a:solidFill>
            <a:srgbClr val="F4F5F7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73" name="Text 70"/>
          <p:cNvSpPr/>
          <p:nvPr/>
        </p:nvSpPr>
        <p:spPr>
          <a:xfrm>
            <a:off x="3879799" y="2912364"/>
            <a:ext cx="1038758" cy="3355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$0</a:t>
            </a:r>
            <a:endParaRPr lang="en-US" sz="1000" dirty="0"/>
          </a:p>
        </p:txBody>
      </p:sp>
      <p:sp>
        <p:nvSpPr>
          <p:cNvPr id="74" name="Shape 71"/>
          <p:cNvSpPr/>
          <p:nvPr/>
        </p:nvSpPr>
        <p:spPr>
          <a:xfrm>
            <a:off x="4959706" y="2894076"/>
            <a:ext cx="1121054" cy="372161"/>
          </a:xfrm>
          <a:prstGeom prst="rect">
            <a:avLst/>
          </a:prstGeom>
          <a:solidFill>
            <a:srgbClr val="F4F5F7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75" name="Text 72"/>
          <p:cNvSpPr/>
          <p:nvPr/>
        </p:nvSpPr>
        <p:spPr>
          <a:xfrm>
            <a:off x="5000854" y="2912364"/>
            <a:ext cx="1038758" cy="3355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$26</a:t>
            </a:r>
            <a:endParaRPr lang="en-US" sz="1000" dirty="0"/>
          </a:p>
        </p:txBody>
      </p:sp>
      <p:sp>
        <p:nvSpPr>
          <p:cNvPr id="76" name="Shape 73"/>
          <p:cNvSpPr/>
          <p:nvPr/>
        </p:nvSpPr>
        <p:spPr>
          <a:xfrm>
            <a:off x="6080760" y="2894076"/>
            <a:ext cx="1121054" cy="372161"/>
          </a:xfrm>
          <a:prstGeom prst="rect">
            <a:avLst/>
          </a:prstGeom>
          <a:solidFill>
            <a:srgbClr val="F4F5F7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77" name="Text 74"/>
          <p:cNvSpPr/>
          <p:nvPr/>
        </p:nvSpPr>
        <p:spPr>
          <a:xfrm>
            <a:off x="6121908" y="2912364"/>
            <a:ext cx="1038758" cy="3355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000" dirty="0"/>
          </a:p>
        </p:txBody>
      </p:sp>
      <p:sp>
        <p:nvSpPr>
          <p:cNvPr id="78" name="Shape 75"/>
          <p:cNvSpPr/>
          <p:nvPr/>
        </p:nvSpPr>
        <p:spPr>
          <a:xfrm>
            <a:off x="7201814" y="2894076"/>
            <a:ext cx="1121054" cy="372161"/>
          </a:xfrm>
          <a:prstGeom prst="rect">
            <a:avLst/>
          </a:prstGeom>
          <a:solidFill>
            <a:srgbClr val="F4F5F7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79" name="Text 76"/>
          <p:cNvSpPr/>
          <p:nvPr/>
        </p:nvSpPr>
        <p:spPr>
          <a:xfrm>
            <a:off x="7242962" y="2912364"/>
            <a:ext cx="1038758" cy="3355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$260</a:t>
            </a:r>
            <a:endParaRPr lang="en-US" sz="1000" dirty="0"/>
          </a:p>
        </p:txBody>
      </p:sp>
      <p:sp>
        <p:nvSpPr>
          <p:cNvPr id="80" name="Shape 77"/>
          <p:cNvSpPr/>
          <p:nvPr/>
        </p:nvSpPr>
        <p:spPr>
          <a:xfrm>
            <a:off x="8322869" y="2894076"/>
            <a:ext cx="1121054" cy="372161"/>
          </a:xfrm>
          <a:prstGeom prst="rect">
            <a:avLst/>
          </a:prstGeom>
          <a:solidFill>
            <a:srgbClr val="F4F5F7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81" name="Text 78"/>
          <p:cNvSpPr/>
          <p:nvPr/>
        </p:nvSpPr>
        <p:spPr>
          <a:xfrm>
            <a:off x="8364017" y="2912364"/>
            <a:ext cx="1038758" cy="3355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N/A</a:t>
            </a:r>
            <a:endParaRPr lang="en-US" sz="1000" dirty="0"/>
          </a:p>
        </p:txBody>
      </p:sp>
      <p:sp>
        <p:nvSpPr>
          <p:cNvPr id="82" name="Shape 79"/>
          <p:cNvSpPr/>
          <p:nvPr/>
        </p:nvSpPr>
        <p:spPr>
          <a:xfrm>
            <a:off x="9443923" y="2894076"/>
            <a:ext cx="1121054" cy="372161"/>
          </a:xfrm>
          <a:prstGeom prst="rect">
            <a:avLst/>
          </a:prstGeom>
          <a:solidFill>
            <a:srgbClr val="F4F5F7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83" name="Text 80"/>
          <p:cNvSpPr/>
          <p:nvPr/>
        </p:nvSpPr>
        <p:spPr>
          <a:xfrm>
            <a:off x="9485071" y="2912364"/>
            <a:ext cx="1038758" cy="3355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N/A</a:t>
            </a:r>
            <a:endParaRPr lang="en-US" sz="1000" dirty="0"/>
          </a:p>
        </p:txBody>
      </p:sp>
      <p:sp>
        <p:nvSpPr>
          <p:cNvPr id="84" name="Shape 81"/>
          <p:cNvSpPr/>
          <p:nvPr/>
        </p:nvSpPr>
        <p:spPr>
          <a:xfrm>
            <a:off x="10564978" y="2894076"/>
            <a:ext cx="1121054" cy="372161"/>
          </a:xfrm>
          <a:prstGeom prst="rect">
            <a:avLst/>
          </a:prstGeom>
          <a:solidFill>
            <a:srgbClr val="F4F5F7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85" name="Text 82"/>
          <p:cNvSpPr/>
          <p:nvPr/>
        </p:nvSpPr>
        <p:spPr>
          <a:xfrm>
            <a:off x="10606126" y="2912364"/>
            <a:ext cx="1038758" cy="3355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N/A</a:t>
            </a:r>
            <a:endParaRPr lang="en-US" sz="1000" dirty="0"/>
          </a:p>
        </p:txBody>
      </p:sp>
      <p:sp>
        <p:nvSpPr>
          <p:cNvPr id="86" name="Shape 83"/>
          <p:cNvSpPr/>
          <p:nvPr/>
        </p:nvSpPr>
        <p:spPr>
          <a:xfrm>
            <a:off x="475488" y="3266237"/>
            <a:ext cx="1121054" cy="372161"/>
          </a:xfrm>
          <a:prstGeom prst="rect">
            <a:avLst/>
          </a:prstGeom>
          <a:solidFill>
            <a:srgbClr val="ECEDEF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87" name="Text 84"/>
          <p:cNvSpPr/>
          <p:nvPr/>
        </p:nvSpPr>
        <p:spPr>
          <a:xfrm>
            <a:off x="516636" y="3284525"/>
            <a:ext cx="1038758" cy="3355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384454</a:t>
            </a:r>
            <a:endParaRPr lang="en-US" sz="1000" dirty="0"/>
          </a:p>
        </p:txBody>
      </p:sp>
      <p:sp>
        <p:nvSpPr>
          <p:cNvPr id="88" name="Shape 85"/>
          <p:cNvSpPr/>
          <p:nvPr/>
        </p:nvSpPr>
        <p:spPr>
          <a:xfrm>
            <a:off x="1596542" y="3266237"/>
            <a:ext cx="1121054" cy="372161"/>
          </a:xfrm>
          <a:prstGeom prst="rect">
            <a:avLst/>
          </a:prstGeom>
          <a:solidFill>
            <a:srgbClr val="ECEDEF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89" name="Text 86"/>
          <p:cNvSpPr/>
          <p:nvPr/>
        </p:nvSpPr>
        <p:spPr>
          <a:xfrm>
            <a:off x="1637690" y="3284525"/>
            <a:ext cx="1038758" cy="3355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Great Gatsby Broadway</a:t>
            </a:r>
            <a:endParaRPr lang="en-US" sz="1000" dirty="0"/>
          </a:p>
        </p:txBody>
      </p:sp>
      <p:sp>
        <p:nvSpPr>
          <p:cNvPr id="90" name="Shape 87"/>
          <p:cNvSpPr/>
          <p:nvPr/>
        </p:nvSpPr>
        <p:spPr>
          <a:xfrm>
            <a:off x="2717597" y="3266237"/>
            <a:ext cx="1121054" cy="372161"/>
          </a:xfrm>
          <a:prstGeom prst="rect">
            <a:avLst/>
          </a:prstGeom>
          <a:solidFill>
            <a:srgbClr val="ECEDEF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91" name="Text 88"/>
          <p:cNvSpPr/>
          <p:nvPr/>
        </p:nvSpPr>
        <p:spPr>
          <a:xfrm>
            <a:off x="2758745" y="3284525"/>
            <a:ext cx="1038758" cy="3355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$20</a:t>
            </a:r>
            <a:endParaRPr lang="en-US" sz="1000" dirty="0"/>
          </a:p>
        </p:txBody>
      </p:sp>
      <p:sp>
        <p:nvSpPr>
          <p:cNvPr id="92" name="Shape 89"/>
          <p:cNvSpPr/>
          <p:nvPr/>
        </p:nvSpPr>
        <p:spPr>
          <a:xfrm>
            <a:off x="3838651" y="3266237"/>
            <a:ext cx="1121054" cy="372161"/>
          </a:xfrm>
          <a:prstGeom prst="rect">
            <a:avLst/>
          </a:prstGeom>
          <a:solidFill>
            <a:srgbClr val="ECEDEF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93" name="Text 90"/>
          <p:cNvSpPr/>
          <p:nvPr/>
        </p:nvSpPr>
        <p:spPr>
          <a:xfrm>
            <a:off x="3879799" y="3284525"/>
            <a:ext cx="1038758" cy="3355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$0</a:t>
            </a:r>
            <a:endParaRPr lang="en-US" sz="1000" dirty="0"/>
          </a:p>
        </p:txBody>
      </p:sp>
      <p:sp>
        <p:nvSpPr>
          <p:cNvPr id="94" name="Shape 91"/>
          <p:cNvSpPr/>
          <p:nvPr/>
        </p:nvSpPr>
        <p:spPr>
          <a:xfrm>
            <a:off x="4959706" y="3266237"/>
            <a:ext cx="1121054" cy="372161"/>
          </a:xfrm>
          <a:prstGeom prst="rect">
            <a:avLst/>
          </a:prstGeom>
          <a:solidFill>
            <a:srgbClr val="ECEDEF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95" name="Text 92"/>
          <p:cNvSpPr/>
          <p:nvPr/>
        </p:nvSpPr>
        <p:spPr>
          <a:xfrm>
            <a:off x="5000854" y="3284525"/>
            <a:ext cx="1038758" cy="3355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$20</a:t>
            </a:r>
            <a:endParaRPr lang="en-US" sz="1000" dirty="0"/>
          </a:p>
        </p:txBody>
      </p:sp>
      <p:sp>
        <p:nvSpPr>
          <p:cNvPr id="96" name="Shape 93"/>
          <p:cNvSpPr/>
          <p:nvPr/>
        </p:nvSpPr>
        <p:spPr>
          <a:xfrm>
            <a:off x="6080760" y="3266237"/>
            <a:ext cx="1121054" cy="372161"/>
          </a:xfrm>
          <a:prstGeom prst="rect">
            <a:avLst/>
          </a:prstGeom>
          <a:solidFill>
            <a:srgbClr val="ECEDEF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97" name="Text 94"/>
          <p:cNvSpPr/>
          <p:nvPr/>
        </p:nvSpPr>
        <p:spPr>
          <a:xfrm>
            <a:off x="6121908" y="3284525"/>
            <a:ext cx="1038758" cy="3355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000" dirty="0"/>
          </a:p>
        </p:txBody>
      </p:sp>
      <p:sp>
        <p:nvSpPr>
          <p:cNvPr id="98" name="Shape 95"/>
          <p:cNvSpPr/>
          <p:nvPr/>
        </p:nvSpPr>
        <p:spPr>
          <a:xfrm>
            <a:off x="7201814" y="3266237"/>
            <a:ext cx="1121054" cy="372161"/>
          </a:xfrm>
          <a:prstGeom prst="rect">
            <a:avLst/>
          </a:prstGeom>
          <a:solidFill>
            <a:srgbClr val="ECEDEF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99" name="Text 96"/>
          <p:cNvSpPr/>
          <p:nvPr/>
        </p:nvSpPr>
        <p:spPr>
          <a:xfrm>
            <a:off x="7242962" y="3284525"/>
            <a:ext cx="1038758" cy="3355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$1,455</a:t>
            </a:r>
            <a:endParaRPr lang="en-US" sz="1000" dirty="0"/>
          </a:p>
        </p:txBody>
      </p:sp>
      <p:sp>
        <p:nvSpPr>
          <p:cNvPr id="100" name="Shape 97"/>
          <p:cNvSpPr/>
          <p:nvPr/>
        </p:nvSpPr>
        <p:spPr>
          <a:xfrm>
            <a:off x="8322869" y="3266237"/>
            <a:ext cx="1121054" cy="372161"/>
          </a:xfrm>
          <a:prstGeom prst="rect">
            <a:avLst/>
          </a:prstGeom>
          <a:solidFill>
            <a:srgbClr val="ECEDEF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01" name="Text 98"/>
          <p:cNvSpPr/>
          <p:nvPr/>
        </p:nvSpPr>
        <p:spPr>
          <a:xfrm>
            <a:off x="8364017" y="3284525"/>
            <a:ext cx="1038758" cy="3355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N/A</a:t>
            </a:r>
            <a:endParaRPr lang="en-US" sz="1000" dirty="0"/>
          </a:p>
        </p:txBody>
      </p:sp>
      <p:sp>
        <p:nvSpPr>
          <p:cNvPr id="102" name="Shape 99"/>
          <p:cNvSpPr/>
          <p:nvPr/>
        </p:nvSpPr>
        <p:spPr>
          <a:xfrm>
            <a:off x="9443923" y="3266237"/>
            <a:ext cx="1121054" cy="372161"/>
          </a:xfrm>
          <a:prstGeom prst="rect">
            <a:avLst/>
          </a:prstGeom>
          <a:solidFill>
            <a:srgbClr val="ECEDEF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03" name="Text 100"/>
          <p:cNvSpPr/>
          <p:nvPr/>
        </p:nvSpPr>
        <p:spPr>
          <a:xfrm>
            <a:off x="9485071" y="3284525"/>
            <a:ext cx="1038758" cy="3355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N/A</a:t>
            </a:r>
            <a:endParaRPr lang="en-US" sz="1000" dirty="0"/>
          </a:p>
        </p:txBody>
      </p:sp>
      <p:sp>
        <p:nvSpPr>
          <p:cNvPr id="104" name="Shape 101"/>
          <p:cNvSpPr/>
          <p:nvPr/>
        </p:nvSpPr>
        <p:spPr>
          <a:xfrm>
            <a:off x="10564978" y="3266237"/>
            <a:ext cx="1121054" cy="372161"/>
          </a:xfrm>
          <a:prstGeom prst="rect">
            <a:avLst/>
          </a:prstGeom>
          <a:solidFill>
            <a:srgbClr val="ECEDEF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05" name="Text 102"/>
          <p:cNvSpPr/>
          <p:nvPr/>
        </p:nvSpPr>
        <p:spPr>
          <a:xfrm>
            <a:off x="10606126" y="3284525"/>
            <a:ext cx="1038758" cy="3355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N/A</a:t>
            </a:r>
            <a:endParaRPr lang="en-US" sz="1000" dirty="0"/>
          </a:p>
        </p:txBody>
      </p:sp>
      <p:sp>
        <p:nvSpPr>
          <p:cNvPr id="106" name="Shape 103"/>
          <p:cNvSpPr/>
          <p:nvPr/>
        </p:nvSpPr>
        <p:spPr>
          <a:xfrm>
            <a:off x="475488" y="3638398"/>
            <a:ext cx="1121054" cy="372161"/>
          </a:xfrm>
          <a:prstGeom prst="rect">
            <a:avLst/>
          </a:prstGeom>
          <a:solidFill>
            <a:srgbClr val="F4F5F7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07" name="Text 104"/>
          <p:cNvSpPr/>
          <p:nvPr/>
        </p:nvSpPr>
        <p:spPr>
          <a:xfrm>
            <a:off x="516636" y="3656686"/>
            <a:ext cx="1038758" cy="3355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366313</a:t>
            </a:r>
            <a:endParaRPr lang="en-US" sz="1000" dirty="0"/>
          </a:p>
        </p:txBody>
      </p:sp>
      <p:sp>
        <p:nvSpPr>
          <p:cNvPr id="108" name="Shape 105"/>
          <p:cNvSpPr/>
          <p:nvPr/>
        </p:nvSpPr>
        <p:spPr>
          <a:xfrm>
            <a:off x="1596542" y="3638398"/>
            <a:ext cx="1121054" cy="372161"/>
          </a:xfrm>
          <a:prstGeom prst="rect">
            <a:avLst/>
          </a:prstGeom>
          <a:solidFill>
            <a:srgbClr val="F4F5F7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09" name="Text 106"/>
          <p:cNvSpPr/>
          <p:nvPr/>
        </p:nvSpPr>
        <p:spPr>
          <a:xfrm>
            <a:off x="1637690" y="3656686"/>
            <a:ext cx="1038758" cy="3355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Spitfire Audio US (closing 29.05.2026)</a:t>
            </a:r>
            <a:endParaRPr lang="en-US" sz="1000" dirty="0"/>
          </a:p>
        </p:txBody>
      </p:sp>
      <p:sp>
        <p:nvSpPr>
          <p:cNvPr id="110" name="Shape 107"/>
          <p:cNvSpPr/>
          <p:nvPr/>
        </p:nvSpPr>
        <p:spPr>
          <a:xfrm>
            <a:off x="2717597" y="3638398"/>
            <a:ext cx="1121054" cy="372161"/>
          </a:xfrm>
          <a:prstGeom prst="rect">
            <a:avLst/>
          </a:prstGeom>
          <a:solidFill>
            <a:srgbClr val="F4F5F7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11" name="Text 108"/>
          <p:cNvSpPr/>
          <p:nvPr/>
        </p:nvSpPr>
        <p:spPr>
          <a:xfrm>
            <a:off x="2758745" y="3656686"/>
            <a:ext cx="1038758" cy="3355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$14</a:t>
            </a:r>
            <a:endParaRPr lang="en-US" sz="1000" dirty="0"/>
          </a:p>
        </p:txBody>
      </p:sp>
      <p:sp>
        <p:nvSpPr>
          <p:cNvPr id="112" name="Shape 109"/>
          <p:cNvSpPr/>
          <p:nvPr/>
        </p:nvSpPr>
        <p:spPr>
          <a:xfrm>
            <a:off x="3838651" y="3638398"/>
            <a:ext cx="1121054" cy="372161"/>
          </a:xfrm>
          <a:prstGeom prst="rect">
            <a:avLst/>
          </a:prstGeom>
          <a:solidFill>
            <a:srgbClr val="F4F5F7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13" name="Text 110"/>
          <p:cNvSpPr/>
          <p:nvPr/>
        </p:nvSpPr>
        <p:spPr>
          <a:xfrm>
            <a:off x="3879799" y="3656686"/>
            <a:ext cx="1038758" cy="3355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$0</a:t>
            </a:r>
            <a:endParaRPr lang="en-US" sz="1000" dirty="0"/>
          </a:p>
        </p:txBody>
      </p:sp>
      <p:sp>
        <p:nvSpPr>
          <p:cNvPr id="114" name="Shape 111"/>
          <p:cNvSpPr/>
          <p:nvPr/>
        </p:nvSpPr>
        <p:spPr>
          <a:xfrm>
            <a:off x="4959706" y="3638398"/>
            <a:ext cx="1121054" cy="372161"/>
          </a:xfrm>
          <a:prstGeom prst="rect">
            <a:avLst/>
          </a:prstGeom>
          <a:solidFill>
            <a:srgbClr val="F4F5F7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15" name="Text 112"/>
          <p:cNvSpPr/>
          <p:nvPr/>
        </p:nvSpPr>
        <p:spPr>
          <a:xfrm>
            <a:off x="5000854" y="3656686"/>
            <a:ext cx="1038758" cy="3355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$14</a:t>
            </a:r>
            <a:endParaRPr lang="en-US" sz="1000" dirty="0"/>
          </a:p>
        </p:txBody>
      </p:sp>
      <p:sp>
        <p:nvSpPr>
          <p:cNvPr id="116" name="Shape 113"/>
          <p:cNvSpPr/>
          <p:nvPr/>
        </p:nvSpPr>
        <p:spPr>
          <a:xfrm>
            <a:off x="6080760" y="3638398"/>
            <a:ext cx="1121054" cy="372161"/>
          </a:xfrm>
          <a:prstGeom prst="rect">
            <a:avLst/>
          </a:prstGeom>
          <a:solidFill>
            <a:srgbClr val="F4F5F7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17" name="Text 114"/>
          <p:cNvSpPr/>
          <p:nvPr/>
        </p:nvSpPr>
        <p:spPr>
          <a:xfrm>
            <a:off x="6121908" y="3656686"/>
            <a:ext cx="1038758" cy="3355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</a:t>
            </a:r>
            <a:endParaRPr lang="en-US" sz="1000" dirty="0"/>
          </a:p>
        </p:txBody>
      </p:sp>
      <p:sp>
        <p:nvSpPr>
          <p:cNvPr id="118" name="Shape 115"/>
          <p:cNvSpPr/>
          <p:nvPr/>
        </p:nvSpPr>
        <p:spPr>
          <a:xfrm>
            <a:off x="7201814" y="3638398"/>
            <a:ext cx="1121054" cy="372161"/>
          </a:xfrm>
          <a:prstGeom prst="rect">
            <a:avLst/>
          </a:prstGeom>
          <a:solidFill>
            <a:srgbClr val="F4F5F7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19" name="Text 116"/>
          <p:cNvSpPr/>
          <p:nvPr/>
        </p:nvSpPr>
        <p:spPr>
          <a:xfrm>
            <a:off x="7242962" y="3656686"/>
            <a:ext cx="1038758" cy="3355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$653</a:t>
            </a:r>
            <a:endParaRPr lang="en-US" sz="1000" dirty="0"/>
          </a:p>
        </p:txBody>
      </p:sp>
      <p:sp>
        <p:nvSpPr>
          <p:cNvPr id="120" name="Shape 117"/>
          <p:cNvSpPr/>
          <p:nvPr/>
        </p:nvSpPr>
        <p:spPr>
          <a:xfrm>
            <a:off x="8322869" y="3638398"/>
            <a:ext cx="1121054" cy="372161"/>
          </a:xfrm>
          <a:prstGeom prst="rect">
            <a:avLst/>
          </a:prstGeom>
          <a:solidFill>
            <a:srgbClr val="F4F5F7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21" name="Text 118"/>
          <p:cNvSpPr/>
          <p:nvPr/>
        </p:nvSpPr>
        <p:spPr>
          <a:xfrm>
            <a:off x="8364017" y="3656686"/>
            <a:ext cx="1038758" cy="3355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EB57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-96.1%</a:t>
            </a:r>
            <a:endParaRPr lang="en-US" sz="1000" dirty="0"/>
          </a:p>
        </p:txBody>
      </p:sp>
      <p:sp>
        <p:nvSpPr>
          <p:cNvPr id="122" name="Shape 119"/>
          <p:cNvSpPr/>
          <p:nvPr/>
        </p:nvSpPr>
        <p:spPr>
          <a:xfrm>
            <a:off x="9443923" y="3638398"/>
            <a:ext cx="1121054" cy="372161"/>
          </a:xfrm>
          <a:prstGeom prst="rect">
            <a:avLst/>
          </a:prstGeom>
          <a:solidFill>
            <a:srgbClr val="F4F5F7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23" name="Text 120"/>
          <p:cNvSpPr/>
          <p:nvPr/>
        </p:nvSpPr>
        <p:spPr>
          <a:xfrm>
            <a:off x="9485071" y="3656686"/>
            <a:ext cx="1038758" cy="3355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EB57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-96.1%</a:t>
            </a:r>
            <a:endParaRPr lang="en-US" sz="1000" dirty="0"/>
          </a:p>
        </p:txBody>
      </p:sp>
      <p:sp>
        <p:nvSpPr>
          <p:cNvPr id="124" name="Shape 121"/>
          <p:cNvSpPr/>
          <p:nvPr/>
        </p:nvSpPr>
        <p:spPr>
          <a:xfrm>
            <a:off x="10564978" y="3638398"/>
            <a:ext cx="1121054" cy="372161"/>
          </a:xfrm>
          <a:prstGeom prst="rect">
            <a:avLst/>
          </a:prstGeom>
          <a:solidFill>
            <a:srgbClr val="F4F5F7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25" name="Text 122"/>
          <p:cNvSpPr/>
          <p:nvPr/>
        </p:nvSpPr>
        <p:spPr>
          <a:xfrm>
            <a:off x="10606126" y="3656686"/>
            <a:ext cx="1038758" cy="3355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EB57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-88.3%</a:t>
            </a:r>
            <a:endParaRPr lang="en-US" sz="1000" dirty="0"/>
          </a:p>
        </p:txBody>
      </p:sp>
      <p:sp>
        <p:nvSpPr>
          <p:cNvPr id="126" name="Shape 123"/>
          <p:cNvSpPr/>
          <p:nvPr/>
        </p:nvSpPr>
        <p:spPr>
          <a:xfrm>
            <a:off x="475488" y="4010558"/>
            <a:ext cx="1121054" cy="372161"/>
          </a:xfrm>
          <a:prstGeom prst="rect">
            <a:avLst/>
          </a:prstGeom>
          <a:solidFill>
            <a:srgbClr val="ECEDEF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27" name="Text 124"/>
          <p:cNvSpPr/>
          <p:nvPr/>
        </p:nvSpPr>
        <p:spPr>
          <a:xfrm>
            <a:off x="516636" y="4028846"/>
            <a:ext cx="1038758" cy="3355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343146</a:t>
            </a:r>
            <a:endParaRPr lang="en-US" sz="1000" dirty="0"/>
          </a:p>
        </p:txBody>
      </p:sp>
      <p:sp>
        <p:nvSpPr>
          <p:cNvPr id="128" name="Shape 125"/>
          <p:cNvSpPr/>
          <p:nvPr/>
        </p:nvSpPr>
        <p:spPr>
          <a:xfrm>
            <a:off x="1596542" y="4010558"/>
            <a:ext cx="1121054" cy="372161"/>
          </a:xfrm>
          <a:prstGeom prst="rect">
            <a:avLst/>
          </a:prstGeom>
          <a:solidFill>
            <a:srgbClr val="ECEDEF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29" name="Text 126"/>
          <p:cNvSpPr/>
          <p:nvPr/>
        </p:nvSpPr>
        <p:spPr>
          <a:xfrm>
            <a:off x="1637690" y="4028846"/>
            <a:ext cx="1038758" cy="3355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Phantom of the Opera - London (US affiliates)</a:t>
            </a:r>
            <a:endParaRPr lang="en-US" sz="1000" dirty="0"/>
          </a:p>
        </p:txBody>
      </p:sp>
      <p:sp>
        <p:nvSpPr>
          <p:cNvPr id="130" name="Shape 127"/>
          <p:cNvSpPr/>
          <p:nvPr/>
        </p:nvSpPr>
        <p:spPr>
          <a:xfrm>
            <a:off x="2717597" y="4010558"/>
            <a:ext cx="1121054" cy="372161"/>
          </a:xfrm>
          <a:prstGeom prst="rect">
            <a:avLst/>
          </a:prstGeom>
          <a:solidFill>
            <a:srgbClr val="ECEDEF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31" name="Text 128"/>
          <p:cNvSpPr/>
          <p:nvPr/>
        </p:nvSpPr>
        <p:spPr>
          <a:xfrm>
            <a:off x="2758745" y="4028846"/>
            <a:ext cx="1038758" cy="3355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$8</a:t>
            </a:r>
            <a:endParaRPr lang="en-US" sz="1000" dirty="0"/>
          </a:p>
        </p:txBody>
      </p:sp>
      <p:sp>
        <p:nvSpPr>
          <p:cNvPr id="132" name="Shape 129"/>
          <p:cNvSpPr/>
          <p:nvPr/>
        </p:nvSpPr>
        <p:spPr>
          <a:xfrm>
            <a:off x="3838651" y="4010558"/>
            <a:ext cx="1121054" cy="372161"/>
          </a:xfrm>
          <a:prstGeom prst="rect">
            <a:avLst/>
          </a:prstGeom>
          <a:solidFill>
            <a:srgbClr val="ECEDEF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33" name="Text 130"/>
          <p:cNvSpPr/>
          <p:nvPr/>
        </p:nvSpPr>
        <p:spPr>
          <a:xfrm>
            <a:off x="3879799" y="4028846"/>
            <a:ext cx="1038758" cy="3355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$0</a:t>
            </a:r>
            <a:endParaRPr lang="en-US" sz="1000" dirty="0"/>
          </a:p>
        </p:txBody>
      </p:sp>
      <p:sp>
        <p:nvSpPr>
          <p:cNvPr id="134" name="Shape 131"/>
          <p:cNvSpPr/>
          <p:nvPr/>
        </p:nvSpPr>
        <p:spPr>
          <a:xfrm>
            <a:off x="4959706" y="4010558"/>
            <a:ext cx="1121054" cy="372161"/>
          </a:xfrm>
          <a:prstGeom prst="rect">
            <a:avLst/>
          </a:prstGeom>
          <a:solidFill>
            <a:srgbClr val="ECEDEF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35" name="Text 132"/>
          <p:cNvSpPr/>
          <p:nvPr/>
        </p:nvSpPr>
        <p:spPr>
          <a:xfrm>
            <a:off x="5000854" y="4028846"/>
            <a:ext cx="1038758" cy="3355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$8</a:t>
            </a:r>
            <a:endParaRPr lang="en-US" sz="1000" dirty="0"/>
          </a:p>
        </p:txBody>
      </p:sp>
      <p:sp>
        <p:nvSpPr>
          <p:cNvPr id="136" name="Shape 133"/>
          <p:cNvSpPr/>
          <p:nvPr/>
        </p:nvSpPr>
        <p:spPr>
          <a:xfrm>
            <a:off x="6080760" y="4010558"/>
            <a:ext cx="1121054" cy="372161"/>
          </a:xfrm>
          <a:prstGeom prst="rect">
            <a:avLst/>
          </a:prstGeom>
          <a:solidFill>
            <a:srgbClr val="ECEDEF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37" name="Text 134"/>
          <p:cNvSpPr/>
          <p:nvPr/>
        </p:nvSpPr>
        <p:spPr>
          <a:xfrm>
            <a:off x="6121908" y="4028846"/>
            <a:ext cx="1038758" cy="3355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000" dirty="0"/>
          </a:p>
        </p:txBody>
      </p:sp>
      <p:sp>
        <p:nvSpPr>
          <p:cNvPr id="138" name="Shape 135"/>
          <p:cNvSpPr/>
          <p:nvPr/>
        </p:nvSpPr>
        <p:spPr>
          <a:xfrm>
            <a:off x="7201814" y="4010558"/>
            <a:ext cx="1121054" cy="372161"/>
          </a:xfrm>
          <a:prstGeom prst="rect">
            <a:avLst/>
          </a:prstGeom>
          <a:solidFill>
            <a:srgbClr val="ECEDEF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39" name="Text 136"/>
          <p:cNvSpPr/>
          <p:nvPr/>
        </p:nvSpPr>
        <p:spPr>
          <a:xfrm>
            <a:off x="7242962" y="4028846"/>
            <a:ext cx="1038758" cy="3355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$536</a:t>
            </a:r>
            <a:endParaRPr lang="en-US" sz="1000" dirty="0"/>
          </a:p>
        </p:txBody>
      </p:sp>
      <p:sp>
        <p:nvSpPr>
          <p:cNvPr id="140" name="Shape 137"/>
          <p:cNvSpPr/>
          <p:nvPr/>
        </p:nvSpPr>
        <p:spPr>
          <a:xfrm>
            <a:off x="8322869" y="4010558"/>
            <a:ext cx="1121054" cy="372161"/>
          </a:xfrm>
          <a:prstGeom prst="rect">
            <a:avLst/>
          </a:prstGeom>
          <a:solidFill>
            <a:srgbClr val="ECEDEF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41" name="Text 138"/>
          <p:cNvSpPr/>
          <p:nvPr/>
        </p:nvSpPr>
        <p:spPr>
          <a:xfrm>
            <a:off x="8364017" y="4028846"/>
            <a:ext cx="1038758" cy="3355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7A6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+226.8%</a:t>
            </a:r>
            <a:endParaRPr lang="en-US" sz="1000" dirty="0"/>
          </a:p>
        </p:txBody>
      </p:sp>
      <p:sp>
        <p:nvSpPr>
          <p:cNvPr id="142" name="Shape 139"/>
          <p:cNvSpPr/>
          <p:nvPr/>
        </p:nvSpPr>
        <p:spPr>
          <a:xfrm>
            <a:off x="9443923" y="4010558"/>
            <a:ext cx="1121054" cy="372161"/>
          </a:xfrm>
          <a:prstGeom prst="rect">
            <a:avLst/>
          </a:prstGeom>
          <a:solidFill>
            <a:srgbClr val="ECEDEF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43" name="Text 140"/>
          <p:cNvSpPr/>
          <p:nvPr/>
        </p:nvSpPr>
        <p:spPr>
          <a:xfrm>
            <a:off x="9485071" y="4028846"/>
            <a:ext cx="1038758" cy="3355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7A6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+226.8%</a:t>
            </a:r>
            <a:endParaRPr lang="en-US" sz="1000" dirty="0"/>
          </a:p>
        </p:txBody>
      </p:sp>
      <p:sp>
        <p:nvSpPr>
          <p:cNvPr id="144" name="Shape 141"/>
          <p:cNvSpPr/>
          <p:nvPr/>
        </p:nvSpPr>
        <p:spPr>
          <a:xfrm>
            <a:off x="10564978" y="4010558"/>
            <a:ext cx="1121054" cy="372161"/>
          </a:xfrm>
          <a:prstGeom prst="rect">
            <a:avLst/>
          </a:prstGeom>
          <a:solidFill>
            <a:srgbClr val="ECEDEF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45" name="Text 142"/>
          <p:cNvSpPr/>
          <p:nvPr/>
        </p:nvSpPr>
        <p:spPr>
          <a:xfrm>
            <a:off x="10606126" y="4028846"/>
            <a:ext cx="1038758" cy="3355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0.0%</a:t>
            </a:r>
            <a:endParaRPr lang="en-US" sz="1000" dirty="0"/>
          </a:p>
        </p:txBody>
      </p:sp>
      <p:sp>
        <p:nvSpPr>
          <p:cNvPr id="146" name="Shape 143"/>
          <p:cNvSpPr/>
          <p:nvPr/>
        </p:nvSpPr>
        <p:spPr>
          <a:xfrm>
            <a:off x="475488" y="4382719"/>
            <a:ext cx="1121054" cy="372161"/>
          </a:xfrm>
          <a:prstGeom prst="rect">
            <a:avLst/>
          </a:prstGeom>
          <a:solidFill>
            <a:srgbClr val="F4F5F7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47" name="Text 144"/>
          <p:cNvSpPr/>
          <p:nvPr/>
        </p:nvSpPr>
        <p:spPr>
          <a:xfrm>
            <a:off x="516636" y="4401007"/>
            <a:ext cx="1038758" cy="3355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392636</a:t>
            </a:r>
            <a:endParaRPr lang="en-US" sz="1000" dirty="0"/>
          </a:p>
        </p:txBody>
      </p:sp>
      <p:sp>
        <p:nvSpPr>
          <p:cNvPr id="148" name="Shape 145"/>
          <p:cNvSpPr/>
          <p:nvPr/>
        </p:nvSpPr>
        <p:spPr>
          <a:xfrm>
            <a:off x="1596542" y="4382719"/>
            <a:ext cx="1121054" cy="372161"/>
          </a:xfrm>
          <a:prstGeom prst="rect">
            <a:avLst/>
          </a:prstGeom>
          <a:solidFill>
            <a:srgbClr val="F4F5F7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49" name="Text 146"/>
          <p:cNvSpPr/>
          <p:nvPr/>
        </p:nvSpPr>
        <p:spPr>
          <a:xfrm>
            <a:off x="1637690" y="4401007"/>
            <a:ext cx="1038758" cy="3355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Atlanta Braves</a:t>
            </a:r>
            <a:endParaRPr lang="en-US" sz="1000" dirty="0"/>
          </a:p>
        </p:txBody>
      </p:sp>
      <p:sp>
        <p:nvSpPr>
          <p:cNvPr id="150" name="Shape 147"/>
          <p:cNvSpPr/>
          <p:nvPr/>
        </p:nvSpPr>
        <p:spPr>
          <a:xfrm>
            <a:off x="2717597" y="4382719"/>
            <a:ext cx="1121054" cy="372161"/>
          </a:xfrm>
          <a:prstGeom prst="rect">
            <a:avLst/>
          </a:prstGeom>
          <a:solidFill>
            <a:srgbClr val="F4F5F7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51" name="Text 148"/>
          <p:cNvSpPr/>
          <p:nvPr/>
        </p:nvSpPr>
        <p:spPr>
          <a:xfrm>
            <a:off x="2758745" y="4401007"/>
            <a:ext cx="1038758" cy="3355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$4</a:t>
            </a:r>
            <a:endParaRPr lang="en-US" sz="1000" dirty="0"/>
          </a:p>
        </p:txBody>
      </p:sp>
      <p:sp>
        <p:nvSpPr>
          <p:cNvPr id="152" name="Shape 149"/>
          <p:cNvSpPr/>
          <p:nvPr/>
        </p:nvSpPr>
        <p:spPr>
          <a:xfrm>
            <a:off x="3838651" y="4382719"/>
            <a:ext cx="1121054" cy="372161"/>
          </a:xfrm>
          <a:prstGeom prst="rect">
            <a:avLst/>
          </a:prstGeom>
          <a:solidFill>
            <a:srgbClr val="F4F5F7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53" name="Text 150"/>
          <p:cNvSpPr/>
          <p:nvPr/>
        </p:nvSpPr>
        <p:spPr>
          <a:xfrm>
            <a:off x="3879799" y="4401007"/>
            <a:ext cx="1038758" cy="3355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$0</a:t>
            </a:r>
            <a:endParaRPr lang="en-US" sz="1000" dirty="0"/>
          </a:p>
        </p:txBody>
      </p:sp>
      <p:sp>
        <p:nvSpPr>
          <p:cNvPr id="154" name="Shape 151"/>
          <p:cNvSpPr/>
          <p:nvPr/>
        </p:nvSpPr>
        <p:spPr>
          <a:xfrm>
            <a:off x="4959706" y="4382719"/>
            <a:ext cx="1121054" cy="372161"/>
          </a:xfrm>
          <a:prstGeom prst="rect">
            <a:avLst/>
          </a:prstGeom>
          <a:solidFill>
            <a:srgbClr val="F4F5F7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55" name="Text 152"/>
          <p:cNvSpPr/>
          <p:nvPr/>
        </p:nvSpPr>
        <p:spPr>
          <a:xfrm>
            <a:off x="5000854" y="4401007"/>
            <a:ext cx="1038758" cy="3355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$4</a:t>
            </a:r>
            <a:endParaRPr lang="en-US" sz="1000" dirty="0"/>
          </a:p>
        </p:txBody>
      </p:sp>
      <p:sp>
        <p:nvSpPr>
          <p:cNvPr id="156" name="Shape 153"/>
          <p:cNvSpPr/>
          <p:nvPr/>
        </p:nvSpPr>
        <p:spPr>
          <a:xfrm>
            <a:off x="6080760" y="4382719"/>
            <a:ext cx="1121054" cy="372161"/>
          </a:xfrm>
          <a:prstGeom prst="rect">
            <a:avLst/>
          </a:prstGeom>
          <a:solidFill>
            <a:srgbClr val="F4F5F7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57" name="Text 154"/>
          <p:cNvSpPr/>
          <p:nvPr/>
        </p:nvSpPr>
        <p:spPr>
          <a:xfrm>
            <a:off x="6121908" y="4401007"/>
            <a:ext cx="1038758" cy="3355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000" dirty="0"/>
          </a:p>
        </p:txBody>
      </p:sp>
      <p:sp>
        <p:nvSpPr>
          <p:cNvPr id="158" name="Shape 155"/>
          <p:cNvSpPr/>
          <p:nvPr/>
        </p:nvSpPr>
        <p:spPr>
          <a:xfrm>
            <a:off x="7201814" y="4382719"/>
            <a:ext cx="1121054" cy="372161"/>
          </a:xfrm>
          <a:prstGeom prst="rect">
            <a:avLst/>
          </a:prstGeom>
          <a:solidFill>
            <a:srgbClr val="F4F5F7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59" name="Text 156"/>
          <p:cNvSpPr/>
          <p:nvPr/>
        </p:nvSpPr>
        <p:spPr>
          <a:xfrm>
            <a:off x="7242962" y="4401007"/>
            <a:ext cx="1038758" cy="3355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$87</a:t>
            </a:r>
            <a:endParaRPr lang="en-US" sz="1000" dirty="0"/>
          </a:p>
        </p:txBody>
      </p:sp>
      <p:sp>
        <p:nvSpPr>
          <p:cNvPr id="160" name="Shape 157"/>
          <p:cNvSpPr/>
          <p:nvPr/>
        </p:nvSpPr>
        <p:spPr>
          <a:xfrm>
            <a:off x="8322869" y="4382719"/>
            <a:ext cx="1121054" cy="372161"/>
          </a:xfrm>
          <a:prstGeom prst="rect">
            <a:avLst/>
          </a:prstGeom>
          <a:solidFill>
            <a:srgbClr val="F4F5F7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61" name="Text 158"/>
          <p:cNvSpPr/>
          <p:nvPr/>
        </p:nvSpPr>
        <p:spPr>
          <a:xfrm>
            <a:off x="8364017" y="4401007"/>
            <a:ext cx="1038758" cy="3355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N/A</a:t>
            </a:r>
            <a:endParaRPr lang="en-US" sz="1000" dirty="0"/>
          </a:p>
        </p:txBody>
      </p:sp>
      <p:sp>
        <p:nvSpPr>
          <p:cNvPr id="162" name="Shape 159"/>
          <p:cNvSpPr/>
          <p:nvPr/>
        </p:nvSpPr>
        <p:spPr>
          <a:xfrm>
            <a:off x="9443923" y="4382719"/>
            <a:ext cx="1121054" cy="372161"/>
          </a:xfrm>
          <a:prstGeom prst="rect">
            <a:avLst/>
          </a:prstGeom>
          <a:solidFill>
            <a:srgbClr val="F4F5F7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63" name="Text 160"/>
          <p:cNvSpPr/>
          <p:nvPr/>
        </p:nvSpPr>
        <p:spPr>
          <a:xfrm>
            <a:off x="9485071" y="4401007"/>
            <a:ext cx="1038758" cy="3355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N/A</a:t>
            </a:r>
            <a:endParaRPr lang="en-US" sz="1000" dirty="0"/>
          </a:p>
        </p:txBody>
      </p:sp>
      <p:sp>
        <p:nvSpPr>
          <p:cNvPr id="164" name="Shape 161"/>
          <p:cNvSpPr/>
          <p:nvPr/>
        </p:nvSpPr>
        <p:spPr>
          <a:xfrm>
            <a:off x="10564978" y="4382719"/>
            <a:ext cx="1121054" cy="372161"/>
          </a:xfrm>
          <a:prstGeom prst="rect">
            <a:avLst/>
          </a:prstGeom>
          <a:solidFill>
            <a:srgbClr val="F4F5F7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65" name="Text 162"/>
          <p:cNvSpPr/>
          <p:nvPr/>
        </p:nvSpPr>
        <p:spPr>
          <a:xfrm>
            <a:off x="10606126" y="4401007"/>
            <a:ext cx="1038758" cy="3355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N/A</a:t>
            </a:r>
            <a:endParaRPr lang="en-US" sz="1000" dirty="0"/>
          </a:p>
        </p:txBody>
      </p:sp>
      <p:sp>
        <p:nvSpPr>
          <p:cNvPr id="166" name="Shape 163"/>
          <p:cNvSpPr/>
          <p:nvPr/>
        </p:nvSpPr>
        <p:spPr>
          <a:xfrm>
            <a:off x="475488" y="4754880"/>
            <a:ext cx="1121054" cy="372161"/>
          </a:xfrm>
          <a:prstGeom prst="rect">
            <a:avLst/>
          </a:prstGeom>
          <a:solidFill>
            <a:srgbClr val="ECEDEF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67" name="Text 164"/>
          <p:cNvSpPr/>
          <p:nvPr/>
        </p:nvSpPr>
        <p:spPr>
          <a:xfrm>
            <a:off x="516636" y="4773168"/>
            <a:ext cx="1038758" cy="3355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347243</a:t>
            </a:r>
            <a:endParaRPr lang="en-US" sz="1000" dirty="0"/>
          </a:p>
        </p:txBody>
      </p:sp>
      <p:sp>
        <p:nvSpPr>
          <p:cNvPr id="168" name="Shape 165"/>
          <p:cNvSpPr/>
          <p:nvPr/>
        </p:nvSpPr>
        <p:spPr>
          <a:xfrm>
            <a:off x="1596542" y="4754880"/>
            <a:ext cx="1121054" cy="372161"/>
          </a:xfrm>
          <a:prstGeom prst="rect">
            <a:avLst/>
          </a:prstGeom>
          <a:solidFill>
            <a:srgbClr val="ECEDEF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69" name="Text 166"/>
          <p:cNvSpPr/>
          <p:nvPr/>
        </p:nvSpPr>
        <p:spPr>
          <a:xfrm>
            <a:off x="1637690" y="4773168"/>
            <a:ext cx="1038758" cy="3355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Abba Voyage (US Affiliates)</a:t>
            </a:r>
            <a:endParaRPr lang="en-US" sz="1000" dirty="0"/>
          </a:p>
        </p:txBody>
      </p:sp>
      <p:sp>
        <p:nvSpPr>
          <p:cNvPr id="170" name="Shape 167"/>
          <p:cNvSpPr/>
          <p:nvPr/>
        </p:nvSpPr>
        <p:spPr>
          <a:xfrm>
            <a:off x="2717597" y="4754880"/>
            <a:ext cx="1121054" cy="372161"/>
          </a:xfrm>
          <a:prstGeom prst="rect">
            <a:avLst/>
          </a:prstGeom>
          <a:solidFill>
            <a:srgbClr val="ECEDEF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71" name="Text 168"/>
          <p:cNvSpPr/>
          <p:nvPr/>
        </p:nvSpPr>
        <p:spPr>
          <a:xfrm>
            <a:off x="2758745" y="4773168"/>
            <a:ext cx="1038758" cy="3355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$1</a:t>
            </a:r>
            <a:endParaRPr lang="en-US" sz="1000" dirty="0"/>
          </a:p>
        </p:txBody>
      </p:sp>
      <p:sp>
        <p:nvSpPr>
          <p:cNvPr id="172" name="Shape 169"/>
          <p:cNvSpPr/>
          <p:nvPr/>
        </p:nvSpPr>
        <p:spPr>
          <a:xfrm>
            <a:off x="3838651" y="4754880"/>
            <a:ext cx="1121054" cy="372161"/>
          </a:xfrm>
          <a:prstGeom prst="rect">
            <a:avLst/>
          </a:prstGeom>
          <a:solidFill>
            <a:srgbClr val="ECEDEF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73" name="Text 170"/>
          <p:cNvSpPr/>
          <p:nvPr/>
        </p:nvSpPr>
        <p:spPr>
          <a:xfrm>
            <a:off x="3879799" y="4773168"/>
            <a:ext cx="1038758" cy="3355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$0</a:t>
            </a:r>
            <a:endParaRPr lang="en-US" sz="1000" dirty="0"/>
          </a:p>
        </p:txBody>
      </p:sp>
      <p:sp>
        <p:nvSpPr>
          <p:cNvPr id="174" name="Shape 171"/>
          <p:cNvSpPr/>
          <p:nvPr/>
        </p:nvSpPr>
        <p:spPr>
          <a:xfrm>
            <a:off x="4959706" y="4754880"/>
            <a:ext cx="1121054" cy="372161"/>
          </a:xfrm>
          <a:prstGeom prst="rect">
            <a:avLst/>
          </a:prstGeom>
          <a:solidFill>
            <a:srgbClr val="ECEDEF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75" name="Text 172"/>
          <p:cNvSpPr/>
          <p:nvPr/>
        </p:nvSpPr>
        <p:spPr>
          <a:xfrm>
            <a:off x="5000854" y="4773168"/>
            <a:ext cx="1038758" cy="3355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$1</a:t>
            </a:r>
            <a:endParaRPr lang="en-US" sz="1000" dirty="0"/>
          </a:p>
        </p:txBody>
      </p:sp>
      <p:sp>
        <p:nvSpPr>
          <p:cNvPr id="176" name="Shape 173"/>
          <p:cNvSpPr/>
          <p:nvPr/>
        </p:nvSpPr>
        <p:spPr>
          <a:xfrm>
            <a:off x="6080760" y="4754880"/>
            <a:ext cx="1121054" cy="372161"/>
          </a:xfrm>
          <a:prstGeom prst="rect">
            <a:avLst/>
          </a:prstGeom>
          <a:solidFill>
            <a:srgbClr val="ECEDEF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77" name="Text 174"/>
          <p:cNvSpPr/>
          <p:nvPr/>
        </p:nvSpPr>
        <p:spPr>
          <a:xfrm>
            <a:off x="6121908" y="4773168"/>
            <a:ext cx="1038758" cy="3355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000" dirty="0"/>
          </a:p>
        </p:txBody>
      </p:sp>
      <p:sp>
        <p:nvSpPr>
          <p:cNvPr id="178" name="Shape 175"/>
          <p:cNvSpPr/>
          <p:nvPr/>
        </p:nvSpPr>
        <p:spPr>
          <a:xfrm>
            <a:off x="7201814" y="4754880"/>
            <a:ext cx="1121054" cy="372161"/>
          </a:xfrm>
          <a:prstGeom prst="rect">
            <a:avLst/>
          </a:prstGeom>
          <a:solidFill>
            <a:srgbClr val="ECEDEF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79" name="Text 176"/>
          <p:cNvSpPr/>
          <p:nvPr/>
        </p:nvSpPr>
        <p:spPr>
          <a:xfrm>
            <a:off x="7242962" y="4773168"/>
            <a:ext cx="1038758" cy="3355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$1,073</a:t>
            </a:r>
            <a:endParaRPr lang="en-US" sz="1000" dirty="0"/>
          </a:p>
        </p:txBody>
      </p:sp>
      <p:sp>
        <p:nvSpPr>
          <p:cNvPr id="180" name="Shape 177"/>
          <p:cNvSpPr/>
          <p:nvPr/>
        </p:nvSpPr>
        <p:spPr>
          <a:xfrm>
            <a:off x="8322869" y="4754880"/>
            <a:ext cx="1121054" cy="372161"/>
          </a:xfrm>
          <a:prstGeom prst="rect">
            <a:avLst/>
          </a:prstGeom>
          <a:solidFill>
            <a:srgbClr val="ECEDEF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81" name="Text 178"/>
          <p:cNvSpPr/>
          <p:nvPr/>
        </p:nvSpPr>
        <p:spPr>
          <a:xfrm>
            <a:off x="8364017" y="4773168"/>
            <a:ext cx="1038758" cy="3355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N/A</a:t>
            </a:r>
            <a:endParaRPr lang="en-US" sz="1000" dirty="0"/>
          </a:p>
        </p:txBody>
      </p:sp>
      <p:sp>
        <p:nvSpPr>
          <p:cNvPr id="182" name="Shape 179"/>
          <p:cNvSpPr/>
          <p:nvPr/>
        </p:nvSpPr>
        <p:spPr>
          <a:xfrm>
            <a:off x="9443923" y="4754880"/>
            <a:ext cx="1121054" cy="372161"/>
          </a:xfrm>
          <a:prstGeom prst="rect">
            <a:avLst/>
          </a:prstGeom>
          <a:solidFill>
            <a:srgbClr val="ECEDEF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83" name="Text 180"/>
          <p:cNvSpPr/>
          <p:nvPr/>
        </p:nvSpPr>
        <p:spPr>
          <a:xfrm>
            <a:off x="9485071" y="4773168"/>
            <a:ext cx="1038758" cy="3355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N/A</a:t>
            </a:r>
            <a:endParaRPr lang="en-US" sz="1000" dirty="0"/>
          </a:p>
        </p:txBody>
      </p:sp>
      <p:sp>
        <p:nvSpPr>
          <p:cNvPr id="184" name="Shape 181"/>
          <p:cNvSpPr/>
          <p:nvPr/>
        </p:nvSpPr>
        <p:spPr>
          <a:xfrm>
            <a:off x="10564978" y="4754880"/>
            <a:ext cx="1121054" cy="372161"/>
          </a:xfrm>
          <a:prstGeom prst="rect">
            <a:avLst/>
          </a:prstGeom>
          <a:solidFill>
            <a:srgbClr val="ECEDEF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85" name="Text 182"/>
          <p:cNvSpPr/>
          <p:nvPr/>
        </p:nvSpPr>
        <p:spPr>
          <a:xfrm>
            <a:off x="10606126" y="4773168"/>
            <a:ext cx="1038758" cy="3355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N/A</a:t>
            </a:r>
            <a:endParaRPr lang="en-US" sz="1000" dirty="0"/>
          </a:p>
        </p:txBody>
      </p:sp>
      <p:sp>
        <p:nvSpPr>
          <p:cNvPr id="186" name="Shape 183"/>
          <p:cNvSpPr/>
          <p:nvPr/>
        </p:nvSpPr>
        <p:spPr>
          <a:xfrm>
            <a:off x="475488" y="5127041"/>
            <a:ext cx="1121054" cy="372161"/>
          </a:xfrm>
          <a:prstGeom prst="rect">
            <a:avLst/>
          </a:prstGeom>
          <a:solidFill>
            <a:srgbClr val="F4F5F7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87" name="Text 184"/>
          <p:cNvSpPr/>
          <p:nvPr/>
        </p:nvSpPr>
        <p:spPr>
          <a:xfrm>
            <a:off x="516636" y="5145329"/>
            <a:ext cx="1038758" cy="3355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378947</a:t>
            </a:r>
            <a:endParaRPr lang="en-US" sz="1000" dirty="0"/>
          </a:p>
        </p:txBody>
      </p:sp>
      <p:sp>
        <p:nvSpPr>
          <p:cNvPr id="188" name="Shape 185"/>
          <p:cNvSpPr/>
          <p:nvPr/>
        </p:nvSpPr>
        <p:spPr>
          <a:xfrm>
            <a:off x="1596542" y="5127041"/>
            <a:ext cx="1121054" cy="372161"/>
          </a:xfrm>
          <a:prstGeom prst="rect">
            <a:avLst/>
          </a:prstGeom>
          <a:solidFill>
            <a:srgbClr val="F4F5F7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89" name="Text 186"/>
          <p:cNvSpPr/>
          <p:nvPr/>
        </p:nvSpPr>
        <p:spPr>
          <a:xfrm>
            <a:off x="1637690" y="5145329"/>
            <a:ext cx="1038758" cy="3355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Arrita Studio</a:t>
            </a:r>
            <a:endParaRPr lang="en-US" sz="1000" dirty="0"/>
          </a:p>
        </p:txBody>
      </p:sp>
      <p:sp>
        <p:nvSpPr>
          <p:cNvPr id="190" name="Shape 187"/>
          <p:cNvSpPr/>
          <p:nvPr/>
        </p:nvSpPr>
        <p:spPr>
          <a:xfrm>
            <a:off x="2717597" y="5127041"/>
            <a:ext cx="1121054" cy="372161"/>
          </a:xfrm>
          <a:prstGeom prst="rect">
            <a:avLst/>
          </a:prstGeom>
          <a:solidFill>
            <a:srgbClr val="F4F5F7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91" name="Text 188"/>
          <p:cNvSpPr/>
          <p:nvPr/>
        </p:nvSpPr>
        <p:spPr>
          <a:xfrm>
            <a:off x="2758745" y="5145329"/>
            <a:ext cx="1038758" cy="3355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$0</a:t>
            </a:r>
            <a:endParaRPr lang="en-US" sz="1000" dirty="0"/>
          </a:p>
        </p:txBody>
      </p:sp>
      <p:sp>
        <p:nvSpPr>
          <p:cNvPr id="192" name="Shape 189"/>
          <p:cNvSpPr/>
          <p:nvPr/>
        </p:nvSpPr>
        <p:spPr>
          <a:xfrm>
            <a:off x="3838651" y="5127041"/>
            <a:ext cx="1121054" cy="372161"/>
          </a:xfrm>
          <a:prstGeom prst="rect">
            <a:avLst/>
          </a:prstGeom>
          <a:solidFill>
            <a:srgbClr val="F4F5F7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93" name="Text 190"/>
          <p:cNvSpPr/>
          <p:nvPr/>
        </p:nvSpPr>
        <p:spPr>
          <a:xfrm>
            <a:off x="3879799" y="5145329"/>
            <a:ext cx="1038758" cy="3355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$0</a:t>
            </a:r>
            <a:endParaRPr lang="en-US" sz="1000" dirty="0"/>
          </a:p>
        </p:txBody>
      </p:sp>
      <p:sp>
        <p:nvSpPr>
          <p:cNvPr id="194" name="Shape 191"/>
          <p:cNvSpPr/>
          <p:nvPr/>
        </p:nvSpPr>
        <p:spPr>
          <a:xfrm>
            <a:off x="4959706" y="5127041"/>
            <a:ext cx="1121054" cy="372161"/>
          </a:xfrm>
          <a:prstGeom prst="rect">
            <a:avLst/>
          </a:prstGeom>
          <a:solidFill>
            <a:srgbClr val="F4F5F7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95" name="Text 192"/>
          <p:cNvSpPr/>
          <p:nvPr/>
        </p:nvSpPr>
        <p:spPr>
          <a:xfrm>
            <a:off x="5000854" y="5145329"/>
            <a:ext cx="1038758" cy="3355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$0</a:t>
            </a:r>
            <a:endParaRPr lang="en-US" sz="1000" dirty="0"/>
          </a:p>
        </p:txBody>
      </p:sp>
      <p:sp>
        <p:nvSpPr>
          <p:cNvPr id="196" name="Shape 193"/>
          <p:cNvSpPr/>
          <p:nvPr/>
        </p:nvSpPr>
        <p:spPr>
          <a:xfrm>
            <a:off x="6080760" y="5127041"/>
            <a:ext cx="1121054" cy="372161"/>
          </a:xfrm>
          <a:prstGeom prst="rect">
            <a:avLst/>
          </a:prstGeom>
          <a:solidFill>
            <a:srgbClr val="F4F5F7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97" name="Text 194"/>
          <p:cNvSpPr/>
          <p:nvPr/>
        </p:nvSpPr>
        <p:spPr>
          <a:xfrm>
            <a:off x="6121908" y="5145329"/>
            <a:ext cx="1038758" cy="3355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</a:t>
            </a:r>
            <a:endParaRPr lang="en-US" sz="1000" dirty="0"/>
          </a:p>
        </p:txBody>
      </p:sp>
      <p:sp>
        <p:nvSpPr>
          <p:cNvPr id="198" name="Shape 195"/>
          <p:cNvSpPr/>
          <p:nvPr/>
        </p:nvSpPr>
        <p:spPr>
          <a:xfrm>
            <a:off x="7201814" y="5127041"/>
            <a:ext cx="1121054" cy="372161"/>
          </a:xfrm>
          <a:prstGeom prst="rect">
            <a:avLst/>
          </a:prstGeom>
          <a:solidFill>
            <a:srgbClr val="F4F5F7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99" name="Text 196"/>
          <p:cNvSpPr/>
          <p:nvPr/>
        </p:nvSpPr>
        <p:spPr>
          <a:xfrm>
            <a:off x="7242962" y="5145329"/>
            <a:ext cx="1038758" cy="3355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$0</a:t>
            </a:r>
            <a:endParaRPr lang="en-US" sz="1000" dirty="0"/>
          </a:p>
        </p:txBody>
      </p:sp>
      <p:sp>
        <p:nvSpPr>
          <p:cNvPr id="200" name="Shape 197"/>
          <p:cNvSpPr/>
          <p:nvPr/>
        </p:nvSpPr>
        <p:spPr>
          <a:xfrm>
            <a:off x="8322869" y="5127041"/>
            <a:ext cx="1121054" cy="372161"/>
          </a:xfrm>
          <a:prstGeom prst="rect">
            <a:avLst/>
          </a:prstGeom>
          <a:solidFill>
            <a:srgbClr val="F4F5F7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201" name="Text 198"/>
          <p:cNvSpPr/>
          <p:nvPr/>
        </p:nvSpPr>
        <p:spPr>
          <a:xfrm>
            <a:off x="8364017" y="5145329"/>
            <a:ext cx="1038758" cy="3355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N/A</a:t>
            </a:r>
            <a:endParaRPr lang="en-US" sz="1000" dirty="0"/>
          </a:p>
        </p:txBody>
      </p:sp>
      <p:sp>
        <p:nvSpPr>
          <p:cNvPr id="202" name="Shape 199"/>
          <p:cNvSpPr/>
          <p:nvPr/>
        </p:nvSpPr>
        <p:spPr>
          <a:xfrm>
            <a:off x="9443923" y="5127041"/>
            <a:ext cx="1121054" cy="372161"/>
          </a:xfrm>
          <a:prstGeom prst="rect">
            <a:avLst/>
          </a:prstGeom>
          <a:solidFill>
            <a:srgbClr val="F4F5F7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203" name="Text 200"/>
          <p:cNvSpPr/>
          <p:nvPr/>
        </p:nvSpPr>
        <p:spPr>
          <a:xfrm>
            <a:off x="9485071" y="5145329"/>
            <a:ext cx="1038758" cy="3355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N/A</a:t>
            </a:r>
            <a:endParaRPr lang="en-US" sz="1000" dirty="0"/>
          </a:p>
        </p:txBody>
      </p:sp>
      <p:sp>
        <p:nvSpPr>
          <p:cNvPr id="204" name="Shape 201"/>
          <p:cNvSpPr/>
          <p:nvPr/>
        </p:nvSpPr>
        <p:spPr>
          <a:xfrm>
            <a:off x="10564978" y="5127041"/>
            <a:ext cx="1121054" cy="372161"/>
          </a:xfrm>
          <a:prstGeom prst="rect">
            <a:avLst/>
          </a:prstGeom>
          <a:solidFill>
            <a:srgbClr val="F4F5F7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205" name="Text 202"/>
          <p:cNvSpPr/>
          <p:nvPr/>
        </p:nvSpPr>
        <p:spPr>
          <a:xfrm>
            <a:off x="10606126" y="5145329"/>
            <a:ext cx="1038758" cy="3355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N/A</a:t>
            </a:r>
            <a:endParaRPr lang="en-US" sz="1000" dirty="0"/>
          </a:p>
        </p:txBody>
      </p:sp>
      <p:sp>
        <p:nvSpPr>
          <p:cNvPr id="206" name="Shape 203"/>
          <p:cNvSpPr/>
          <p:nvPr/>
        </p:nvSpPr>
        <p:spPr>
          <a:xfrm>
            <a:off x="475488" y="5499202"/>
            <a:ext cx="1121054" cy="372161"/>
          </a:xfrm>
          <a:prstGeom prst="rect">
            <a:avLst/>
          </a:prstGeom>
          <a:solidFill>
            <a:srgbClr val="ECEDEF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207" name="Text 204"/>
          <p:cNvSpPr/>
          <p:nvPr/>
        </p:nvSpPr>
        <p:spPr>
          <a:xfrm>
            <a:off x="516636" y="5517490"/>
            <a:ext cx="1038758" cy="3355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385020</a:t>
            </a:r>
            <a:endParaRPr lang="en-US" sz="1000" dirty="0"/>
          </a:p>
        </p:txBody>
      </p:sp>
      <p:sp>
        <p:nvSpPr>
          <p:cNvPr id="208" name="Shape 205"/>
          <p:cNvSpPr/>
          <p:nvPr/>
        </p:nvSpPr>
        <p:spPr>
          <a:xfrm>
            <a:off x="1596542" y="5499202"/>
            <a:ext cx="1121054" cy="372161"/>
          </a:xfrm>
          <a:prstGeom prst="rect">
            <a:avLst/>
          </a:prstGeom>
          <a:solidFill>
            <a:srgbClr val="ECEDEF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209" name="Text 206"/>
          <p:cNvSpPr/>
          <p:nvPr/>
        </p:nvSpPr>
        <p:spPr>
          <a:xfrm>
            <a:off x="1637690" y="5517490"/>
            <a:ext cx="1038758" cy="3355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Casaemma wines</a:t>
            </a:r>
            <a:endParaRPr lang="en-US" sz="1000" dirty="0"/>
          </a:p>
        </p:txBody>
      </p:sp>
      <p:sp>
        <p:nvSpPr>
          <p:cNvPr id="210" name="Shape 207"/>
          <p:cNvSpPr/>
          <p:nvPr/>
        </p:nvSpPr>
        <p:spPr>
          <a:xfrm>
            <a:off x="2717597" y="5499202"/>
            <a:ext cx="1121054" cy="372161"/>
          </a:xfrm>
          <a:prstGeom prst="rect">
            <a:avLst/>
          </a:prstGeom>
          <a:solidFill>
            <a:srgbClr val="ECEDEF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211" name="Text 208"/>
          <p:cNvSpPr/>
          <p:nvPr/>
        </p:nvSpPr>
        <p:spPr>
          <a:xfrm>
            <a:off x="2758745" y="5517490"/>
            <a:ext cx="1038758" cy="3355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$0</a:t>
            </a:r>
            <a:endParaRPr lang="en-US" sz="1000" dirty="0"/>
          </a:p>
        </p:txBody>
      </p:sp>
      <p:sp>
        <p:nvSpPr>
          <p:cNvPr id="212" name="Shape 209"/>
          <p:cNvSpPr/>
          <p:nvPr/>
        </p:nvSpPr>
        <p:spPr>
          <a:xfrm>
            <a:off x="3838651" y="5499202"/>
            <a:ext cx="1121054" cy="372161"/>
          </a:xfrm>
          <a:prstGeom prst="rect">
            <a:avLst/>
          </a:prstGeom>
          <a:solidFill>
            <a:srgbClr val="ECEDEF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213" name="Text 210"/>
          <p:cNvSpPr/>
          <p:nvPr/>
        </p:nvSpPr>
        <p:spPr>
          <a:xfrm>
            <a:off x="3879799" y="5517490"/>
            <a:ext cx="1038758" cy="3355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$0</a:t>
            </a:r>
            <a:endParaRPr lang="en-US" sz="1000" dirty="0"/>
          </a:p>
        </p:txBody>
      </p:sp>
      <p:sp>
        <p:nvSpPr>
          <p:cNvPr id="214" name="Shape 211"/>
          <p:cNvSpPr/>
          <p:nvPr/>
        </p:nvSpPr>
        <p:spPr>
          <a:xfrm>
            <a:off x="4959706" y="5499202"/>
            <a:ext cx="1121054" cy="372161"/>
          </a:xfrm>
          <a:prstGeom prst="rect">
            <a:avLst/>
          </a:prstGeom>
          <a:solidFill>
            <a:srgbClr val="ECEDEF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215" name="Text 212"/>
          <p:cNvSpPr/>
          <p:nvPr/>
        </p:nvSpPr>
        <p:spPr>
          <a:xfrm>
            <a:off x="5000854" y="5517490"/>
            <a:ext cx="1038758" cy="3355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$0</a:t>
            </a:r>
            <a:endParaRPr lang="en-US" sz="1000" dirty="0"/>
          </a:p>
        </p:txBody>
      </p:sp>
      <p:sp>
        <p:nvSpPr>
          <p:cNvPr id="216" name="Shape 213"/>
          <p:cNvSpPr/>
          <p:nvPr/>
        </p:nvSpPr>
        <p:spPr>
          <a:xfrm>
            <a:off x="6080760" y="5499202"/>
            <a:ext cx="1121054" cy="372161"/>
          </a:xfrm>
          <a:prstGeom prst="rect">
            <a:avLst/>
          </a:prstGeom>
          <a:solidFill>
            <a:srgbClr val="ECEDEF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217" name="Text 214"/>
          <p:cNvSpPr/>
          <p:nvPr/>
        </p:nvSpPr>
        <p:spPr>
          <a:xfrm>
            <a:off x="6121908" y="5517490"/>
            <a:ext cx="1038758" cy="3355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</a:t>
            </a:r>
            <a:endParaRPr lang="en-US" sz="1000" dirty="0"/>
          </a:p>
        </p:txBody>
      </p:sp>
      <p:sp>
        <p:nvSpPr>
          <p:cNvPr id="218" name="Shape 215"/>
          <p:cNvSpPr/>
          <p:nvPr/>
        </p:nvSpPr>
        <p:spPr>
          <a:xfrm>
            <a:off x="7201814" y="5499202"/>
            <a:ext cx="1121054" cy="372161"/>
          </a:xfrm>
          <a:prstGeom prst="rect">
            <a:avLst/>
          </a:prstGeom>
          <a:solidFill>
            <a:srgbClr val="ECEDEF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219" name="Text 216"/>
          <p:cNvSpPr/>
          <p:nvPr/>
        </p:nvSpPr>
        <p:spPr>
          <a:xfrm>
            <a:off x="7242962" y="5517490"/>
            <a:ext cx="1038758" cy="3355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$0</a:t>
            </a:r>
            <a:endParaRPr lang="en-US" sz="1000" dirty="0"/>
          </a:p>
        </p:txBody>
      </p:sp>
      <p:sp>
        <p:nvSpPr>
          <p:cNvPr id="220" name="Shape 217"/>
          <p:cNvSpPr/>
          <p:nvPr/>
        </p:nvSpPr>
        <p:spPr>
          <a:xfrm>
            <a:off x="8322869" y="5499202"/>
            <a:ext cx="1121054" cy="372161"/>
          </a:xfrm>
          <a:prstGeom prst="rect">
            <a:avLst/>
          </a:prstGeom>
          <a:solidFill>
            <a:srgbClr val="ECEDEF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221" name="Text 218"/>
          <p:cNvSpPr/>
          <p:nvPr/>
        </p:nvSpPr>
        <p:spPr>
          <a:xfrm>
            <a:off x="8364017" y="5517490"/>
            <a:ext cx="1038758" cy="3355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N/A</a:t>
            </a:r>
            <a:endParaRPr lang="en-US" sz="1000" dirty="0"/>
          </a:p>
        </p:txBody>
      </p:sp>
      <p:sp>
        <p:nvSpPr>
          <p:cNvPr id="222" name="Shape 219"/>
          <p:cNvSpPr/>
          <p:nvPr/>
        </p:nvSpPr>
        <p:spPr>
          <a:xfrm>
            <a:off x="9443923" y="5499202"/>
            <a:ext cx="1121054" cy="372161"/>
          </a:xfrm>
          <a:prstGeom prst="rect">
            <a:avLst/>
          </a:prstGeom>
          <a:solidFill>
            <a:srgbClr val="ECEDEF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223" name="Text 220"/>
          <p:cNvSpPr/>
          <p:nvPr/>
        </p:nvSpPr>
        <p:spPr>
          <a:xfrm>
            <a:off x="9485071" y="5517490"/>
            <a:ext cx="1038758" cy="3355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N/A</a:t>
            </a:r>
            <a:endParaRPr lang="en-US" sz="1000" dirty="0"/>
          </a:p>
        </p:txBody>
      </p:sp>
      <p:sp>
        <p:nvSpPr>
          <p:cNvPr id="224" name="Shape 221"/>
          <p:cNvSpPr/>
          <p:nvPr/>
        </p:nvSpPr>
        <p:spPr>
          <a:xfrm>
            <a:off x="10564978" y="5499202"/>
            <a:ext cx="1121054" cy="372161"/>
          </a:xfrm>
          <a:prstGeom prst="rect">
            <a:avLst/>
          </a:prstGeom>
          <a:solidFill>
            <a:srgbClr val="ECEDEF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225" name="Text 222"/>
          <p:cNvSpPr/>
          <p:nvPr/>
        </p:nvSpPr>
        <p:spPr>
          <a:xfrm>
            <a:off x="10606126" y="5517490"/>
            <a:ext cx="1038758" cy="3355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N/A</a:t>
            </a:r>
            <a:endParaRPr lang="en-US" sz="1000" dirty="0"/>
          </a:p>
        </p:txBody>
      </p:sp>
      <p:sp>
        <p:nvSpPr>
          <p:cNvPr id="226" name="Shape 223"/>
          <p:cNvSpPr/>
          <p:nvPr/>
        </p:nvSpPr>
        <p:spPr>
          <a:xfrm>
            <a:off x="475488" y="5871362"/>
            <a:ext cx="1121054" cy="372161"/>
          </a:xfrm>
          <a:prstGeom prst="rect">
            <a:avLst/>
          </a:prstGeom>
          <a:solidFill>
            <a:srgbClr val="F4F5F7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227" name="Text 224"/>
          <p:cNvSpPr/>
          <p:nvPr/>
        </p:nvSpPr>
        <p:spPr>
          <a:xfrm>
            <a:off x="516636" y="5889650"/>
            <a:ext cx="1038758" cy="3355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358152</a:t>
            </a:r>
            <a:endParaRPr lang="en-US" sz="1000" dirty="0"/>
          </a:p>
        </p:txBody>
      </p:sp>
      <p:sp>
        <p:nvSpPr>
          <p:cNvPr id="228" name="Shape 225"/>
          <p:cNvSpPr/>
          <p:nvPr/>
        </p:nvSpPr>
        <p:spPr>
          <a:xfrm>
            <a:off x="1596542" y="5871362"/>
            <a:ext cx="1121054" cy="372161"/>
          </a:xfrm>
          <a:prstGeom prst="rect">
            <a:avLst/>
          </a:prstGeom>
          <a:solidFill>
            <a:srgbClr val="F4F5F7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229" name="Text 226"/>
          <p:cNvSpPr/>
          <p:nvPr/>
        </p:nvSpPr>
        <p:spPr>
          <a:xfrm>
            <a:off x="1637690" y="5889650"/>
            <a:ext cx="1038758" cy="3355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CLOUDWALKER SLIPPERS</a:t>
            </a:r>
            <a:endParaRPr lang="en-US" sz="1000" dirty="0"/>
          </a:p>
        </p:txBody>
      </p:sp>
      <p:sp>
        <p:nvSpPr>
          <p:cNvPr id="230" name="Shape 227"/>
          <p:cNvSpPr/>
          <p:nvPr/>
        </p:nvSpPr>
        <p:spPr>
          <a:xfrm>
            <a:off x="2717597" y="5871362"/>
            <a:ext cx="1121054" cy="372161"/>
          </a:xfrm>
          <a:prstGeom prst="rect">
            <a:avLst/>
          </a:prstGeom>
          <a:solidFill>
            <a:srgbClr val="F4F5F7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231" name="Text 228"/>
          <p:cNvSpPr/>
          <p:nvPr/>
        </p:nvSpPr>
        <p:spPr>
          <a:xfrm>
            <a:off x="2758745" y="5889650"/>
            <a:ext cx="1038758" cy="3355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$0</a:t>
            </a:r>
            <a:endParaRPr lang="en-US" sz="1000" dirty="0"/>
          </a:p>
        </p:txBody>
      </p:sp>
      <p:sp>
        <p:nvSpPr>
          <p:cNvPr id="232" name="Shape 229"/>
          <p:cNvSpPr/>
          <p:nvPr/>
        </p:nvSpPr>
        <p:spPr>
          <a:xfrm>
            <a:off x="3838651" y="5871362"/>
            <a:ext cx="1121054" cy="372161"/>
          </a:xfrm>
          <a:prstGeom prst="rect">
            <a:avLst/>
          </a:prstGeom>
          <a:solidFill>
            <a:srgbClr val="F4F5F7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233" name="Text 230"/>
          <p:cNvSpPr/>
          <p:nvPr/>
        </p:nvSpPr>
        <p:spPr>
          <a:xfrm>
            <a:off x="3879799" y="5889650"/>
            <a:ext cx="1038758" cy="3355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$0</a:t>
            </a:r>
            <a:endParaRPr lang="en-US" sz="1000" dirty="0"/>
          </a:p>
        </p:txBody>
      </p:sp>
      <p:sp>
        <p:nvSpPr>
          <p:cNvPr id="234" name="Shape 231"/>
          <p:cNvSpPr/>
          <p:nvPr/>
        </p:nvSpPr>
        <p:spPr>
          <a:xfrm>
            <a:off x="4959706" y="5871362"/>
            <a:ext cx="1121054" cy="372161"/>
          </a:xfrm>
          <a:prstGeom prst="rect">
            <a:avLst/>
          </a:prstGeom>
          <a:solidFill>
            <a:srgbClr val="F4F5F7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235" name="Text 232"/>
          <p:cNvSpPr/>
          <p:nvPr/>
        </p:nvSpPr>
        <p:spPr>
          <a:xfrm>
            <a:off x="5000854" y="5889650"/>
            <a:ext cx="1038758" cy="3355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$0</a:t>
            </a:r>
            <a:endParaRPr lang="en-US" sz="1000" dirty="0"/>
          </a:p>
        </p:txBody>
      </p:sp>
      <p:sp>
        <p:nvSpPr>
          <p:cNvPr id="236" name="Shape 233"/>
          <p:cNvSpPr/>
          <p:nvPr/>
        </p:nvSpPr>
        <p:spPr>
          <a:xfrm>
            <a:off x="6080760" y="5871362"/>
            <a:ext cx="1121054" cy="372161"/>
          </a:xfrm>
          <a:prstGeom prst="rect">
            <a:avLst/>
          </a:prstGeom>
          <a:solidFill>
            <a:srgbClr val="F4F5F7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237" name="Text 234"/>
          <p:cNvSpPr/>
          <p:nvPr/>
        </p:nvSpPr>
        <p:spPr>
          <a:xfrm>
            <a:off x="6121908" y="5889650"/>
            <a:ext cx="1038758" cy="3355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</a:t>
            </a:r>
            <a:endParaRPr lang="en-US" sz="1000" dirty="0"/>
          </a:p>
        </p:txBody>
      </p:sp>
      <p:sp>
        <p:nvSpPr>
          <p:cNvPr id="238" name="Shape 235"/>
          <p:cNvSpPr/>
          <p:nvPr/>
        </p:nvSpPr>
        <p:spPr>
          <a:xfrm>
            <a:off x="7201814" y="5871362"/>
            <a:ext cx="1121054" cy="372161"/>
          </a:xfrm>
          <a:prstGeom prst="rect">
            <a:avLst/>
          </a:prstGeom>
          <a:solidFill>
            <a:srgbClr val="F4F5F7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239" name="Text 236"/>
          <p:cNvSpPr/>
          <p:nvPr/>
        </p:nvSpPr>
        <p:spPr>
          <a:xfrm>
            <a:off x="7242962" y="5889650"/>
            <a:ext cx="1038758" cy="3355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$0</a:t>
            </a:r>
            <a:endParaRPr lang="en-US" sz="1000" dirty="0"/>
          </a:p>
        </p:txBody>
      </p:sp>
      <p:sp>
        <p:nvSpPr>
          <p:cNvPr id="240" name="Shape 237"/>
          <p:cNvSpPr/>
          <p:nvPr/>
        </p:nvSpPr>
        <p:spPr>
          <a:xfrm>
            <a:off x="8322869" y="5871362"/>
            <a:ext cx="1121054" cy="372161"/>
          </a:xfrm>
          <a:prstGeom prst="rect">
            <a:avLst/>
          </a:prstGeom>
          <a:solidFill>
            <a:srgbClr val="F4F5F7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241" name="Text 238"/>
          <p:cNvSpPr/>
          <p:nvPr/>
        </p:nvSpPr>
        <p:spPr>
          <a:xfrm>
            <a:off x="8364017" y="5889650"/>
            <a:ext cx="1038758" cy="3355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N/A</a:t>
            </a:r>
            <a:endParaRPr lang="en-US" sz="1000" dirty="0"/>
          </a:p>
        </p:txBody>
      </p:sp>
      <p:sp>
        <p:nvSpPr>
          <p:cNvPr id="242" name="Shape 239"/>
          <p:cNvSpPr/>
          <p:nvPr/>
        </p:nvSpPr>
        <p:spPr>
          <a:xfrm>
            <a:off x="9443923" y="5871362"/>
            <a:ext cx="1121054" cy="372161"/>
          </a:xfrm>
          <a:prstGeom prst="rect">
            <a:avLst/>
          </a:prstGeom>
          <a:solidFill>
            <a:srgbClr val="F4F5F7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243" name="Text 240"/>
          <p:cNvSpPr/>
          <p:nvPr/>
        </p:nvSpPr>
        <p:spPr>
          <a:xfrm>
            <a:off x="9485071" y="5889650"/>
            <a:ext cx="1038758" cy="3355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N/A</a:t>
            </a:r>
            <a:endParaRPr lang="en-US" sz="1000" dirty="0"/>
          </a:p>
        </p:txBody>
      </p:sp>
      <p:sp>
        <p:nvSpPr>
          <p:cNvPr id="244" name="Shape 241"/>
          <p:cNvSpPr/>
          <p:nvPr/>
        </p:nvSpPr>
        <p:spPr>
          <a:xfrm>
            <a:off x="10564978" y="5871362"/>
            <a:ext cx="1121054" cy="372161"/>
          </a:xfrm>
          <a:prstGeom prst="rect">
            <a:avLst/>
          </a:prstGeom>
          <a:solidFill>
            <a:srgbClr val="F4F5F7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245" name="Text 242"/>
          <p:cNvSpPr/>
          <p:nvPr/>
        </p:nvSpPr>
        <p:spPr>
          <a:xfrm>
            <a:off x="10606126" y="5889650"/>
            <a:ext cx="1038758" cy="3355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N/A</a:t>
            </a:r>
            <a:endParaRPr lang="en-US" sz="1000" dirty="0"/>
          </a:p>
        </p:txBody>
      </p:sp>
      <p:sp>
        <p:nvSpPr>
          <p:cNvPr id="246" name="Shape 243"/>
          <p:cNvSpPr/>
          <p:nvPr/>
        </p:nvSpPr>
        <p:spPr>
          <a:xfrm>
            <a:off x="475488" y="6243523"/>
            <a:ext cx="1121054" cy="372161"/>
          </a:xfrm>
          <a:prstGeom prst="rect">
            <a:avLst/>
          </a:prstGeom>
          <a:solidFill>
            <a:srgbClr val="ECEDEF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247" name="Text 244"/>
          <p:cNvSpPr/>
          <p:nvPr/>
        </p:nvSpPr>
        <p:spPr>
          <a:xfrm>
            <a:off x="516636" y="6261811"/>
            <a:ext cx="1038758" cy="3355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377606</a:t>
            </a:r>
            <a:endParaRPr lang="en-US" sz="1000" dirty="0"/>
          </a:p>
        </p:txBody>
      </p:sp>
      <p:sp>
        <p:nvSpPr>
          <p:cNvPr id="248" name="Shape 245"/>
          <p:cNvSpPr/>
          <p:nvPr/>
        </p:nvSpPr>
        <p:spPr>
          <a:xfrm>
            <a:off x="1596542" y="6243523"/>
            <a:ext cx="1121054" cy="372161"/>
          </a:xfrm>
          <a:prstGeom prst="rect">
            <a:avLst/>
          </a:prstGeom>
          <a:solidFill>
            <a:srgbClr val="ECEDEF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249" name="Text 246"/>
          <p:cNvSpPr/>
          <p:nvPr/>
        </p:nvSpPr>
        <p:spPr>
          <a:xfrm>
            <a:off x="1637690" y="6261811"/>
            <a:ext cx="1038758" cy="3355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Cosara</a:t>
            </a:r>
            <a:endParaRPr lang="en-US" sz="1000" dirty="0"/>
          </a:p>
        </p:txBody>
      </p:sp>
      <p:sp>
        <p:nvSpPr>
          <p:cNvPr id="250" name="Shape 247"/>
          <p:cNvSpPr/>
          <p:nvPr/>
        </p:nvSpPr>
        <p:spPr>
          <a:xfrm>
            <a:off x="2717597" y="6243523"/>
            <a:ext cx="1121054" cy="372161"/>
          </a:xfrm>
          <a:prstGeom prst="rect">
            <a:avLst/>
          </a:prstGeom>
          <a:solidFill>
            <a:srgbClr val="ECEDEF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251" name="Text 248"/>
          <p:cNvSpPr/>
          <p:nvPr/>
        </p:nvSpPr>
        <p:spPr>
          <a:xfrm>
            <a:off x="2758745" y="6261811"/>
            <a:ext cx="1038758" cy="3355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$0</a:t>
            </a:r>
            <a:endParaRPr lang="en-US" sz="1000" dirty="0"/>
          </a:p>
        </p:txBody>
      </p:sp>
      <p:sp>
        <p:nvSpPr>
          <p:cNvPr id="252" name="Shape 249"/>
          <p:cNvSpPr/>
          <p:nvPr/>
        </p:nvSpPr>
        <p:spPr>
          <a:xfrm>
            <a:off x="3838651" y="6243523"/>
            <a:ext cx="1121054" cy="372161"/>
          </a:xfrm>
          <a:prstGeom prst="rect">
            <a:avLst/>
          </a:prstGeom>
          <a:solidFill>
            <a:srgbClr val="ECEDEF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253" name="Text 250"/>
          <p:cNvSpPr/>
          <p:nvPr/>
        </p:nvSpPr>
        <p:spPr>
          <a:xfrm>
            <a:off x="3879799" y="6261811"/>
            <a:ext cx="1038758" cy="3355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$0</a:t>
            </a:r>
            <a:endParaRPr lang="en-US" sz="1000" dirty="0"/>
          </a:p>
        </p:txBody>
      </p:sp>
      <p:sp>
        <p:nvSpPr>
          <p:cNvPr id="254" name="Shape 251"/>
          <p:cNvSpPr/>
          <p:nvPr/>
        </p:nvSpPr>
        <p:spPr>
          <a:xfrm>
            <a:off x="4959706" y="6243523"/>
            <a:ext cx="1121054" cy="372161"/>
          </a:xfrm>
          <a:prstGeom prst="rect">
            <a:avLst/>
          </a:prstGeom>
          <a:solidFill>
            <a:srgbClr val="ECEDEF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255" name="Text 252"/>
          <p:cNvSpPr/>
          <p:nvPr/>
        </p:nvSpPr>
        <p:spPr>
          <a:xfrm>
            <a:off x="5000854" y="6261811"/>
            <a:ext cx="1038758" cy="3355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$0</a:t>
            </a:r>
            <a:endParaRPr lang="en-US" sz="1000" dirty="0"/>
          </a:p>
        </p:txBody>
      </p:sp>
      <p:sp>
        <p:nvSpPr>
          <p:cNvPr id="256" name="Shape 253"/>
          <p:cNvSpPr/>
          <p:nvPr/>
        </p:nvSpPr>
        <p:spPr>
          <a:xfrm>
            <a:off x="6080760" y="6243523"/>
            <a:ext cx="1121054" cy="372161"/>
          </a:xfrm>
          <a:prstGeom prst="rect">
            <a:avLst/>
          </a:prstGeom>
          <a:solidFill>
            <a:srgbClr val="ECEDEF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257" name="Text 254"/>
          <p:cNvSpPr/>
          <p:nvPr/>
        </p:nvSpPr>
        <p:spPr>
          <a:xfrm>
            <a:off x="6121908" y="6261811"/>
            <a:ext cx="1038758" cy="3355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</a:t>
            </a:r>
            <a:endParaRPr lang="en-US" sz="1000" dirty="0"/>
          </a:p>
        </p:txBody>
      </p:sp>
      <p:sp>
        <p:nvSpPr>
          <p:cNvPr id="258" name="Shape 255"/>
          <p:cNvSpPr/>
          <p:nvPr/>
        </p:nvSpPr>
        <p:spPr>
          <a:xfrm>
            <a:off x="7201814" y="6243523"/>
            <a:ext cx="1121054" cy="372161"/>
          </a:xfrm>
          <a:prstGeom prst="rect">
            <a:avLst/>
          </a:prstGeom>
          <a:solidFill>
            <a:srgbClr val="ECEDEF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259" name="Text 256"/>
          <p:cNvSpPr/>
          <p:nvPr/>
        </p:nvSpPr>
        <p:spPr>
          <a:xfrm>
            <a:off x="7242962" y="6261811"/>
            <a:ext cx="1038758" cy="3355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$0</a:t>
            </a:r>
            <a:endParaRPr lang="en-US" sz="1000" dirty="0"/>
          </a:p>
        </p:txBody>
      </p:sp>
      <p:sp>
        <p:nvSpPr>
          <p:cNvPr id="260" name="Shape 257"/>
          <p:cNvSpPr/>
          <p:nvPr/>
        </p:nvSpPr>
        <p:spPr>
          <a:xfrm>
            <a:off x="8322869" y="6243523"/>
            <a:ext cx="1121054" cy="372161"/>
          </a:xfrm>
          <a:prstGeom prst="rect">
            <a:avLst/>
          </a:prstGeom>
          <a:solidFill>
            <a:srgbClr val="ECEDEF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261" name="Text 258"/>
          <p:cNvSpPr/>
          <p:nvPr/>
        </p:nvSpPr>
        <p:spPr>
          <a:xfrm>
            <a:off x="8364017" y="6261811"/>
            <a:ext cx="1038758" cy="3355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N/A</a:t>
            </a:r>
            <a:endParaRPr lang="en-US" sz="1000" dirty="0"/>
          </a:p>
        </p:txBody>
      </p:sp>
      <p:sp>
        <p:nvSpPr>
          <p:cNvPr id="262" name="Shape 259"/>
          <p:cNvSpPr/>
          <p:nvPr/>
        </p:nvSpPr>
        <p:spPr>
          <a:xfrm>
            <a:off x="9443923" y="6243523"/>
            <a:ext cx="1121054" cy="372161"/>
          </a:xfrm>
          <a:prstGeom prst="rect">
            <a:avLst/>
          </a:prstGeom>
          <a:solidFill>
            <a:srgbClr val="ECEDEF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263" name="Text 260"/>
          <p:cNvSpPr/>
          <p:nvPr/>
        </p:nvSpPr>
        <p:spPr>
          <a:xfrm>
            <a:off x="9485071" y="6261811"/>
            <a:ext cx="1038758" cy="3355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N/A</a:t>
            </a:r>
            <a:endParaRPr lang="en-US" sz="1000" dirty="0"/>
          </a:p>
        </p:txBody>
      </p:sp>
      <p:sp>
        <p:nvSpPr>
          <p:cNvPr id="264" name="Shape 261"/>
          <p:cNvSpPr/>
          <p:nvPr/>
        </p:nvSpPr>
        <p:spPr>
          <a:xfrm>
            <a:off x="10564978" y="6243523"/>
            <a:ext cx="1121054" cy="372161"/>
          </a:xfrm>
          <a:prstGeom prst="rect">
            <a:avLst/>
          </a:prstGeom>
          <a:solidFill>
            <a:srgbClr val="ECEDEF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265" name="Text 262"/>
          <p:cNvSpPr/>
          <p:nvPr/>
        </p:nvSpPr>
        <p:spPr>
          <a:xfrm>
            <a:off x="10606126" y="6261811"/>
            <a:ext cx="1038758" cy="3355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N/A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publisher-qbr\assets\qbr-bg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Movers &amp; Shakers - Publisher Commission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640080" y="131673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F6F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Largest YoY commission movers and decliners.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365760" y="1783080"/>
            <a:ext cx="11430000" cy="4393692"/>
          </a:xfrm>
          <a:prstGeom prst="rect">
            <a:avLst/>
          </a:prstGeom>
          <a:solidFill>
            <a:srgbClr val="F3F4F6"/>
          </a:solidFill>
          <a:ln w="12700">
            <a:solidFill>
              <a:srgbClr val="D6DAE3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75488" y="1874520"/>
            <a:ext cx="3567074" cy="373990"/>
          </a:xfrm>
          <a:prstGeom prst="rect">
            <a:avLst/>
          </a:prstGeom>
          <a:solidFill>
            <a:srgbClr val="F1F3F7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16636" y="1892808"/>
            <a:ext cx="3484778" cy="3374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4042562" y="1874520"/>
            <a:ext cx="1834286" cy="373990"/>
          </a:xfrm>
          <a:prstGeom prst="rect">
            <a:avLst/>
          </a:prstGeom>
          <a:solidFill>
            <a:srgbClr val="F1F3F7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083710" y="1892808"/>
            <a:ext cx="1751990" cy="3374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 ID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5876849" y="1874520"/>
            <a:ext cx="2140610" cy="373990"/>
          </a:xfrm>
          <a:prstGeom prst="rect">
            <a:avLst/>
          </a:prstGeom>
          <a:solidFill>
            <a:srgbClr val="F1F3F7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917997" y="1892808"/>
            <a:ext cx="2058314" cy="3374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Current Commission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8017459" y="1874520"/>
            <a:ext cx="2140610" cy="373990"/>
          </a:xfrm>
          <a:prstGeom prst="rect">
            <a:avLst/>
          </a:prstGeom>
          <a:solidFill>
            <a:srgbClr val="F1F3F7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058607" y="1892808"/>
            <a:ext cx="2058314" cy="3374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YoY Change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10158070" y="1874520"/>
            <a:ext cx="1528877" cy="373990"/>
          </a:xfrm>
          <a:prstGeom prst="rect">
            <a:avLst/>
          </a:prstGeom>
          <a:solidFill>
            <a:srgbClr val="F1F3F7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10199218" y="1892808"/>
            <a:ext cx="1446581" cy="3374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YoY %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475488" y="2248510"/>
            <a:ext cx="3567074" cy="322783"/>
          </a:xfrm>
          <a:prstGeom prst="rect">
            <a:avLst/>
          </a:prstGeom>
          <a:solidFill>
            <a:srgbClr val="E5E8EF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16636" y="2266798"/>
            <a:ext cx="3484778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Top 5 Up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4042562" y="2248510"/>
            <a:ext cx="1834286" cy="322783"/>
          </a:xfrm>
          <a:prstGeom prst="rect">
            <a:avLst/>
          </a:prstGeom>
          <a:solidFill>
            <a:srgbClr val="E5E8EF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083710" y="2266798"/>
            <a:ext cx="175199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5876849" y="2248510"/>
            <a:ext cx="2140610" cy="322783"/>
          </a:xfrm>
          <a:prstGeom prst="rect">
            <a:avLst/>
          </a:prstGeom>
          <a:solidFill>
            <a:srgbClr val="E5E8EF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5917997" y="2266798"/>
            <a:ext cx="2058314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8017459" y="2248510"/>
            <a:ext cx="2140610" cy="322783"/>
          </a:xfrm>
          <a:prstGeom prst="rect">
            <a:avLst/>
          </a:prstGeom>
          <a:solidFill>
            <a:srgbClr val="E5E8EF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8058607" y="2266798"/>
            <a:ext cx="2058314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</a:t>
            </a:r>
            <a:endParaRPr lang="en-US" sz="1000" dirty="0"/>
          </a:p>
        </p:txBody>
      </p:sp>
      <p:sp>
        <p:nvSpPr>
          <p:cNvPr id="24" name="Shape 21"/>
          <p:cNvSpPr/>
          <p:nvPr/>
        </p:nvSpPr>
        <p:spPr>
          <a:xfrm>
            <a:off x="10158070" y="2248510"/>
            <a:ext cx="1528877" cy="322783"/>
          </a:xfrm>
          <a:prstGeom prst="rect">
            <a:avLst/>
          </a:prstGeom>
          <a:solidFill>
            <a:srgbClr val="E5E8EF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10199218" y="2266798"/>
            <a:ext cx="1446581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</a:t>
            </a:r>
            <a:endParaRPr lang="en-US" sz="1000" dirty="0"/>
          </a:p>
        </p:txBody>
      </p:sp>
      <p:sp>
        <p:nvSpPr>
          <p:cNvPr id="26" name="Shape 23"/>
          <p:cNvSpPr/>
          <p:nvPr/>
        </p:nvSpPr>
        <p:spPr>
          <a:xfrm>
            <a:off x="475488" y="2571293"/>
            <a:ext cx="3567074" cy="322783"/>
          </a:xfrm>
          <a:prstGeom prst="rect">
            <a:avLst/>
          </a:prstGeom>
          <a:solidFill>
            <a:srgbClr val="ECEDEF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516636" y="2589581"/>
            <a:ext cx="3484778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Lucky Star Jewels</a:t>
            </a:r>
            <a:endParaRPr lang="en-US" sz="1000" dirty="0"/>
          </a:p>
        </p:txBody>
      </p:sp>
      <p:sp>
        <p:nvSpPr>
          <p:cNvPr id="28" name="Shape 25"/>
          <p:cNvSpPr/>
          <p:nvPr/>
        </p:nvSpPr>
        <p:spPr>
          <a:xfrm>
            <a:off x="4042562" y="2571293"/>
            <a:ext cx="1834286" cy="322783"/>
          </a:xfrm>
          <a:prstGeom prst="rect">
            <a:avLst/>
          </a:prstGeom>
          <a:solidFill>
            <a:srgbClr val="ECEDEF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4083710" y="2589581"/>
            <a:ext cx="175199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383123</a:t>
            </a:r>
            <a:endParaRPr lang="en-US" sz="1000" dirty="0"/>
          </a:p>
        </p:txBody>
      </p:sp>
      <p:sp>
        <p:nvSpPr>
          <p:cNvPr id="30" name="Shape 27"/>
          <p:cNvSpPr/>
          <p:nvPr/>
        </p:nvSpPr>
        <p:spPr>
          <a:xfrm>
            <a:off x="5876849" y="2571293"/>
            <a:ext cx="2140610" cy="322783"/>
          </a:xfrm>
          <a:prstGeom prst="rect">
            <a:avLst/>
          </a:prstGeom>
          <a:solidFill>
            <a:srgbClr val="ECEDEF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5917997" y="2589581"/>
            <a:ext cx="2058314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</a:t>
            </a:r>
            <a:endParaRPr lang="en-US" sz="1000" dirty="0"/>
          </a:p>
        </p:txBody>
      </p:sp>
      <p:sp>
        <p:nvSpPr>
          <p:cNvPr id="32" name="Shape 29"/>
          <p:cNvSpPr/>
          <p:nvPr/>
        </p:nvSpPr>
        <p:spPr>
          <a:xfrm>
            <a:off x="8017459" y="2571293"/>
            <a:ext cx="2140610" cy="322783"/>
          </a:xfrm>
          <a:prstGeom prst="rect">
            <a:avLst/>
          </a:prstGeom>
          <a:solidFill>
            <a:srgbClr val="ECEDEF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8058607" y="2589581"/>
            <a:ext cx="2058314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EB57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</a:t>
            </a:r>
            <a:endParaRPr lang="en-US" sz="1000" dirty="0"/>
          </a:p>
        </p:txBody>
      </p:sp>
      <p:sp>
        <p:nvSpPr>
          <p:cNvPr id="34" name="Shape 31"/>
          <p:cNvSpPr/>
          <p:nvPr/>
        </p:nvSpPr>
        <p:spPr>
          <a:xfrm>
            <a:off x="10158070" y="2571293"/>
            <a:ext cx="1528877" cy="322783"/>
          </a:xfrm>
          <a:prstGeom prst="rect">
            <a:avLst/>
          </a:prstGeom>
          <a:solidFill>
            <a:srgbClr val="ECEDEF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10199218" y="2589581"/>
            <a:ext cx="1446581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EB57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</a:t>
            </a:r>
            <a:endParaRPr lang="en-US" sz="1000" dirty="0"/>
          </a:p>
        </p:txBody>
      </p:sp>
      <p:sp>
        <p:nvSpPr>
          <p:cNvPr id="36" name="Shape 33"/>
          <p:cNvSpPr/>
          <p:nvPr/>
        </p:nvSpPr>
        <p:spPr>
          <a:xfrm>
            <a:off x="475488" y="2894076"/>
            <a:ext cx="3567074" cy="322783"/>
          </a:xfrm>
          <a:prstGeom prst="rect">
            <a:avLst/>
          </a:prstGeom>
          <a:solidFill>
            <a:srgbClr val="F4F5F7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516636" y="2912364"/>
            <a:ext cx="3484778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Great Gatsby Broadway</a:t>
            </a:r>
            <a:endParaRPr lang="en-US" sz="1000" dirty="0"/>
          </a:p>
        </p:txBody>
      </p:sp>
      <p:sp>
        <p:nvSpPr>
          <p:cNvPr id="38" name="Shape 35"/>
          <p:cNvSpPr/>
          <p:nvPr/>
        </p:nvSpPr>
        <p:spPr>
          <a:xfrm>
            <a:off x="4042562" y="2894076"/>
            <a:ext cx="1834286" cy="322783"/>
          </a:xfrm>
          <a:prstGeom prst="rect">
            <a:avLst/>
          </a:prstGeom>
          <a:solidFill>
            <a:srgbClr val="F4F5F7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4083710" y="2912364"/>
            <a:ext cx="175199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384454</a:t>
            </a:r>
            <a:endParaRPr lang="en-US" sz="1000" dirty="0"/>
          </a:p>
        </p:txBody>
      </p:sp>
      <p:sp>
        <p:nvSpPr>
          <p:cNvPr id="40" name="Shape 37"/>
          <p:cNvSpPr/>
          <p:nvPr/>
        </p:nvSpPr>
        <p:spPr>
          <a:xfrm>
            <a:off x="5876849" y="2894076"/>
            <a:ext cx="2140610" cy="322783"/>
          </a:xfrm>
          <a:prstGeom prst="rect">
            <a:avLst/>
          </a:prstGeom>
          <a:solidFill>
            <a:srgbClr val="F4F5F7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5917997" y="2912364"/>
            <a:ext cx="2058314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</a:t>
            </a:r>
            <a:endParaRPr lang="en-US" sz="1000" dirty="0"/>
          </a:p>
        </p:txBody>
      </p:sp>
      <p:sp>
        <p:nvSpPr>
          <p:cNvPr id="42" name="Shape 39"/>
          <p:cNvSpPr/>
          <p:nvPr/>
        </p:nvSpPr>
        <p:spPr>
          <a:xfrm>
            <a:off x="8017459" y="2894076"/>
            <a:ext cx="2140610" cy="322783"/>
          </a:xfrm>
          <a:prstGeom prst="rect">
            <a:avLst/>
          </a:prstGeom>
          <a:solidFill>
            <a:srgbClr val="F4F5F7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8058607" y="2912364"/>
            <a:ext cx="2058314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EB57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</a:t>
            </a:r>
            <a:endParaRPr lang="en-US" sz="1000" dirty="0"/>
          </a:p>
        </p:txBody>
      </p:sp>
      <p:sp>
        <p:nvSpPr>
          <p:cNvPr id="44" name="Shape 41"/>
          <p:cNvSpPr/>
          <p:nvPr/>
        </p:nvSpPr>
        <p:spPr>
          <a:xfrm>
            <a:off x="10158070" y="2894076"/>
            <a:ext cx="1528877" cy="322783"/>
          </a:xfrm>
          <a:prstGeom prst="rect">
            <a:avLst/>
          </a:prstGeom>
          <a:solidFill>
            <a:srgbClr val="F4F5F7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45" name="Text 42"/>
          <p:cNvSpPr/>
          <p:nvPr/>
        </p:nvSpPr>
        <p:spPr>
          <a:xfrm>
            <a:off x="10199218" y="2912364"/>
            <a:ext cx="1446581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EB57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</a:t>
            </a:r>
            <a:endParaRPr lang="en-US" sz="1000" dirty="0"/>
          </a:p>
        </p:txBody>
      </p:sp>
      <p:sp>
        <p:nvSpPr>
          <p:cNvPr id="46" name="Shape 43"/>
          <p:cNvSpPr/>
          <p:nvPr/>
        </p:nvSpPr>
        <p:spPr>
          <a:xfrm>
            <a:off x="475488" y="3216859"/>
            <a:ext cx="3567074" cy="322783"/>
          </a:xfrm>
          <a:prstGeom prst="rect">
            <a:avLst/>
          </a:prstGeom>
          <a:solidFill>
            <a:srgbClr val="ECEDEF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47" name="Text 44"/>
          <p:cNvSpPr/>
          <p:nvPr/>
        </p:nvSpPr>
        <p:spPr>
          <a:xfrm>
            <a:off x="516636" y="3235147"/>
            <a:ext cx="3484778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Phantom of the Opera - London (US a…</a:t>
            </a:r>
            <a:endParaRPr lang="en-US" sz="1000" dirty="0"/>
          </a:p>
        </p:txBody>
      </p:sp>
      <p:sp>
        <p:nvSpPr>
          <p:cNvPr id="48" name="Shape 45"/>
          <p:cNvSpPr/>
          <p:nvPr/>
        </p:nvSpPr>
        <p:spPr>
          <a:xfrm>
            <a:off x="4042562" y="3216859"/>
            <a:ext cx="1834286" cy="322783"/>
          </a:xfrm>
          <a:prstGeom prst="rect">
            <a:avLst/>
          </a:prstGeom>
          <a:solidFill>
            <a:srgbClr val="ECEDEF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49" name="Text 46"/>
          <p:cNvSpPr/>
          <p:nvPr/>
        </p:nvSpPr>
        <p:spPr>
          <a:xfrm>
            <a:off x="4083710" y="3235147"/>
            <a:ext cx="175199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343146</a:t>
            </a:r>
            <a:endParaRPr lang="en-US" sz="1000" dirty="0"/>
          </a:p>
        </p:txBody>
      </p:sp>
      <p:sp>
        <p:nvSpPr>
          <p:cNvPr id="50" name="Shape 47"/>
          <p:cNvSpPr/>
          <p:nvPr/>
        </p:nvSpPr>
        <p:spPr>
          <a:xfrm>
            <a:off x="5876849" y="3216859"/>
            <a:ext cx="2140610" cy="322783"/>
          </a:xfrm>
          <a:prstGeom prst="rect">
            <a:avLst/>
          </a:prstGeom>
          <a:solidFill>
            <a:srgbClr val="ECEDEF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51" name="Text 48"/>
          <p:cNvSpPr/>
          <p:nvPr/>
        </p:nvSpPr>
        <p:spPr>
          <a:xfrm>
            <a:off x="5917997" y="3235147"/>
            <a:ext cx="2058314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</a:t>
            </a:r>
            <a:endParaRPr lang="en-US" sz="1000" dirty="0"/>
          </a:p>
        </p:txBody>
      </p:sp>
      <p:sp>
        <p:nvSpPr>
          <p:cNvPr id="52" name="Shape 49"/>
          <p:cNvSpPr/>
          <p:nvPr/>
        </p:nvSpPr>
        <p:spPr>
          <a:xfrm>
            <a:off x="8017459" y="3216859"/>
            <a:ext cx="2140610" cy="322783"/>
          </a:xfrm>
          <a:prstGeom prst="rect">
            <a:avLst/>
          </a:prstGeom>
          <a:solidFill>
            <a:srgbClr val="ECEDEF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53" name="Text 50"/>
          <p:cNvSpPr/>
          <p:nvPr/>
        </p:nvSpPr>
        <p:spPr>
          <a:xfrm>
            <a:off x="8058607" y="3235147"/>
            <a:ext cx="2058314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EB57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</a:t>
            </a:r>
            <a:endParaRPr lang="en-US" sz="1000" dirty="0"/>
          </a:p>
        </p:txBody>
      </p:sp>
      <p:sp>
        <p:nvSpPr>
          <p:cNvPr id="54" name="Shape 51"/>
          <p:cNvSpPr/>
          <p:nvPr/>
        </p:nvSpPr>
        <p:spPr>
          <a:xfrm>
            <a:off x="10158070" y="3216859"/>
            <a:ext cx="1528877" cy="322783"/>
          </a:xfrm>
          <a:prstGeom prst="rect">
            <a:avLst/>
          </a:prstGeom>
          <a:solidFill>
            <a:srgbClr val="ECEDEF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55" name="Text 52"/>
          <p:cNvSpPr/>
          <p:nvPr/>
        </p:nvSpPr>
        <p:spPr>
          <a:xfrm>
            <a:off x="10199218" y="3235147"/>
            <a:ext cx="1446581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EB57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</a:t>
            </a:r>
            <a:endParaRPr lang="en-US" sz="1000" dirty="0"/>
          </a:p>
        </p:txBody>
      </p:sp>
      <p:sp>
        <p:nvSpPr>
          <p:cNvPr id="56" name="Shape 53"/>
          <p:cNvSpPr/>
          <p:nvPr/>
        </p:nvSpPr>
        <p:spPr>
          <a:xfrm>
            <a:off x="475488" y="3539642"/>
            <a:ext cx="3567074" cy="322783"/>
          </a:xfrm>
          <a:prstGeom prst="rect">
            <a:avLst/>
          </a:prstGeom>
          <a:solidFill>
            <a:srgbClr val="F4F5F7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57" name="Text 54"/>
          <p:cNvSpPr/>
          <p:nvPr/>
        </p:nvSpPr>
        <p:spPr>
          <a:xfrm>
            <a:off x="516636" y="3557930"/>
            <a:ext cx="3484778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Atlanta Braves</a:t>
            </a:r>
            <a:endParaRPr lang="en-US" sz="1000" dirty="0"/>
          </a:p>
        </p:txBody>
      </p:sp>
      <p:sp>
        <p:nvSpPr>
          <p:cNvPr id="58" name="Shape 55"/>
          <p:cNvSpPr/>
          <p:nvPr/>
        </p:nvSpPr>
        <p:spPr>
          <a:xfrm>
            <a:off x="4042562" y="3539642"/>
            <a:ext cx="1834286" cy="322783"/>
          </a:xfrm>
          <a:prstGeom prst="rect">
            <a:avLst/>
          </a:prstGeom>
          <a:solidFill>
            <a:srgbClr val="F4F5F7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59" name="Text 56"/>
          <p:cNvSpPr/>
          <p:nvPr/>
        </p:nvSpPr>
        <p:spPr>
          <a:xfrm>
            <a:off x="4083710" y="3557930"/>
            <a:ext cx="175199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392636</a:t>
            </a:r>
            <a:endParaRPr lang="en-US" sz="1000" dirty="0"/>
          </a:p>
        </p:txBody>
      </p:sp>
      <p:sp>
        <p:nvSpPr>
          <p:cNvPr id="60" name="Shape 57"/>
          <p:cNvSpPr/>
          <p:nvPr/>
        </p:nvSpPr>
        <p:spPr>
          <a:xfrm>
            <a:off x="5876849" y="3539642"/>
            <a:ext cx="2140610" cy="322783"/>
          </a:xfrm>
          <a:prstGeom prst="rect">
            <a:avLst/>
          </a:prstGeom>
          <a:solidFill>
            <a:srgbClr val="F4F5F7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61" name="Text 58"/>
          <p:cNvSpPr/>
          <p:nvPr/>
        </p:nvSpPr>
        <p:spPr>
          <a:xfrm>
            <a:off x="5917997" y="3557930"/>
            <a:ext cx="2058314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</a:t>
            </a:r>
            <a:endParaRPr lang="en-US" sz="1000" dirty="0"/>
          </a:p>
        </p:txBody>
      </p:sp>
      <p:sp>
        <p:nvSpPr>
          <p:cNvPr id="62" name="Shape 59"/>
          <p:cNvSpPr/>
          <p:nvPr/>
        </p:nvSpPr>
        <p:spPr>
          <a:xfrm>
            <a:off x="8017459" y="3539642"/>
            <a:ext cx="2140610" cy="322783"/>
          </a:xfrm>
          <a:prstGeom prst="rect">
            <a:avLst/>
          </a:prstGeom>
          <a:solidFill>
            <a:srgbClr val="F4F5F7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63" name="Text 60"/>
          <p:cNvSpPr/>
          <p:nvPr/>
        </p:nvSpPr>
        <p:spPr>
          <a:xfrm>
            <a:off x="8058607" y="3557930"/>
            <a:ext cx="2058314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EB57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</a:t>
            </a:r>
            <a:endParaRPr lang="en-US" sz="1000" dirty="0"/>
          </a:p>
        </p:txBody>
      </p:sp>
      <p:sp>
        <p:nvSpPr>
          <p:cNvPr id="64" name="Shape 61"/>
          <p:cNvSpPr/>
          <p:nvPr/>
        </p:nvSpPr>
        <p:spPr>
          <a:xfrm>
            <a:off x="10158070" y="3539642"/>
            <a:ext cx="1528877" cy="322783"/>
          </a:xfrm>
          <a:prstGeom prst="rect">
            <a:avLst/>
          </a:prstGeom>
          <a:solidFill>
            <a:srgbClr val="F4F5F7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65" name="Text 62"/>
          <p:cNvSpPr/>
          <p:nvPr/>
        </p:nvSpPr>
        <p:spPr>
          <a:xfrm>
            <a:off x="10199218" y="3557930"/>
            <a:ext cx="1446581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EB57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</a:t>
            </a:r>
            <a:endParaRPr lang="en-US" sz="1000" dirty="0"/>
          </a:p>
        </p:txBody>
      </p:sp>
      <p:sp>
        <p:nvSpPr>
          <p:cNvPr id="66" name="Shape 63"/>
          <p:cNvSpPr/>
          <p:nvPr/>
        </p:nvSpPr>
        <p:spPr>
          <a:xfrm>
            <a:off x="475488" y="3862426"/>
            <a:ext cx="3567074" cy="322783"/>
          </a:xfrm>
          <a:prstGeom prst="rect">
            <a:avLst/>
          </a:prstGeom>
          <a:solidFill>
            <a:srgbClr val="ECEDEF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67" name="Text 64"/>
          <p:cNvSpPr/>
          <p:nvPr/>
        </p:nvSpPr>
        <p:spPr>
          <a:xfrm>
            <a:off x="516636" y="3880714"/>
            <a:ext cx="3484778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Abba Voyage (US Affiliates)</a:t>
            </a:r>
            <a:endParaRPr lang="en-US" sz="1000" dirty="0"/>
          </a:p>
        </p:txBody>
      </p:sp>
      <p:sp>
        <p:nvSpPr>
          <p:cNvPr id="68" name="Shape 65"/>
          <p:cNvSpPr/>
          <p:nvPr/>
        </p:nvSpPr>
        <p:spPr>
          <a:xfrm>
            <a:off x="4042562" y="3862426"/>
            <a:ext cx="1834286" cy="322783"/>
          </a:xfrm>
          <a:prstGeom prst="rect">
            <a:avLst/>
          </a:prstGeom>
          <a:solidFill>
            <a:srgbClr val="ECEDEF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69" name="Text 66"/>
          <p:cNvSpPr/>
          <p:nvPr/>
        </p:nvSpPr>
        <p:spPr>
          <a:xfrm>
            <a:off x="4083710" y="3880714"/>
            <a:ext cx="175199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347243</a:t>
            </a:r>
            <a:endParaRPr lang="en-US" sz="1000" dirty="0"/>
          </a:p>
        </p:txBody>
      </p:sp>
      <p:sp>
        <p:nvSpPr>
          <p:cNvPr id="70" name="Shape 67"/>
          <p:cNvSpPr/>
          <p:nvPr/>
        </p:nvSpPr>
        <p:spPr>
          <a:xfrm>
            <a:off x="5876849" y="3862426"/>
            <a:ext cx="2140610" cy="322783"/>
          </a:xfrm>
          <a:prstGeom prst="rect">
            <a:avLst/>
          </a:prstGeom>
          <a:solidFill>
            <a:srgbClr val="ECEDEF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71" name="Text 68"/>
          <p:cNvSpPr/>
          <p:nvPr/>
        </p:nvSpPr>
        <p:spPr>
          <a:xfrm>
            <a:off x="5917997" y="3880714"/>
            <a:ext cx="2058314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</a:t>
            </a:r>
            <a:endParaRPr lang="en-US" sz="1000" dirty="0"/>
          </a:p>
        </p:txBody>
      </p:sp>
      <p:sp>
        <p:nvSpPr>
          <p:cNvPr id="72" name="Shape 69"/>
          <p:cNvSpPr/>
          <p:nvPr/>
        </p:nvSpPr>
        <p:spPr>
          <a:xfrm>
            <a:off x="8017459" y="3862426"/>
            <a:ext cx="2140610" cy="322783"/>
          </a:xfrm>
          <a:prstGeom prst="rect">
            <a:avLst/>
          </a:prstGeom>
          <a:solidFill>
            <a:srgbClr val="ECEDEF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73" name="Text 70"/>
          <p:cNvSpPr/>
          <p:nvPr/>
        </p:nvSpPr>
        <p:spPr>
          <a:xfrm>
            <a:off x="8058607" y="3880714"/>
            <a:ext cx="2058314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EB57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</a:t>
            </a:r>
            <a:endParaRPr lang="en-US" sz="1000" dirty="0"/>
          </a:p>
        </p:txBody>
      </p:sp>
      <p:sp>
        <p:nvSpPr>
          <p:cNvPr id="74" name="Shape 71"/>
          <p:cNvSpPr/>
          <p:nvPr/>
        </p:nvSpPr>
        <p:spPr>
          <a:xfrm>
            <a:off x="10158070" y="3862426"/>
            <a:ext cx="1528877" cy="322783"/>
          </a:xfrm>
          <a:prstGeom prst="rect">
            <a:avLst/>
          </a:prstGeom>
          <a:solidFill>
            <a:srgbClr val="ECEDEF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75" name="Text 72"/>
          <p:cNvSpPr/>
          <p:nvPr/>
        </p:nvSpPr>
        <p:spPr>
          <a:xfrm>
            <a:off x="10199218" y="3880714"/>
            <a:ext cx="1446581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EB57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</a:t>
            </a:r>
            <a:endParaRPr lang="en-US" sz="1000" dirty="0"/>
          </a:p>
        </p:txBody>
      </p:sp>
      <p:sp>
        <p:nvSpPr>
          <p:cNvPr id="76" name="Shape 73"/>
          <p:cNvSpPr/>
          <p:nvPr/>
        </p:nvSpPr>
        <p:spPr>
          <a:xfrm>
            <a:off x="475488" y="4185209"/>
            <a:ext cx="3567074" cy="322783"/>
          </a:xfrm>
          <a:prstGeom prst="rect">
            <a:avLst/>
          </a:prstGeom>
          <a:solidFill>
            <a:srgbClr val="E5E8EF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77" name="Text 74"/>
          <p:cNvSpPr/>
          <p:nvPr/>
        </p:nvSpPr>
        <p:spPr>
          <a:xfrm>
            <a:off x="516636" y="4203497"/>
            <a:ext cx="3484778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Top 5 Down</a:t>
            </a:r>
            <a:endParaRPr lang="en-US" sz="1000" dirty="0"/>
          </a:p>
        </p:txBody>
      </p:sp>
      <p:sp>
        <p:nvSpPr>
          <p:cNvPr id="78" name="Shape 75"/>
          <p:cNvSpPr/>
          <p:nvPr/>
        </p:nvSpPr>
        <p:spPr>
          <a:xfrm>
            <a:off x="4042562" y="4185209"/>
            <a:ext cx="1834286" cy="322783"/>
          </a:xfrm>
          <a:prstGeom prst="rect">
            <a:avLst/>
          </a:prstGeom>
          <a:solidFill>
            <a:srgbClr val="E5E8EF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79" name="Text 76"/>
          <p:cNvSpPr/>
          <p:nvPr/>
        </p:nvSpPr>
        <p:spPr>
          <a:xfrm>
            <a:off x="4083710" y="4203497"/>
            <a:ext cx="175199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</a:t>
            </a:r>
            <a:endParaRPr lang="en-US" sz="1000" dirty="0"/>
          </a:p>
        </p:txBody>
      </p:sp>
      <p:sp>
        <p:nvSpPr>
          <p:cNvPr id="80" name="Shape 77"/>
          <p:cNvSpPr/>
          <p:nvPr/>
        </p:nvSpPr>
        <p:spPr>
          <a:xfrm>
            <a:off x="5876849" y="4185209"/>
            <a:ext cx="2140610" cy="322783"/>
          </a:xfrm>
          <a:prstGeom prst="rect">
            <a:avLst/>
          </a:prstGeom>
          <a:solidFill>
            <a:srgbClr val="E5E8EF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81" name="Text 78"/>
          <p:cNvSpPr/>
          <p:nvPr/>
        </p:nvSpPr>
        <p:spPr>
          <a:xfrm>
            <a:off x="5917997" y="4203497"/>
            <a:ext cx="2058314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</a:t>
            </a:r>
            <a:endParaRPr lang="en-US" sz="1000" dirty="0"/>
          </a:p>
        </p:txBody>
      </p:sp>
      <p:sp>
        <p:nvSpPr>
          <p:cNvPr id="82" name="Shape 79"/>
          <p:cNvSpPr/>
          <p:nvPr/>
        </p:nvSpPr>
        <p:spPr>
          <a:xfrm>
            <a:off x="8017459" y="4185209"/>
            <a:ext cx="2140610" cy="322783"/>
          </a:xfrm>
          <a:prstGeom prst="rect">
            <a:avLst/>
          </a:prstGeom>
          <a:solidFill>
            <a:srgbClr val="E5E8EF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83" name="Text 80"/>
          <p:cNvSpPr/>
          <p:nvPr/>
        </p:nvSpPr>
        <p:spPr>
          <a:xfrm>
            <a:off x="8058607" y="4203497"/>
            <a:ext cx="2058314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</a:t>
            </a:r>
            <a:endParaRPr lang="en-US" sz="1000" dirty="0"/>
          </a:p>
        </p:txBody>
      </p:sp>
      <p:sp>
        <p:nvSpPr>
          <p:cNvPr id="84" name="Shape 81"/>
          <p:cNvSpPr/>
          <p:nvPr/>
        </p:nvSpPr>
        <p:spPr>
          <a:xfrm>
            <a:off x="10158070" y="4185209"/>
            <a:ext cx="1528877" cy="322783"/>
          </a:xfrm>
          <a:prstGeom prst="rect">
            <a:avLst/>
          </a:prstGeom>
          <a:solidFill>
            <a:srgbClr val="E5E8EF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85" name="Text 82"/>
          <p:cNvSpPr/>
          <p:nvPr/>
        </p:nvSpPr>
        <p:spPr>
          <a:xfrm>
            <a:off x="10199218" y="4203497"/>
            <a:ext cx="1446581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</a:t>
            </a:r>
            <a:endParaRPr lang="en-US" sz="1000" dirty="0"/>
          </a:p>
        </p:txBody>
      </p:sp>
      <p:sp>
        <p:nvSpPr>
          <p:cNvPr id="86" name="Shape 83"/>
          <p:cNvSpPr/>
          <p:nvPr/>
        </p:nvSpPr>
        <p:spPr>
          <a:xfrm>
            <a:off x="475488" y="4507992"/>
            <a:ext cx="3567074" cy="322783"/>
          </a:xfrm>
          <a:prstGeom prst="rect">
            <a:avLst/>
          </a:prstGeom>
          <a:solidFill>
            <a:srgbClr val="ECEDEF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87" name="Text 84"/>
          <p:cNvSpPr/>
          <p:nvPr/>
        </p:nvSpPr>
        <p:spPr>
          <a:xfrm>
            <a:off x="516636" y="4526280"/>
            <a:ext cx="3484778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Julian Fashion US</a:t>
            </a:r>
            <a:endParaRPr lang="en-US" sz="1000" dirty="0"/>
          </a:p>
        </p:txBody>
      </p:sp>
      <p:sp>
        <p:nvSpPr>
          <p:cNvPr id="88" name="Shape 85"/>
          <p:cNvSpPr/>
          <p:nvPr/>
        </p:nvSpPr>
        <p:spPr>
          <a:xfrm>
            <a:off x="4042562" y="4507992"/>
            <a:ext cx="1834286" cy="322783"/>
          </a:xfrm>
          <a:prstGeom prst="rect">
            <a:avLst/>
          </a:prstGeom>
          <a:solidFill>
            <a:srgbClr val="ECEDEF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89" name="Text 86"/>
          <p:cNvSpPr/>
          <p:nvPr/>
        </p:nvSpPr>
        <p:spPr>
          <a:xfrm>
            <a:off x="4083710" y="4526280"/>
            <a:ext cx="175199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309143</a:t>
            </a:r>
            <a:endParaRPr lang="en-US" sz="1000" dirty="0"/>
          </a:p>
        </p:txBody>
      </p:sp>
      <p:sp>
        <p:nvSpPr>
          <p:cNvPr id="90" name="Shape 87"/>
          <p:cNvSpPr/>
          <p:nvPr/>
        </p:nvSpPr>
        <p:spPr>
          <a:xfrm>
            <a:off x="5876849" y="4507992"/>
            <a:ext cx="2140610" cy="322783"/>
          </a:xfrm>
          <a:prstGeom prst="rect">
            <a:avLst/>
          </a:prstGeom>
          <a:solidFill>
            <a:srgbClr val="ECEDEF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91" name="Text 88"/>
          <p:cNvSpPr/>
          <p:nvPr/>
        </p:nvSpPr>
        <p:spPr>
          <a:xfrm>
            <a:off x="5917997" y="4526280"/>
            <a:ext cx="2058314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</a:t>
            </a:r>
            <a:endParaRPr lang="en-US" sz="1000" dirty="0"/>
          </a:p>
        </p:txBody>
      </p:sp>
      <p:sp>
        <p:nvSpPr>
          <p:cNvPr id="92" name="Shape 89"/>
          <p:cNvSpPr/>
          <p:nvPr/>
        </p:nvSpPr>
        <p:spPr>
          <a:xfrm>
            <a:off x="8017459" y="4507992"/>
            <a:ext cx="2140610" cy="322783"/>
          </a:xfrm>
          <a:prstGeom prst="rect">
            <a:avLst/>
          </a:prstGeom>
          <a:solidFill>
            <a:srgbClr val="ECEDEF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93" name="Text 90"/>
          <p:cNvSpPr/>
          <p:nvPr/>
        </p:nvSpPr>
        <p:spPr>
          <a:xfrm>
            <a:off x="8058607" y="4526280"/>
            <a:ext cx="2058314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EB57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</a:t>
            </a:r>
            <a:endParaRPr lang="en-US" sz="1000" dirty="0"/>
          </a:p>
        </p:txBody>
      </p:sp>
      <p:sp>
        <p:nvSpPr>
          <p:cNvPr id="94" name="Shape 91"/>
          <p:cNvSpPr/>
          <p:nvPr/>
        </p:nvSpPr>
        <p:spPr>
          <a:xfrm>
            <a:off x="10158070" y="4507992"/>
            <a:ext cx="1528877" cy="322783"/>
          </a:xfrm>
          <a:prstGeom prst="rect">
            <a:avLst/>
          </a:prstGeom>
          <a:solidFill>
            <a:srgbClr val="ECEDEF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95" name="Text 92"/>
          <p:cNvSpPr/>
          <p:nvPr/>
        </p:nvSpPr>
        <p:spPr>
          <a:xfrm>
            <a:off x="10199218" y="4526280"/>
            <a:ext cx="1446581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EB57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</a:t>
            </a:r>
            <a:endParaRPr lang="en-US" sz="1000" dirty="0"/>
          </a:p>
        </p:txBody>
      </p:sp>
      <p:sp>
        <p:nvSpPr>
          <p:cNvPr id="96" name="Shape 93"/>
          <p:cNvSpPr/>
          <p:nvPr/>
        </p:nvSpPr>
        <p:spPr>
          <a:xfrm>
            <a:off x="475488" y="4830775"/>
            <a:ext cx="3567074" cy="322783"/>
          </a:xfrm>
          <a:prstGeom prst="rect">
            <a:avLst/>
          </a:prstGeom>
          <a:solidFill>
            <a:srgbClr val="F4F5F7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97" name="Text 94"/>
          <p:cNvSpPr/>
          <p:nvPr/>
        </p:nvSpPr>
        <p:spPr>
          <a:xfrm>
            <a:off x="516636" y="4849063"/>
            <a:ext cx="3484778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 World Observatory - New York (U…</a:t>
            </a:r>
            <a:endParaRPr lang="en-US" sz="1000" dirty="0"/>
          </a:p>
        </p:txBody>
      </p:sp>
      <p:sp>
        <p:nvSpPr>
          <p:cNvPr id="98" name="Shape 95"/>
          <p:cNvSpPr/>
          <p:nvPr/>
        </p:nvSpPr>
        <p:spPr>
          <a:xfrm>
            <a:off x="4042562" y="4830775"/>
            <a:ext cx="1834286" cy="322783"/>
          </a:xfrm>
          <a:prstGeom prst="rect">
            <a:avLst/>
          </a:prstGeom>
          <a:solidFill>
            <a:srgbClr val="F4F5F7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99" name="Text 96"/>
          <p:cNvSpPr/>
          <p:nvPr/>
        </p:nvSpPr>
        <p:spPr>
          <a:xfrm>
            <a:off x="4083710" y="4849063"/>
            <a:ext cx="175199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328779</a:t>
            </a:r>
            <a:endParaRPr lang="en-US" sz="1000" dirty="0"/>
          </a:p>
        </p:txBody>
      </p:sp>
      <p:sp>
        <p:nvSpPr>
          <p:cNvPr id="100" name="Shape 97"/>
          <p:cNvSpPr/>
          <p:nvPr/>
        </p:nvSpPr>
        <p:spPr>
          <a:xfrm>
            <a:off x="5876849" y="4830775"/>
            <a:ext cx="2140610" cy="322783"/>
          </a:xfrm>
          <a:prstGeom prst="rect">
            <a:avLst/>
          </a:prstGeom>
          <a:solidFill>
            <a:srgbClr val="F4F5F7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01" name="Text 98"/>
          <p:cNvSpPr/>
          <p:nvPr/>
        </p:nvSpPr>
        <p:spPr>
          <a:xfrm>
            <a:off x="5917997" y="4849063"/>
            <a:ext cx="2058314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</a:t>
            </a:r>
            <a:endParaRPr lang="en-US" sz="1000" dirty="0"/>
          </a:p>
        </p:txBody>
      </p:sp>
      <p:sp>
        <p:nvSpPr>
          <p:cNvPr id="102" name="Shape 99"/>
          <p:cNvSpPr/>
          <p:nvPr/>
        </p:nvSpPr>
        <p:spPr>
          <a:xfrm>
            <a:off x="8017459" y="4830775"/>
            <a:ext cx="2140610" cy="322783"/>
          </a:xfrm>
          <a:prstGeom prst="rect">
            <a:avLst/>
          </a:prstGeom>
          <a:solidFill>
            <a:srgbClr val="F4F5F7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03" name="Text 100"/>
          <p:cNvSpPr/>
          <p:nvPr/>
        </p:nvSpPr>
        <p:spPr>
          <a:xfrm>
            <a:off x="8058607" y="4849063"/>
            <a:ext cx="2058314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EB57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</a:t>
            </a:r>
            <a:endParaRPr lang="en-US" sz="1000" dirty="0"/>
          </a:p>
        </p:txBody>
      </p:sp>
      <p:sp>
        <p:nvSpPr>
          <p:cNvPr id="104" name="Shape 101"/>
          <p:cNvSpPr/>
          <p:nvPr/>
        </p:nvSpPr>
        <p:spPr>
          <a:xfrm>
            <a:off x="10158070" y="4830775"/>
            <a:ext cx="1528877" cy="322783"/>
          </a:xfrm>
          <a:prstGeom prst="rect">
            <a:avLst/>
          </a:prstGeom>
          <a:solidFill>
            <a:srgbClr val="F4F5F7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05" name="Text 102"/>
          <p:cNvSpPr/>
          <p:nvPr/>
        </p:nvSpPr>
        <p:spPr>
          <a:xfrm>
            <a:off x="10199218" y="4849063"/>
            <a:ext cx="1446581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EB57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</a:t>
            </a:r>
            <a:endParaRPr lang="en-US" sz="1000" dirty="0"/>
          </a:p>
        </p:txBody>
      </p:sp>
      <p:sp>
        <p:nvSpPr>
          <p:cNvPr id="106" name="Shape 103"/>
          <p:cNvSpPr/>
          <p:nvPr/>
        </p:nvSpPr>
        <p:spPr>
          <a:xfrm>
            <a:off x="475488" y="5153558"/>
            <a:ext cx="3567074" cy="322783"/>
          </a:xfrm>
          <a:prstGeom prst="rect">
            <a:avLst/>
          </a:prstGeom>
          <a:solidFill>
            <a:srgbClr val="ECEDEF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07" name="Text 104"/>
          <p:cNvSpPr/>
          <p:nvPr/>
        </p:nvSpPr>
        <p:spPr>
          <a:xfrm>
            <a:off x="516636" y="5171846"/>
            <a:ext cx="3484778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Spitfire Audio US (closing 29.05.20…</a:t>
            </a:r>
            <a:endParaRPr lang="en-US" sz="1000" dirty="0"/>
          </a:p>
        </p:txBody>
      </p:sp>
      <p:sp>
        <p:nvSpPr>
          <p:cNvPr id="108" name="Shape 105"/>
          <p:cNvSpPr/>
          <p:nvPr/>
        </p:nvSpPr>
        <p:spPr>
          <a:xfrm>
            <a:off x="4042562" y="5153558"/>
            <a:ext cx="1834286" cy="322783"/>
          </a:xfrm>
          <a:prstGeom prst="rect">
            <a:avLst/>
          </a:prstGeom>
          <a:solidFill>
            <a:srgbClr val="ECEDEF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09" name="Text 106"/>
          <p:cNvSpPr/>
          <p:nvPr/>
        </p:nvSpPr>
        <p:spPr>
          <a:xfrm>
            <a:off x="4083710" y="5171846"/>
            <a:ext cx="175199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366313</a:t>
            </a:r>
            <a:endParaRPr lang="en-US" sz="1000" dirty="0"/>
          </a:p>
        </p:txBody>
      </p:sp>
      <p:sp>
        <p:nvSpPr>
          <p:cNvPr id="110" name="Shape 107"/>
          <p:cNvSpPr/>
          <p:nvPr/>
        </p:nvSpPr>
        <p:spPr>
          <a:xfrm>
            <a:off x="5876849" y="5153558"/>
            <a:ext cx="2140610" cy="322783"/>
          </a:xfrm>
          <a:prstGeom prst="rect">
            <a:avLst/>
          </a:prstGeom>
          <a:solidFill>
            <a:srgbClr val="ECEDEF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11" name="Text 108"/>
          <p:cNvSpPr/>
          <p:nvPr/>
        </p:nvSpPr>
        <p:spPr>
          <a:xfrm>
            <a:off x="5917997" y="5171846"/>
            <a:ext cx="2058314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</a:t>
            </a:r>
            <a:endParaRPr lang="en-US" sz="1000" dirty="0"/>
          </a:p>
        </p:txBody>
      </p:sp>
      <p:sp>
        <p:nvSpPr>
          <p:cNvPr id="112" name="Shape 109"/>
          <p:cNvSpPr/>
          <p:nvPr/>
        </p:nvSpPr>
        <p:spPr>
          <a:xfrm>
            <a:off x="8017459" y="5153558"/>
            <a:ext cx="2140610" cy="322783"/>
          </a:xfrm>
          <a:prstGeom prst="rect">
            <a:avLst/>
          </a:prstGeom>
          <a:solidFill>
            <a:srgbClr val="ECEDEF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13" name="Text 110"/>
          <p:cNvSpPr/>
          <p:nvPr/>
        </p:nvSpPr>
        <p:spPr>
          <a:xfrm>
            <a:off x="8058607" y="5171846"/>
            <a:ext cx="2058314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EB57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</a:t>
            </a:r>
            <a:endParaRPr lang="en-US" sz="1000" dirty="0"/>
          </a:p>
        </p:txBody>
      </p:sp>
      <p:sp>
        <p:nvSpPr>
          <p:cNvPr id="114" name="Shape 111"/>
          <p:cNvSpPr/>
          <p:nvPr/>
        </p:nvSpPr>
        <p:spPr>
          <a:xfrm>
            <a:off x="10158070" y="5153558"/>
            <a:ext cx="1528877" cy="322783"/>
          </a:xfrm>
          <a:prstGeom prst="rect">
            <a:avLst/>
          </a:prstGeom>
          <a:solidFill>
            <a:srgbClr val="ECEDEF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15" name="Text 112"/>
          <p:cNvSpPr/>
          <p:nvPr/>
        </p:nvSpPr>
        <p:spPr>
          <a:xfrm>
            <a:off x="10199218" y="5171846"/>
            <a:ext cx="1446581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EB57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</a:t>
            </a:r>
            <a:endParaRPr lang="en-US" sz="1000" dirty="0"/>
          </a:p>
        </p:txBody>
      </p:sp>
      <p:sp>
        <p:nvSpPr>
          <p:cNvPr id="116" name="Shape 113"/>
          <p:cNvSpPr/>
          <p:nvPr/>
        </p:nvSpPr>
        <p:spPr>
          <a:xfrm>
            <a:off x="475488" y="5476342"/>
            <a:ext cx="3567074" cy="322783"/>
          </a:xfrm>
          <a:prstGeom prst="rect">
            <a:avLst/>
          </a:prstGeom>
          <a:solidFill>
            <a:srgbClr val="F4F5F7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17" name="Text 114"/>
          <p:cNvSpPr/>
          <p:nvPr/>
        </p:nvSpPr>
        <p:spPr>
          <a:xfrm>
            <a:off x="516636" y="5494630"/>
            <a:ext cx="3484778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View from The Shard</a:t>
            </a:r>
            <a:endParaRPr lang="en-US" sz="1000" dirty="0"/>
          </a:p>
        </p:txBody>
      </p:sp>
      <p:sp>
        <p:nvSpPr>
          <p:cNvPr id="118" name="Shape 115"/>
          <p:cNvSpPr/>
          <p:nvPr/>
        </p:nvSpPr>
        <p:spPr>
          <a:xfrm>
            <a:off x="4042562" y="5476342"/>
            <a:ext cx="1834286" cy="322783"/>
          </a:xfrm>
          <a:prstGeom prst="rect">
            <a:avLst/>
          </a:prstGeom>
          <a:solidFill>
            <a:srgbClr val="F4F5F7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19" name="Text 116"/>
          <p:cNvSpPr/>
          <p:nvPr/>
        </p:nvSpPr>
        <p:spPr>
          <a:xfrm>
            <a:off x="4083710" y="5494630"/>
            <a:ext cx="175199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361155</a:t>
            </a:r>
            <a:endParaRPr lang="en-US" sz="1000" dirty="0"/>
          </a:p>
        </p:txBody>
      </p:sp>
      <p:sp>
        <p:nvSpPr>
          <p:cNvPr id="120" name="Shape 117"/>
          <p:cNvSpPr/>
          <p:nvPr/>
        </p:nvSpPr>
        <p:spPr>
          <a:xfrm>
            <a:off x="5876849" y="5476342"/>
            <a:ext cx="2140610" cy="322783"/>
          </a:xfrm>
          <a:prstGeom prst="rect">
            <a:avLst/>
          </a:prstGeom>
          <a:solidFill>
            <a:srgbClr val="F4F5F7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21" name="Text 118"/>
          <p:cNvSpPr/>
          <p:nvPr/>
        </p:nvSpPr>
        <p:spPr>
          <a:xfrm>
            <a:off x="5917997" y="5494630"/>
            <a:ext cx="2058314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</a:t>
            </a:r>
            <a:endParaRPr lang="en-US" sz="1000" dirty="0"/>
          </a:p>
        </p:txBody>
      </p:sp>
      <p:sp>
        <p:nvSpPr>
          <p:cNvPr id="122" name="Shape 119"/>
          <p:cNvSpPr/>
          <p:nvPr/>
        </p:nvSpPr>
        <p:spPr>
          <a:xfrm>
            <a:off x="8017459" y="5476342"/>
            <a:ext cx="2140610" cy="322783"/>
          </a:xfrm>
          <a:prstGeom prst="rect">
            <a:avLst/>
          </a:prstGeom>
          <a:solidFill>
            <a:srgbClr val="F4F5F7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23" name="Text 120"/>
          <p:cNvSpPr/>
          <p:nvPr/>
        </p:nvSpPr>
        <p:spPr>
          <a:xfrm>
            <a:off x="8058607" y="5494630"/>
            <a:ext cx="2058314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EB57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</a:t>
            </a:r>
            <a:endParaRPr lang="en-US" sz="1000" dirty="0"/>
          </a:p>
        </p:txBody>
      </p:sp>
      <p:sp>
        <p:nvSpPr>
          <p:cNvPr id="124" name="Shape 121"/>
          <p:cNvSpPr/>
          <p:nvPr/>
        </p:nvSpPr>
        <p:spPr>
          <a:xfrm>
            <a:off x="10158070" y="5476342"/>
            <a:ext cx="1528877" cy="322783"/>
          </a:xfrm>
          <a:prstGeom prst="rect">
            <a:avLst/>
          </a:prstGeom>
          <a:solidFill>
            <a:srgbClr val="F4F5F7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25" name="Text 122"/>
          <p:cNvSpPr/>
          <p:nvPr/>
        </p:nvSpPr>
        <p:spPr>
          <a:xfrm>
            <a:off x="10199218" y="5494630"/>
            <a:ext cx="1446581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EB57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</a:t>
            </a:r>
            <a:endParaRPr lang="en-US" sz="1000" dirty="0"/>
          </a:p>
        </p:txBody>
      </p:sp>
      <p:sp>
        <p:nvSpPr>
          <p:cNvPr id="126" name="Shape 123"/>
          <p:cNvSpPr/>
          <p:nvPr/>
        </p:nvSpPr>
        <p:spPr>
          <a:xfrm>
            <a:off x="475488" y="5799125"/>
            <a:ext cx="3567074" cy="322783"/>
          </a:xfrm>
          <a:prstGeom prst="rect">
            <a:avLst/>
          </a:prstGeom>
          <a:solidFill>
            <a:srgbClr val="ECEDEF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27" name="Text 124"/>
          <p:cNvSpPr/>
          <p:nvPr/>
        </p:nvSpPr>
        <p:spPr>
          <a:xfrm>
            <a:off x="516636" y="5817413"/>
            <a:ext cx="3484778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Designer Plants USA</a:t>
            </a:r>
            <a:endParaRPr lang="en-US" sz="1000" dirty="0"/>
          </a:p>
        </p:txBody>
      </p:sp>
      <p:sp>
        <p:nvSpPr>
          <p:cNvPr id="128" name="Shape 125"/>
          <p:cNvSpPr/>
          <p:nvPr/>
        </p:nvSpPr>
        <p:spPr>
          <a:xfrm>
            <a:off x="4042562" y="5799125"/>
            <a:ext cx="1834286" cy="322783"/>
          </a:xfrm>
          <a:prstGeom prst="rect">
            <a:avLst/>
          </a:prstGeom>
          <a:solidFill>
            <a:srgbClr val="ECEDEF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29" name="Text 126"/>
          <p:cNvSpPr/>
          <p:nvPr/>
        </p:nvSpPr>
        <p:spPr>
          <a:xfrm>
            <a:off x="4083710" y="5817413"/>
            <a:ext cx="175199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339536</a:t>
            </a:r>
            <a:endParaRPr lang="en-US" sz="1000" dirty="0"/>
          </a:p>
        </p:txBody>
      </p:sp>
      <p:sp>
        <p:nvSpPr>
          <p:cNvPr id="130" name="Shape 127"/>
          <p:cNvSpPr/>
          <p:nvPr/>
        </p:nvSpPr>
        <p:spPr>
          <a:xfrm>
            <a:off x="5876849" y="5799125"/>
            <a:ext cx="2140610" cy="322783"/>
          </a:xfrm>
          <a:prstGeom prst="rect">
            <a:avLst/>
          </a:prstGeom>
          <a:solidFill>
            <a:srgbClr val="ECEDEF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31" name="Text 128"/>
          <p:cNvSpPr/>
          <p:nvPr/>
        </p:nvSpPr>
        <p:spPr>
          <a:xfrm>
            <a:off x="5917997" y="5817413"/>
            <a:ext cx="2058314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</a:t>
            </a:r>
            <a:endParaRPr lang="en-US" sz="1000" dirty="0"/>
          </a:p>
        </p:txBody>
      </p:sp>
      <p:sp>
        <p:nvSpPr>
          <p:cNvPr id="132" name="Shape 129"/>
          <p:cNvSpPr/>
          <p:nvPr/>
        </p:nvSpPr>
        <p:spPr>
          <a:xfrm>
            <a:off x="8017459" y="5799125"/>
            <a:ext cx="2140610" cy="322783"/>
          </a:xfrm>
          <a:prstGeom prst="rect">
            <a:avLst/>
          </a:prstGeom>
          <a:solidFill>
            <a:srgbClr val="ECEDEF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33" name="Text 130"/>
          <p:cNvSpPr/>
          <p:nvPr/>
        </p:nvSpPr>
        <p:spPr>
          <a:xfrm>
            <a:off x="8058607" y="5817413"/>
            <a:ext cx="2058314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EB57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</a:t>
            </a:r>
            <a:endParaRPr lang="en-US" sz="1000" dirty="0"/>
          </a:p>
        </p:txBody>
      </p:sp>
      <p:sp>
        <p:nvSpPr>
          <p:cNvPr id="134" name="Shape 131"/>
          <p:cNvSpPr/>
          <p:nvPr/>
        </p:nvSpPr>
        <p:spPr>
          <a:xfrm>
            <a:off x="10158070" y="5799125"/>
            <a:ext cx="1528877" cy="322783"/>
          </a:xfrm>
          <a:prstGeom prst="rect">
            <a:avLst/>
          </a:prstGeom>
          <a:solidFill>
            <a:srgbClr val="ECEDEF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35" name="Text 132"/>
          <p:cNvSpPr/>
          <p:nvPr/>
        </p:nvSpPr>
        <p:spPr>
          <a:xfrm>
            <a:off x="10199218" y="5817413"/>
            <a:ext cx="1446581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EB57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2F6F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publisher-qbr\assets\qbr-bg-blu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KPI Highlights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658368" y="1773936"/>
            <a:ext cx="310896" cy="310896"/>
          </a:xfrm>
          <a:prstGeom prst="roundRect">
            <a:avLst/>
          </a:prstGeom>
          <a:solidFill>
            <a:srgbClr val="F3F4F6">
              <a:alpha val="7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768096" y="1847088"/>
            <a:ext cx="91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1078992" y="1719072"/>
            <a:ext cx="10424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Total Earnings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1078992" y="2029968"/>
            <a:ext cx="10469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$182 vs $13,782 (-98.7%).</a:t>
            </a:r>
            <a:endParaRPr lang="en-US" sz="1080" dirty="0"/>
          </a:p>
        </p:txBody>
      </p:sp>
      <p:sp>
        <p:nvSpPr>
          <p:cNvPr id="8" name="Shape 5"/>
          <p:cNvSpPr/>
          <p:nvPr/>
        </p:nvSpPr>
        <p:spPr>
          <a:xfrm>
            <a:off x="658368" y="2761488"/>
            <a:ext cx="310896" cy="310896"/>
          </a:xfrm>
          <a:prstGeom prst="roundRect">
            <a:avLst/>
          </a:prstGeom>
          <a:solidFill>
            <a:srgbClr val="F3F4F6">
              <a:alpha val="7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68096" y="2834640"/>
            <a:ext cx="91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1078992" y="2706624"/>
            <a:ext cx="10424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Publisher Commission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1078992" y="3017520"/>
            <a:ext cx="10469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$182 vs $13,782 (-98.7%).</a:t>
            </a:r>
            <a:endParaRPr lang="en-US" sz="1080" dirty="0"/>
          </a:p>
        </p:txBody>
      </p:sp>
      <p:sp>
        <p:nvSpPr>
          <p:cNvPr id="12" name="Shape 9"/>
          <p:cNvSpPr/>
          <p:nvPr/>
        </p:nvSpPr>
        <p:spPr>
          <a:xfrm>
            <a:off x="658368" y="3749040"/>
            <a:ext cx="310896" cy="310896"/>
          </a:xfrm>
          <a:prstGeom prst="roundRect">
            <a:avLst/>
          </a:prstGeom>
          <a:solidFill>
            <a:srgbClr val="F3F4F6">
              <a:alpha val="7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68096" y="3822192"/>
            <a:ext cx="91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1078992" y="3694176"/>
            <a:ext cx="10424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Digital Wallet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1078992" y="4005072"/>
            <a:ext cx="10469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$0 vs $0 (N/A).</a:t>
            </a:r>
            <a:endParaRPr lang="en-US" sz="1080" dirty="0"/>
          </a:p>
        </p:txBody>
      </p:sp>
      <p:sp>
        <p:nvSpPr>
          <p:cNvPr id="16" name="Shape 13"/>
          <p:cNvSpPr/>
          <p:nvPr/>
        </p:nvSpPr>
        <p:spPr>
          <a:xfrm>
            <a:off x="658368" y="4736592"/>
            <a:ext cx="310896" cy="310896"/>
          </a:xfrm>
          <a:prstGeom prst="roundRect">
            <a:avLst/>
          </a:prstGeom>
          <a:solidFill>
            <a:srgbClr val="F3F4F6">
              <a:alpha val="7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768096" y="4809744"/>
            <a:ext cx="91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1078992" y="4681728"/>
            <a:ext cx="10424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Order Value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1078992" y="4992624"/>
            <a:ext cx="10469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$5,016 vs $197,999 (-97.5%).</a:t>
            </a:r>
            <a:endParaRPr lang="en-US" sz="1080" dirty="0"/>
          </a:p>
        </p:txBody>
      </p:sp>
      <p:sp>
        <p:nvSpPr>
          <p:cNvPr id="20" name="Shape 17"/>
          <p:cNvSpPr/>
          <p:nvPr/>
        </p:nvSpPr>
        <p:spPr>
          <a:xfrm>
            <a:off x="658368" y="5724144"/>
            <a:ext cx="310896" cy="310896"/>
          </a:xfrm>
          <a:prstGeom prst="roundRect">
            <a:avLst/>
          </a:prstGeom>
          <a:solidFill>
            <a:srgbClr val="F3F4F6">
              <a:alpha val="7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768096" y="5797296"/>
            <a:ext cx="91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1078992" y="5669280"/>
            <a:ext cx="10424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Conversions</a:t>
            </a:r>
            <a:endParaRPr lang="en-US" sz="1600" dirty="0"/>
          </a:p>
        </p:txBody>
      </p:sp>
      <p:sp>
        <p:nvSpPr>
          <p:cNvPr id="23" name="Text 20"/>
          <p:cNvSpPr/>
          <p:nvPr/>
        </p:nvSpPr>
        <p:spPr>
          <a:xfrm>
            <a:off x="1078992" y="5980176"/>
            <a:ext cx="10469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30 vs 938 (-96.8%).</a:t>
            </a:r>
            <a:endParaRPr lang="en-US" sz="108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publisher-qbr\assets\qbr-bg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Competitor Analysis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640080" y="131673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F6F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Primary publisher performance against anonymised comparison publishers.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365760" y="1783080"/>
            <a:ext cx="11430000" cy="2884932"/>
          </a:xfrm>
          <a:prstGeom prst="rect">
            <a:avLst/>
          </a:prstGeom>
          <a:solidFill>
            <a:srgbClr val="F3F4F6"/>
          </a:solidFill>
          <a:ln w="12700">
            <a:solidFill>
              <a:srgbClr val="D6DAE3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75488" y="1874520"/>
            <a:ext cx="1601114" cy="763524"/>
          </a:xfrm>
          <a:prstGeom prst="rect">
            <a:avLst/>
          </a:prstGeom>
          <a:solidFill>
            <a:srgbClr val="F1F3F7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16636" y="1892808"/>
            <a:ext cx="1518818" cy="7269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Competitor Group Summary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2076602" y="1874520"/>
            <a:ext cx="1601114" cy="763524"/>
          </a:xfrm>
          <a:prstGeom prst="rect">
            <a:avLst/>
          </a:prstGeom>
          <a:solidFill>
            <a:srgbClr val="F1F3F7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2117750" y="1892808"/>
            <a:ext cx="1518818" cy="7269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Your Site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3677717" y="1874520"/>
            <a:ext cx="1601114" cy="763524"/>
          </a:xfrm>
          <a:prstGeom prst="rect">
            <a:avLst/>
          </a:prstGeom>
          <a:solidFill>
            <a:srgbClr val="F1F3F7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3718865" y="1892808"/>
            <a:ext cx="1518818" cy="7269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Publisher 1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5278831" y="1874520"/>
            <a:ext cx="1601114" cy="763524"/>
          </a:xfrm>
          <a:prstGeom prst="rect">
            <a:avLst/>
          </a:prstGeom>
          <a:solidFill>
            <a:srgbClr val="F1F3F7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319979" y="1892808"/>
            <a:ext cx="1518818" cy="7269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Publisher 2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6879946" y="1874520"/>
            <a:ext cx="1601114" cy="763524"/>
          </a:xfrm>
          <a:prstGeom prst="rect">
            <a:avLst/>
          </a:prstGeom>
          <a:solidFill>
            <a:srgbClr val="F1F3F7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921094" y="1892808"/>
            <a:ext cx="1518818" cy="7269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Publisher 3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8481060" y="1874520"/>
            <a:ext cx="1601114" cy="763524"/>
          </a:xfrm>
          <a:prstGeom prst="rect">
            <a:avLst/>
          </a:prstGeom>
          <a:solidFill>
            <a:srgbClr val="F1F3F7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8522208" y="1892808"/>
            <a:ext cx="1518818" cy="7269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Publisher 4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10082174" y="1874520"/>
            <a:ext cx="1603858" cy="763524"/>
          </a:xfrm>
          <a:prstGeom prst="rect">
            <a:avLst/>
          </a:prstGeom>
          <a:solidFill>
            <a:srgbClr val="F1F3F7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10123322" y="1892808"/>
            <a:ext cx="1521562" cy="7269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Distinct comp. prog. #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475488" y="2638044"/>
            <a:ext cx="1601114" cy="658368"/>
          </a:xfrm>
          <a:prstGeom prst="rect">
            <a:avLst/>
          </a:prstGeom>
          <a:solidFill>
            <a:srgbClr val="F4F5F7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516636" y="2656332"/>
            <a:ext cx="151881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Programs with Pub Comm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2076602" y="2638044"/>
            <a:ext cx="1601114" cy="658368"/>
          </a:xfrm>
          <a:prstGeom prst="rect">
            <a:avLst/>
          </a:prstGeom>
          <a:solidFill>
            <a:srgbClr val="F4F5F7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2117750" y="2656332"/>
            <a:ext cx="151881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</a:t>
            </a:r>
            <a:endParaRPr lang="en-US" sz="1000" dirty="0"/>
          </a:p>
        </p:txBody>
      </p:sp>
      <p:sp>
        <p:nvSpPr>
          <p:cNvPr id="24" name="Shape 21"/>
          <p:cNvSpPr/>
          <p:nvPr/>
        </p:nvSpPr>
        <p:spPr>
          <a:xfrm>
            <a:off x="3677717" y="2638044"/>
            <a:ext cx="1601114" cy="658368"/>
          </a:xfrm>
          <a:prstGeom prst="rect">
            <a:avLst/>
          </a:prstGeom>
          <a:solidFill>
            <a:srgbClr val="F4F5F7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3718865" y="2656332"/>
            <a:ext cx="151881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27</a:t>
            </a:r>
            <a:endParaRPr lang="en-US" sz="1000" dirty="0"/>
          </a:p>
        </p:txBody>
      </p:sp>
      <p:sp>
        <p:nvSpPr>
          <p:cNvPr id="26" name="Shape 23"/>
          <p:cNvSpPr/>
          <p:nvPr/>
        </p:nvSpPr>
        <p:spPr>
          <a:xfrm>
            <a:off x="5278831" y="2638044"/>
            <a:ext cx="1601114" cy="658368"/>
          </a:xfrm>
          <a:prstGeom prst="rect">
            <a:avLst/>
          </a:prstGeom>
          <a:solidFill>
            <a:srgbClr val="F4F5F7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5319979" y="2656332"/>
            <a:ext cx="151881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30</a:t>
            </a:r>
            <a:endParaRPr lang="en-US" sz="1000" dirty="0"/>
          </a:p>
        </p:txBody>
      </p:sp>
      <p:sp>
        <p:nvSpPr>
          <p:cNvPr id="28" name="Shape 25"/>
          <p:cNvSpPr/>
          <p:nvPr/>
        </p:nvSpPr>
        <p:spPr>
          <a:xfrm>
            <a:off x="6879946" y="2638044"/>
            <a:ext cx="1601114" cy="658368"/>
          </a:xfrm>
          <a:prstGeom prst="rect">
            <a:avLst/>
          </a:prstGeom>
          <a:solidFill>
            <a:srgbClr val="F4F5F7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6921094" y="2656332"/>
            <a:ext cx="151881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54</a:t>
            </a:r>
            <a:endParaRPr lang="en-US" sz="1000" dirty="0"/>
          </a:p>
        </p:txBody>
      </p:sp>
      <p:sp>
        <p:nvSpPr>
          <p:cNvPr id="30" name="Shape 27"/>
          <p:cNvSpPr/>
          <p:nvPr/>
        </p:nvSpPr>
        <p:spPr>
          <a:xfrm>
            <a:off x="8481060" y="2638044"/>
            <a:ext cx="1601114" cy="658368"/>
          </a:xfrm>
          <a:prstGeom prst="rect">
            <a:avLst/>
          </a:prstGeom>
          <a:solidFill>
            <a:srgbClr val="F4F5F7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8522208" y="2656332"/>
            <a:ext cx="151881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19</a:t>
            </a:r>
            <a:endParaRPr lang="en-US" sz="1000" dirty="0"/>
          </a:p>
        </p:txBody>
      </p:sp>
      <p:sp>
        <p:nvSpPr>
          <p:cNvPr id="32" name="Shape 29"/>
          <p:cNvSpPr/>
          <p:nvPr/>
        </p:nvSpPr>
        <p:spPr>
          <a:xfrm>
            <a:off x="10082174" y="2638044"/>
            <a:ext cx="1603858" cy="658368"/>
          </a:xfrm>
          <a:prstGeom prst="rect">
            <a:avLst/>
          </a:prstGeom>
          <a:solidFill>
            <a:srgbClr val="F4F5F7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10123322" y="2656332"/>
            <a:ext cx="152156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72</a:t>
            </a:r>
            <a:endParaRPr lang="en-US" sz="1000" dirty="0"/>
          </a:p>
        </p:txBody>
      </p:sp>
      <p:sp>
        <p:nvSpPr>
          <p:cNvPr id="34" name="Shape 31"/>
          <p:cNvSpPr/>
          <p:nvPr/>
        </p:nvSpPr>
        <p:spPr>
          <a:xfrm>
            <a:off x="475488" y="3296412"/>
            <a:ext cx="1601114" cy="658368"/>
          </a:xfrm>
          <a:prstGeom prst="rect">
            <a:avLst/>
          </a:prstGeom>
          <a:solidFill>
            <a:srgbClr val="ECEDEF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516636" y="3314700"/>
            <a:ext cx="151881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of which you have 0 Pub Comm</a:t>
            </a:r>
            <a:endParaRPr lang="en-US" sz="1000" dirty="0"/>
          </a:p>
        </p:txBody>
      </p:sp>
      <p:sp>
        <p:nvSpPr>
          <p:cNvPr id="36" name="Shape 33"/>
          <p:cNvSpPr/>
          <p:nvPr/>
        </p:nvSpPr>
        <p:spPr>
          <a:xfrm>
            <a:off x="2076602" y="3296412"/>
            <a:ext cx="1601114" cy="658368"/>
          </a:xfrm>
          <a:prstGeom prst="rect">
            <a:avLst/>
          </a:prstGeom>
          <a:solidFill>
            <a:srgbClr val="ECEDEF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2117750" y="3314700"/>
            <a:ext cx="151881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n/a</a:t>
            </a:r>
            <a:endParaRPr lang="en-US" sz="1000" dirty="0"/>
          </a:p>
        </p:txBody>
      </p:sp>
      <p:sp>
        <p:nvSpPr>
          <p:cNvPr id="38" name="Shape 35"/>
          <p:cNvSpPr/>
          <p:nvPr/>
        </p:nvSpPr>
        <p:spPr>
          <a:xfrm>
            <a:off x="3677717" y="3296412"/>
            <a:ext cx="1601114" cy="658368"/>
          </a:xfrm>
          <a:prstGeom prst="rect">
            <a:avLst/>
          </a:prstGeom>
          <a:solidFill>
            <a:srgbClr val="ECEDEF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3718865" y="3314700"/>
            <a:ext cx="151881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25</a:t>
            </a:r>
            <a:endParaRPr lang="en-US" sz="1000" dirty="0"/>
          </a:p>
        </p:txBody>
      </p:sp>
      <p:sp>
        <p:nvSpPr>
          <p:cNvPr id="40" name="Shape 37"/>
          <p:cNvSpPr/>
          <p:nvPr/>
        </p:nvSpPr>
        <p:spPr>
          <a:xfrm>
            <a:off x="5278831" y="3296412"/>
            <a:ext cx="1601114" cy="658368"/>
          </a:xfrm>
          <a:prstGeom prst="rect">
            <a:avLst/>
          </a:prstGeom>
          <a:solidFill>
            <a:srgbClr val="ECEDEF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5319979" y="3314700"/>
            <a:ext cx="151881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26</a:t>
            </a:r>
            <a:endParaRPr lang="en-US" sz="1000" dirty="0"/>
          </a:p>
        </p:txBody>
      </p:sp>
      <p:sp>
        <p:nvSpPr>
          <p:cNvPr id="42" name="Shape 39"/>
          <p:cNvSpPr/>
          <p:nvPr/>
        </p:nvSpPr>
        <p:spPr>
          <a:xfrm>
            <a:off x="6879946" y="3296412"/>
            <a:ext cx="1601114" cy="658368"/>
          </a:xfrm>
          <a:prstGeom prst="rect">
            <a:avLst/>
          </a:prstGeom>
          <a:solidFill>
            <a:srgbClr val="ECEDEF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6921094" y="3314700"/>
            <a:ext cx="151881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48</a:t>
            </a:r>
            <a:endParaRPr lang="en-US" sz="1000" dirty="0"/>
          </a:p>
        </p:txBody>
      </p:sp>
      <p:sp>
        <p:nvSpPr>
          <p:cNvPr id="44" name="Shape 41"/>
          <p:cNvSpPr/>
          <p:nvPr/>
        </p:nvSpPr>
        <p:spPr>
          <a:xfrm>
            <a:off x="8481060" y="3296412"/>
            <a:ext cx="1601114" cy="658368"/>
          </a:xfrm>
          <a:prstGeom prst="rect">
            <a:avLst/>
          </a:prstGeom>
          <a:solidFill>
            <a:srgbClr val="ECEDEF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45" name="Text 42"/>
          <p:cNvSpPr/>
          <p:nvPr/>
        </p:nvSpPr>
        <p:spPr>
          <a:xfrm>
            <a:off x="8522208" y="3314700"/>
            <a:ext cx="151881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16</a:t>
            </a:r>
            <a:endParaRPr lang="en-US" sz="1000" dirty="0"/>
          </a:p>
        </p:txBody>
      </p:sp>
      <p:sp>
        <p:nvSpPr>
          <p:cNvPr id="46" name="Shape 43"/>
          <p:cNvSpPr/>
          <p:nvPr/>
        </p:nvSpPr>
        <p:spPr>
          <a:xfrm>
            <a:off x="10082174" y="3296412"/>
            <a:ext cx="1603858" cy="658368"/>
          </a:xfrm>
          <a:prstGeom prst="rect">
            <a:avLst/>
          </a:prstGeom>
          <a:solidFill>
            <a:srgbClr val="ECEDEF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47" name="Text 44"/>
          <p:cNvSpPr/>
          <p:nvPr/>
        </p:nvSpPr>
        <p:spPr>
          <a:xfrm>
            <a:off x="10123322" y="3314700"/>
            <a:ext cx="152156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66</a:t>
            </a:r>
            <a:endParaRPr lang="en-US" sz="1000" dirty="0"/>
          </a:p>
        </p:txBody>
      </p:sp>
      <p:sp>
        <p:nvSpPr>
          <p:cNvPr id="48" name="Shape 45"/>
          <p:cNvSpPr/>
          <p:nvPr/>
        </p:nvSpPr>
        <p:spPr>
          <a:xfrm>
            <a:off x="475488" y="3954780"/>
            <a:ext cx="1601114" cy="658368"/>
          </a:xfrm>
          <a:prstGeom prst="rect">
            <a:avLst/>
          </a:prstGeom>
          <a:solidFill>
            <a:srgbClr val="F4F5F7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49" name="Text 46"/>
          <p:cNvSpPr/>
          <p:nvPr/>
        </p:nvSpPr>
        <p:spPr>
          <a:xfrm>
            <a:off x="516636" y="3973068"/>
            <a:ext cx="151881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Pub Comm of the above</a:t>
            </a:r>
            <a:endParaRPr lang="en-US" sz="1000" dirty="0"/>
          </a:p>
        </p:txBody>
      </p:sp>
      <p:sp>
        <p:nvSpPr>
          <p:cNvPr id="50" name="Shape 47"/>
          <p:cNvSpPr/>
          <p:nvPr/>
        </p:nvSpPr>
        <p:spPr>
          <a:xfrm>
            <a:off x="2076602" y="3954780"/>
            <a:ext cx="1601114" cy="658368"/>
          </a:xfrm>
          <a:prstGeom prst="rect">
            <a:avLst/>
          </a:prstGeom>
          <a:solidFill>
            <a:srgbClr val="F4F5F7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51" name="Text 48"/>
          <p:cNvSpPr/>
          <p:nvPr/>
        </p:nvSpPr>
        <p:spPr>
          <a:xfrm>
            <a:off x="2117750" y="3973068"/>
            <a:ext cx="151881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n/a</a:t>
            </a:r>
            <a:endParaRPr lang="en-US" sz="1000" dirty="0"/>
          </a:p>
        </p:txBody>
      </p:sp>
      <p:sp>
        <p:nvSpPr>
          <p:cNvPr id="52" name="Shape 49"/>
          <p:cNvSpPr/>
          <p:nvPr/>
        </p:nvSpPr>
        <p:spPr>
          <a:xfrm>
            <a:off x="3677717" y="3954780"/>
            <a:ext cx="1601114" cy="658368"/>
          </a:xfrm>
          <a:prstGeom prst="rect">
            <a:avLst/>
          </a:prstGeom>
          <a:solidFill>
            <a:srgbClr val="F4F5F7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53" name="Text 50"/>
          <p:cNvSpPr/>
          <p:nvPr/>
        </p:nvSpPr>
        <p:spPr>
          <a:xfrm>
            <a:off x="3718865" y="3973068"/>
            <a:ext cx="151881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$14,110</a:t>
            </a:r>
            <a:endParaRPr lang="en-US" sz="1000" dirty="0"/>
          </a:p>
        </p:txBody>
      </p:sp>
      <p:sp>
        <p:nvSpPr>
          <p:cNvPr id="54" name="Shape 51"/>
          <p:cNvSpPr/>
          <p:nvPr/>
        </p:nvSpPr>
        <p:spPr>
          <a:xfrm>
            <a:off x="5278831" y="3954780"/>
            <a:ext cx="1601114" cy="658368"/>
          </a:xfrm>
          <a:prstGeom prst="rect">
            <a:avLst/>
          </a:prstGeom>
          <a:solidFill>
            <a:srgbClr val="F4F5F7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55" name="Text 52"/>
          <p:cNvSpPr/>
          <p:nvPr/>
        </p:nvSpPr>
        <p:spPr>
          <a:xfrm>
            <a:off x="5319979" y="3973068"/>
            <a:ext cx="151881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$1,424</a:t>
            </a:r>
            <a:endParaRPr lang="en-US" sz="1000" dirty="0"/>
          </a:p>
        </p:txBody>
      </p:sp>
      <p:sp>
        <p:nvSpPr>
          <p:cNvPr id="56" name="Shape 53"/>
          <p:cNvSpPr/>
          <p:nvPr/>
        </p:nvSpPr>
        <p:spPr>
          <a:xfrm>
            <a:off x="6879946" y="3954780"/>
            <a:ext cx="1601114" cy="658368"/>
          </a:xfrm>
          <a:prstGeom prst="rect">
            <a:avLst/>
          </a:prstGeom>
          <a:solidFill>
            <a:srgbClr val="F4F5F7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57" name="Text 54"/>
          <p:cNvSpPr/>
          <p:nvPr/>
        </p:nvSpPr>
        <p:spPr>
          <a:xfrm>
            <a:off x="6921094" y="3973068"/>
            <a:ext cx="151881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$39,307</a:t>
            </a:r>
            <a:endParaRPr lang="en-US" sz="1000" dirty="0"/>
          </a:p>
        </p:txBody>
      </p:sp>
      <p:sp>
        <p:nvSpPr>
          <p:cNvPr id="58" name="Shape 55"/>
          <p:cNvSpPr/>
          <p:nvPr/>
        </p:nvSpPr>
        <p:spPr>
          <a:xfrm>
            <a:off x="8481060" y="3954780"/>
            <a:ext cx="1601114" cy="658368"/>
          </a:xfrm>
          <a:prstGeom prst="rect">
            <a:avLst/>
          </a:prstGeom>
          <a:solidFill>
            <a:srgbClr val="F4F5F7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59" name="Text 56"/>
          <p:cNvSpPr/>
          <p:nvPr/>
        </p:nvSpPr>
        <p:spPr>
          <a:xfrm>
            <a:off x="8522208" y="3973068"/>
            <a:ext cx="151881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$2,675</a:t>
            </a:r>
            <a:endParaRPr lang="en-US" sz="1000" dirty="0"/>
          </a:p>
        </p:txBody>
      </p:sp>
      <p:sp>
        <p:nvSpPr>
          <p:cNvPr id="60" name="Shape 57"/>
          <p:cNvSpPr/>
          <p:nvPr/>
        </p:nvSpPr>
        <p:spPr>
          <a:xfrm>
            <a:off x="10082174" y="3954780"/>
            <a:ext cx="1603858" cy="658368"/>
          </a:xfrm>
          <a:prstGeom prst="rect">
            <a:avLst/>
          </a:prstGeom>
          <a:solidFill>
            <a:srgbClr val="F4F5F7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61" name="Text 58"/>
          <p:cNvSpPr/>
          <p:nvPr/>
        </p:nvSpPr>
        <p:spPr>
          <a:xfrm>
            <a:off x="10123322" y="3973068"/>
            <a:ext cx="152156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$57,515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publisher-qbr\assets\qbr-bg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Top Programs Competitor Performance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640080" y="131673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F6F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Primary publisher share against four comparison publishers by programme.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365760" y="1783080"/>
            <a:ext cx="11430000" cy="4401922"/>
          </a:xfrm>
          <a:prstGeom prst="rect">
            <a:avLst/>
          </a:prstGeom>
          <a:solidFill>
            <a:srgbClr val="F3F4F6"/>
          </a:solidFill>
          <a:ln w="12700">
            <a:solidFill>
              <a:srgbClr val="D6DAE3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75488" y="1874520"/>
            <a:ext cx="1868119" cy="442570"/>
          </a:xfrm>
          <a:prstGeom prst="rect">
            <a:avLst/>
          </a:prstGeom>
          <a:solidFill>
            <a:srgbClr val="F1F3F7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16636" y="1892808"/>
            <a:ext cx="1785823" cy="4059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 Name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2343607" y="1874520"/>
            <a:ext cx="1868119" cy="442570"/>
          </a:xfrm>
          <a:prstGeom prst="rect">
            <a:avLst/>
          </a:prstGeom>
          <a:solidFill>
            <a:srgbClr val="F1F3F7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2384755" y="1892808"/>
            <a:ext cx="1785823" cy="4059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digidip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4211726" y="1874520"/>
            <a:ext cx="1868119" cy="442570"/>
          </a:xfrm>
          <a:prstGeom prst="rect">
            <a:avLst/>
          </a:prstGeom>
          <a:solidFill>
            <a:srgbClr val="F1F3F7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252874" y="1892808"/>
            <a:ext cx="1785823" cy="4059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Comp. A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6079846" y="1874520"/>
            <a:ext cx="1868119" cy="442570"/>
          </a:xfrm>
          <a:prstGeom prst="rect">
            <a:avLst/>
          </a:prstGeom>
          <a:solidFill>
            <a:srgbClr val="F1F3F7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120994" y="1892808"/>
            <a:ext cx="1785823" cy="4059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Comp. B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7947965" y="1874520"/>
            <a:ext cx="1868119" cy="442570"/>
          </a:xfrm>
          <a:prstGeom prst="rect">
            <a:avLst/>
          </a:prstGeom>
          <a:solidFill>
            <a:srgbClr val="F1F3F7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989113" y="1892808"/>
            <a:ext cx="1785823" cy="4059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Comp. C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9816084" y="1874520"/>
            <a:ext cx="1869948" cy="442570"/>
          </a:xfrm>
          <a:prstGeom prst="rect">
            <a:avLst/>
          </a:prstGeom>
          <a:solidFill>
            <a:srgbClr val="F1F3F7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9857232" y="1892808"/>
            <a:ext cx="1787652" cy="4059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Comp. D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475488" y="2317090"/>
            <a:ext cx="1868119" cy="381305"/>
          </a:xfrm>
          <a:prstGeom prst="rect">
            <a:avLst/>
          </a:prstGeom>
          <a:solidFill>
            <a:srgbClr val="F4F5F7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16636" y="2335378"/>
            <a:ext cx="1785823" cy="3447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 World Observatory - New York (US affiliates)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2343607" y="2317090"/>
            <a:ext cx="1868119" cy="381305"/>
          </a:xfrm>
          <a:prstGeom prst="rect">
            <a:avLst/>
          </a:prstGeom>
          <a:solidFill>
            <a:srgbClr val="F4F5F7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2384755" y="2335378"/>
            <a:ext cx="1785823" cy="3447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3%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4211726" y="2317090"/>
            <a:ext cx="1868119" cy="381305"/>
          </a:xfrm>
          <a:prstGeom prst="rect">
            <a:avLst/>
          </a:prstGeom>
          <a:solidFill>
            <a:srgbClr val="F4F5F7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4252874" y="2335378"/>
            <a:ext cx="1785823" cy="3447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10%</a:t>
            </a:r>
            <a:endParaRPr lang="en-US" sz="1000" dirty="0"/>
          </a:p>
        </p:txBody>
      </p:sp>
      <p:sp>
        <p:nvSpPr>
          <p:cNvPr id="24" name="Shape 21"/>
          <p:cNvSpPr/>
          <p:nvPr/>
        </p:nvSpPr>
        <p:spPr>
          <a:xfrm>
            <a:off x="6079846" y="2317090"/>
            <a:ext cx="1868119" cy="381305"/>
          </a:xfrm>
          <a:prstGeom prst="rect">
            <a:avLst/>
          </a:prstGeom>
          <a:solidFill>
            <a:srgbClr val="F4F5F7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6120994" y="2335378"/>
            <a:ext cx="1785823" cy="3447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2%</a:t>
            </a:r>
            <a:endParaRPr lang="en-US" sz="1000" dirty="0"/>
          </a:p>
        </p:txBody>
      </p:sp>
      <p:sp>
        <p:nvSpPr>
          <p:cNvPr id="26" name="Shape 23"/>
          <p:cNvSpPr/>
          <p:nvPr/>
        </p:nvSpPr>
        <p:spPr>
          <a:xfrm>
            <a:off x="7947965" y="2317090"/>
            <a:ext cx="1868119" cy="381305"/>
          </a:xfrm>
          <a:prstGeom prst="rect">
            <a:avLst/>
          </a:prstGeom>
          <a:solidFill>
            <a:srgbClr val="F4F5F7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7989113" y="2335378"/>
            <a:ext cx="1785823" cy="3447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76%</a:t>
            </a:r>
            <a:endParaRPr lang="en-US" sz="1000" dirty="0"/>
          </a:p>
        </p:txBody>
      </p:sp>
      <p:sp>
        <p:nvSpPr>
          <p:cNvPr id="28" name="Shape 25"/>
          <p:cNvSpPr/>
          <p:nvPr/>
        </p:nvSpPr>
        <p:spPr>
          <a:xfrm>
            <a:off x="9816084" y="2317090"/>
            <a:ext cx="1869948" cy="381305"/>
          </a:xfrm>
          <a:prstGeom prst="rect">
            <a:avLst/>
          </a:prstGeom>
          <a:solidFill>
            <a:srgbClr val="F4F5F7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9857232" y="2335378"/>
            <a:ext cx="1787652" cy="3447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9%</a:t>
            </a:r>
            <a:endParaRPr lang="en-US" sz="1000" dirty="0"/>
          </a:p>
        </p:txBody>
      </p:sp>
      <p:sp>
        <p:nvSpPr>
          <p:cNvPr id="30" name="Shape 27"/>
          <p:cNvSpPr/>
          <p:nvPr/>
        </p:nvSpPr>
        <p:spPr>
          <a:xfrm>
            <a:off x="475488" y="2698394"/>
            <a:ext cx="1868119" cy="381305"/>
          </a:xfrm>
          <a:prstGeom prst="rect">
            <a:avLst/>
          </a:prstGeom>
          <a:solidFill>
            <a:srgbClr val="ECEDEF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516636" y="2716682"/>
            <a:ext cx="1785823" cy="3447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View from The Shard</a:t>
            </a:r>
            <a:endParaRPr lang="en-US" sz="1000" dirty="0"/>
          </a:p>
        </p:txBody>
      </p:sp>
      <p:sp>
        <p:nvSpPr>
          <p:cNvPr id="32" name="Shape 29"/>
          <p:cNvSpPr/>
          <p:nvPr/>
        </p:nvSpPr>
        <p:spPr>
          <a:xfrm>
            <a:off x="2343607" y="2698394"/>
            <a:ext cx="1868119" cy="381305"/>
          </a:xfrm>
          <a:prstGeom prst="rect">
            <a:avLst/>
          </a:prstGeom>
          <a:solidFill>
            <a:srgbClr val="ECEDEF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2384755" y="2716682"/>
            <a:ext cx="1785823" cy="3447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9%</a:t>
            </a:r>
            <a:endParaRPr lang="en-US" sz="1000" dirty="0"/>
          </a:p>
        </p:txBody>
      </p:sp>
      <p:sp>
        <p:nvSpPr>
          <p:cNvPr id="34" name="Shape 31"/>
          <p:cNvSpPr/>
          <p:nvPr/>
        </p:nvSpPr>
        <p:spPr>
          <a:xfrm>
            <a:off x="4211726" y="2698394"/>
            <a:ext cx="1868119" cy="381305"/>
          </a:xfrm>
          <a:prstGeom prst="rect">
            <a:avLst/>
          </a:prstGeom>
          <a:solidFill>
            <a:srgbClr val="ECEDEF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4252874" y="2716682"/>
            <a:ext cx="1785823" cy="3447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0%</a:t>
            </a:r>
            <a:endParaRPr lang="en-US" sz="1000" dirty="0"/>
          </a:p>
        </p:txBody>
      </p:sp>
      <p:sp>
        <p:nvSpPr>
          <p:cNvPr id="36" name="Shape 33"/>
          <p:cNvSpPr/>
          <p:nvPr/>
        </p:nvSpPr>
        <p:spPr>
          <a:xfrm>
            <a:off x="6079846" y="2698394"/>
            <a:ext cx="1868119" cy="381305"/>
          </a:xfrm>
          <a:prstGeom prst="rect">
            <a:avLst/>
          </a:prstGeom>
          <a:solidFill>
            <a:srgbClr val="ECEDEF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6120994" y="2716682"/>
            <a:ext cx="1785823" cy="3447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0%</a:t>
            </a:r>
            <a:endParaRPr lang="en-US" sz="1000" dirty="0"/>
          </a:p>
        </p:txBody>
      </p:sp>
      <p:sp>
        <p:nvSpPr>
          <p:cNvPr id="38" name="Shape 35"/>
          <p:cNvSpPr/>
          <p:nvPr/>
        </p:nvSpPr>
        <p:spPr>
          <a:xfrm>
            <a:off x="7947965" y="2698394"/>
            <a:ext cx="1868119" cy="381305"/>
          </a:xfrm>
          <a:prstGeom prst="rect">
            <a:avLst/>
          </a:prstGeom>
          <a:solidFill>
            <a:srgbClr val="ECEDEF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7989113" y="2716682"/>
            <a:ext cx="1785823" cy="3447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91%</a:t>
            </a:r>
            <a:endParaRPr lang="en-US" sz="1000" dirty="0"/>
          </a:p>
        </p:txBody>
      </p:sp>
      <p:sp>
        <p:nvSpPr>
          <p:cNvPr id="40" name="Shape 37"/>
          <p:cNvSpPr/>
          <p:nvPr/>
        </p:nvSpPr>
        <p:spPr>
          <a:xfrm>
            <a:off x="9816084" y="2698394"/>
            <a:ext cx="1869948" cy="381305"/>
          </a:xfrm>
          <a:prstGeom prst="rect">
            <a:avLst/>
          </a:prstGeom>
          <a:solidFill>
            <a:srgbClr val="ECEDEF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9857232" y="2716682"/>
            <a:ext cx="1787652" cy="3447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0%</a:t>
            </a:r>
            <a:endParaRPr lang="en-US" sz="1000" dirty="0"/>
          </a:p>
        </p:txBody>
      </p:sp>
      <p:sp>
        <p:nvSpPr>
          <p:cNvPr id="42" name="Shape 39"/>
          <p:cNvSpPr/>
          <p:nvPr/>
        </p:nvSpPr>
        <p:spPr>
          <a:xfrm>
            <a:off x="475488" y="3079699"/>
            <a:ext cx="1868119" cy="381305"/>
          </a:xfrm>
          <a:prstGeom prst="rect">
            <a:avLst/>
          </a:prstGeom>
          <a:solidFill>
            <a:srgbClr val="F4F5F7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516636" y="3097987"/>
            <a:ext cx="1785823" cy="3447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Lucky Star Jewels</a:t>
            </a:r>
            <a:endParaRPr lang="en-US" sz="1000" dirty="0"/>
          </a:p>
        </p:txBody>
      </p:sp>
      <p:sp>
        <p:nvSpPr>
          <p:cNvPr id="44" name="Shape 41"/>
          <p:cNvSpPr/>
          <p:nvPr/>
        </p:nvSpPr>
        <p:spPr>
          <a:xfrm>
            <a:off x="2343607" y="3079699"/>
            <a:ext cx="1868119" cy="381305"/>
          </a:xfrm>
          <a:prstGeom prst="rect">
            <a:avLst/>
          </a:prstGeom>
          <a:solidFill>
            <a:srgbClr val="F4F5F7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45" name="Text 42"/>
          <p:cNvSpPr/>
          <p:nvPr/>
        </p:nvSpPr>
        <p:spPr>
          <a:xfrm>
            <a:off x="2384755" y="3097987"/>
            <a:ext cx="1785823" cy="3447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100%</a:t>
            </a:r>
            <a:endParaRPr lang="en-US" sz="1000" dirty="0"/>
          </a:p>
        </p:txBody>
      </p:sp>
      <p:sp>
        <p:nvSpPr>
          <p:cNvPr id="46" name="Shape 43"/>
          <p:cNvSpPr/>
          <p:nvPr/>
        </p:nvSpPr>
        <p:spPr>
          <a:xfrm>
            <a:off x="4211726" y="3079699"/>
            <a:ext cx="1868119" cy="381305"/>
          </a:xfrm>
          <a:prstGeom prst="rect">
            <a:avLst/>
          </a:prstGeom>
          <a:solidFill>
            <a:srgbClr val="F4F5F7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47" name="Text 44"/>
          <p:cNvSpPr/>
          <p:nvPr/>
        </p:nvSpPr>
        <p:spPr>
          <a:xfrm>
            <a:off x="4252874" y="3097987"/>
            <a:ext cx="1785823" cy="3447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0%</a:t>
            </a:r>
            <a:endParaRPr lang="en-US" sz="1000" dirty="0"/>
          </a:p>
        </p:txBody>
      </p:sp>
      <p:sp>
        <p:nvSpPr>
          <p:cNvPr id="48" name="Shape 45"/>
          <p:cNvSpPr/>
          <p:nvPr/>
        </p:nvSpPr>
        <p:spPr>
          <a:xfrm>
            <a:off x="6079846" y="3079699"/>
            <a:ext cx="1868119" cy="381305"/>
          </a:xfrm>
          <a:prstGeom prst="rect">
            <a:avLst/>
          </a:prstGeom>
          <a:solidFill>
            <a:srgbClr val="F4F5F7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49" name="Text 46"/>
          <p:cNvSpPr/>
          <p:nvPr/>
        </p:nvSpPr>
        <p:spPr>
          <a:xfrm>
            <a:off x="6120994" y="3097987"/>
            <a:ext cx="1785823" cy="3447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0%</a:t>
            </a:r>
            <a:endParaRPr lang="en-US" sz="1000" dirty="0"/>
          </a:p>
        </p:txBody>
      </p:sp>
      <p:sp>
        <p:nvSpPr>
          <p:cNvPr id="50" name="Shape 47"/>
          <p:cNvSpPr/>
          <p:nvPr/>
        </p:nvSpPr>
        <p:spPr>
          <a:xfrm>
            <a:off x="7947965" y="3079699"/>
            <a:ext cx="1868119" cy="381305"/>
          </a:xfrm>
          <a:prstGeom prst="rect">
            <a:avLst/>
          </a:prstGeom>
          <a:solidFill>
            <a:srgbClr val="F4F5F7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51" name="Text 48"/>
          <p:cNvSpPr/>
          <p:nvPr/>
        </p:nvSpPr>
        <p:spPr>
          <a:xfrm>
            <a:off x="7989113" y="3097987"/>
            <a:ext cx="1785823" cy="3447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0%</a:t>
            </a:r>
            <a:endParaRPr lang="en-US" sz="1000" dirty="0"/>
          </a:p>
        </p:txBody>
      </p:sp>
      <p:sp>
        <p:nvSpPr>
          <p:cNvPr id="52" name="Shape 49"/>
          <p:cNvSpPr/>
          <p:nvPr/>
        </p:nvSpPr>
        <p:spPr>
          <a:xfrm>
            <a:off x="9816084" y="3079699"/>
            <a:ext cx="1869948" cy="381305"/>
          </a:xfrm>
          <a:prstGeom prst="rect">
            <a:avLst/>
          </a:prstGeom>
          <a:solidFill>
            <a:srgbClr val="F4F5F7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53" name="Text 50"/>
          <p:cNvSpPr/>
          <p:nvPr/>
        </p:nvSpPr>
        <p:spPr>
          <a:xfrm>
            <a:off x="9857232" y="3097987"/>
            <a:ext cx="1787652" cy="3447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0%</a:t>
            </a:r>
            <a:endParaRPr lang="en-US" sz="1000" dirty="0"/>
          </a:p>
        </p:txBody>
      </p:sp>
      <p:sp>
        <p:nvSpPr>
          <p:cNvPr id="54" name="Shape 51"/>
          <p:cNvSpPr/>
          <p:nvPr/>
        </p:nvSpPr>
        <p:spPr>
          <a:xfrm>
            <a:off x="475488" y="3461004"/>
            <a:ext cx="1868119" cy="381305"/>
          </a:xfrm>
          <a:prstGeom prst="rect">
            <a:avLst/>
          </a:prstGeom>
          <a:solidFill>
            <a:srgbClr val="ECEDEF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55" name="Text 52"/>
          <p:cNvSpPr/>
          <p:nvPr/>
        </p:nvSpPr>
        <p:spPr>
          <a:xfrm>
            <a:off x="516636" y="3479292"/>
            <a:ext cx="1785823" cy="3447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Great Gatsby Broadway</a:t>
            </a:r>
            <a:endParaRPr lang="en-US" sz="1000" dirty="0"/>
          </a:p>
        </p:txBody>
      </p:sp>
      <p:sp>
        <p:nvSpPr>
          <p:cNvPr id="56" name="Shape 53"/>
          <p:cNvSpPr/>
          <p:nvPr/>
        </p:nvSpPr>
        <p:spPr>
          <a:xfrm>
            <a:off x="2343607" y="3461004"/>
            <a:ext cx="1868119" cy="381305"/>
          </a:xfrm>
          <a:prstGeom prst="rect">
            <a:avLst/>
          </a:prstGeom>
          <a:solidFill>
            <a:srgbClr val="ECEDEF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57" name="Text 54"/>
          <p:cNvSpPr/>
          <p:nvPr/>
        </p:nvSpPr>
        <p:spPr>
          <a:xfrm>
            <a:off x="2384755" y="3479292"/>
            <a:ext cx="1785823" cy="3447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4%</a:t>
            </a:r>
            <a:endParaRPr lang="en-US" sz="1000" dirty="0"/>
          </a:p>
        </p:txBody>
      </p:sp>
      <p:sp>
        <p:nvSpPr>
          <p:cNvPr id="58" name="Shape 55"/>
          <p:cNvSpPr/>
          <p:nvPr/>
        </p:nvSpPr>
        <p:spPr>
          <a:xfrm>
            <a:off x="4211726" y="3461004"/>
            <a:ext cx="1868119" cy="381305"/>
          </a:xfrm>
          <a:prstGeom prst="rect">
            <a:avLst/>
          </a:prstGeom>
          <a:solidFill>
            <a:srgbClr val="ECEDEF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59" name="Text 56"/>
          <p:cNvSpPr/>
          <p:nvPr/>
        </p:nvSpPr>
        <p:spPr>
          <a:xfrm>
            <a:off x="4252874" y="3479292"/>
            <a:ext cx="1785823" cy="3447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0%</a:t>
            </a:r>
            <a:endParaRPr lang="en-US" sz="1000" dirty="0"/>
          </a:p>
        </p:txBody>
      </p:sp>
      <p:sp>
        <p:nvSpPr>
          <p:cNvPr id="60" name="Shape 57"/>
          <p:cNvSpPr/>
          <p:nvPr/>
        </p:nvSpPr>
        <p:spPr>
          <a:xfrm>
            <a:off x="6079846" y="3461004"/>
            <a:ext cx="1868119" cy="381305"/>
          </a:xfrm>
          <a:prstGeom prst="rect">
            <a:avLst/>
          </a:prstGeom>
          <a:solidFill>
            <a:srgbClr val="ECEDEF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61" name="Text 58"/>
          <p:cNvSpPr/>
          <p:nvPr/>
        </p:nvSpPr>
        <p:spPr>
          <a:xfrm>
            <a:off x="6120994" y="3479292"/>
            <a:ext cx="1785823" cy="3447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12%</a:t>
            </a:r>
            <a:endParaRPr lang="en-US" sz="1000" dirty="0"/>
          </a:p>
        </p:txBody>
      </p:sp>
      <p:sp>
        <p:nvSpPr>
          <p:cNvPr id="62" name="Shape 59"/>
          <p:cNvSpPr/>
          <p:nvPr/>
        </p:nvSpPr>
        <p:spPr>
          <a:xfrm>
            <a:off x="7947965" y="3461004"/>
            <a:ext cx="1868119" cy="381305"/>
          </a:xfrm>
          <a:prstGeom prst="rect">
            <a:avLst/>
          </a:prstGeom>
          <a:solidFill>
            <a:srgbClr val="ECEDEF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63" name="Text 60"/>
          <p:cNvSpPr/>
          <p:nvPr/>
        </p:nvSpPr>
        <p:spPr>
          <a:xfrm>
            <a:off x="7989113" y="3479292"/>
            <a:ext cx="1785823" cy="3447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83%</a:t>
            </a:r>
            <a:endParaRPr lang="en-US" sz="1000" dirty="0"/>
          </a:p>
        </p:txBody>
      </p:sp>
      <p:sp>
        <p:nvSpPr>
          <p:cNvPr id="64" name="Shape 61"/>
          <p:cNvSpPr/>
          <p:nvPr/>
        </p:nvSpPr>
        <p:spPr>
          <a:xfrm>
            <a:off x="9816084" y="3461004"/>
            <a:ext cx="1869948" cy="381305"/>
          </a:xfrm>
          <a:prstGeom prst="rect">
            <a:avLst/>
          </a:prstGeom>
          <a:solidFill>
            <a:srgbClr val="ECEDEF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65" name="Text 62"/>
          <p:cNvSpPr/>
          <p:nvPr/>
        </p:nvSpPr>
        <p:spPr>
          <a:xfrm>
            <a:off x="9857232" y="3479292"/>
            <a:ext cx="1787652" cy="3447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1%</a:t>
            </a:r>
            <a:endParaRPr lang="en-US" sz="1000" dirty="0"/>
          </a:p>
        </p:txBody>
      </p:sp>
      <p:sp>
        <p:nvSpPr>
          <p:cNvPr id="66" name="Shape 63"/>
          <p:cNvSpPr/>
          <p:nvPr/>
        </p:nvSpPr>
        <p:spPr>
          <a:xfrm>
            <a:off x="475488" y="3842309"/>
            <a:ext cx="1868119" cy="381305"/>
          </a:xfrm>
          <a:prstGeom prst="rect">
            <a:avLst/>
          </a:prstGeom>
          <a:solidFill>
            <a:srgbClr val="F4F5F7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67" name="Text 64"/>
          <p:cNvSpPr/>
          <p:nvPr/>
        </p:nvSpPr>
        <p:spPr>
          <a:xfrm>
            <a:off x="516636" y="3860597"/>
            <a:ext cx="1785823" cy="3447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Spitfire Audio US (closing 29.05.2026)</a:t>
            </a:r>
            <a:endParaRPr lang="en-US" sz="1000" dirty="0"/>
          </a:p>
        </p:txBody>
      </p:sp>
      <p:sp>
        <p:nvSpPr>
          <p:cNvPr id="68" name="Shape 65"/>
          <p:cNvSpPr/>
          <p:nvPr/>
        </p:nvSpPr>
        <p:spPr>
          <a:xfrm>
            <a:off x="2343607" y="3842309"/>
            <a:ext cx="1868119" cy="381305"/>
          </a:xfrm>
          <a:prstGeom prst="rect">
            <a:avLst/>
          </a:prstGeom>
          <a:solidFill>
            <a:srgbClr val="F4F5F7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69" name="Text 66"/>
          <p:cNvSpPr/>
          <p:nvPr/>
        </p:nvSpPr>
        <p:spPr>
          <a:xfrm>
            <a:off x="2384755" y="3860597"/>
            <a:ext cx="1785823" cy="3447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17%</a:t>
            </a:r>
            <a:endParaRPr lang="en-US" sz="1000" dirty="0"/>
          </a:p>
        </p:txBody>
      </p:sp>
      <p:sp>
        <p:nvSpPr>
          <p:cNvPr id="70" name="Shape 67"/>
          <p:cNvSpPr/>
          <p:nvPr/>
        </p:nvSpPr>
        <p:spPr>
          <a:xfrm>
            <a:off x="4211726" y="3842309"/>
            <a:ext cx="1868119" cy="381305"/>
          </a:xfrm>
          <a:prstGeom prst="rect">
            <a:avLst/>
          </a:prstGeom>
          <a:solidFill>
            <a:srgbClr val="F4F5F7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71" name="Text 68"/>
          <p:cNvSpPr/>
          <p:nvPr/>
        </p:nvSpPr>
        <p:spPr>
          <a:xfrm>
            <a:off x="4252874" y="3860597"/>
            <a:ext cx="1785823" cy="3447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0%</a:t>
            </a:r>
            <a:endParaRPr lang="en-US" sz="1000" dirty="0"/>
          </a:p>
        </p:txBody>
      </p:sp>
      <p:sp>
        <p:nvSpPr>
          <p:cNvPr id="72" name="Shape 69"/>
          <p:cNvSpPr/>
          <p:nvPr/>
        </p:nvSpPr>
        <p:spPr>
          <a:xfrm>
            <a:off x="6079846" y="3842309"/>
            <a:ext cx="1868119" cy="381305"/>
          </a:xfrm>
          <a:prstGeom prst="rect">
            <a:avLst/>
          </a:prstGeom>
          <a:solidFill>
            <a:srgbClr val="F4F5F7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73" name="Text 70"/>
          <p:cNvSpPr/>
          <p:nvPr/>
        </p:nvSpPr>
        <p:spPr>
          <a:xfrm>
            <a:off x="6120994" y="3860597"/>
            <a:ext cx="1785823" cy="3447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20%</a:t>
            </a:r>
            <a:endParaRPr lang="en-US" sz="1000" dirty="0"/>
          </a:p>
        </p:txBody>
      </p:sp>
      <p:sp>
        <p:nvSpPr>
          <p:cNvPr id="74" name="Shape 71"/>
          <p:cNvSpPr/>
          <p:nvPr/>
        </p:nvSpPr>
        <p:spPr>
          <a:xfrm>
            <a:off x="7947965" y="3842309"/>
            <a:ext cx="1868119" cy="381305"/>
          </a:xfrm>
          <a:prstGeom prst="rect">
            <a:avLst/>
          </a:prstGeom>
          <a:solidFill>
            <a:srgbClr val="F4F5F7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75" name="Text 72"/>
          <p:cNvSpPr/>
          <p:nvPr/>
        </p:nvSpPr>
        <p:spPr>
          <a:xfrm>
            <a:off x="7989113" y="3860597"/>
            <a:ext cx="1785823" cy="3447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62%</a:t>
            </a:r>
            <a:endParaRPr lang="en-US" sz="1000" dirty="0"/>
          </a:p>
        </p:txBody>
      </p:sp>
      <p:sp>
        <p:nvSpPr>
          <p:cNvPr id="76" name="Shape 73"/>
          <p:cNvSpPr/>
          <p:nvPr/>
        </p:nvSpPr>
        <p:spPr>
          <a:xfrm>
            <a:off x="9816084" y="3842309"/>
            <a:ext cx="1869948" cy="381305"/>
          </a:xfrm>
          <a:prstGeom prst="rect">
            <a:avLst/>
          </a:prstGeom>
          <a:solidFill>
            <a:srgbClr val="F4F5F7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77" name="Text 74"/>
          <p:cNvSpPr/>
          <p:nvPr/>
        </p:nvSpPr>
        <p:spPr>
          <a:xfrm>
            <a:off x="9857232" y="3860597"/>
            <a:ext cx="1787652" cy="3447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1%</a:t>
            </a:r>
            <a:endParaRPr lang="en-US" sz="1000" dirty="0"/>
          </a:p>
        </p:txBody>
      </p:sp>
      <p:sp>
        <p:nvSpPr>
          <p:cNvPr id="78" name="Shape 75"/>
          <p:cNvSpPr/>
          <p:nvPr/>
        </p:nvSpPr>
        <p:spPr>
          <a:xfrm>
            <a:off x="475488" y="4223614"/>
            <a:ext cx="1868119" cy="381305"/>
          </a:xfrm>
          <a:prstGeom prst="rect">
            <a:avLst/>
          </a:prstGeom>
          <a:solidFill>
            <a:srgbClr val="ECEDEF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79" name="Text 76"/>
          <p:cNvSpPr/>
          <p:nvPr/>
        </p:nvSpPr>
        <p:spPr>
          <a:xfrm>
            <a:off x="516636" y="4241902"/>
            <a:ext cx="1785823" cy="3447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Phantom of the Opera - London (US affiliates)</a:t>
            </a:r>
            <a:endParaRPr lang="en-US" sz="1000" dirty="0"/>
          </a:p>
        </p:txBody>
      </p:sp>
      <p:sp>
        <p:nvSpPr>
          <p:cNvPr id="80" name="Shape 77"/>
          <p:cNvSpPr/>
          <p:nvPr/>
        </p:nvSpPr>
        <p:spPr>
          <a:xfrm>
            <a:off x="2343607" y="4223614"/>
            <a:ext cx="1868119" cy="381305"/>
          </a:xfrm>
          <a:prstGeom prst="rect">
            <a:avLst/>
          </a:prstGeom>
          <a:solidFill>
            <a:srgbClr val="ECEDEF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81" name="Text 78"/>
          <p:cNvSpPr/>
          <p:nvPr/>
        </p:nvSpPr>
        <p:spPr>
          <a:xfrm>
            <a:off x="2384755" y="4241902"/>
            <a:ext cx="1785823" cy="3447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2%</a:t>
            </a:r>
            <a:endParaRPr lang="en-US" sz="1000" dirty="0"/>
          </a:p>
        </p:txBody>
      </p:sp>
      <p:sp>
        <p:nvSpPr>
          <p:cNvPr id="82" name="Shape 79"/>
          <p:cNvSpPr/>
          <p:nvPr/>
        </p:nvSpPr>
        <p:spPr>
          <a:xfrm>
            <a:off x="4211726" y="4223614"/>
            <a:ext cx="1868119" cy="381305"/>
          </a:xfrm>
          <a:prstGeom prst="rect">
            <a:avLst/>
          </a:prstGeom>
          <a:solidFill>
            <a:srgbClr val="ECEDEF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83" name="Text 80"/>
          <p:cNvSpPr/>
          <p:nvPr/>
        </p:nvSpPr>
        <p:spPr>
          <a:xfrm>
            <a:off x="4252874" y="4241902"/>
            <a:ext cx="1785823" cy="3447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0%</a:t>
            </a:r>
            <a:endParaRPr lang="en-US" sz="1000" dirty="0"/>
          </a:p>
        </p:txBody>
      </p:sp>
      <p:sp>
        <p:nvSpPr>
          <p:cNvPr id="84" name="Shape 81"/>
          <p:cNvSpPr/>
          <p:nvPr/>
        </p:nvSpPr>
        <p:spPr>
          <a:xfrm>
            <a:off x="6079846" y="4223614"/>
            <a:ext cx="1868119" cy="381305"/>
          </a:xfrm>
          <a:prstGeom prst="rect">
            <a:avLst/>
          </a:prstGeom>
          <a:solidFill>
            <a:srgbClr val="ECEDEF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85" name="Text 82"/>
          <p:cNvSpPr/>
          <p:nvPr/>
        </p:nvSpPr>
        <p:spPr>
          <a:xfrm>
            <a:off x="6120994" y="4241902"/>
            <a:ext cx="1785823" cy="3447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77%</a:t>
            </a:r>
            <a:endParaRPr lang="en-US" sz="1000" dirty="0"/>
          </a:p>
        </p:txBody>
      </p:sp>
      <p:sp>
        <p:nvSpPr>
          <p:cNvPr id="86" name="Shape 83"/>
          <p:cNvSpPr/>
          <p:nvPr/>
        </p:nvSpPr>
        <p:spPr>
          <a:xfrm>
            <a:off x="7947965" y="4223614"/>
            <a:ext cx="1868119" cy="381305"/>
          </a:xfrm>
          <a:prstGeom prst="rect">
            <a:avLst/>
          </a:prstGeom>
          <a:solidFill>
            <a:srgbClr val="ECEDEF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87" name="Text 84"/>
          <p:cNvSpPr/>
          <p:nvPr/>
        </p:nvSpPr>
        <p:spPr>
          <a:xfrm>
            <a:off x="7989113" y="4241902"/>
            <a:ext cx="1785823" cy="3447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21%</a:t>
            </a:r>
            <a:endParaRPr lang="en-US" sz="1000" dirty="0"/>
          </a:p>
        </p:txBody>
      </p:sp>
      <p:sp>
        <p:nvSpPr>
          <p:cNvPr id="88" name="Shape 85"/>
          <p:cNvSpPr/>
          <p:nvPr/>
        </p:nvSpPr>
        <p:spPr>
          <a:xfrm>
            <a:off x="9816084" y="4223614"/>
            <a:ext cx="1869948" cy="381305"/>
          </a:xfrm>
          <a:prstGeom prst="rect">
            <a:avLst/>
          </a:prstGeom>
          <a:solidFill>
            <a:srgbClr val="ECEDEF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89" name="Text 86"/>
          <p:cNvSpPr/>
          <p:nvPr/>
        </p:nvSpPr>
        <p:spPr>
          <a:xfrm>
            <a:off x="9857232" y="4241902"/>
            <a:ext cx="1787652" cy="3447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0%</a:t>
            </a:r>
            <a:endParaRPr lang="en-US" sz="1000" dirty="0"/>
          </a:p>
        </p:txBody>
      </p:sp>
      <p:sp>
        <p:nvSpPr>
          <p:cNvPr id="90" name="Shape 87"/>
          <p:cNvSpPr/>
          <p:nvPr/>
        </p:nvSpPr>
        <p:spPr>
          <a:xfrm>
            <a:off x="475488" y="4604918"/>
            <a:ext cx="1868119" cy="381305"/>
          </a:xfrm>
          <a:prstGeom prst="rect">
            <a:avLst/>
          </a:prstGeom>
          <a:solidFill>
            <a:srgbClr val="F4F5F7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91" name="Text 88"/>
          <p:cNvSpPr/>
          <p:nvPr/>
        </p:nvSpPr>
        <p:spPr>
          <a:xfrm>
            <a:off x="516636" y="4623206"/>
            <a:ext cx="1785823" cy="3447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Atlanta Braves</a:t>
            </a:r>
            <a:endParaRPr lang="en-US" sz="1000" dirty="0"/>
          </a:p>
        </p:txBody>
      </p:sp>
      <p:sp>
        <p:nvSpPr>
          <p:cNvPr id="92" name="Shape 89"/>
          <p:cNvSpPr/>
          <p:nvPr/>
        </p:nvSpPr>
        <p:spPr>
          <a:xfrm>
            <a:off x="2343607" y="4604918"/>
            <a:ext cx="1868119" cy="381305"/>
          </a:xfrm>
          <a:prstGeom prst="rect">
            <a:avLst/>
          </a:prstGeom>
          <a:solidFill>
            <a:srgbClr val="F4F5F7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93" name="Text 90"/>
          <p:cNvSpPr/>
          <p:nvPr/>
        </p:nvSpPr>
        <p:spPr>
          <a:xfrm>
            <a:off x="2384755" y="4623206"/>
            <a:ext cx="1785823" cy="3447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100%</a:t>
            </a:r>
            <a:endParaRPr lang="en-US" sz="1000" dirty="0"/>
          </a:p>
        </p:txBody>
      </p:sp>
      <p:sp>
        <p:nvSpPr>
          <p:cNvPr id="94" name="Shape 91"/>
          <p:cNvSpPr/>
          <p:nvPr/>
        </p:nvSpPr>
        <p:spPr>
          <a:xfrm>
            <a:off x="4211726" y="4604918"/>
            <a:ext cx="1868119" cy="381305"/>
          </a:xfrm>
          <a:prstGeom prst="rect">
            <a:avLst/>
          </a:prstGeom>
          <a:solidFill>
            <a:srgbClr val="F4F5F7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95" name="Text 92"/>
          <p:cNvSpPr/>
          <p:nvPr/>
        </p:nvSpPr>
        <p:spPr>
          <a:xfrm>
            <a:off x="4252874" y="4623206"/>
            <a:ext cx="1785823" cy="3447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0%</a:t>
            </a:r>
            <a:endParaRPr lang="en-US" sz="1000" dirty="0"/>
          </a:p>
        </p:txBody>
      </p:sp>
      <p:sp>
        <p:nvSpPr>
          <p:cNvPr id="96" name="Shape 93"/>
          <p:cNvSpPr/>
          <p:nvPr/>
        </p:nvSpPr>
        <p:spPr>
          <a:xfrm>
            <a:off x="6079846" y="4604918"/>
            <a:ext cx="1868119" cy="381305"/>
          </a:xfrm>
          <a:prstGeom prst="rect">
            <a:avLst/>
          </a:prstGeom>
          <a:solidFill>
            <a:srgbClr val="F4F5F7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97" name="Text 94"/>
          <p:cNvSpPr/>
          <p:nvPr/>
        </p:nvSpPr>
        <p:spPr>
          <a:xfrm>
            <a:off x="6120994" y="4623206"/>
            <a:ext cx="1785823" cy="3447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0%</a:t>
            </a:r>
            <a:endParaRPr lang="en-US" sz="1000" dirty="0"/>
          </a:p>
        </p:txBody>
      </p:sp>
      <p:sp>
        <p:nvSpPr>
          <p:cNvPr id="98" name="Shape 95"/>
          <p:cNvSpPr/>
          <p:nvPr/>
        </p:nvSpPr>
        <p:spPr>
          <a:xfrm>
            <a:off x="7947965" y="4604918"/>
            <a:ext cx="1868119" cy="381305"/>
          </a:xfrm>
          <a:prstGeom prst="rect">
            <a:avLst/>
          </a:prstGeom>
          <a:solidFill>
            <a:srgbClr val="F4F5F7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99" name="Text 96"/>
          <p:cNvSpPr/>
          <p:nvPr/>
        </p:nvSpPr>
        <p:spPr>
          <a:xfrm>
            <a:off x="7989113" y="4623206"/>
            <a:ext cx="1785823" cy="3447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0%</a:t>
            </a:r>
            <a:endParaRPr lang="en-US" sz="1000" dirty="0"/>
          </a:p>
        </p:txBody>
      </p:sp>
      <p:sp>
        <p:nvSpPr>
          <p:cNvPr id="100" name="Shape 97"/>
          <p:cNvSpPr/>
          <p:nvPr/>
        </p:nvSpPr>
        <p:spPr>
          <a:xfrm>
            <a:off x="9816084" y="4604918"/>
            <a:ext cx="1869948" cy="381305"/>
          </a:xfrm>
          <a:prstGeom prst="rect">
            <a:avLst/>
          </a:prstGeom>
          <a:solidFill>
            <a:srgbClr val="F4F5F7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01" name="Text 98"/>
          <p:cNvSpPr/>
          <p:nvPr/>
        </p:nvSpPr>
        <p:spPr>
          <a:xfrm>
            <a:off x="9857232" y="4623206"/>
            <a:ext cx="1787652" cy="3447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0%</a:t>
            </a:r>
            <a:endParaRPr lang="en-US" sz="1000" dirty="0"/>
          </a:p>
        </p:txBody>
      </p:sp>
      <p:sp>
        <p:nvSpPr>
          <p:cNvPr id="102" name="Shape 99"/>
          <p:cNvSpPr/>
          <p:nvPr/>
        </p:nvSpPr>
        <p:spPr>
          <a:xfrm>
            <a:off x="475488" y="4986223"/>
            <a:ext cx="1868119" cy="381305"/>
          </a:xfrm>
          <a:prstGeom prst="rect">
            <a:avLst/>
          </a:prstGeom>
          <a:solidFill>
            <a:srgbClr val="ECEDEF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03" name="Text 100"/>
          <p:cNvSpPr/>
          <p:nvPr/>
        </p:nvSpPr>
        <p:spPr>
          <a:xfrm>
            <a:off x="516636" y="5004511"/>
            <a:ext cx="1785823" cy="3447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Abba Voyage (US Affiliates)</a:t>
            </a:r>
            <a:endParaRPr lang="en-US" sz="1000" dirty="0"/>
          </a:p>
        </p:txBody>
      </p:sp>
      <p:sp>
        <p:nvSpPr>
          <p:cNvPr id="104" name="Shape 101"/>
          <p:cNvSpPr/>
          <p:nvPr/>
        </p:nvSpPr>
        <p:spPr>
          <a:xfrm>
            <a:off x="2343607" y="4986223"/>
            <a:ext cx="1868119" cy="381305"/>
          </a:xfrm>
          <a:prstGeom prst="rect">
            <a:avLst/>
          </a:prstGeom>
          <a:solidFill>
            <a:srgbClr val="ECEDEF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05" name="Text 102"/>
          <p:cNvSpPr/>
          <p:nvPr/>
        </p:nvSpPr>
        <p:spPr>
          <a:xfrm>
            <a:off x="2384755" y="5004511"/>
            <a:ext cx="1785823" cy="3447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6%</a:t>
            </a:r>
            <a:endParaRPr lang="en-US" sz="1000" dirty="0"/>
          </a:p>
        </p:txBody>
      </p:sp>
      <p:sp>
        <p:nvSpPr>
          <p:cNvPr id="106" name="Shape 103"/>
          <p:cNvSpPr/>
          <p:nvPr/>
        </p:nvSpPr>
        <p:spPr>
          <a:xfrm>
            <a:off x="4211726" y="4986223"/>
            <a:ext cx="1868119" cy="381305"/>
          </a:xfrm>
          <a:prstGeom prst="rect">
            <a:avLst/>
          </a:prstGeom>
          <a:solidFill>
            <a:srgbClr val="ECEDEF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07" name="Text 104"/>
          <p:cNvSpPr/>
          <p:nvPr/>
        </p:nvSpPr>
        <p:spPr>
          <a:xfrm>
            <a:off x="4252874" y="5004511"/>
            <a:ext cx="1785823" cy="3447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49%</a:t>
            </a:r>
            <a:endParaRPr lang="en-US" sz="1000" dirty="0"/>
          </a:p>
        </p:txBody>
      </p:sp>
      <p:sp>
        <p:nvSpPr>
          <p:cNvPr id="108" name="Shape 105"/>
          <p:cNvSpPr/>
          <p:nvPr/>
        </p:nvSpPr>
        <p:spPr>
          <a:xfrm>
            <a:off x="6079846" y="4986223"/>
            <a:ext cx="1868119" cy="381305"/>
          </a:xfrm>
          <a:prstGeom prst="rect">
            <a:avLst/>
          </a:prstGeom>
          <a:solidFill>
            <a:srgbClr val="ECEDEF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09" name="Text 106"/>
          <p:cNvSpPr/>
          <p:nvPr/>
        </p:nvSpPr>
        <p:spPr>
          <a:xfrm>
            <a:off x="6120994" y="5004511"/>
            <a:ext cx="1785823" cy="3447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0%</a:t>
            </a:r>
            <a:endParaRPr lang="en-US" sz="1000" dirty="0"/>
          </a:p>
        </p:txBody>
      </p:sp>
      <p:sp>
        <p:nvSpPr>
          <p:cNvPr id="110" name="Shape 107"/>
          <p:cNvSpPr/>
          <p:nvPr/>
        </p:nvSpPr>
        <p:spPr>
          <a:xfrm>
            <a:off x="7947965" y="4986223"/>
            <a:ext cx="1868119" cy="381305"/>
          </a:xfrm>
          <a:prstGeom prst="rect">
            <a:avLst/>
          </a:prstGeom>
          <a:solidFill>
            <a:srgbClr val="ECEDEF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11" name="Text 108"/>
          <p:cNvSpPr/>
          <p:nvPr/>
        </p:nvSpPr>
        <p:spPr>
          <a:xfrm>
            <a:off x="7989113" y="5004511"/>
            <a:ext cx="1785823" cy="3447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45%</a:t>
            </a:r>
            <a:endParaRPr lang="en-US" sz="1000" dirty="0"/>
          </a:p>
        </p:txBody>
      </p:sp>
      <p:sp>
        <p:nvSpPr>
          <p:cNvPr id="112" name="Shape 109"/>
          <p:cNvSpPr/>
          <p:nvPr/>
        </p:nvSpPr>
        <p:spPr>
          <a:xfrm>
            <a:off x="9816084" y="4986223"/>
            <a:ext cx="1869948" cy="381305"/>
          </a:xfrm>
          <a:prstGeom prst="rect">
            <a:avLst/>
          </a:prstGeom>
          <a:solidFill>
            <a:srgbClr val="ECEDEF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13" name="Text 110"/>
          <p:cNvSpPr/>
          <p:nvPr/>
        </p:nvSpPr>
        <p:spPr>
          <a:xfrm>
            <a:off x="9857232" y="5004511"/>
            <a:ext cx="1787652" cy="3447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0%</a:t>
            </a:r>
            <a:endParaRPr lang="en-US" sz="1000" dirty="0"/>
          </a:p>
        </p:txBody>
      </p:sp>
      <p:sp>
        <p:nvSpPr>
          <p:cNvPr id="114" name="Shape 111"/>
          <p:cNvSpPr/>
          <p:nvPr/>
        </p:nvSpPr>
        <p:spPr>
          <a:xfrm>
            <a:off x="475488" y="5367528"/>
            <a:ext cx="1868119" cy="381305"/>
          </a:xfrm>
          <a:prstGeom prst="rect">
            <a:avLst/>
          </a:prstGeom>
          <a:solidFill>
            <a:srgbClr val="F4F5F7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15" name="Text 112"/>
          <p:cNvSpPr/>
          <p:nvPr/>
        </p:nvSpPr>
        <p:spPr>
          <a:xfrm>
            <a:off x="516636" y="5385816"/>
            <a:ext cx="1785823" cy="3447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New York Yankees Limited Partnership</a:t>
            </a:r>
            <a:endParaRPr lang="en-US" sz="1000" dirty="0"/>
          </a:p>
        </p:txBody>
      </p:sp>
      <p:sp>
        <p:nvSpPr>
          <p:cNvPr id="116" name="Shape 113"/>
          <p:cNvSpPr/>
          <p:nvPr/>
        </p:nvSpPr>
        <p:spPr>
          <a:xfrm>
            <a:off x="2343607" y="5367528"/>
            <a:ext cx="1868119" cy="381305"/>
          </a:xfrm>
          <a:prstGeom prst="rect">
            <a:avLst/>
          </a:prstGeom>
          <a:solidFill>
            <a:srgbClr val="F4F5F7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17" name="Text 114"/>
          <p:cNvSpPr/>
          <p:nvPr/>
        </p:nvSpPr>
        <p:spPr>
          <a:xfrm>
            <a:off x="2384755" y="5385816"/>
            <a:ext cx="1785823" cy="3447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0%</a:t>
            </a:r>
            <a:endParaRPr lang="en-US" sz="1000" dirty="0"/>
          </a:p>
        </p:txBody>
      </p:sp>
      <p:sp>
        <p:nvSpPr>
          <p:cNvPr id="118" name="Shape 115"/>
          <p:cNvSpPr/>
          <p:nvPr/>
        </p:nvSpPr>
        <p:spPr>
          <a:xfrm>
            <a:off x="4211726" y="5367528"/>
            <a:ext cx="1868119" cy="381305"/>
          </a:xfrm>
          <a:prstGeom prst="rect">
            <a:avLst/>
          </a:prstGeom>
          <a:solidFill>
            <a:srgbClr val="F4F5F7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19" name="Text 116"/>
          <p:cNvSpPr/>
          <p:nvPr/>
        </p:nvSpPr>
        <p:spPr>
          <a:xfrm>
            <a:off x="4252874" y="5385816"/>
            <a:ext cx="1785823" cy="3447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4%</a:t>
            </a:r>
            <a:endParaRPr lang="en-US" sz="1000" dirty="0"/>
          </a:p>
        </p:txBody>
      </p:sp>
      <p:sp>
        <p:nvSpPr>
          <p:cNvPr id="120" name="Shape 117"/>
          <p:cNvSpPr/>
          <p:nvPr/>
        </p:nvSpPr>
        <p:spPr>
          <a:xfrm>
            <a:off x="6079846" y="5367528"/>
            <a:ext cx="1868119" cy="381305"/>
          </a:xfrm>
          <a:prstGeom prst="rect">
            <a:avLst/>
          </a:prstGeom>
          <a:solidFill>
            <a:srgbClr val="F4F5F7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21" name="Text 118"/>
          <p:cNvSpPr/>
          <p:nvPr/>
        </p:nvSpPr>
        <p:spPr>
          <a:xfrm>
            <a:off x="6120994" y="5385816"/>
            <a:ext cx="1785823" cy="3447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0%</a:t>
            </a:r>
            <a:endParaRPr lang="en-US" sz="1000" dirty="0"/>
          </a:p>
        </p:txBody>
      </p:sp>
      <p:sp>
        <p:nvSpPr>
          <p:cNvPr id="122" name="Shape 119"/>
          <p:cNvSpPr/>
          <p:nvPr/>
        </p:nvSpPr>
        <p:spPr>
          <a:xfrm>
            <a:off x="7947965" y="5367528"/>
            <a:ext cx="1868119" cy="381305"/>
          </a:xfrm>
          <a:prstGeom prst="rect">
            <a:avLst/>
          </a:prstGeom>
          <a:solidFill>
            <a:srgbClr val="F4F5F7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23" name="Text 120"/>
          <p:cNvSpPr/>
          <p:nvPr/>
        </p:nvSpPr>
        <p:spPr>
          <a:xfrm>
            <a:off x="7989113" y="5385816"/>
            <a:ext cx="1785823" cy="3447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92%</a:t>
            </a:r>
            <a:endParaRPr lang="en-US" sz="1000" dirty="0"/>
          </a:p>
        </p:txBody>
      </p:sp>
      <p:sp>
        <p:nvSpPr>
          <p:cNvPr id="124" name="Shape 121"/>
          <p:cNvSpPr/>
          <p:nvPr/>
        </p:nvSpPr>
        <p:spPr>
          <a:xfrm>
            <a:off x="9816084" y="5367528"/>
            <a:ext cx="1869948" cy="381305"/>
          </a:xfrm>
          <a:prstGeom prst="rect">
            <a:avLst/>
          </a:prstGeom>
          <a:solidFill>
            <a:srgbClr val="F4F5F7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25" name="Text 122"/>
          <p:cNvSpPr/>
          <p:nvPr/>
        </p:nvSpPr>
        <p:spPr>
          <a:xfrm>
            <a:off x="9857232" y="5385816"/>
            <a:ext cx="1787652" cy="3447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4%</a:t>
            </a:r>
            <a:endParaRPr lang="en-US" sz="1000" dirty="0"/>
          </a:p>
        </p:txBody>
      </p:sp>
      <p:sp>
        <p:nvSpPr>
          <p:cNvPr id="126" name="Shape 123"/>
          <p:cNvSpPr/>
          <p:nvPr/>
        </p:nvSpPr>
        <p:spPr>
          <a:xfrm>
            <a:off x="475488" y="5748833"/>
            <a:ext cx="1868119" cy="381305"/>
          </a:xfrm>
          <a:prstGeom prst="rect">
            <a:avLst/>
          </a:prstGeom>
          <a:solidFill>
            <a:srgbClr val="ECEDEF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27" name="Text 124"/>
          <p:cNvSpPr/>
          <p:nvPr/>
        </p:nvSpPr>
        <p:spPr>
          <a:xfrm>
            <a:off x="516636" y="5767121"/>
            <a:ext cx="1785823" cy="3447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Cosm</a:t>
            </a:r>
            <a:endParaRPr lang="en-US" sz="1000" dirty="0"/>
          </a:p>
        </p:txBody>
      </p:sp>
      <p:sp>
        <p:nvSpPr>
          <p:cNvPr id="128" name="Shape 125"/>
          <p:cNvSpPr/>
          <p:nvPr/>
        </p:nvSpPr>
        <p:spPr>
          <a:xfrm>
            <a:off x="2343607" y="5748833"/>
            <a:ext cx="1868119" cy="381305"/>
          </a:xfrm>
          <a:prstGeom prst="rect">
            <a:avLst/>
          </a:prstGeom>
          <a:solidFill>
            <a:srgbClr val="ECEDEF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29" name="Text 126"/>
          <p:cNvSpPr/>
          <p:nvPr/>
        </p:nvSpPr>
        <p:spPr>
          <a:xfrm>
            <a:off x="2384755" y="5767121"/>
            <a:ext cx="1785823" cy="3447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0%</a:t>
            </a:r>
            <a:endParaRPr lang="en-US" sz="1000" dirty="0"/>
          </a:p>
        </p:txBody>
      </p:sp>
      <p:sp>
        <p:nvSpPr>
          <p:cNvPr id="130" name="Shape 127"/>
          <p:cNvSpPr/>
          <p:nvPr/>
        </p:nvSpPr>
        <p:spPr>
          <a:xfrm>
            <a:off x="4211726" y="5748833"/>
            <a:ext cx="1868119" cy="381305"/>
          </a:xfrm>
          <a:prstGeom prst="rect">
            <a:avLst/>
          </a:prstGeom>
          <a:solidFill>
            <a:srgbClr val="ECEDEF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31" name="Text 128"/>
          <p:cNvSpPr/>
          <p:nvPr/>
        </p:nvSpPr>
        <p:spPr>
          <a:xfrm>
            <a:off x="4252874" y="5767121"/>
            <a:ext cx="1785823" cy="3447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3%</a:t>
            </a:r>
            <a:endParaRPr lang="en-US" sz="1000" dirty="0"/>
          </a:p>
        </p:txBody>
      </p:sp>
      <p:sp>
        <p:nvSpPr>
          <p:cNvPr id="132" name="Shape 129"/>
          <p:cNvSpPr/>
          <p:nvPr/>
        </p:nvSpPr>
        <p:spPr>
          <a:xfrm>
            <a:off x="6079846" y="5748833"/>
            <a:ext cx="1868119" cy="381305"/>
          </a:xfrm>
          <a:prstGeom prst="rect">
            <a:avLst/>
          </a:prstGeom>
          <a:solidFill>
            <a:srgbClr val="ECEDEF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33" name="Text 130"/>
          <p:cNvSpPr/>
          <p:nvPr/>
        </p:nvSpPr>
        <p:spPr>
          <a:xfrm>
            <a:off x="6120994" y="5767121"/>
            <a:ext cx="1785823" cy="3447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0%</a:t>
            </a:r>
            <a:endParaRPr lang="en-US" sz="1000" dirty="0"/>
          </a:p>
        </p:txBody>
      </p:sp>
      <p:sp>
        <p:nvSpPr>
          <p:cNvPr id="134" name="Shape 131"/>
          <p:cNvSpPr/>
          <p:nvPr/>
        </p:nvSpPr>
        <p:spPr>
          <a:xfrm>
            <a:off x="7947965" y="5748833"/>
            <a:ext cx="1868119" cy="381305"/>
          </a:xfrm>
          <a:prstGeom prst="rect">
            <a:avLst/>
          </a:prstGeom>
          <a:solidFill>
            <a:srgbClr val="ECEDEF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35" name="Text 132"/>
          <p:cNvSpPr/>
          <p:nvPr/>
        </p:nvSpPr>
        <p:spPr>
          <a:xfrm>
            <a:off x="7989113" y="5767121"/>
            <a:ext cx="1785823" cy="3447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97%</a:t>
            </a:r>
            <a:endParaRPr lang="en-US" sz="1000" dirty="0"/>
          </a:p>
        </p:txBody>
      </p:sp>
      <p:sp>
        <p:nvSpPr>
          <p:cNvPr id="136" name="Shape 133"/>
          <p:cNvSpPr/>
          <p:nvPr/>
        </p:nvSpPr>
        <p:spPr>
          <a:xfrm>
            <a:off x="9816084" y="5748833"/>
            <a:ext cx="1869948" cy="381305"/>
          </a:xfrm>
          <a:prstGeom prst="rect">
            <a:avLst/>
          </a:prstGeom>
          <a:solidFill>
            <a:srgbClr val="ECEDEF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37" name="Text 134"/>
          <p:cNvSpPr/>
          <p:nvPr/>
        </p:nvSpPr>
        <p:spPr>
          <a:xfrm>
            <a:off x="9857232" y="5767121"/>
            <a:ext cx="1787652" cy="3447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0%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publisher-qbr\assets\qbr-bg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Top 10 Newly Activated Programs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640080" y="131673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F6F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Programmes activated for the first time in the current period.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365760" y="1783080"/>
            <a:ext cx="11430000" cy="4401922"/>
          </a:xfrm>
          <a:prstGeom prst="rect">
            <a:avLst/>
          </a:prstGeom>
          <a:solidFill>
            <a:srgbClr val="F3F4F6"/>
          </a:solidFill>
          <a:ln w="12700">
            <a:solidFill>
              <a:srgbClr val="D6DAE3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75488" y="1874520"/>
            <a:ext cx="1601114" cy="442570"/>
          </a:xfrm>
          <a:prstGeom prst="rect">
            <a:avLst/>
          </a:prstGeom>
          <a:solidFill>
            <a:srgbClr val="F1F3F7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16636" y="1892808"/>
            <a:ext cx="1518818" cy="4059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 ID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2076602" y="1874520"/>
            <a:ext cx="1601114" cy="442570"/>
          </a:xfrm>
          <a:prstGeom prst="rect">
            <a:avLst/>
          </a:prstGeom>
          <a:solidFill>
            <a:srgbClr val="F1F3F7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2117750" y="1892808"/>
            <a:ext cx="1518818" cy="4059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 Name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3677717" y="1874520"/>
            <a:ext cx="1601114" cy="442570"/>
          </a:xfrm>
          <a:prstGeom prst="rect">
            <a:avLst/>
          </a:prstGeom>
          <a:solidFill>
            <a:srgbClr val="F1F3F7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3718865" y="1892808"/>
            <a:ext cx="1518818" cy="4059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Conversions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5278831" y="1874520"/>
            <a:ext cx="1601114" cy="442570"/>
          </a:xfrm>
          <a:prstGeom prst="rect">
            <a:avLst/>
          </a:prstGeom>
          <a:solidFill>
            <a:srgbClr val="F1F3F7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319979" y="1892808"/>
            <a:ext cx="1518818" cy="4059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Order Value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6879946" y="1874520"/>
            <a:ext cx="1601114" cy="442570"/>
          </a:xfrm>
          <a:prstGeom prst="rect">
            <a:avLst/>
          </a:prstGeom>
          <a:solidFill>
            <a:srgbClr val="F1F3F7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921094" y="1892808"/>
            <a:ext cx="1518818" cy="4059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Publisher Commission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8481060" y="1874520"/>
            <a:ext cx="1601114" cy="442570"/>
          </a:xfrm>
          <a:prstGeom prst="rect">
            <a:avLst/>
          </a:prstGeom>
          <a:solidFill>
            <a:srgbClr val="F1F3F7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8522208" y="1892808"/>
            <a:ext cx="1518818" cy="4059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Digital Wallet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10082174" y="1874520"/>
            <a:ext cx="1603858" cy="442570"/>
          </a:xfrm>
          <a:prstGeom prst="rect">
            <a:avLst/>
          </a:prstGeom>
          <a:solidFill>
            <a:srgbClr val="F1F3F7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10123322" y="1892808"/>
            <a:ext cx="1521562" cy="4059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Total Earnings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475488" y="2317090"/>
            <a:ext cx="1601114" cy="381305"/>
          </a:xfrm>
          <a:prstGeom prst="rect">
            <a:avLst/>
          </a:prstGeom>
          <a:solidFill>
            <a:srgbClr val="F4F5F7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516636" y="2335378"/>
            <a:ext cx="1518818" cy="3447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383123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2076602" y="2317090"/>
            <a:ext cx="1601114" cy="381305"/>
          </a:xfrm>
          <a:prstGeom prst="rect">
            <a:avLst/>
          </a:prstGeom>
          <a:solidFill>
            <a:srgbClr val="F4F5F7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2117750" y="2335378"/>
            <a:ext cx="1518818" cy="3447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Lucky Star Jewels</a:t>
            </a:r>
            <a:endParaRPr lang="en-US" sz="1000" dirty="0"/>
          </a:p>
        </p:txBody>
      </p:sp>
      <p:sp>
        <p:nvSpPr>
          <p:cNvPr id="24" name="Shape 21"/>
          <p:cNvSpPr/>
          <p:nvPr/>
        </p:nvSpPr>
        <p:spPr>
          <a:xfrm>
            <a:off x="3677717" y="2317090"/>
            <a:ext cx="1601114" cy="381305"/>
          </a:xfrm>
          <a:prstGeom prst="rect">
            <a:avLst/>
          </a:prstGeom>
          <a:solidFill>
            <a:srgbClr val="F4F5F7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3718865" y="2335378"/>
            <a:ext cx="1518818" cy="3447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000" dirty="0"/>
          </a:p>
        </p:txBody>
      </p:sp>
      <p:sp>
        <p:nvSpPr>
          <p:cNvPr id="26" name="Shape 23"/>
          <p:cNvSpPr/>
          <p:nvPr/>
        </p:nvSpPr>
        <p:spPr>
          <a:xfrm>
            <a:off x="5278831" y="2317090"/>
            <a:ext cx="1601114" cy="381305"/>
          </a:xfrm>
          <a:prstGeom prst="rect">
            <a:avLst/>
          </a:prstGeom>
          <a:solidFill>
            <a:srgbClr val="F4F5F7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5319979" y="2335378"/>
            <a:ext cx="1518818" cy="3447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$260</a:t>
            </a:r>
            <a:endParaRPr lang="en-US" sz="1000" dirty="0"/>
          </a:p>
        </p:txBody>
      </p:sp>
      <p:sp>
        <p:nvSpPr>
          <p:cNvPr id="28" name="Shape 25"/>
          <p:cNvSpPr/>
          <p:nvPr/>
        </p:nvSpPr>
        <p:spPr>
          <a:xfrm>
            <a:off x="6879946" y="2317090"/>
            <a:ext cx="1601114" cy="381305"/>
          </a:xfrm>
          <a:prstGeom prst="rect">
            <a:avLst/>
          </a:prstGeom>
          <a:solidFill>
            <a:srgbClr val="F4F5F7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6921094" y="2335378"/>
            <a:ext cx="1518818" cy="3447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$26</a:t>
            </a:r>
            <a:endParaRPr lang="en-US" sz="1000" dirty="0"/>
          </a:p>
        </p:txBody>
      </p:sp>
      <p:sp>
        <p:nvSpPr>
          <p:cNvPr id="30" name="Shape 27"/>
          <p:cNvSpPr/>
          <p:nvPr/>
        </p:nvSpPr>
        <p:spPr>
          <a:xfrm>
            <a:off x="8481060" y="2317090"/>
            <a:ext cx="1601114" cy="381305"/>
          </a:xfrm>
          <a:prstGeom prst="rect">
            <a:avLst/>
          </a:prstGeom>
          <a:solidFill>
            <a:srgbClr val="F4F5F7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8522208" y="2335378"/>
            <a:ext cx="1518818" cy="3447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$0</a:t>
            </a:r>
            <a:endParaRPr lang="en-US" sz="1000" dirty="0"/>
          </a:p>
        </p:txBody>
      </p:sp>
      <p:sp>
        <p:nvSpPr>
          <p:cNvPr id="32" name="Shape 29"/>
          <p:cNvSpPr/>
          <p:nvPr/>
        </p:nvSpPr>
        <p:spPr>
          <a:xfrm>
            <a:off x="10082174" y="2317090"/>
            <a:ext cx="1603858" cy="381305"/>
          </a:xfrm>
          <a:prstGeom prst="rect">
            <a:avLst/>
          </a:prstGeom>
          <a:solidFill>
            <a:srgbClr val="F4F5F7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10123322" y="2335378"/>
            <a:ext cx="1521562" cy="3447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$26</a:t>
            </a:r>
            <a:endParaRPr lang="en-US" sz="1000" dirty="0"/>
          </a:p>
        </p:txBody>
      </p:sp>
      <p:sp>
        <p:nvSpPr>
          <p:cNvPr id="34" name="Shape 31"/>
          <p:cNvSpPr/>
          <p:nvPr/>
        </p:nvSpPr>
        <p:spPr>
          <a:xfrm>
            <a:off x="475488" y="2698394"/>
            <a:ext cx="1601114" cy="381305"/>
          </a:xfrm>
          <a:prstGeom prst="rect">
            <a:avLst/>
          </a:prstGeom>
          <a:solidFill>
            <a:srgbClr val="ECEDEF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516636" y="2716682"/>
            <a:ext cx="1518818" cy="3447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384454</a:t>
            </a:r>
            <a:endParaRPr lang="en-US" sz="1000" dirty="0"/>
          </a:p>
        </p:txBody>
      </p:sp>
      <p:sp>
        <p:nvSpPr>
          <p:cNvPr id="36" name="Shape 33"/>
          <p:cNvSpPr/>
          <p:nvPr/>
        </p:nvSpPr>
        <p:spPr>
          <a:xfrm>
            <a:off x="2076602" y="2698394"/>
            <a:ext cx="1601114" cy="381305"/>
          </a:xfrm>
          <a:prstGeom prst="rect">
            <a:avLst/>
          </a:prstGeom>
          <a:solidFill>
            <a:srgbClr val="ECEDEF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2117750" y="2716682"/>
            <a:ext cx="1518818" cy="3447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Great Gatsby Broadway</a:t>
            </a:r>
            <a:endParaRPr lang="en-US" sz="1000" dirty="0"/>
          </a:p>
        </p:txBody>
      </p:sp>
      <p:sp>
        <p:nvSpPr>
          <p:cNvPr id="38" name="Shape 35"/>
          <p:cNvSpPr/>
          <p:nvPr/>
        </p:nvSpPr>
        <p:spPr>
          <a:xfrm>
            <a:off x="3677717" y="2698394"/>
            <a:ext cx="1601114" cy="381305"/>
          </a:xfrm>
          <a:prstGeom prst="rect">
            <a:avLst/>
          </a:prstGeom>
          <a:solidFill>
            <a:srgbClr val="ECEDEF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3718865" y="2716682"/>
            <a:ext cx="1518818" cy="3447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000" dirty="0"/>
          </a:p>
        </p:txBody>
      </p:sp>
      <p:sp>
        <p:nvSpPr>
          <p:cNvPr id="40" name="Shape 37"/>
          <p:cNvSpPr/>
          <p:nvPr/>
        </p:nvSpPr>
        <p:spPr>
          <a:xfrm>
            <a:off x="5278831" y="2698394"/>
            <a:ext cx="1601114" cy="381305"/>
          </a:xfrm>
          <a:prstGeom prst="rect">
            <a:avLst/>
          </a:prstGeom>
          <a:solidFill>
            <a:srgbClr val="ECEDEF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5319979" y="2716682"/>
            <a:ext cx="1518818" cy="3447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$1,455</a:t>
            </a:r>
            <a:endParaRPr lang="en-US" sz="1000" dirty="0"/>
          </a:p>
        </p:txBody>
      </p:sp>
      <p:sp>
        <p:nvSpPr>
          <p:cNvPr id="42" name="Shape 39"/>
          <p:cNvSpPr/>
          <p:nvPr/>
        </p:nvSpPr>
        <p:spPr>
          <a:xfrm>
            <a:off x="6879946" y="2698394"/>
            <a:ext cx="1601114" cy="381305"/>
          </a:xfrm>
          <a:prstGeom prst="rect">
            <a:avLst/>
          </a:prstGeom>
          <a:solidFill>
            <a:srgbClr val="ECEDEF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6921094" y="2716682"/>
            <a:ext cx="1518818" cy="3447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$20</a:t>
            </a:r>
            <a:endParaRPr lang="en-US" sz="1000" dirty="0"/>
          </a:p>
        </p:txBody>
      </p:sp>
      <p:sp>
        <p:nvSpPr>
          <p:cNvPr id="44" name="Shape 41"/>
          <p:cNvSpPr/>
          <p:nvPr/>
        </p:nvSpPr>
        <p:spPr>
          <a:xfrm>
            <a:off x="8481060" y="2698394"/>
            <a:ext cx="1601114" cy="381305"/>
          </a:xfrm>
          <a:prstGeom prst="rect">
            <a:avLst/>
          </a:prstGeom>
          <a:solidFill>
            <a:srgbClr val="ECEDEF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45" name="Text 42"/>
          <p:cNvSpPr/>
          <p:nvPr/>
        </p:nvSpPr>
        <p:spPr>
          <a:xfrm>
            <a:off x="8522208" y="2716682"/>
            <a:ext cx="1518818" cy="3447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$0</a:t>
            </a:r>
            <a:endParaRPr lang="en-US" sz="1000" dirty="0"/>
          </a:p>
        </p:txBody>
      </p:sp>
      <p:sp>
        <p:nvSpPr>
          <p:cNvPr id="46" name="Shape 43"/>
          <p:cNvSpPr/>
          <p:nvPr/>
        </p:nvSpPr>
        <p:spPr>
          <a:xfrm>
            <a:off x="10082174" y="2698394"/>
            <a:ext cx="1603858" cy="381305"/>
          </a:xfrm>
          <a:prstGeom prst="rect">
            <a:avLst/>
          </a:prstGeom>
          <a:solidFill>
            <a:srgbClr val="ECEDEF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47" name="Text 44"/>
          <p:cNvSpPr/>
          <p:nvPr/>
        </p:nvSpPr>
        <p:spPr>
          <a:xfrm>
            <a:off x="10123322" y="2716682"/>
            <a:ext cx="1521562" cy="3447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$20</a:t>
            </a:r>
            <a:endParaRPr lang="en-US" sz="1000" dirty="0"/>
          </a:p>
        </p:txBody>
      </p:sp>
      <p:sp>
        <p:nvSpPr>
          <p:cNvPr id="48" name="Shape 45"/>
          <p:cNvSpPr/>
          <p:nvPr/>
        </p:nvSpPr>
        <p:spPr>
          <a:xfrm>
            <a:off x="475488" y="3079699"/>
            <a:ext cx="1601114" cy="381305"/>
          </a:xfrm>
          <a:prstGeom prst="rect">
            <a:avLst/>
          </a:prstGeom>
          <a:solidFill>
            <a:srgbClr val="F4F5F7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49" name="Text 46"/>
          <p:cNvSpPr/>
          <p:nvPr/>
        </p:nvSpPr>
        <p:spPr>
          <a:xfrm>
            <a:off x="516636" y="3097987"/>
            <a:ext cx="1518818" cy="3447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392636</a:t>
            </a:r>
            <a:endParaRPr lang="en-US" sz="1000" dirty="0"/>
          </a:p>
        </p:txBody>
      </p:sp>
      <p:sp>
        <p:nvSpPr>
          <p:cNvPr id="50" name="Shape 47"/>
          <p:cNvSpPr/>
          <p:nvPr/>
        </p:nvSpPr>
        <p:spPr>
          <a:xfrm>
            <a:off x="2076602" y="3079699"/>
            <a:ext cx="1601114" cy="381305"/>
          </a:xfrm>
          <a:prstGeom prst="rect">
            <a:avLst/>
          </a:prstGeom>
          <a:solidFill>
            <a:srgbClr val="F4F5F7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51" name="Text 48"/>
          <p:cNvSpPr/>
          <p:nvPr/>
        </p:nvSpPr>
        <p:spPr>
          <a:xfrm>
            <a:off x="2117750" y="3097987"/>
            <a:ext cx="1518818" cy="3447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Atlanta Braves</a:t>
            </a:r>
            <a:endParaRPr lang="en-US" sz="1000" dirty="0"/>
          </a:p>
        </p:txBody>
      </p:sp>
      <p:sp>
        <p:nvSpPr>
          <p:cNvPr id="52" name="Shape 49"/>
          <p:cNvSpPr/>
          <p:nvPr/>
        </p:nvSpPr>
        <p:spPr>
          <a:xfrm>
            <a:off x="3677717" y="3079699"/>
            <a:ext cx="1601114" cy="381305"/>
          </a:xfrm>
          <a:prstGeom prst="rect">
            <a:avLst/>
          </a:prstGeom>
          <a:solidFill>
            <a:srgbClr val="F4F5F7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53" name="Text 50"/>
          <p:cNvSpPr/>
          <p:nvPr/>
        </p:nvSpPr>
        <p:spPr>
          <a:xfrm>
            <a:off x="3718865" y="3097987"/>
            <a:ext cx="1518818" cy="3447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000" dirty="0"/>
          </a:p>
        </p:txBody>
      </p:sp>
      <p:sp>
        <p:nvSpPr>
          <p:cNvPr id="54" name="Shape 51"/>
          <p:cNvSpPr/>
          <p:nvPr/>
        </p:nvSpPr>
        <p:spPr>
          <a:xfrm>
            <a:off x="5278831" y="3079699"/>
            <a:ext cx="1601114" cy="381305"/>
          </a:xfrm>
          <a:prstGeom prst="rect">
            <a:avLst/>
          </a:prstGeom>
          <a:solidFill>
            <a:srgbClr val="F4F5F7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55" name="Text 52"/>
          <p:cNvSpPr/>
          <p:nvPr/>
        </p:nvSpPr>
        <p:spPr>
          <a:xfrm>
            <a:off x="5319979" y="3097987"/>
            <a:ext cx="1518818" cy="3447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$87</a:t>
            </a:r>
            <a:endParaRPr lang="en-US" sz="1000" dirty="0"/>
          </a:p>
        </p:txBody>
      </p:sp>
      <p:sp>
        <p:nvSpPr>
          <p:cNvPr id="56" name="Shape 53"/>
          <p:cNvSpPr/>
          <p:nvPr/>
        </p:nvSpPr>
        <p:spPr>
          <a:xfrm>
            <a:off x="6879946" y="3079699"/>
            <a:ext cx="1601114" cy="381305"/>
          </a:xfrm>
          <a:prstGeom prst="rect">
            <a:avLst/>
          </a:prstGeom>
          <a:solidFill>
            <a:srgbClr val="F4F5F7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57" name="Text 54"/>
          <p:cNvSpPr/>
          <p:nvPr/>
        </p:nvSpPr>
        <p:spPr>
          <a:xfrm>
            <a:off x="6921094" y="3097987"/>
            <a:ext cx="1518818" cy="3447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$4</a:t>
            </a:r>
            <a:endParaRPr lang="en-US" sz="1000" dirty="0"/>
          </a:p>
        </p:txBody>
      </p:sp>
      <p:sp>
        <p:nvSpPr>
          <p:cNvPr id="58" name="Shape 55"/>
          <p:cNvSpPr/>
          <p:nvPr/>
        </p:nvSpPr>
        <p:spPr>
          <a:xfrm>
            <a:off x="8481060" y="3079699"/>
            <a:ext cx="1601114" cy="381305"/>
          </a:xfrm>
          <a:prstGeom prst="rect">
            <a:avLst/>
          </a:prstGeom>
          <a:solidFill>
            <a:srgbClr val="F4F5F7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59" name="Text 56"/>
          <p:cNvSpPr/>
          <p:nvPr/>
        </p:nvSpPr>
        <p:spPr>
          <a:xfrm>
            <a:off x="8522208" y="3097987"/>
            <a:ext cx="1518818" cy="3447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$0</a:t>
            </a:r>
            <a:endParaRPr lang="en-US" sz="1000" dirty="0"/>
          </a:p>
        </p:txBody>
      </p:sp>
      <p:sp>
        <p:nvSpPr>
          <p:cNvPr id="60" name="Shape 57"/>
          <p:cNvSpPr/>
          <p:nvPr/>
        </p:nvSpPr>
        <p:spPr>
          <a:xfrm>
            <a:off x="10082174" y="3079699"/>
            <a:ext cx="1603858" cy="381305"/>
          </a:xfrm>
          <a:prstGeom prst="rect">
            <a:avLst/>
          </a:prstGeom>
          <a:solidFill>
            <a:srgbClr val="F4F5F7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61" name="Text 58"/>
          <p:cNvSpPr/>
          <p:nvPr/>
        </p:nvSpPr>
        <p:spPr>
          <a:xfrm>
            <a:off x="10123322" y="3097987"/>
            <a:ext cx="1521562" cy="3447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$4</a:t>
            </a:r>
            <a:endParaRPr lang="en-US" sz="1000" dirty="0"/>
          </a:p>
        </p:txBody>
      </p:sp>
      <p:sp>
        <p:nvSpPr>
          <p:cNvPr id="62" name="Shape 59"/>
          <p:cNvSpPr/>
          <p:nvPr/>
        </p:nvSpPr>
        <p:spPr>
          <a:xfrm>
            <a:off x="475488" y="3461004"/>
            <a:ext cx="1601114" cy="381305"/>
          </a:xfrm>
          <a:prstGeom prst="rect">
            <a:avLst/>
          </a:prstGeom>
          <a:solidFill>
            <a:srgbClr val="ECEDEF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63" name="Text 60"/>
          <p:cNvSpPr/>
          <p:nvPr/>
        </p:nvSpPr>
        <p:spPr>
          <a:xfrm>
            <a:off x="516636" y="3479292"/>
            <a:ext cx="1518818" cy="3447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347243</a:t>
            </a:r>
            <a:endParaRPr lang="en-US" sz="1000" dirty="0"/>
          </a:p>
        </p:txBody>
      </p:sp>
      <p:sp>
        <p:nvSpPr>
          <p:cNvPr id="64" name="Shape 61"/>
          <p:cNvSpPr/>
          <p:nvPr/>
        </p:nvSpPr>
        <p:spPr>
          <a:xfrm>
            <a:off x="2076602" y="3461004"/>
            <a:ext cx="1601114" cy="381305"/>
          </a:xfrm>
          <a:prstGeom prst="rect">
            <a:avLst/>
          </a:prstGeom>
          <a:solidFill>
            <a:srgbClr val="ECEDEF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65" name="Text 62"/>
          <p:cNvSpPr/>
          <p:nvPr/>
        </p:nvSpPr>
        <p:spPr>
          <a:xfrm>
            <a:off x="2117750" y="3479292"/>
            <a:ext cx="1518818" cy="3447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Abba Voyage (US Affiliates)</a:t>
            </a:r>
            <a:endParaRPr lang="en-US" sz="1000" dirty="0"/>
          </a:p>
        </p:txBody>
      </p:sp>
      <p:sp>
        <p:nvSpPr>
          <p:cNvPr id="66" name="Shape 63"/>
          <p:cNvSpPr/>
          <p:nvPr/>
        </p:nvSpPr>
        <p:spPr>
          <a:xfrm>
            <a:off x="3677717" y="3461004"/>
            <a:ext cx="1601114" cy="381305"/>
          </a:xfrm>
          <a:prstGeom prst="rect">
            <a:avLst/>
          </a:prstGeom>
          <a:solidFill>
            <a:srgbClr val="ECEDEF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67" name="Text 64"/>
          <p:cNvSpPr/>
          <p:nvPr/>
        </p:nvSpPr>
        <p:spPr>
          <a:xfrm>
            <a:off x="3718865" y="3479292"/>
            <a:ext cx="1518818" cy="3447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000" dirty="0"/>
          </a:p>
        </p:txBody>
      </p:sp>
      <p:sp>
        <p:nvSpPr>
          <p:cNvPr id="68" name="Shape 65"/>
          <p:cNvSpPr/>
          <p:nvPr/>
        </p:nvSpPr>
        <p:spPr>
          <a:xfrm>
            <a:off x="5278831" y="3461004"/>
            <a:ext cx="1601114" cy="381305"/>
          </a:xfrm>
          <a:prstGeom prst="rect">
            <a:avLst/>
          </a:prstGeom>
          <a:solidFill>
            <a:srgbClr val="ECEDEF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69" name="Text 66"/>
          <p:cNvSpPr/>
          <p:nvPr/>
        </p:nvSpPr>
        <p:spPr>
          <a:xfrm>
            <a:off x="5319979" y="3479292"/>
            <a:ext cx="1518818" cy="3447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$1,073</a:t>
            </a:r>
            <a:endParaRPr lang="en-US" sz="1000" dirty="0"/>
          </a:p>
        </p:txBody>
      </p:sp>
      <p:sp>
        <p:nvSpPr>
          <p:cNvPr id="70" name="Shape 67"/>
          <p:cNvSpPr/>
          <p:nvPr/>
        </p:nvSpPr>
        <p:spPr>
          <a:xfrm>
            <a:off x="6879946" y="3461004"/>
            <a:ext cx="1601114" cy="381305"/>
          </a:xfrm>
          <a:prstGeom prst="rect">
            <a:avLst/>
          </a:prstGeom>
          <a:solidFill>
            <a:srgbClr val="ECEDEF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71" name="Text 68"/>
          <p:cNvSpPr/>
          <p:nvPr/>
        </p:nvSpPr>
        <p:spPr>
          <a:xfrm>
            <a:off x="6921094" y="3479292"/>
            <a:ext cx="1518818" cy="3447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$1</a:t>
            </a:r>
            <a:endParaRPr lang="en-US" sz="1000" dirty="0"/>
          </a:p>
        </p:txBody>
      </p:sp>
      <p:sp>
        <p:nvSpPr>
          <p:cNvPr id="72" name="Shape 69"/>
          <p:cNvSpPr/>
          <p:nvPr/>
        </p:nvSpPr>
        <p:spPr>
          <a:xfrm>
            <a:off x="8481060" y="3461004"/>
            <a:ext cx="1601114" cy="381305"/>
          </a:xfrm>
          <a:prstGeom prst="rect">
            <a:avLst/>
          </a:prstGeom>
          <a:solidFill>
            <a:srgbClr val="ECEDEF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73" name="Text 70"/>
          <p:cNvSpPr/>
          <p:nvPr/>
        </p:nvSpPr>
        <p:spPr>
          <a:xfrm>
            <a:off x="8522208" y="3479292"/>
            <a:ext cx="1518818" cy="3447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$0</a:t>
            </a:r>
            <a:endParaRPr lang="en-US" sz="1000" dirty="0"/>
          </a:p>
        </p:txBody>
      </p:sp>
      <p:sp>
        <p:nvSpPr>
          <p:cNvPr id="74" name="Shape 71"/>
          <p:cNvSpPr/>
          <p:nvPr/>
        </p:nvSpPr>
        <p:spPr>
          <a:xfrm>
            <a:off x="10082174" y="3461004"/>
            <a:ext cx="1603858" cy="381305"/>
          </a:xfrm>
          <a:prstGeom prst="rect">
            <a:avLst/>
          </a:prstGeom>
          <a:solidFill>
            <a:srgbClr val="ECEDEF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75" name="Text 72"/>
          <p:cNvSpPr/>
          <p:nvPr/>
        </p:nvSpPr>
        <p:spPr>
          <a:xfrm>
            <a:off x="10123322" y="3479292"/>
            <a:ext cx="1521562" cy="3447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$1</a:t>
            </a:r>
            <a:endParaRPr lang="en-US" sz="1000" dirty="0"/>
          </a:p>
        </p:txBody>
      </p:sp>
      <p:sp>
        <p:nvSpPr>
          <p:cNvPr id="76" name="Shape 73"/>
          <p:cNvSpPr/>
          <p:nvPr/>
        </p:nvSpPr>
        <p:spPr>
          <a:xfrm>
            <a:off x="475488" y="3842309"/>
            <a:ext cx="1601114" cy="381305"/>
          </a:xfrm>
          <a:prstGeom prst="rect">
            <a:avLst/>
          </a:prstGeom>
          <a:solidFill>
            <a:srgbClr val="F4F5F7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77" name="Text 74"/>
          <p:cNvSpPr/>
          <p:nvPr/>
        </p:nvSpPr>
        <p:spPr>
          <a:xfrm>
            <a:off x="516636" y="3860597"/>
            <a:ext cx="1518818" cy="3447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378947</a:t>
            </a:r>
            <a:endParaRPr lang="en-US" sz="1000" dirty="0"/>
          </a:p>
        </p:txBody>
      </p:sp>
      <p:sp>
        <p:nvSpPr>
          <p:cNvPr id="78" name="Shape 75"/>
          <p:cNvSpPr/>
          <p:nvPr/>
        </p:nvSpPr>
        <p:spPr>
          <a:xfrm>
            <a:off x="2076602" y="3842309"/>
            <a:ext cx="1601114" cy="381305"/>
          </a:xfrm>
          <a:prstGeom prst="rect">
            <a:avLst/>
          </a:prstGeom>
          <a:solidFill>
            <a:srgbClr val="F4F5F7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79" name="Text 76"/>
          <p:cNvSpPr/>
          <p:nvPr/>
        </p:nvSpPr>
        <p:spPr>
          <a:xfrm>
            <a:off x="2117750" y="3860597"/>
            <a:ext cx="1518818" cy="3447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Arrita Studio</a:t>
            </a:r>
            <a:endParaRPr lang="en-US" sz="1000" dirty="0"/>
          </a:p>
        </p:txBody>
      </p:sp>
      <p:sp>
        <p:nvSpPr>
          <p:cNvPr id="80" name="Shape 77"/>
          <p:cNvSpPr/>
          <p:nvPr/>
        </p:nvSpPr>
        <p:spPr>
          <a:xfrm>
            <a:off x="3677717" y="3842309"/>
            <a:ext cx="1601114" cy="381305"/>
          </a:xfrm>
          <a:prstGeom prst="rect">
            <a:avLst/>
          </a:prstGeom>
          <a:solidFill>
            <a:srgbClr val="F4F5F7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81" name="Text 78"/>
          <p:cNvSpPr/>
          <p:nvPr/>
        </p:nvSpPr>
        <p:spPr>
          <a:xfrm>
            <a:off x="3718865" y="3860597"/>
            <a:ext cx="1518818" cy="3447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</a:t>
            </a:r>
            <a:endParaRPr lang="en-US" sz="1000" dirty="0"/>
          </a:p>
        </p:txBody>
      </p:sp>
      <p:sp>
        <p:nvSpPr>
          <p:cNvPr id="82" name="Shape 79"/>
          <p:cNvSpPr/>
          <p:nvPr/>
        </p:nvSpPr>
        <p:spPr>
          <a:xfrm>
            <a:off x="5278831" y="3842309"/>
            <a:ext cx="1601114" cy="381305"/>
          </a:xfrm>
          <a:prstGeom prst="rect">
            <a:avLst/>
          </a:prstGeom>
          <a:solidFill>
            <a:srgbClr val="F4F5F7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83" name="Text 80"/>
          <p:cNvSpPr/>
          <p:nvPr/>
        </p:nvSpPr>
        <p:spPr>
          <a:xfrm>
            <a:off x="5319979" y="3860597"/>
            <a:ext cx="1518818" cy="3447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$0</a:t>
            </a:r>
            <a:endParaRPr lang="en-US" sz="1000" dirty="0"/>
          </a:p>
        </p:txBody>
      </p:sp>
      <p:sp>
        <p:nvSpPr>
          <p:cNvPr id="84" name="Shape 81"/>
          <p:cNvSpPr/>
          <p:nvPr/>
        </p:nvSpPr>
        <p:spPr>
          <a:xfrm>
            <a:off x="6879946" y="3842309"/>
            <a:ext cx="1601114" cy="381305"/>
          </a:xfrm>
          <a:prstGeom prst="rect">
            <a:avLst/>
          </a:prstGeom>
          <a:solidFill>
            <a:srgbClr val="F4F5F7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85" name="Text 82"/>
          <p:cNvSpPr/>
          <p:nvPr/>
        </p:nvSpPr>
        <p:spPr>
          <a:xfrm>
            <a:off x="6921094" y="3860597"/>
            <a:ext cx="1518818" cy="3447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$0</a:t>
            </a:r>
            <a:endParaRPr lang="en-US" sz="1000" dirty="0"/>
          </a:p>
        </p:txBody>
      </p:sp>
      <p:sp>
        <p:nvSpPr>
          <p:cNvPr id="86" name="Shape 83"/>
          <p:cNvSpPr/>
          <p:nvPr/>
        </p:nvSpPr>
        <p:spPr>
          <a:xfrm>
            <a:off x="8481060" y="3842309"/>
            <a:ext cx="1601114" cy="381305"/>
          </a:xfrm>
          <a:prstGeom prst="rect">
            <a:avLst/>
          </a:prstGeom>
          <a:solidFill>
            <a:srgbClr val="F4F5F7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87" name="Text 84"/>
          <p:cNvSpPr/>
          <p:nvPr/>
        </p:nvSpPr>
        <p:spPr>
          <a:xfrm>
            <a:off x="8522208" y="3860597"/>
            <a:ext cx="1518818" cy="3447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$0</a:t>
            </a:r>
            <a:endParaRPr lang="en-US" sz="1000" dirty="0"/>
          </a:p>
        </p:txBody>
      </p:sp>
      <p:sp>
        <p:nvSpPr>
          <p:cNvPr id="88" name="Shape 85"/>
          <p:cNvSpPr/>
          <p:nvPr/>
        </p:nvSpPr>
        <p:spPr>
          <a:xfrm>
            <a:off x="10082174" y="3842309"/>
            <a:ext cx="1603858" cy="381305"/>
          </a:xfrm>
          <a:prstGeom prst="rect">
            <a:avLst/>
          </a:prstGeom>
          <a:solidFill>
            <a:srgbClr val="F4F5F7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89" name="Text 86"/>
          <p:cNvSpPr/>
          <p:nvPr/>
        </p:nvSpPr>
        <p:spPr>
          <a:xfrm>
            <a:off x="10123322" y="3860597"/>
            <a:ext cx="1521562" cy="3447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$0</a:t>
            </a:r>
            <a:endParaRPr lang="en-US" sz="1000" dirty="0"/>
          </a:p>
        </p:txBody>
      </p:sp>
      <p:sp>
        <p:nvSpPr>
          <p:cNvPr id="90" name="Shape 87"/>
          <p:cNvSpPr/>
          <p:nvPr/>
        </p:nvSpPr>
        <p:spPr>
          <a:xfrm>
            <a:off x="475488" y="4223614"/>
            <a:ext cx="1601114" cy="381305"/>
          </a:xfrm>
          <a:prstGeom prst="rect">
            <a:avLst/>
          </a:prstGeom>
          <a:solidFill>
            <a:srgbClr val="ECEDEF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91" name="Text 88"/>
          <p:cNvSpPr/>
          <p:nvPr/>
        </p:nvSpPr>
        <p:spPr>
          <a:xfrm>
            <a:off x="516636" y="4241902"/>
            <a:ext cx="1518818" cy="3447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385020</a:t>
            </a:r>
            <a:endParaRPr lang="en-US" sz="1000" dirty="0"/>
          </a:p>
        </p:txBody>
      </p:sp>
      <p:sp>
        <p:nvSpPr>
          <p:cNvPr id="92" name="Shape 89"/>
          <p:cNvSpPr/>
          <p:nvPr/>
        </p:nvSpPr>
        <p:spPr>
          <a:xfrm>
            <a:off x="2076602" y="4223614"/>
            <a:ext cx="1601114" cy="381305"/>
          </a:xfrm>
          <a:prstGeom prst="rect">
            <a:avLst/>
          </a:prstGeom>
          <a:solidFill>
            <a:srgbClr val="ECEDEF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93" name="Text 90"/>
          <p:cNvSpPr/>
          <p:nvPr/>
        </p:nvSpPr>
        <p:spPr>
          <a:xfrm>
            <a:off x="2117750" y="4241902"/>
            <a:ext cx="1518818" cy="3447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Casaemma wines</a:t>
            </a:r>
            <a:endParaRPr lang="en-US" sz="1000" dirty="0"/>
          </a:p>
        </p:txBody>
      </p:sp>
      <p:sp>
        <p:nvSpPr>
          <p:cNvPr id="94" name="Shape 91"/>
          <p:cNvSpPr/>
          <p:nvPr/>
        </p:nvSpPr>
        <p:spPr>
          <a:xfrm>
            <a:off x="3677717" y="4223614"/>
            <a:ext cx="1601114" cy="381305"/>
          </a:xfrm>
          <a:prstGeom prst="rect">
            <a:avLst/>
          </a:prstGeom>
          <a:solidFill>
            <a:srgbClr val="ECEDEF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95" name="Text 92"/>
          <p:cNvSpPr/>
          <p:nvPr/>
        </p:nvSpPr>
        <p:spPr>
          <a:xfrm>
            <a:off x="3718865" y="4241902"/>
            <a:ext cx="1518818" cy="3447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</a:t>
            </a:r>
            <a:endParaRPr lang="en-US" sz="1000" dirty="0"/>
          </a:p>
        </p:txBody>
      </p:sp>
      <p:sp>
        <p:nvSpPr>
          <p:cNvPr id="96" name="Shape 93"/>
          <p:cNvSpPr/>
          <p:nvPr/>
        </p:nvSpPr>
        <p:spPr>
          <a:xfrm>
            <a:off x="5278831" y="4223614"/>
            <a:ext cx="1601114" cy="381305"/>
          </a:xfrm>
          <a:prstGeom prst="rect">
            <a:avLst/>
          </a:prstGeom>
          <a:solidFill>
            <a:srgbClr val="ECEDEF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97" name="Text 94"/>
          <p:cNvSpPr/>
          <p:nvPr/>
        </p:nvSpPr>
        <p:spPr>
          <a:xfrm>
            <a:off x="5319979" y="4241902"/>
            <a:ext cx="1518818" cy="3447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$0</a:t>
            </a:r>
            <a:endParaRPr lang="en-US" sz="1000" dirty="0"/>
          </a:p>
        </p:txBody>
      </p:sp>
      <p:sp>
        <p:nvSpPr>
          <p:cNvPr id="98" name="Shape 95"/>
          <p:cNvSpPr/>
          <p:nvPr/>
        </p:nvSpPr>
        <p:spPr>
          <a:xfrm>
            <a:off x="6879946" y="4223614"/>
            <a:ext cx="1601114" cy="381305"/>
          </a:xfrm>
          <a:prstGeom prst="rect">
            <a:avLst/>
          </a:prstGeom>
          <a:solidFill>
            <a:srgbClr val="ECEDEF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99" name="Text 96"/>
          <p:cNvSpPr/>
          <p:nvPr/>
        </p:nvSpPr>
        <p:spPr>
          <a:xfrm>
            <a:off x="6921094" y="4241902"/>
            <a:ext cx="1518818" cy="3447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$0</a:t>
            </a:r>
            <a:endParaRPr lang="en-US" sz="1000" dirty="0"/>
          </a:p>
        </p:txBody>
      </p:sp>
      <p:sp>
        <p:nvSpPr>
          <p:cNvPr id="100" name="Shape 97"/>
          <p:cNvSpPr/>
          <p:nvPr/>
        </p:nvSpPr>
        <p:spPr>
          <a:xfrm>
            <a:off x="8481060" y="4223614"/>
            <a:ext cx="1601114" cy="381305"/>
          </a:xfrm>
          <a:prstGeom prst="rect">
            <a:avLst/>
          </a:prstGeom>
          <a:solidFill>
            <a:srgbClr val="ECEDEF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01" name="Text 98"/>
          <p:cNvSpPr/>
          <p:nvPr/>
        </p:nvSpPr>
        <p:spPr>
          <a:xfrm>
            <a:off x="8522208" y="4241902"/>
            <a:ext cx="1518818" cy="3447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$0</a:t>
            </a:r>
            <a:endParaRPr lang="en-US" sz="1000" dirty="0"/>
          </a:p>
        </p:txBody>
      </p:sp>
      <p:sp>
        <p:nvSpPr>
          <p:cNvPr id="102" name="Shape 99"/>
          <p:cNvSpPr/>
          <p:nvPr/>
        </p:nvSpPr>
        <p:spPr>
          <a:xfrm>
            <a:off x="10082174" y="4223614"/>
            <a:ext cx="1603858" cy="381305"/>
          </a:xfrm>
          <a:prstGeom prst="rect">
            <a:avLst/>
          </a:prstGeom>
          <a:solidFill>
            <a:srgbClr val="ECEDEF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03" name="Text 100"/>
          <p:cNvSpPr/>
          <p:nvPr/>
        </p:nvSpPr>
        <p:spPr>
          <a:xfrm>
            <a:off x="10123322" y="4241902"/>
            <a:ext cx="1521562" cy="3447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$0</a:t>
            </a:r>
            <a:endParaRPr lang="en-US" sz="1000" dirty="0"/>
          </a:p>
        </p:txBody>
      </p:sp>
      <p:sp>
        <p:nvSpPr>
          <p:cNvPr id="104" name="Shape 101"/>
          <p:cNvSpPr/>
          <p:nvPr/>
        </p:nvSpPr>
        <p:spPr>
          <a:xfrm>
            <a:off x="475488" y="4604918"/>
            <a:ext cx="1601114" cy="381305"/>
          </a:xfrm>
          <a:prstGeom prst="rect">
            <a:avLst/>
          </a:prstGeom>
          <a:solidFill>
            <a:srgbClr val="F4F5F7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05" name="Text 102"/>
          <p:cNvSpPr/>
          <p:nvPr/>
        </p:nvSpPr>
        <p:spPr>
          <a:xfrm>
            <a:off x="516636" y="4623206"/>
            <a:ext cx="1518818" cy="3447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377606</a:t>
            </a:r>
            <a:endParaRPr lang="en-US" sz="1000" dirty="0"/>
          </a:p>
        </p:txBody>
      </p:sp>
      <p:sp>
        <p:nvSpPr>
          <p:cNvPr id="106" name="Shape 103"/>
          <p:cNvSpPr/>
          <p:nvPr/>
        </p:nvSpPr>
        <p:spPr>
          <a:xfrm>
            <a:off x="2076602" y="4604918"/>
            <a:ext cx="1601114" cy="381305"/>
          </a:xfrm>
          <a:prstGeom prst="rect">
            <a:avLst/>
          </a:prstGeom>
          <a:solidFill>
            <a:srgbClr val="F4F5F7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07" name="Text 104"/>
          <p:cNvSpPr/>
          <p:nvPr/>
        </p:nvSpPr>
        <p:spPr>
          <a:xfrm>
            <a:off x="2117750" y="4623206"/>
            <a:ext cx="1518818" cy="3447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Cosara</a:t>
            </a:r>
            <a:endParaRPr lang="en-US" sz="1000" dirty="0"/>
          </a:p>
        </p:txBody>
      </p:sp>
      <p:sp>
        <p:nvSpPr>
          <p:cNvPr id="108" name="Shape 105"/>
          <p:cNvSpPr/>
          <p:nvPr/>
        </p:nvSpPr>
        <p:spPr>
          <a:xfrm>
            <a:off x="3677717" y="4604918"/>
            <a:ext cx="1601114" cy="381305"/>
          </a:xfrm>
          <a:prstGeom prst="rect">
            <a:avLst/>
          </a:prstGeom>
          <a:solidFill>
            <a:srgbClr val="F4F5F7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09" name="Text 106"/>
          <p:cNvSpPr/>
          <p:nvPr/>
        </p:nvSpPr>
        <p:spPr>
          <a:xfrm>
            <a:off x="3718865" y="4623206"/>
            <a:ext cx="1518818" cy="3447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</a:t>
            </a:r>
            <a:endParaRPr lang="en-US" sz="1000" dirty="0"/>
          </a:p>
        </p:txBody>
      </p:sp>
      <p:sp>
        <p:nvSpPr>
          <p:cNvPr id="110" name="Shape 107"/>
          <p:cNvSpPr/>
          <p:nvPr/>
        </p:nvSpPr>
        <p:spPr>
          <a:xfrm>
            <a:off x="5278831" y="4604918"/>
            <a:ext cx="1601114" cy="381305"/>
          </a:xfrm>
          <a:prstGeom prst="rect">
            <a:avLst/>
          </a:prstGeom>
          <a:solidFill>
            <a:srgbClr val="F4F5F7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11" name="Text 108"/>
          <p:cNvSpPr/>
          <p:nvPr/>
        </p:nvSpPr>
        <p:spPr>
          <a:xfrm>
            <a:off x="5319979" y="4623206"/>
            <a:ext cx="1518818" cy="3447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$0</a:t>
            </a:r>
            <a:endParaRPr lang="en-US" sz="1000" dirty="0"/>
          </a:p>
        </p:txBody>
      </p:sp>
      <p:sp>
        <p:nvSpPr>
          <p:cNvPr id="112" name="Shape 109"/>
          <p:cNvSpPr/>
          <p:nvPr/>
        </p:nvSpPr>
        <p:spPr>
          <a:xfrm>
            <a:off x="6879946" y="4604918"/>
            <a:ext cx="1601114" cy="381305"/>
          </a:xfrm>
          <a:prstGeom prst="rect">
            <a:avLst/>
          </a:prstGeom>
          <a:solidFill>
            <a:srgbClr val="F4F5F7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13" name="Text 110"/>
          <p:cNvSpPr/>
          <p:nvPr/>
        </p:nvSpPr>
        <p:spPr>
          <a:xfrm>
            <a:off x="6921094" y="4623206"/>
            <a:ext cx="1518818" cy="3447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$0</a:t>
            </a:r>
            <a:endParaRPr lang="en-US" sz="1000" dirty="0"/>
          </a:p>
        </p:txBody>
      </p:sp>
      <p:sp>
        <p:nvSpPr>
          <p:cNvPr id="114" name="Shape 111"/>
          <p:cNvSpPr/>
          <p:nvPr/>
        </p:nvSpPr>
        <p:spPr>
          <a:xfrm>
            <a:off x="8481060" y="4604918"/>
            <a:ext cx="1601114" cy="381305"/>
          </a:xfrm>
          <a:prstGeom prst="rect">
            <a:avLst/>
          </a:prstGeom>
          <a:solidFill>
            <a:srgbClr val="F4F5F7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15" name="Text 112"/>
          <p:cNvSpPr/>
          <p:nvPr/>
        </p:nvSpPr>
        <p:spPr>
          <a:xfrm>
            <a:off x="8522208" y="4623206"/>
            <a:ext cx="1518818" cy="3447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$0</a:t>
            </a:r>
            <a:endParaRPr lang="en-US" sz="1000" dirty="0"/>
          </a:p>
        </p:txBody>
      </p:sp>
      <p:sp>
        <p:nvSpPr>
          <p:cNvPr id="116" name="Shape 113"/>
          <p:cNvSpPr/>
          <p:nvPr/>
        </p:nvSpPr>
        <p:spPr>
          <a:xfrm>
            <a:off x="10082174" y="4604918"/>
            <a:ext cx="1603858" cy="381305"/>
          </a:xfrm>
          <a:prstGeom prst="rect">
            <a:avLst/>
          </a:prstGeom>
          <a:solidFill>
            <a:srgbClr val="F4F5F7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17" name="Text 114"/>
          <p:cNvSpPr/>
          <p:nvPr/>
        </p:nvSpPr>
        <p:spPr>
          <a:xfrm>
            <a:off x="10123322" y="4623206"/>
            <a:ext cx="1521562" cy="3447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$0</a:t>
            </a:r>
            <a:endParaRPr lang="en-US" sz="1000" dirty="0"/>
          </a:p>
        </p:txBody>
      </p:sp>
      <p:sp>
        <p:nvSpPr>
          <p:cNvPr id="118" name="Shape 115"/>
          <p:cNvSpPr/>
          <p:nvPr/>
        </p:nvSpPr>
        <p:spPr>
          <a:xfrm>
            <a:off x="475488" y="4986223"/>
            <a:ext cx="1601114" cy="381305"/>
          </a:xfrm>
          <a:prstGeom prst="rect">
            <a:avLst/>
          </a:prstGeom>
          <a:solidFill>
            <a:srgbClr val="ECEDEF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19" name="Text 116"/>
          <p:cNvSpPr/>
          <p:nvPr/>
        </p:nvSpPr>
        <p:spPr>
          <a:xfrm>
            <a:off x="516636" y="5004511"/>
            <a:ext cx="1518818" cy="3447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385133</a:t>
            </a:r>
            <a:endParaRPr lang="en-US" sz="1000" dirty="0"/>
          </a:p>
        </p:txBody>
      </p:sp>
      <p:sp>
        <p:nvSpPr>
          <p:cNvPr id="120" name="Shape 117"/>
          <p:cNvSpPr/>
          <p:nvPr/>
        </p:nvSpPr>
        <p:spPr>
          <a:xfrm>
            <a:off x="2076602" y="4986223"/>
            <a:ext cx="1601114" cy="381305"/>
          </a:xfrm>
          <a:prstGeom prst="rect">
            <a:avLst/>
          </a:prstGeom>
          <a:solidFill>
            <a:srgbClr val="ECEDEF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21" name="Text 118"/>
          <p:cNvSpPr/>
          <p:nvPr/>
        </p:nvSpPr>
        <p:spPr>
          <a:xfrm>
            <a:off x="2117750" y="5004511"/>
            <a:ext cx="1518818" cy="3447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Cosm</a:t>
            </a:r>
            <a:endParaRPr lang="en-US" sz="1000" dirty="0"/>
          </a:p>
        </p:txBody>
      </p:sp>
      <p:sp>
        <p:nvSpPr>
          <p:cNvPr id="122" name="Shape 119"/>
          <p:cNvSpPr/>
          <p:nvPr/>
        </p:nvSpPr>
        <p:spPr>
          <a:xfrm>
            <a:off x="3677717" y="4986223"/>
            <a:ext cx="1601114" cy="381305"/>
          </a:xfrm>
          <a:prstGeom prst="rect">
            <a:avLst/>
          </a:prstGeom>
          <a:solidFill>
            <a:srgbClr val="ECEDEF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23" name="Text 120"/>
          <p:cNvSpPr/>
          <p:nvPr/>
        </p:nvSpPr>
        <p:spPr>
          <a:xfrm>
            <a:off x="3718865" y="5004511"/>
            <a:ext cx="1518818" cy="3447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</a:t>
            </a:r>
            <a:endParaRPr lang="en-US" sz="1000" dirty="0"/>
          </a:p>
        </p:txBody>
      </p:sp>
      <p:sp>
        <p:nvSpPr>
          <p:cNvPr id="124" name="Shape 121"/>
          <p:cNvSpPr/>
          <p:nvPr/>
        </p:nvSpPr>
        <p:spPr>
          <a:xfrm>
            <a:off x="5278831" y="4986223"/>
            <a:ext cx="1601114" cy="381305"/>
          </a:xfrm>
          <a:prstGeom prst="rect">
            <a:avLst/>
          </a:prstGeom>
          <a:solidFill>
            <a:srgbClr val="ECEDEF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25" name="Text 122"/>
          <p:cNvSpPr/>
          <p:nvPr/>
        </p:nvSpPr>
        <p:spPr>
          <a:xfrm>
            <a:off x="5319979" y="5004511"/>
            <a:ext cx="1518818" cy="3447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$0</a:t>
            </a:r>
            <a:endParaRPr lang="en-US" sz="1000" dirty="0"/>
          </a:p>
        </p:txBody>
      </p:sp>
      <p:sp>
        <p:nvSpPr>
          <p:cNvPr id="126" name="Shape 123"/>
          <p:cNvSpPr/>
          <p:nvPr/>
        </p:nvSpPr>
        <p:spPr>
          <a:xfrm>
            <a:off x="6879946" y="4986223"/>
            <a:ext cx="1601114" cy="381305"/>
          </a:xfrm>
          <a:prstGeom prst="rect">
            <a:avLst/>
          </a:prstGeom>
          <a:solidFill>
            <a:srgbClr val="ECEDEF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27" name="Text 124"/>
          <p:cNvSpPr/>
          <p:nvPr/>
        </p:nvSpPr>
        <p:spPr>
          <a:xfrm>
            <a:off x="6921094" y="5004511"/>
            <a:ext cx="1518818" cy="3447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$0</a:t>
            </a:r>
            <a:endParaRPr lang="en-US" sz="1000" dirty="0"/>
          </a:p>
        </p:txBody>
      </p:sp>
      <p:sp>
        <p:nvSpPr>
          <p:cNvPr id="128" name="Shape 125"/>
          <p:cNvSpPr/>
          <p:nvPr/>
        </p:nvSpPr>
        <p:spPr>
          <a:xfrm>
            <a:off x="8481060" y="4986223"/>
            <a:ext cx="1601114" cy="381305"/>
          </a:xfrm>
          <a:prstGeom prst="rect">
            <a:avLst/>
          </a:prstGeom>
          <a:solidFill>
            <a:srgbClr val="ECEDEF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29" name="Text 126"/>
          <p:cNvSpPr/>
          <p:nvPr/>
        </p:nvSpPr>
        <p:spPr>
          <a:xfrm>
            <a:off x="8522208" y="5004511"/>
            <a:ext cx="1518818" cy="3447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$0</a:t>
            </a:r>
            <a:endParaRPr lang="en-US" sz="1000" dirty="0"/>
          </a:p>
        </p:txBody>
      </p:sp>
      <p:sp>
        <p:nvSpPr>
          <p:cNvPr id="130" name="Shape 127"/>
          <p:cNvSpPr/>
          <p:nvPr/>
        </p:nvSpPr>
        <p:spPr>
          <a:xfrm>
            <a:off x="10082174" y="4986223"/>
            <a:ext cx="1603858" cy="381305"/>
          </a:xfrm>
          <a:prstGeom prst="rect">
            <a:avLst/>
          </a:prstGeom>
          <a:solidFill>
            <a:srgbClr val="ECEDEF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31" name="Text 128"/>
          <p:cNvSpPr/>
          <p:nvPr/>
        </p:nvSpPr>
        <p:spPr>
          <a:xfrm>
            <a:off x="10123322" y="5004511"/>
            <a:ext cx="1521562" cy="3447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$0</a:t>
            </a:r>
            <a:endParaRPr lang="en-US" sz="1000" dirty="0"/>
          </a:p>
        </p:txBody>
      </p:sp>
      <p:sp>
        <p:nvSpPr>
          <p:cNvPr id="132" name="Shape 129"/>
          <p:cNvSpPr/>
          <p:nvPr/>
        </p:nvSpPr>
        <p:spPr>
          <a:xfrm>
            <a:off x="475488" y="5367528"/>
            <a:ext cx="1601114" cy="381305"/>
          </a:xfrm>
          <a:prstGeom prst="rect">
            <a:avLst/>
          </a:prstGeom>
          <a:solidFill>
            <a:srgbClr val="F4F5F7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33" name="Text 130"/>
          <p:cNvSpPr/>
          <p:nvPr/>
        </p:nvSpPr>
        <p:spPr>
          <a:xfrm>
            <a:off x="516636" y="5385816"/>
            <a:ext cx="1518818" cy="3447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376984</a:t>
            </a:r>
            <a:endParaRPr lang="en-US" sz="1000" dirty="0"/>
          </a:p>
        </p:txBody>
      </p:sp>
      <p:sp>
        <p:nvSpPr>
          <p:cNvPr id="134" name="Shape 131"/>
          <p:cNvSpPr/>
          <p:nvPr/>
        </p:nvSpPr>
        <p:spPr>
          <a:xfrm>
            <a:off x="2076602" y="5367528"/>
            <a:ext cx="1601114" cy="381305"/>
          </a:xfrm>
          <a:prstGeom prst="rect">
            <a:avLst/>
          </a:prstGeom>
          <a:solidFill>
            <a:srgbClr val="F4F5F7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35" name="Text 132"/>
          <p:cNvSpPr/>
          <p:nvPr/>
        </p:nvSpPr>
        <p:spPr>
          <a:xfrm>
            <a:off x="2117750" y="5385816"/>
            <a:ext cx="1518818" cy="3447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Eat and Play Card</a:t>
            </a:r>
            <a:endParaRPr lang="en-US" sz="1000" dirty="0"/>
          </a:p>
        </p:txBody>
      </p:sp>
      <p:sp>
        <p:nvSpPr>
          <p:cNvPr id="136" name="Shape 133"/>
          <p:cNvSpPr/>
          <p:nvPr/>
        </p:nvSpPr>
        <p:spPr>
          <a:xfrm>
            <a:off x="3677717" y="5367528"/>
            <a:ext cx="1601114" cy="381305"/>
          </a:xfrm>
          <a:prstGeom prst="rect">
            <a:avLst/>
          </a:prstGeom>
          <a:solidFill>
            <a:srgbClr val="F4F5F7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37" name="Text 134"/>
          <p:cNvSpPr/>
          <p:nvPr/>
        </p:nvSpPr>
        <p:spPr>
          <a:xfrm>
            <a:off x="3718865" y="5385816"/>
            <a:ext cx="1518818" cy="3447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</a:t>
            </a:r>
            <a:endParaRPr lang="en-US" sz="1000" dirty="0"/>
          </a:p>
        </p:txBody>
      </p:sp>
      <p:sp>
        <p:nvSpPr>
          <p:cNvPr id="138" name="Shape 135"/>
          <p:cNvSpPr/>
          <p:nvPr/>
        </p:nvSpPr>
        <p:spPr>
          <a:xfrm>
            <a:off x="5278831" y="5367528"/>
            <a:ext cx="1601114" cy="381305"/>
          </a:xfrm>
          <a:prstGeom prst="rect">
            <a:avLst/>
          </a:prstGeom>
          <a:solidFill>
            <a:srgbClr val="F4F5F7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39" name="Text 136"/>
          <p:cNvSpPr/>
          <p:nvPr/>
        </p:nvSpPr>
        <p:spPr>
          <a:xfrm>
            <a:off x="5319979" y="5385816"/>
            <a:ext cx="1518818" cy="3447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$0</a:t>
            </a:r>
            <a:endParaRPr lang="en-US" sz="1000" dirty="0"/>
          </a:p>
        </p:txBody>
      </p:sp>
      <p:sp>
        <p:nvSpPr>
          <p:cNvPr id="140" name="Shape 137"/>
          <p:cNvSpPr/>
          <p:nvPr/>
        </p:nvSpPr>
        <p:spPr>
          <a:xfrm>
            <a:off x="6879946" y="5367528"/>
            <a:ext cx="1601114" cy="381305"/>
          </a:xfrm>
          <a:prstGeom prst="rect">
            <a:avLst/>
          </a:prstGeom>
          <a:solidFill>
            <a:srgbClr val="F4F5F7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41" name="Text 138"/>
          <p:cNvSpPr/>
          <p:nvPr/>
        </p:nvSpPr>
        <p:spPr>
          <a:xfrm>
            <a:off x="6921094" y="5385816"/>
            <a:ext cx="1518818" cy="3447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$0</a:t>
            </a:r>
            <a:endParaRPr lang="en-US" sz="1000" dirty="0"/>
          </a:p>
        </p:txBody>
      </p:sp>
      <p:sp>
        <p:nvSpPr>
          <p:cNvPr id="142" name="Shape 139"/>
          <p:cNvSpPr/>
          <p:nvPr/>
        </p:nvSpPr>
        <p:spPr>
          <a:xfrm>
            <a:off x="8481060" y="5367528"/>
            <a:ext cx="1601114" cy="381305"/>
          </a:xfrm>
          <a:prstGeom prst="rect">
            <a:avLst/>
          </a:prstGeom>
          <a:solidFill>
            <a:srgbClr val="F4F5F7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43" name="Text 140"/>
          <p:cNvSpPr/>
          <p:nvPr/>
        </p:nvSpPr>
        <p:spPr>
          <a:xfrm>
            <a:off x="8522208" y="5385816"/>
            <a:ext cx="1518818" cy="3447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$0</a:t>
            </a:r>
            <a:endParaRPr lang="en-US" sz="1000" dirty="0"/>
          </a:p>
        </p:txBody>
      </p:sp>
      <p:sp>
        <p:nvSpPr>
          <p:cNvPr id="144" name="Shape 141"/>
          <p:cNvSpPr/>
          <p:nvPr/>
        </p:nvSpPr>
        <p:spPr>
          <a:xfrm>
            <a:off x="10082174" y="5367528"/>
            <a:ext cx="1603858" cy="381305"/>
          </a:xfrm>
          <a:prstGeom prst="rect">
            <a:avLst/>
          </a:prstGeom>
          <a:solidFill>
            <a:srgbClr val="F4F5F7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45" name="Text 142"/>
          <p:cNvSpPr/>
          <p:nvPr/>
        </p:nvSpPr>
        <p:spPr>
          <a:xfrm>
            <a:off x="10123322" y="5385816"/>
            <a:ext cx="1521562" cy="3447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$0</a:t>
            </a:r>
            <a:endParaRPr lang="en-US" sz="1000" dirty="0"/>
          </a:p>
        </p:txBody>
      </p:sp>
      <p:sp>
        <p:nvSpPr>
          <p:cNvPr id="146" name="Shape 143"/>
          <p:cNvSpPr/>
          <p:nvPr/>
        </p:nvSpPr>
        <p:spPr>
          <a:xfrm>
            <a:off x="475488" y="5748833"/>
            <a:ext cx="1601114" cy="381305"/>
          </a:xfrm>
          <a:prstGeom prst="rect">
            <a:avLst/>
          </a:prstGeom>
          <a:solidFill>
            <a:srgbClr val="ECEDEF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47" name="Text 144"/>
          <p:cNvSpPr/>
          <p:nvPr/>
        </p:nvSpPr>
        <p:spPr>
          <a:xfrm>
            <a:off x="516636" y="5767121"/>
            <a:ext cx="1518818" cy="3447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356533</a:t>
            </a:r>
            <a:endParaRPr lang="en-US" sz="1000" dirty="0"/>
          </a:p>
        </p:txBody>
      </p:sp>
      <p:sp>
        <p:nvSpPr>
          <p:cNvPr id="148" name="Shape 145"/>
          <p:cNvSpPr/>
          <p:nvPr/>
        </p:nvSpPr>
        <p:spPr>
          <a:xfrm>
            <a:off x="2076602" y="5748833"/>
            <a:ext cx="1601114" cy="381305"/>
          </a:xfrm>
          <a:prstGeom prst="rect">
            <a:avLst/>
          </a:prstGeom>
          <a:solidFill>
            <a:srgbClr val="ECEDEF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49" name="Text 146"/>
          <p:cNvSpPr/>
          <p:nvPr/>
        </p:nvSpPr>
        <p:spPr>
          <a:xfrm>
            <a:off x="2117750" y="5767121"/>
            <a:ext cx="1518818" cy="3447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EviDenS de Beauté: Elevating Skincare with Japanese Luxury</a:t>
            </a:r>
            <a:endParaRPr lang="en-US" sz="1000" dirty="0"/>
          </a:p>
        </p:txBody>
      </p:sp>
      <p:sp>
        <p:nvSpPr>
          <p:cNvPr id="150" name="Shape 147"/>
          <p:cNvSpPr/>
          <p:nvPr/>
        </p:nvSpPr>
        <p:spPr>
          <a:xfrm>
            <a:off x="3677717" y="5748833"/>
            <a:ext cx="1601114" cy="381305"/>
          </a:xfrm>
          <a:prstGeom prst="rect">
            <a:avLst/>
          </a:prstGeom>
          <a:solidFill>
            <a:srgbClr val="ECEDEF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51" name="Text 148"/>
          <p:cNvSpPr/>
          <p:nvPr/>
        </p:nvSpPr>
        <p:spPr>
          <a:xfrm>
            <a:off x="3718865" y="5767121"/>
            <a:ext cx="1518818" cy="3447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</a:t>
            </a:r>
            <a:endParaRPr lang="en-US" sz="1000" dirty="0"/>
          </a:p>
        </p:txBody>
      </p:sp>
      <p:sp>
        <p:nvSpPr>
          <p:cNvPr id="152" name="Shape 149"/>
          <p:cNvSpPr/>
          <p:nvPr/>
        </p:nvSpPr>
        <p:spPr>
          <a:xfrm>
            <a:off x="5278831" y="5748833"/>
            <a:ext cx="1601114" cy="381305"/>
          </a:xfrm>
          <a:prstGeom prst="rect">
            <a:avLst/>
          </a:prstGeom>
          <a:solidFill>
            <a:srgbClr val="ECEDEF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53" name="Text 150"/>
          <p:cNvSpPr/>
          <p:nvPr/>
        </p:nvSpPr>
        <p:spPr>
          <a:xfrm>
            <a:off x="5319979" y="5767121"/>
            <a:ext cx="1518818" cy="3447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$0</a:t>
            </a:r>
            <a:endParaRPr lang="en-US" sz="1000" dirty="0"/>
          </a:p>
        </p:txBody>
      </p:sp>
      <p:sp>
        <p:nvSpPr>
          <p:cNvPr id="154" name="Shape 151"/>
          <p:cNvSpPr/>
          <p:nvPr/>
        </p:nvSpPr>
        <p:spPr>
          <a:xfrm>
            <a:off x="6879946" y="5748833"/>
            <a:ext cx="1601114" cy="381305"/>
          </a:xfrm>
          <a:prstGeom prst="rect">
            <a:avLst/>
          </a:prstGeom>
          <a:solidFill>
            <a:srgbClr val="ECEDEF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55" name="Text 152"/>
          <p:cNvSpPr/>
          <p:nvPr/>
        </p:nvSpPr>
        <p:spPr>
          <a:xfrm>
            <a:off x="6921094" y="5767121"/>
            <a:ext cx="1518818" cy="3447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$0</a:t>
            </a:r>
            <a:endParaRPr lang="en-US" sz="1000" dirty="0"/>
          </a:p>
        </p:txBody>
      </p:sp>
      <p:sp>
        <p:nvSpPr>
          <p:cNvPr id="156" name="Shape 153"/>
          <p:cNvSpPr/>
          <p:nvPr/>
        </p:nvSpPr>
        <p:spPr>
          <a:xfrm>
            <a:off x="8481060" y="5748833"/>
            <a:ext cx="1601114" cy="381305"/>
          </a:xfrm>
          <a:prstGeom prst="rect">
            <a:avLst/>
          </a:prstGeom>
          <a:solidFill>
            <a:srgbClr val="ECEDEF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57" name="Text 154"/>
          <p:cNvSpPr/>
          <p:nvPr/>
        </p:nvSpPr>
        <p:spPr>
          <a:xfrm>
            <a:off x="8522208" y="5767121"/>
            <a:ext cx="1518818" cy="3447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$0</a:t>
            </a:r>
            <a:endParaRPr lang="en-US" sz="1000" dirty="0"/>
          </a:p>
        </p:txBody>
      </p:sp>
      <p:sp>
        <p:nvSpPr>
          <p:cNvPr id="158" name="Shape 155"/>
          <p:cNvSpPr/>
          <p:nvPr/>
        </p:nvSpPr>
        <p:spPr>
          <a:xfrm>
            <a:off x="10082174" y="5748833"/>
            <a:ext cx="1603858" cy="381305"/>
          </a:xfrm>
          <a:prstGeom prst="rect">
            <a:avLst/>
          </a:prstGeom>
          <a:solidFill>
            <a:srgbClr val="ECEDEF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59" name="Text 156"/>
          <p:cNvSpPr/>
          <p:nvPr/>
        </p:nvSpPr>
        <p:spPr>
          <a:xfrm>
            <a:off x="10123322" y="5767121"/>
            <a:ext cx="1521562" cy="3447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$0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publisher-qbr\assets\qbr-bg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 Connection Status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640080" y="131673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F6F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Programme connection status for the current activation scope.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365760" y="1783080"/>
            <a:ext cx="11430000" cy="4398264"/>
          </a:xfrm>
          <a:prstGeom prst="rect">
            <a:avLst/>
          </a:prstGeom>
          <a:solidFill>
            <a:srgbClr val="F3F4F6"/>
          </a:solidFill>
          <a:ln w="12700">
            <a:solidFill>
              <a:srgbClr val="D6DAE3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75488" y="1874520"/>
            <a:ext cx="3737153" cy="287122"/>
          </a:xfrm>
          <a:prstGeom prst="rect">
            <a:avLst/>
          </a:prstGeom>
          <a:solidFill>
            <a:srgbClr val="F1F3F7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16636" y="1892808"/>
            <a:ext cx="3654857" cy="2505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 ID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4212641" y="1874520"/>
            <a:ext cx="3737153" cy="287122"/>
          </a:xfrm>
          <a:prstGeom prst="rect">
            <a:avLst/>
          </a:prstGeom>
          <a:solidFill>
            <a:srgbClr val="F1F3F7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253789" y="1892808"/>
            <a:ext cx="3654857" cy="2505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 Name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7949794" y="1874520"/>
            <a:ext cx="3736238" cy="287122"/>
          </a:xfrm>
          <a:prstGeom prst="rect">
            <a:avLst/>
          </a:prstGeom>
          <a:solidFill>
            <a:srgbClr val="F1F3F7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990942" y="1892808"/>
            <a:ext cx="3653942" cy="2505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Connection Status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475488" y="2161642"/>
            <a:ext cx="3737153" cy="247802"/>
          </a:xfrm>
          <a:prstGeom prst="rect">
            <a:avLst/>
          </a:prstGeom>
          <a:solidFill>
            <a:srgbClr val="F4F5F7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16636" y="2179930"/>
            <a:ext cx="3654857" cy="2112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6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402341</a:t>
            </a:r>
            <a:endParaRPr lang="en-US" sz="960" dirty="0"/>
          </a:p>
        </p:txBody>
      </p:sp>
      <p:sp>
        <p:nvSpPr>
          <p:cNvPr id="14" name="Shape 11"/>
          <p:cNvSpPr/>
          <p:nvPr/>
        </p:nvSpPr>
        <p:spPr>
          <a:xfrm>
            <a:off x="4212641" y="2161642"/>
            <a:ext cx="3737153" cy="247802"/>
          </a:xfrm>
          <a:prstGeom prst="rect">
            <a:avLst/>
          </a:prstGeom>
          <a:solidFill>
            <a:srgbClr val="F4F5F7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253789" y="2179930"/>
            <a:ext cx="3654857" cy="2112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6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Z1 Tech</a:t>
            </a:r>
            <a:endParaRPr lang="en-US" sz="960" dirty="0"/>
          </a:p>
        </p:txBody>
      </p:sp>
      <p:sp>
        <p:nvSpPr>
          <p:cNvPr id="16" name="Shape 13"/>
          <p:cNvSpPr/>
          <p:nvPr/>
        </p:nvSpPr>
        <p:spPr>
          <a:xfrm>
            <a:off x="7949794" y="2161642"/>
            <a:ext cx="3736238" cy="247802"/>
          </a:xfrm>
          <a:prstGeom prst="rect">
            <a:avLst/>
          </a:prstGeom>
          <a:solidFill>
            <a:srgbClr val="F4F5F7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7990942" y="2179930"/>
            <a:ext cx="3653942" cy="2112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6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Accepted</a:t>
            </a:r>
            <a:endParaRPr lang="en-US" sz="960" dirty="0"/>
          </a:p>
        </p:txBody>
      </p:sp>
      <p:sp>
        <p:nvSpPr>
          <p:cNvPr id="18" name="Shape 15"/>
          <p:cNvSpPr/>
          <p:nvPr/>
        </p:nvSpPr>
        <p:spPr>
          <a:xfrm>
            <a:off x="475488" y="2409444"/>
            <a:ext cx="3737153" cy="247802"/>
          </a:xfrm>
          <a:prstGeom prst="rect">
            <a:avLst/>
          </a:prstGeom>
          <a:solidFill>
            <a:srgbClr val="ECEDEF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16636" y="2427732"/>
            <a:ext cx="3654857" cy="2112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6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401928</a:t>
            </a:r>
            <a:endParaRPr lang="en-US" sz="960" dirty="0"/>
          </a:p>
        </p:txBody>
      </p:sp>
      <p:sp>
        <p:nvSpPr>
          <p:cNvPr id="20" name="Shape 17"/>
          <p:cNvSpPr/>
          <p:nvPr/>
        </p:nvSpPr>
        <p:spPr>
          <a:xfrm>
            <a:off x="4212641" y="2409444"/>
            <a:ext cx="3737153" cy="247802"/>
          </a:xfrm>
          <a:prstGeom prst="rect">
            <a:avLst/>
          </a:prstGeom>
          <a:solidFill>
            <a:srgbClr val="ECEDEF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4253789" y="2427732"/>
            <a:ext cx="3654857" cy="2112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6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Sinatra the Musical US</a:t>
            </a:r>
            <a:endParaRPr lang="en-US" sz="960" dirty="0"/>
          </a:p>
        </p:txBody>
      </p:sp>
      <p:sp>
        <p:nvSpPr>
          <p:cNvPr id="22" name="Shape 19"/>
          <p:cNvSpPr/>
          <p:nvPr/>
        </p:nvSpPr>
        <p:spPr>
          <a:xfrm>
            <a:off x="7949794" y="2409444"/>
            <a:ext cx="3736238" cy="247802"/>
          </a:xfrm>
          <a:prstGeom prst="rect">
            <a:avLst/>
          </a:prstGeom>
          <a:solidFill>
            <a:srgbClr val="ECEDEF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7990942" y="2427732"/>
            <a:ext cx="3653942" cy="2112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6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Accepted</a:t>
            </a:r>
            <a:endParaRPr lang="en-US" sz="960" dirty="0"/>
          </a:p>
        </p:txBody>
      </p:sp>
      <p:sp>
        <p:nvSpPr>
          <p:cNvPr id="24" name="Shape 21"/>
          <p:cNvSpPr/>
          <p:nvPr/>
        </p:nvSpPr>
        <p:spPr>
          <a:xfrm>
            <a:off x="475488" y="2657246"/>
            <a:ext cx="3737153" cy="247802"/>
          </a:xfrm>
          <a:prstGeom prst="rect">
            <a:avLst/>
          </a:prstGeom>
          <a:solidFill>
            <a:srgbClr val="F4F5F7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516636" y="2675534"/>
            <a:ext cx="3654857" cy="2112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6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398144</a:t>
            </a:r>
            <a:endParaRPr lang="en-US" sz="960" dirty="0"/>
          </a:p>
        </p:txBody>
      </p:sp>
      <p:sp>
        <p:nvSpPr>
          <p:cNvPr id="26" name="Shape 23"/>
          <p:cNvSpPr/>
          <p:nvPr/>
        </p:nvSpPr>
        <p:spPr>
          <a:xfrm>
            <a:off x="4212641" y="2657246"/>
            <a:ext cx="3737153" cy="247802"/>
          </a:xfrm>
          <a:prstGeom prst="rect">
            <a:avLst/>
          </a:prstGeom>
          <a:solidFill>
            <a:srgbClr val="F4F5F7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4253789" y="2675534"/>
            <a:ext cx="3654857" cy="2112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6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School Yard Snacks</a:t>
            </a:r>
            <a:endParaRPr lang="en-US" sz="960" dirty="0"/>
          </a:p>
        </p:txBody>
      </p:sp>
      <p:sp>
        <p:nvSpPr>
          <p:cNvPr id="28" name="Shape 25"/>
          <p:cNvSpPr/>
          <p:nvPr/>
        </p:nvSpPr>
        <p:spPr>
          <a:xfrm>
            <a:off x="7949794" y="2657246"/>
            <a:ext cx="3736238" cy="247802"/>
          </a:xfrm>
          <a:prstGeom prst="rect">
            <a:avLst/>
          </a:prstGeom>
          <a:solidFill>
            <a:srgbClr val="F4F5F7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7990942" y="2675534"/>
            <a:ext cx="3653942" cy="2112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6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Accepted</a:t>
            </a:r>
            <a:endParaRPr lang="en-US" sz="960" dirty="0"/>
          </a:p>
        </p:txBody>
      </p:sp>
      <p:sp>
        <p:nvSpPr>
          <p:cNvPr id="30" name="Shape 27"/>
          <p:cNvSpPr/>
          <p:nvPr/>
        </p:nvSpPr>
        <p:spPr>
          <a:xfrm>
            <a:off x="475488" y="2905049"/>
            <a:ext cx="3737153" cy="247802"/>
          </a:xfrm>
          <a:prstGeom prst="rect">
            <a:avLst/>
          </a:prstGeom>
          <a:solidFill>
            <a:srgbClr val="ECEDEF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516636" y="2923337"/>
            <a:ext cx="3654857" cy="2112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6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397982</a:t>
            </a:r>
            <a:endParaRPr lang="en-US" sz="960" dirty="0"/>
          </a:p>
        </p:txBody>
      </p:sp>
      <p:sp>
        <p:nvSpPr>
          <p:cNvPr id="32" name="Shape 29"/>
          <p:cNvSpPr/>
          <p:nvPr/>
        </p:nvSpPr>
        <p:spPr>
          <a:xfrm>
            <a:off x="4212641" y="2905049"/>
            <a:ext cx="3737153" cy="247802"/>
          </a:xfrm>
          <a:prstGeom prst="rect">
            <a:avLst/>
          </a:prstGeom>
          <a:solidFill>
            <a:srgbClr val="ECEDEF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4253789" y="2923337"/>
            <a:ext cx="3654857" cy="2112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6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WholyMe</a:t>
            </a:r>
            <a:endParaRPr lang="en-US" sz="960" dirty="0"/>
          </a:p>
        </p:txBody>
      </p:sp>
      <p:sp>
        <p:nvSpPr>
          <p:cNvPr id="34" name="Shape 31"/>
          <p:cNvSpPr/>
          <p:nvPr/>
        </p:nvSpPr>
        <p:spPr>
          <a:xfrm>
            <a:off x="7949794" y="2905049"/>
            <a:ext cx="3736238" cy="247802"/>
          </a:xfrm>
          <a:prstGeom prst="rect">
            <a:avLst/>
          </a:prstGeom>
          <a:solidFill>
            <a:srgbClr val="ECEDEF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7990942" y="2923337"/>
            <a:ext cx="3653942" cy="2112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6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Accepted</a:t>
            </a:r>
            <a:endParaRPr lang="en-US" sz="960" dirty="0"/>
          </a:p>
        </p:txBody>
      </p:sp>
      <p:sp>
        <p:nvSpPr>
          <p:cNvPr id="36" name="Shape 33"/>
          <p:cNvSpPr/>
          <p:nvPr/>
        </p:nvSpPr>
        <p:spPr>
          <a:xfrm>
            <a:off x="475488" y="3152851"/>
            <a:ext cx="3737153" cy="247802"/>
          </a:xfrm>
          <a:prstGeom prst="rect">
            <a:avLst/>
          </a:prstGeom>
          <a:solidFill>
            <a:srgbClr val="F4F5F7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516636" y="3171139"/>
            <a:ext cx="3654857" cy="2112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6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397946</a:t>
            </a:r>
            <a:endParaRPr lang="en-US" sz="960" dirty="0"/>
          </a:p>
        </p:txBody>
      </p:sp>
      <p:sp>
        <p:nvSpPr>
          <p:cNvPr id="38" name="Shape 35"/>
          <p:cNvSpPr/>
          <p:nvPr/>
        </p:nvSpPr>
        <p:spPr>
          <a:xfrm>
            <a:off x="4212641" y="3152851"/>
            <a:ext cx="3737153" cy="247802"/>
          </a:xfrm>
          <a:prstGeom prst="rect">
            <a:avLst/>
          </a:prstGeom>
          <a:solidFill>
            <a:srgbClr val="F4F5F7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4253789" y="3171139"/>
            <a:ext cx="3654857" cy="2112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6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F**K US</a:t>
            </a:r>
            <a:endParaRPr lang="en-US" sz="960" dirty="0"/>
          </a:p>
        </p:txBody>
      </p:sp>
      <p:sp>
        <p:nvSpPr>
          <p:cNvPr id="40" name="Shape 37"/>
          <p:cNvSpPr/>
          <p:nvPr/>
        </p:nvSpPr>
        <p:spPr>
          <a:xfrm>
            <a:off x="7949794" y="3152851"/>
            <a:ext cx="3736238" cy="247802"/>
          </a:xfrm>
          <a:prstGeom prst="rect">
            <a:avLst/>
          </a:prstGeom>
          <a:solidFill>
            <a:srgbClr val="F4F5F7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7990942" y="3171139"/>
            <a:ext cx="3653942" cy="2112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6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Accepted</a:t>
            </a:r>
            <a:endParaRPr lang="en-US" sz="960" dirty="0"/>
          </a:p>
        </p:txBody>
      </p:sp>
      <p:sp>
        <p:nvSpPr>
          <p:cNvPr id="42" name="Shape 39"/>
          <p:cNvSpPr/>
          <p:nvPr/>
        </p:nvSpPr>
        <p:spPr>
          <a:xfrm>
            <a:off x="475488" y="3400654"/>
            <a:ext cx="3737153" cy="247802"/>
          </a:xfrm>
          <a:prstGeom prst="rect">
            <a:avLst/>
          </a:prstGeom>
          <a:solidFill>
            <a:srgbClr val="ECEDEF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516636" y="3418942"/>
            <a:ext cx="3654857" cy="2112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6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397935</a:t>
            </a:r>
            <a:endParaRPr lang="en-US" sz="960" dirty="0"/>
          </a:p>
        </p:txBody>
      </p:sp>
      <p:sp>
        <p:nvSpPr>
          <p:cNvPr id="44" name="Shape 41"/>
          <p:cNvSpPr/>
          <p:nvPr/>
        </p:nvSpPr>
        <p:spPr>
          <a:xfrm>
            <a:off x="4212641" y="3400654"/>
            <a:ext cx="3737153" cy="247802"/>
          </a:xfrm>
          <a:prstGeom prst="rect">
            <a:avLst/>
          </a:prstGeom>
          <a:solidFill>
            <a:srgbClr val="ECEDEF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45" name="Text 42"/>
          <p:cNvSpPr/>
          <p:nvPr/>
        </p:nvSpPr>
        <p:spPr>
          <a:xfrm>
            <a:off x="4253789" y="3418942"/>
            <a:ext cx="3654857" cy="2112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6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Hunger Games on Stage US</a:t>
            </a:r>
            <a:endParaRPr lang="en-US" sz="960" dirty="0"/>
          </a:p>
        </p:txBody>
      </p:sp>
      <p:sp>
        <p:nvSpPr>
          <p:cNvPr id="46" name="Shape 43"/>
          <p:cNvSpPr/>
          <p:nvPr/>
        </p:nvSpPr>
        <p:spPr>
          <a:xfrm>
            <a:off x="7949794" y="3400654"/>
            <a:ext cx="3736238" cy="247802"/>
          </a:xfrm>
          <a:prstGeom prst="rect">
            <a:avLst/>
          </a:prstGeom>
          <a:solidFill>
            <a:srgbClr val="ECEDEF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47" name="Text 44"/>
          <p:cNvSpPr/>
          <p:nvPr/>
        </p:nvSpPr>
        <p:spPr>
          <a:xfrm>
            <a:off x="7990942" y="3418942"/>
            <a:ext cx="3653942" cy="2112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6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Accepted</a:t>
            </a:r>
            <a:endParaRPr lang="en-US" sz="960" dirty="0"/>
          </a:p>
        </p:txBody>
      </p:sp>
      <p:sp>
        <p:nvSpPr>
          <p:cNvPr id="48" name="Shape 45"/>
          <p:cNvSpPr/>
          <p:nvPr/>
        </p:nvSpPr>
        <p:spPr>
          <a:xfrm>
            <a:off x="475488" y="3648456"/>
            <a:ext cx="3737153" cy="247802"/>
          </a:xfrm>
          <a:prstGeom prst="rect">
            <a:avLst/>
          </a:prstGeom>
          <a:solidFill>
            <a:srgbClr val="F4F5F7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49" name="Text 46"/>
          <p:cNvSpPr/>
          <p:nvPr/>
        </p:nvSpPr>
        <p:spPr>
          <a:xfrm>
            <a:off x="516636" y="3666744"/>
            <a:ext cx="3654857" cy="2112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6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397848</a:t>
            </a:r>
            <a:endParaRPr lang="en-US" sz="960" dirty="0"/>
          </a:p>
        </p:txBody>
      </p:sp>
      <p:sp>
        <p:nvSpPr>
          <p:cNvPr id="50" name="Shape 47"/>
          <p:cNvSpPr/>
          <p:nvPr/>
        </p:nvSpPr>
        <p:spPr>
          <a:xfrm>
            <a:off x="4212641" y="3648456"/>
            <a:ext cx="3737153" cy="247802"/>
          </a:xfrm>
          <a:prstGeom prst="rect">
            <a:avLst/>
          </a:prstGeom>
          <a:solidFill>
            <a:srgbClr val="F4F5F7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51" name="Text 48"/>
          <p:cNvSpPr/>
          <p:nvPr/>
        </p:nvSpPr>
        <p:spPr>
          <a:xfrm>
            <a:off x="4253789" y="3666744"/>
            <a:ext cx="3654857" cy="2112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6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All Racquet Sports USA</a:t>
            </a:r>
            <a:endParaRPr lang="en-US" sz="960" dirty="0"/>
          </a:p>
        </p:txBody>
      </p:sp>
      <p:sp>
        <p:nvSpPr>
          <p:cNvPr id="52" name="Shape 49"/>
          <p:cNvSpPr/>
          <p:nvPr/>
        </p:nvSpPr>
        <p:spPr>
          <a:xfrm>
            <a:off x="7949794" y="3648456"/>
            <a:ext cx="3736238" cy="247802"/>
          </a:xfrm>
          <a:prstGeom prst="rect">
            <a:avLst/>
          </a:prstGeom>
          <a:solidFill>
            <a:srgbClr val="F4F5F7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53" name="Text 50"/>
          <p:cNvSpPr/>
          <p:nvPr/>
        </p:nvSpPr>
        <p:spPr>
          <a:xfrm>
            <a:off x="7990942" y="3666744"/>
            <a:ext cx="3653942" cy="2112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6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Accepted</a:t>
            </a:r>
            <a:endParaRPr lang="en-US" sz="960" dirty="0"/>
          </a:p>
        </p:txBody>
      </p:sp>
      <p:sp>
        <p:nvSpPr>
          <p:cNvPr id="54" name="Shape 51"/>
          <p:cNvSpPr/>
          <p:nvPr/>
        </p:nvSpPr>
        <p:spPr>
          <a:xfrm>
            <a:off x="475488" y="3896258"/>
            <a:ext cx="3737153" cy="247802"/>
          </a:xfrm>
          <a:prstGeom prst="rect">
            <a:avLst/>
          </a:prstGeom>
          <a:solidFill>
            <a:srgbClr val="ECEDEF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55" name="Text 52"/>
          <p:cNvSpPr/>
          <p:nvPr/>
        </p:nvSpPr>
        <p:spPr>
          <a:xfrm>
            <a:off x="516636" y="3914546"/>
            <a:ext cx="3654857" cy="2112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6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397173</a:t>
            </a:r>
            <a:endParaRPr lang="en-US" sz="960" dirty="0"/>
          </a:p>
        </p:txBody>
      </p:sp>
      <p:sp>
        <p:nvSpPr>
          <p:cNvPr id="56" name="Shape 53"/>
          <p:cNvSpPr/>
          <p:nvPr/>
        </p:nvSpPr>
        <p:spPr>
          <a:xfrm>
            <a:off x="4212641" y="3896258"/>
            <a:ext cx="3737153" cy="247802"/>
          </a:xfrm>
          <a:prstGeom prst="rect">
            <a:avLst/>
          </a:prstGeom>
          <a:solidFill>
            <a:srgbClr val="ECEDEF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57" name="Text 54"/>
          <p:cNvSpPr/>
          <p:nvPr/>
        </p:nvSpPr>
        <p:spPr>
          <a:xfrm>
            <a:off x="4253789" y="3914546"/>
            <a:ext cx="3654857" cy="2112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6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Cam Kantar US</a:t>
            </a:r>
            <a:endParaRPr lang="en-US" sz="960" dirty="0"/>
          </a:p>
        </p:txBody>
      </p:sp>
      <p:sp>
        <p:nvSpPr>
          <p:cNvPr id="58" name="Shape 55"/>
          <p:cNvSpPr/>
          <p:nvPr/>
        </p:nvSpPr>
        <p:spPr>
          <a:xfrm>
            <a:off x="7949794" y="3896258"/>
            <a:ext cx="3736238" cy="247802"/>
          </a:xfrm>
          <a:prstGeom prst="rect">
            <a:avLst/>
          </a:prstGeom>
          <a:solidFill>
            <a:srgbClr val="ECEDEF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59" name="Text 56"/>
          <p:cNvSpPr/>
          <p:nvPr/>
        </p:nvSpPr>
        <p:spPr>
          <a:xfrm>
            <a:off x="7990942" y="3914546"/>
            <a:ext cx="3653942" cy="2112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6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Accepted</a:t>
            </a:r>
            <a:endParaRPr lang="en-US" sz="960" dirty="0"/>
          </a:p>
        </p:txBody>
      </p:sp>
      <p:sp>
        <p:nvSpPr>
          <p:cNvPr id="60" name="Shape 57"/>
          <p:cNvSpPr/>
          <p:nvPr/>
        </p:nvSpPr>
        <p:spPr>
          <a:xfrm>
            <a:off x="475488" y="4144061"/>
            <a:ext cx="3737153" cy="247802"/>
          </a:xfrm>
          <a:prstGeom prst="rect">
            <a:avLst/>
          </a:prstGeom>
          <a:solidFill>
            <a:srgbClr val="F4F5F7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61" name="Text 58"/>
          <p:cNvSpPr/>
          <p:nvPr/>
        </p:nvSpPr>
        <p:spPr>
          <a:xfrm>
            <a:off x="516636" y="4162349"/>
            <a:ext cx="3654857" cy="2112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6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397006</a:t>
            </a:r>
            <a:endParaRPr lang="en-US" sz="960" dirty="0"/>
          </a:p>
        </p:txBody>
      </p:sp>
      <p:sp>
        <p:nvSpPr>
          <p:cNvPr id="62" name="Shape 59"/>
          <p:cNvSpPr/>
          <p:nvPr/>
        </p:nvSpPr>
        <p:spPr>
          <a:xfrm>
            <a:off x="4212641" y="4144061"/>
            <a:ext cx="3737153" cy="247802"/>
          </a:xfrm>
          <a:prstGeom prst="rect">
            <a:avLst/>
          </a:prstGeom>
          <a:solidFill>
            <a:srgbClr val="F4F5F7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63" name="Text 60"/>
          <p:cNvSpPr/>
          <p:nvPr/>
        </p:nvSpPr>
        <p:spPr>
          <a:xfrm>
            <a:off x="4253789" y="4162349"/>
            <a:ext cx="3654857" cy="2112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6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Six The Musical London US</a:t>
            </a:r>
            <a:endParaRPr lang="en-US" sz="960" dirty="0"/>
          </a:p>
        </p:txBody>
      </p:sp>
      <p:sp>
        <p:nvSpPr>
          <p:cNvPr id="64" name="Shape 61"/>
          <p:cNvSpPr/>
          <p:nvPr/>
        </p:nvSpPr>
        <p:spPr>
          <a:xfrm>
            <a:off x="7949794" y="4144061"/>
            <a:ext cx="3736238" cy="247802"/>
          </a:xfrm>
          <a:prstGeom prst="rect">
            <a:avLst/>
          </a:prstGeom>
          <a:solidFill>
            <a:srgbClr val="F4F5F7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65" name="Text 62"/>
          <p:cNvSpPr/>
          <p:nvPr/>
        </p:nvSpPr>
        <p:spPr>
          <a:xfrm>
            <a:off x="7990942" y="4162349"/>
            <a:ext cx="3653942" cy="2112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6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Accepted</a:t>
            </a:r>
            <a:endParaRPr lang="en-US" sz="960" dirty="0"/>
          </a:p>
        </p:txBody>
      </p:sp>
      <p:sp>
        <p:nvSpPr>
          <p:cNvPr id="66" name="Shape 63"/>
          <p:cNvSpPr/>
          <p:nvPr/>
        </p:nvSpPr>
        <p:spPr>
          <a:xfrm>
            <a:off x="475488" y="4391863"/>
            <a:ext cx="3737153" cy="247802"/>
          </a:xfrm>
          <a:prstGeom prst="rect">
            <a:avLst/>
          </a:prstGeom>
          <a:solidFill>
            <a:srgbClr val="ECEDEF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67" name="Text 64"/>
          <p:cNvSpPr/>
          <p:nvPr/>
        </p:nvSpPr>
        <p:spPr>
          <a:xfrm>
            <a:off x="516636" y="4410151"/>
            <a:ext cx="3654857" cy="2112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6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396968</a:t>
            </a:r>
            <a:endParaRPr lang="en-US" sz="960" dirty="0"/>
          </a:p>
        </p:txBody>
      </p:sp>
      <p:sp>
        <p:nvSpPr>
          <p:cNvPr id="68" name="Shape 65"/>
          <p:cNvSpPr/>
          <p:nvPr/>
        </p:nvSpPr>
        <p:spPr>
          <a:xfrm>
            <a:off x="4212641" y="4391863"/>
            <a:ext cx="3737153" cy="247802"/>
          </a:xfrm>
          <a:prstGeom prst="rect">
            <a:avLst/>
          </a:prstGeom>
          <a:solidFill>
            <a:srgbClr val="ECEDEF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69" name="Text 66"/>
          <p:cNvSpPr/>
          <p:nvPr/>
        </p:nvSpPr>
        <p:spPr>
          <a:xfrm>
            <a:off x="4253789" y="4410151"/>
            <a:ext cx="3654857" cy="2112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6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RV Water Filter Store</a:t>
            </a:r>
            <a:endParaRPr lang="en-US" sz="960" dirty="0"/>
          </a:p>
        </p:txBody>
      </p:sp>
      <p:sp>
        <p:nvSpPr>
          <p:cNvPr id="70" name="Shape 67"/>
          <p:cNvSpPr/>
          <p:nvPr/>
        </p:nvSpPr>
        <p:spPr>
          <a:xfrm>
            <a:off x="7949794" y="4391863"/>
            <a:ext cx="3736238" cy="247802"/>
          </a:xfrm>
          <a:prstGeom prst="rect">
            <a:avLst/>
          </a:prstGeom>
          <a:solidFill>
            <a:srgbClr val="ECEDEF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71" name="Text 68"/>
          <p:cNvSpPr/>
          <p:nvPr/>
        </p:nvSpPr>
        <p:spPr>
          <a:xfrm>
            <a:off x="7990942" y="4410151"/>
            <a:ext cx="3653942" cy="2112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6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Accepted</a:t>
            </a:r>
            <a:endParaRPr lang="en-US" sz="960" dirty="0"/>
          </a:p>
        </p:txBody>
      </p:sp>
      <p:sp>
        <p:nvSpPr>
          <p:cNvPr id="72" name="Shape 69"/>
          <p:cNvSpPr/>
          <p:nvPr/>
        </p:nvSpPr>
        <p:spPr>
          <a:xfrm>
            <a:off x="475488" y="4639666"/>
            <a:ext cx="3737153" cy="247802"/>
          </a:xfrm>
          <a:prstGeom prst="rect">
            <a:avLst/>
          </a:prstGeom>
          <a:solidFill>
            <a:srgbClr val="F4F5F7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73" name="Text 70"/>
          <p:cNvSpPr/>
          <p:nvPr/>
        </p:nvSpPr>
        <p:spPr>
          <a:xfrm>
            <a:off x="516636" y="4657954"/>
            <a:ext cx="3654857" cy="2112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6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396627</a:t>
            </a:r>
            <a:endParaRPr lang="en-US" sz="960" dirty="0"/>
          </a:p>
        </p:txBody>
      </p:sp>
      <p:sp>
        <p:nvSpPr>
          <p:cNvPr id="74" name="Shape 71"/>
          <p:cNvSpPr/>
          <p:nvPr/>
        </p:nvSpPr>
        <p:spPr>
          <a:xfrm>
            <a:off x="4212641" y="4639666"/>
            <a:ext cx="3737153" cy="247802"/>
          </a:xfrm>
          <a:prstGeom prst="rect">
            <a:avLst/>
          </a:prstGeom>
          <a:solidFill>
            <a:srgbClr val="F4F5F7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75" name="Text 72"/>
          <p:cNvSpPr/>
          <p:nvPr/>
        </p:nvSpPr>
        <p:spPr>
          <a:xfrm>
            <a:off x="4253789" y="4657954"/>
            <a:ext cx="3654857" cy="2112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6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NordVPN US</a:t>
            </a:r>
            <a:endParaRPr lang="en-US" sz="960" dirty="0"/>
          </a:p>
        </p:txBody>
      </p:sp>
      <p:sp>
        <p:nvSpPr>
          <p:cNvPr id="76" name="Shape 73"/>
          <p:cNvSpPr/>
          <p:nvPr/>
        </p:nvSpPr>
        <p:spPr>
          <a:xfrm>
            <a:off x="7949794" y="4639666"/>
            <a:ext cx="3736238" cy="247802"/>
          </a:xfrm>
          <a:prstGeom prst="rect">
            <a:avLst/>
          </a:prstGeom>
          <a:solidFill>
            <a:srgbClr val="F4F5F7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77" name="Text 74"/>
          <p:cNvSpPr/>
          <p:nvPr/>
        </p:nvSpPr>
        <p:spPr>
          <a:xfrm>
            <a:off x="7990942" y="4657954"/>
            <a:ext cx="3653942" cy="2112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6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Accepted</a:t>
            </a:r>
            <a:endParaRPr lang="en-US" sz="960" dirty="0"/>
          </a:p>
        </p:txBody>
      </p:sp>
      <p:sp>
        <p:nvSpPr>
          <p:cNvPr id="78" name="Shape 75"/>
          <p:cNvSpPr/>
          <p:nvPr/>
        </p:nvSpPr>
        <p:spPr>
          <a:xfrm>
            <a:off x="475488" y="4887468"/>
            <a:ext cx="3737153" cy="247802"/>
          </a:xfrm>
          <a:prstGeom prst="rect">
            <a:avLst/>
          </a:prstGeom>
          <a:solidFill>
            <a:srgbClr val="ECEDEF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79" name="Text 76"/>
          <p:cNvSpPr/>
          <p:nvPr/>
        </p:nvSpPr>
        <p:spPr>
          <a:xfrm>
            <a:off x="516636" y="4905756"/>
            <a:ext cx="3654857" cy="2112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6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396609</a:t>
            </a:r>
            <a:endParaRPr lang="en-US" sz="960" dirty="0"/>
          </a:p>
        </p:txBody>
      </p:sp>
      <p:sp>
        <p:nvSpPr>
          <p:cNvPr id="80" name="Shape 77"/>
          <p:cNvSpPr/>
          <p:nvPr/>
        </p:nvSpPr>
        <p:spPr>
          <a:xfrm>
            <a:off x="4212641" y="4887468"/>
            <a:ext cx="3737153" cy="247802"/>
          </a:xfrm>
          <a:prstGeom prst="rect">
            <a:avLst/>
          </a:prstGeom>
          <a:solidFill>
            <a:srgbClr val="ECEDEF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81" name="Text 78"/>
          <p:cNvSpPr/>
          <p:nvPr/>
        </p:nvSpPr>
        <p:spPr>
          <a:xfrm>
            <a:off x="4253789" y="4905756"/>
            <a:ext cx="3654857" cy="2112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6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Book of Mormon London (US)</a:t>
            </a:r>
            <a:endParaRPr lang="en-US" sz="960" dirty="0"/>
          </a:p>
        </p:txBody>
      </p:sp>
      <p:sp>
        <p:nvSpPr>
          <p:cNvPr id="82" name="Shape 79"/>
          <p:cNvSpPr/>
          <p:nvPr/>
        </p:nvSpPr>
        <p:spPr>
          <a:xfrm>
            <a:off x="7949794" y="4887468"/>
            <a:ext cx="3736238" cy="247802"/>
          </a:xfrm>
          <a:prstGeom prst="rect">
            <a:avLst/>
          </a:prstGeom>
          <a:solidFill>
            <a:srgbClr val="ECEDEF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83" name="Text 80"/>
          <p:cNvSpPr/>
          <p:nvPr/>
        </p:nvSpPr>
        <p:spPr>
          <a:xfrm>
            <a:off x="7990942" y="4905756"/>
            <a:ext cx="3653942" cy="2112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6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Accepted</a:t>
            </a:r>
            <a:endParaRPr lang="en-US" sz="960" dirty="0"/>
          </a:p>
        </p:txBody>
      </p:sp>
      <p:sp>
        <p:nvSpPr>
          <p:cNvPr id="84" name="Shape 81"/>
          <p:cNvSpPr/>
          <p:nvPr/>
        </p:nvSpPr>
        <p:spPr>
          <a:xfrm>
            <a:off x="475488" y="5135270"/>
            <a:ext cx="3737153" cy="247802"/>
          </a:xfrm>
          <a:prstGeom prst="rect">
            <a:avLst/>
          </a:prstGeom>
          <a:solidFill>
            <a:srgbClr val="F4F5F7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85" name="Text 82"/>
          <p:cNvSpPr/>
          <p:nvPr/>
        </p:nvSpPr>
        <p:spPr>
          <a:xfrm>
            <a:off x="516636" y="5153558"/>
            <a:ext cx="3654857" cy="2112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6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396479</a:t>
            </a:r>
            <a:endParaRPr lang="en-US" sz="960" dirty="0"/>
          </a:p>
        </p:txBody>
      </p:sp>
      <p:sp>
        <p:nvSpPr>
          <p:cNvPr id="86" name="Shape 83"/>
          <p:cNvSpPr/>
          <p:nvPr/>
        </p:nvSpPr>
        <p:spPr>
          <a:xfrm>
            <a:off x="4212641" y="5135270"/>
            <a:ext cx="3737153" cy="247802"/>
          </a:xfrm>
          <a:prstGeom prst="rect">
            <a:avLst/>
          </a:prstGeom>
          <a:solidFill>
            <a:srgbClr val="F4F5F7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87" name="Text 84"/>
          <p:cNvSpPr/>
          <p:nvPr/>
        </p:nvSpPr>
        <p:spPr>
          <a:xfrm>
            <a:off x="4253789" y="5153558"/>
            <a:ext cx="3654857" cy="2112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6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Mekas Sensory Play</a:t>
            </a:r>
            <a:endParaRPr lang="en-US" sz="960" dirty="0"/>
          </a:p>
        </p:txBody>
      </p:sp>
      <p:sp>
        <p:nvSpPr>
          <p:cNvPr id="88" name="Shape 85"/>
          <p:cNvSpPr/>
          <p:nvPr/>
        </p:nvSpPr>
        <p:spPr>
          <a:xfrm>
            <a:off x="7949794" y="5135270"/>
            <a:ext cx="3736238" cy="247802"/>
          </a:xfrm>
          <a:prstGeom prst="rect">
            <a:avLst/>
          </a:prstGeom>
          <a:solidFill>
            <a:srgbClr val="F4F5F7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89" name="Text 86"/>
          <p:cNvSpPr/>
          <p:nvPr/>
        </p:nvSpPr>
        <p:spPr>
          <a:xfrm>
            <a:off x="7990942" y="5153558"/>
            <a:ext cx="3653942" cy="2112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6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Accepted</a:t>
            </a:r>
            <a:endParaRPr lang="en-US" sz="960" dirty="0"/>
          </a:p>
        </p:txBody>
      </p:sp>
      <p:sp>
        <p:nvSpPr>
          <p:cNvPr id="90" name="Shape 87"/>
          <p:cNvSpPr/>
          <p:nvPr/>
        </p:nvSpPr>
        <p:spPr>
          <a:xfrm>
            <a:off x="475488" y="5383073"/>
            <a:ext cx="3737153" cy="247802"/>
          </a:xfrm>
          <a:prstGeom prst="rect">
            <a:avLst/>
          </a:prstGeom>
          <a:solidFill>
            <a:srgbClr val="ECEDEF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91" name="Text 88"/>
          <p:cNvSpPr/>
          <p:nvPr/>
        </p:nvSpPr>
        <p:spPr>
          <a:xfrm>
            <a:off x="516636" y="5401361"/>
            <a:ext cx="3654857" cy="2112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6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402367</a:t>
            </a:r>
            <a:endParaRPr lang="en-US" sz="960" dirty="0"/>
          </a:p>
        </p:txBody>
      </p:sp>
      <p:sp>
        <p:nvSpPr>
          <p:cNvPr id="92" name="Shape 89"/>
          <p:cNvSpPr/>
          <p:nvPr/>
        </p:nvSpPr>
        <p:spPr>
          <a:xfrm>
            <a:off x="4212641" y="5383073"/>
            <a:ext cx="3737153" cy="247802"/>
          </a:xfrm>
          <a:prstGeom prst="rect">
            <a:avLst/>
          </a:prstGeom>
          <a:solidFill>
            <a:srgbClr val="ECEDEF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93" name="Text 90"/>
          <p:cNvSpPr/>
          <p:nvPr/>
        </p:nvSpPr>
        <p:spPr>
          <a:xfrm>
            <a:off x="4253789" y="5401361"/>
            <a:ext cx="3654857" cy="2112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6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Arcadia US</a:t>
            </a:r>
            <a:endParaRPr lang="en-US" sz="960" dirty="0"/>
          </a:p>
        </p:txBody>
      </p:sp>
      <p:sp>
        <p:nvSpPr>
          <p:cNvPr id="94" name="Shape 91"/>
          <p:cNvSpPr/>
          <p:nvPr/>
        </p:nvSpPr>
        <p:spPr>
          <a:xfrm>
            <a:off x="7949794" y="5383073"/>
            <a:ext cx="3736238" cy="247802"/>
          </a:xfrm>
          <a:prstGeom prst="rect">
            <a:avLst/>
          </a:prstGeom>
          <a:solidFill>
            <a:srgbClr val="ECEDEF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95" name="Text 92"/>
          <p:cNvSpPr/>
          <p:nvPr/>
        </p:nvSpPr>
        <p:spPr>
          <a:xfrm>
            <a:off x="7990942" y="5401361"/>
            <a:ext cx="3653942" cy="2112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6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Connected</a:t>
            </a:r>
            <a:endParaRPr lang="en-US" sz="960" dirty="0"/>
          </a:p>
        </p:txBody>
      </p:sp>
      <p:sp>
        <p:nvSpPr>
          <p:cNvPr id="96" name="Shape 93"/>
          <p:cNvSpPr/>
          <p:nvPr/>
        </p:nvSpPr>
        <p:spPr>
          <a:xfrm>
            <a:off x="475488" y="5630875"/>
            <a:ext cx="3737153" cy="247802"/>
          </a:xfrm>
          <a:prstGeom prst="rect">
            <a:avLst/>
          </a:prstGeom>
          <a:solidFill>
            <a:srgbClr val="F4F5F7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97" name="Text 94"/>
          <p:cNvSpPr/>
          <p:nvPr/>
        </p:nvSpPr>
        <p:spPr>
          <a:xfrm>
            <a:off x="516636" y="5649163"/>
            <a:ext cx="3654857" cy="2112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6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394491</a:t>
            </a:r>
            <a:endParaRPr lang="en-US" sz="960" dirty="0"/>
          </a:p>
        </p:txBody>
      </p:sp>
      <p:sp>
        <p:nvSpPr>
          <p:cNvPr id="98" name="Shape 95"/>
          <p:cNvSpPr/>
          <p:nvPr/>
        </p:nvSpPr>
        <p:spPr>
          <a:xfrm>
            <a:off x="4212641" y="5630875"/>
            <a:ext cx="3737153" cy="247802"/>
          </a:xfrm>
          <a:prstGeom prst="rect">
            <a:avLst/>
          </a:prstGeom>
          <a:solidFill>
            <a:srgbClr val="F4F5F7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99" name="Text 96"/>
          <p:cNvSpPr/>
          <p:nvPr/>
        </p:nvSpPr>
        <p:spPr>
          <a:xfrm>
            <a:off x="4253789" y="5649163"/>
            <a:ext cx="3654857" cy="2112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6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Kind Patches</a:t>
            </a:r>
            <a:endParaRPr lang="en-US" sz="960" dirty="0"/>
          </a:p>
        </p:txBody>
      </p:sp>
      <p:sp>
        <p:nvSpPr>
          <p:cNvPr id="100" name="Shape 97"/>
          <p:cNvSpPr/>
          <p:nvPr/>
        </p:nvSpPr>
        <p:spPr>
          <a:xfrm>
            <a:off x="7949794" y="5630875"/>
            <a:ext cx="3736238" cy="247802"/>
          </a:xfrm>
          <a:prstGeom prst="rect">
            <a:avLst/>
          </a:prstGeom>
          <a:solidFill>
            <a:srgbClr val="F4F5F7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01" name="Text 98"/>
          <p:cNvSpPr/>
          <p:nvPr/>
        </p:nvSpPr>
        <p:spPr>
          <a:xfrm>
            <a:off x="7990942" y="5649163"/>
            <a:ext cx="3653942" cy="2112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6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Ended</a:t>
            </a:r>
            <a:endParaRPr lang="en-US" sz="960" dirty="0"/>
          </a:p>
        </p:txBody>
      </p:sp>
      <p:sp>
        <p:nvSpPr>
          <p:cNvPr id="102" name="Shape 99"/>
          <p:cNvSpPr/>
          <p:nvPr/>
        </p:nvSpPr>
        <p:spPr>
          <a:xfrm>
            <a:off x="475488" y="5878678"/>
            <a:ext cx="3737153" cy="247802"/>
          </a:xfrm>
          <a:prstGeom prst="rect">
            <a:avLst/>
          </a:prstGeom>
          <a:solidFill>
            <a:srgbClr val="ECEDEF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03" name="Text 100"/>
          <p:cNvSpPr/>
          <p:nvPr/>
        </p:nvSpPr>
        <p:spPr>
          <a:xfrm>
            <a:off x="516636" y="5896966"/>
            <a:ext cx="3654857" cy="2112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6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397853</a:t>
            </a:r>
            <a:endParaRPr lang="en-US" sz="960" dirty="0"/>
          </a:p>
        </p:txBody>
      </p:sp>
      <p:sp>
        <p:nvSpPr>
          <p:cNvPr id="104" name="Shape 101"/>
          <p:cNvSpPr/>
          <p:nvPr/>
        </p:nvSpPr>
        <p:spPr>
          <a:xfrm>
            <a:off x="4212641" y="5878678"/>
            <a:ext cx="3737153" cy="247802"/>
          </a:xfrm>
          <a:prstGeom prst="rect">
            <a:avLst/>
          </a:prstGeom>
          <a:solidFill>
            <a:srgbClr val="ECEDEF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05" name="Text 102"/>
          <p:cNvSpPr/>
          <p:nvPr/>
        </p:nvSpPr>
        <p:spPr>
          <a:xfrm>
            <a:off x="4253789" y="5896966"/>
            <a:ext cx="3654857" cy="2112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6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Credit Acceptance</a:t>
            </a:r>
            <a:endParaRPr lang="en-US" sz="960" dirty="0"/>
          </a:p>
        </p:txBody>
      </p:sp>
      <p:sp>
        <p:nvSpPr>
          <p:cNvPr id="106" name="Shape 103"/>
          <p:cNvSpPr/>
          <p:nvPr/>
        </p:nvSpPr>
        <p:spPr>
          <a:xfrm>
            <a:off x="7949794" y="5878678"/>
            <a:ext cx="3736238" cy="247802"/>
          </a:xfrm>
          <a:prstGeom prst="rect">
            <a:avLst/>
          </a:prstGeom>
          <a:solidFill>
            <a:srgbClr val="ECEDEF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07" name="Text 104"/>
          <p:cNvSpPr/>
          <p:nvPr/>
        </p:nvSpPr>
        <p:spPr>
          <a:xfrm>
            <a:off x="7990942" y="5896966"/>
            <a:ext cx="3653942" cy="2112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6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Denied</a:t>
            </a:r>
            <a:endParaRPr lang="en-US" sz="96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2F6F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publisher-qbr\assets\qbr-bg-blu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1325880"/>
            <a:ext cx="9875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digidip - Thank you.</a:t>
            </a:r>
            <a:endParaRPr lang="en-US" sz="2500" dirty="0"/>
          </a:p>
        </p:txBody>
      </p:sp>
      <p:sp>
        <p:nvSpPr>
          <p:cNvPr id="4" name="Shape 1"/>
          <p:cNvSpPr/>
          <p:nvPr/>
        </p:nvSpPr>
        <p:spPr>
          <a:xfrm>
            <a:off x="566928" y="2331720"/>
            <a:ext cx="11018520" cy="1024128"/>
          </a:xfrm>
          <a:prstGeom prst="roundRect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>
                <a:alpha val="45000"/>
              </a:srgbClr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868680" y="2596896"/>
            <a:ext cx="9692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5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Any Questions?</a:t>
            </a:r>
            <a:endParaRPr lang="en-US" sz="1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Tradedoubler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QBR - digidip</dc:title>
  <dc:subject>Quarterly business review</dc:subject>
  <dc:creator>QBR PPTX Service</dc:creator>
  <cp:lastModifiedBy>QBR PPTX Service</cp:lastModifiedBy>
  <cp:revision>1</cp:revision>
  <dcterms:created xsi:type="dcterms:W3CDTF">2026-06-04T12:12:36Z</dcterms:created>
  <dcterms:modified xsi:type="dcterms:W3CDTF">2026-06-04T12:12:36Z</dcterms:modified>
</cp:coreProperties>
</file>