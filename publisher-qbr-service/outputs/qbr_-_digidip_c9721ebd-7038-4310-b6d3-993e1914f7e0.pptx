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 Affiliate Program Quarterly </a:t>
            </a:r>
            <a:pPr indent="0" marL="0">
              <a:buNone/>
            </a:pPr>
            <a:r>
              <a:rPr lang="en-US" sz="29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comprehensive year-over-year analysis of the digidip affiliate program's performance, publisher dynamics, and strategic priorities to drive growth and optimise outcomes.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2026 – May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April 2026 – 4 May 2026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640080" y="26151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4 May 2026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30936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April 2025 – 4 May 2025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309360" y="26151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927080" cy="96012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566160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▭  All figures are reported in USD ($) unless otherwise stated. YoY variance is calculated as Current Period vs Comparison Period.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410005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51153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4452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8567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Rate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79038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20186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13555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4703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per Click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4807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922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per Commission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82589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3737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17106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8254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5162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277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86139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27287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820656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61804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Programs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755173" y="1719072"/>
            <a:ext cx="930859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796321" y="1737360"/>
            <a:ext cx="848563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w/ Commission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410005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51153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34452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8567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79038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20186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20,018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213555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54703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$0.01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14807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8922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1.00x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82589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23737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$5,016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017106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58254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95162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9277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886139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27287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820656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61804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0755173" y="2482596"/>
            <a:ext cx="93085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796321" y="2500884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5488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410005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451153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34452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38567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4.1%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279038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320186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22,889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213555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54703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$0.60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14807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8922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1.00x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6082589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123737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$197,999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7017106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58254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$13,782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95162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99277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886139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927287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$13,782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820656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861804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10755173" y="3140964"/>
            <a:ext cx="93085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796321" y="3159252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5488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1410005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451153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-908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234452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238567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-3.9%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3279038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320186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-2,871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213555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254703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-$0.59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514807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518922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0.00x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6082589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6123737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-$192,983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7017106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058254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-$13,600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795162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99277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8886139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927287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-$13,600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9820656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9861804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10755173" y="3799332"/>
            <a:ext cx="93085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0796321" y="3817620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475488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516636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Variance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410005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451153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-96.8%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234452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38567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-96.3%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279038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320186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-12.5%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4213555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4254703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-98.5%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514807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518922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082589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123737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-97.5%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7017106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058254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795162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99277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8886139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8927287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9820656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861804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▲ +2.6%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755173" y="4457700"/>
            <a:ext cx="93085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796321" y="4475988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-33.3%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Level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publisher performance for current period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96542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37690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17597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58745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38651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79799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59706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00854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1908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01814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962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322869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4017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YoY 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43923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85071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YoY 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564978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606126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 YoY 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5488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328779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596542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37690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World Observatory - New York (US affiliates)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17597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58745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838651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79799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59706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00854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80760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1908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201814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42962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$689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322869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64017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-96.2%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443923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85071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-96.2%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0564978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606126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-94.6%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488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361155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596542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637690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View from The Shard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717597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58745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838651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879799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959706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00854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080760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21908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201814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242962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$264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322869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364017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-91.3%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9443923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485071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-91.3%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10564978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606126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-90.0%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5488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383123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1596542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637690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2717597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758745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3838651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879799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4959706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000854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6080760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121908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7201814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242962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$260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8322869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364017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9443923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485071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10564978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606126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75488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6636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384454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1596542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637690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2717597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758745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3838651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879799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4959706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000854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6080760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121908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7201814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242962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$1,455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8322869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364017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443923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9485071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0564978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606126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75488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16636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366313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1596542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637690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Spitfire Audio US (closing 29.05.2026)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2717597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2758745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3838651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879799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4959706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000854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6080760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6121908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7201814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242962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$653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8322869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8364017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-96.1%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9443923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485071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-96.1%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564978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606126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-88.3%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75488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343146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1596542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37690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Phantom of the Opera - London (US affiliates)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2717597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2758745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3838651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3879799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4959706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5000854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6080760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6121908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7201814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7242962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$536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8322869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8364017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+226.8%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9443923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9485071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+226.8%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>
            <a:off x="10564978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0606126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000" dirty="0"/>
          </a:p>
        </p:txBody>
      </p:sp>
      <p:sp>
        <p:nvSpPr>
          <p:cNvPr id="146" name="Shape 143"/>
          <p:cNvSpPr/>
          <p:nvPr/>
        </p:nvSpPr>
        <p:spPr>
          <a:xfrm>
            <a:off x="475488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16636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392636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1596542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1637690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2717597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2758745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3838651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879799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4959706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5000854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6080760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6121908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7201814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7242962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$87</a:t>
            </a:r>
            <a:endParaRPr lang="en-US" sz="1000" dirty="0"/>
          </a:p>
        </p:txBody>
      </p:sp>
      <p:sp>
        <p:nvSpPr>
          <p:cNvPr id="160" name="Shape 157"/>
          <p:cNvSpPr/>
          <p:nvPr/>
        </p:nvSpPr>
        <p:spPr>
          <a:xfrm>
            <a:off x="8322869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8364017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2" name="Shape 159"/>
          <p:cNvSpPr/>
          <p:nvPr/>
        </p:nvSpPr>
        <p:spPr>
          <a:xfrm>
            <a:off x="9443923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485071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4" name="Shape 161"/>
          <p:cNvSpPr/>
          <p:nvPr/>
        </p:nvSpPr>
        <p:spPr>
          <a:xfrm>
            <a:off x="10564978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10606126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6" name="Shape 163"/>
          <p:cNvSpPr/>
          <p:nvPr/>
        </p:nvSpPr>
        <p:spPr>
          <a:xfrm>
            <a:off x="475488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516636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347243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1596542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37690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170" name="Shape 167"/>
          <p:cNvSpPr/>
          <p:nvPr/>
        </p:nvSpPr>
        <p:spPr>
          <a:xfrm>
            <a:off x="2717597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2758745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172" name="Shape 169"/>
          <p:cNvSpPr/>
          <p:nvPr/>
        </p:nvSpPr>
        <p:spPr>
          <a:xfrm>
            <a:off x="3838651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3879799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74" name="Shape 171"/>
          <p:cNvSpPr/>
          <p:nvPr/>
        </p:nvSpPr>
        <p:spPr>
          <a:xfrm>
            <a:off x="4959706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5000854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176" name="Shape 173"/>
          <p:cNvSpPr/>
          <p:nvPr/>
        </p:nvSpPr>
        <p:spPr>
          <a:xfrm>
            <a:off x="6080760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6121908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78" name="Shape 175"/>
          <p:cNvSpPr/>
          <p:nvPr/>
        </p:nvSpPr>
        <p:spPr>
          <a:xfrm>
            <a:off x="7201814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7242962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$1,073</a:t>
            </a:r>
            <a:endParaRPr lang="en-US" sz="1000" dirty="0"/>
          </a:p>
        </p:txBody>
      </p:sp>
      <p:sp>
        <p:nvSpPr>
          <p:cNvPr id="180" name="Shape 177"/>
          <p:cNvSpPr/>
          <p:nvPr/>
        </p:nvSpPr>
        <p:spPr>
          <a:xfrm>
            <a:off x="8322869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8364017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2" name="Shape 179"/>
          <p:cNvSpPr/>
          <p:nvPr/>
        </p:nvSpPr>
        <p:spPr>
          <a:xfrm>
            <a:off x="9443923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9485071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4" name="Shape 181"/>
          <p:cNvSpPr/>
          <p:nvPr/>
        </p:nvSpPr>
        <p:spPr>
          <a:xfrm>
            <a:off x="10564978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10606126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6" name="Shape 183"/>
          <p:cNvSpPr/>
          <p:nvPr/>
        </p:nvSpPr>
        <p:spPr>
          <a:xfrm>
            <a:off x="475488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516636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378947</a:t>
            </a:r>
            <a:endParaRPr lang="en-US" sz="1000" dirty="0"/>
          </a:p>
        </p:txBody>
      </p:sp>
      <p:sp>
        <p:nvSpPr>
          <p:cNvPr id="188" name="Shape 185"/>
          <p:cNvSpPr/>
          <p:nvPr/>
        </p:nvSpPr>
        <p:spPr>
          <a:xfrm>
            <a:off x="1596542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1637690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Arrita Studio</a:t>
            </a:r>
            <a:endParaRPr lang="en-US" sz="1000" dirty="0"/>
          </a:p>
        </p:txBody>
      </p:sp>
      <p:sp>
        <p:nvSpPr>
          <p:cNvPr id="190" name="Shape 187"/>
          <p:cNvSpPr/>
          <p:nvPr/>
        </p:nvSpPr>
        <p:spPr>
          <a:xfrm>
            <a:off x="2717597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2758745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2" name="Shape 189"/>
          <p:cNvSpPr/>
          <p:nvPr/>
        </p:nvSpPr>
        <p:spPr>
          <a:xfrm>
            <a:off x="3838651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3879799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4" name="Shape 191"/>
          <p:cNvSpPr/>
          <p:nvPr/>
        </p:nvSpPr>
        <p:spPr>
          <a:xfrm>
            <a:off x="4959706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5000854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6" name="Shape 193"/>
          <p:cNvSpPr/>
          <p:nvPr/>
        </p:nvSpPr>
        <p:spPr>
          <a:xfrm>
            <a:off x="6080760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6121908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98" name="Shape 195"/>
          <p:cNvSpPr/>
          <p:nvPr/>
        </p:nvSpPr>
        <p:spPr>
          <a:xfrm>
            <a:off x="7201814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7242962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00" name="Shape 197"/>
          <p:cNvSpPr/>
          <p:nvPr/>
        </p:nvSpPr>
        <p:spPr>
          <a:xfrm>
            <a:off x="8322869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8364017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2" name="Shape 199"/>
          <p:cNvSpPr/>
          <p:nvPr/>
        </p:nvSpPr>
        <p:spPr>
          <a:xfrm>
            <a:off x="9443923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9485071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4" name="Shape 201"/>
          <p:cNvSpPr/>
          <p:nvPr/>
        </p:nvSpPr>
        <p:spPr>
          <a:xfrm>
            <a:off x="10564978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0606126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6" name="Shape 203"/>
          <p:cNvSpPr/>
          <p:nvPr/>
        </p:nvSpPr>
        <p:spPr>
          <a:xfrm>
            <a:off x="475488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516636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385020</a:t>
            </a:r>
            <a:endParaRPr lang="en-US" sz="1000" dirty="0"/>
          </a:p>
        </p:txBody>
      </p:sp>
      <p:sp>
        <p:nvSpPr>
          <p:cNvPr id="208" name="Shape 205"/>
          <p:cNvSpPr/>
          <p:nvPr/>
        </p:nvSpPr>
        <p:spPr>
          <a:xfrm>
            <a:off x="1596542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637690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Casaemma wines</a:t>
            </a:r>
            <a:endParaRPr lang="en-US" sz="1000" dirty="0"/>
          </a:p>
        </p:txBody>
      </p:sp>
      <p:sp>
        <p:nvSpPr>
          <p:cNvPr id="210" name="Shape 207"/>
          <p:cNvSpPr/>
          <p:nvPr/>
        </p:nvSpPr>
        <p:spPr>
          <a:xfrm>
            <a:off x="2717597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2758745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2" name="Shape 209"/>
          <p:cNvSpPr/>
          <p:nvPr/>
        </p:nvSpPr>
        <p:spPr>
          <a:xfrm>
            <a:off x="3838651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3879799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4" name="Shape 211"/>
          <p:cNvSpPr/>
          <p:nvPr/>
        </p:nvSpPr>
        <p:spPr>
          <a:xfrm>
            <a:off x="4959706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5000854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6" name="Shape 213"/>
          <p:cNvSpPr/>
          <p:nvPr/>
        </p:nvSpPr>
        <p:spPr>
          <a:xfrm>
            <a:off x="6080760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6121908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18" name="Shape 215"/>
          <p:cNvSpPr/>
          <p:nvPr/>
        </p:nvSpPr>
        <p:spPr>
          <a:xfrm>
            <a:off x="7201814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7242962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20" name="Shape 217"/>
          <p:cNvSpPr/>
          <p:nvPr/>
        </p:nvSpPr>
        <p:spPr>
          <a:xfrm>
            <a:off x="8322869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8364017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2" name="Shape 219"/>
          <p:cNvSpPr/>
          <p:nvPr/>
        </p:nvSpPr>
        <p:spPr>
          <a:xfrm>
            <a:off x="9443923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9485071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4" name="Shape 221"/>
          <p:cNvSpPr/>
          <p:nvPr/>
        </p:nvSpPr>
        <p:spPr>
          <a:xfrm>
            <a:off x="10564978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10606126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6" name="Shape 223"/>
          <p:cNvSpPr/>
          <p:nvPr/>
        </p:nvSpPr>
        <p:spPr>
          <a:xfrm>
            <a:off x="475488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516636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358152</a:t>
            </a:r>
            <a:endParaRPr lang="en-US" sz="1000" dirty="0"/>
          </a:p>
        </p:txBody>
      </p:sp>
      <p:sp>
        <p:nvSpPr>
          <p:cNvPr id="228" name="Shape 225"/>
          <p:cNvSpPr/>
          <p:nvPr/>
        </p:nvSpPr>
        <p:spPr>
          <a:xfrm>
            <a:off x="1596542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9" name="Text 226"/>
          <p:cNvSpPr/>
          <p:nvPr/>
        </p:nvSpPr>
        <p:spPr>
          <a:xfrm>
            <a:off x="1637690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CLOUDWALKER SLIPPERS</a:t>
            </a:r>
            <a:endParaRPr lang="en-US" sz="1000" dirty="0"/>
          </a:p>
        </p:txBody>
      </p:sp>
      <p:sp>
        <p:nvSpPr>
          <p:cNvPr id="230" name="Shape 227"/>
          <p:cNvSpPr/>
          <p:nvPr/>
        </p:nvSpPr>
        <p:spPr>
          <a:xfrm>
            <a:off x="2717597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2758745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2" name="Shape 229"/>
          <p:cNvSpPr/>
          <p:nvPr/>
        </p:nvSpPr>
        <p:spPr>
          <a:xfrm>
            <a:off x="3838651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3879799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4" name="Shape 231"/>
          <p:cNvSpPr/>
          <p:nvPr/>
        </p:nvSpPr>
        <p:spPr>
          <a:xfrm>
            <a:off x="4959706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Text 232"/>
          <p:cNvSpPr/>
          <p:nvPr/>
        </p:nvSpPr>
        <p:spPr>
          <a:xfrm>
            <a:off x="5000854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6" name="Shape 233"/>
          <p:cNvSpPr/>
          <p:nvPr/>
        </p:nvSpPr>
        <p:spPr>
          <a:xfrm>
            <a:off x="6080760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7" name="Text 234"/>
          <p:cNvSpPr/>
          <p:nvPr/>
        </p:nvSpPr>
        <p:spPr>
          <a:xfrm>
            <a:off x="6121908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38" name="Shape 235"/>
          <p:cNvSpPr/>
          <p:nvPr/>
        </p:nvSpPr>
        <p:spPr>
          <a:xfrm>
            <a:off x="7201814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9" name="Text 236"/>
          <p:cNvSpPr/>
          <p:nvPr/>
        </p:nvSpPr>
        <p:spPr>
          <a:xfrm>
            <a:off x="7242962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40" name="Shape 237"/>
          <p:cNvSpPr/>
          <p:nvPr/>
        </p:nvSpPr>
        <p:spPr>
          <a:xfrm>
            <a:off x="8322869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1" name="Text 238"/>
          <p:cNvSpPr/>
          <p:nvPr/>
        </p:nvSpPr>
        <p:spPr>
          <a:xfrm>
            <a:off x="8364017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2" name="Shape 239"/>
          <p:cNvSpPr/>
          <p:nvPr/>
        </p:nvSpPr>
        <p:spPr>
          <a:xfrm>
            <a:off x="9443923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9485071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4" name="Shape 241"/>
          <p:cNvSpPr/>
          <p:nvPr/>
        </p:nvSpPr>
        <p:spPr>
          <a:xfrm>
            <a:off x="10564978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5" name="Text 242"/>
          <p:cNvSpPr/>
          <p:nvPr/>
        </p:nvSpPr>
        <p:spPr>
          <a:xfrm>
            <a:off x="10606126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6" name="Shape 243"/>
          <p:cNvSpPr/>
          <p:nvPr/>
        </p:nvSpPr>
        <p:spPr>
          <a:xfrm>
            <a:off x="475488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Text 244"/>
          <p:cNvSpPr/>
          <p:nvPr/>
        </p:nvSpPr>
        <p:spPr>
          <a:xfrm>
            <a:off x="516636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377606</a:t>
            </a:r>
            <a:endParaRPr lang="en-US" sz="1000" dirty="0"/>
          </a:p>
        </p:txBody>
      </p:sp>
      <p:sp>
        <p:nvSpPr>
          <p:cNvPr id="248" name="Shape 245"/>
          <p:cNvSpPr/>
          <p:nvPr/>
        </p:nvSpPr>
        <p:spPr>
          <a:xfrm>
            <a:off x="1596542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9" name="Text 246"/>
          <p:cNvSpPr/>
          <p:nvPr/>
        </p:nvSpPr>
        <p:spPr>
          <a:xfrm>
            <a:off x="1637690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Cosara</a:t>
            </a:r>
            <a:endParaRPr lang="en-US" sz="1000" dirty="0"/>
          </a:p>
        </p:txBody>
      </p:sp>
      <p:sp>
        <p:nvSpPr>
          <p:cNvPr id="250" name="Shape 247"/>
          <p:cNvSpPr/>
          <p:nvPr/>
        </p:nvSpPr>
        <p:spPr>
          <a:xfrm>
            <a:off x="2717597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1" name="Text 248"/>
          <p:cNvSpPr/>
          <p:nvPr/>
        </p:nvSpPr>
        <p:spPr>
          <a:xfrm>
            <a:off x="2758745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2" name="Shape 249"/>
          <p:cNvSpPr/>
          <p:nvPr/>
        </p:nvSpPr>
        <p:spPr>
          <a:xfrm>
            <a:off x="3838651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3879799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4" name="Shape 251"/>
          <p:cNvSpPr/>
          <p:nvPr/>
        </p:nvSpPr>
        <p:spPr>
          <a:xfrm>
            <a:off x="4959706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5" name="Text 252"/>
          <p:cNvSpPr/>
          <p:nvPr/>
        </p:nvSpPr>
        <p:spPr>
          <a:xfrm>
            <a:off x="5000854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6" name="Shape 253"/>
          <p:cNvSpPr/>
          <p:nvPr/>
        </p:nvSpPr>
        <p:spPr>
          <a:xfrm>
            <a:off x="6080760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Text 254"/>
          <p:cNvSpPr/>
          <p:nvPr/>
        </p:nvSpPr>
        <p:spPr>
          <a:xfrm>
            <a:off x="6121908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58" name="Shape 255"/>
          <p:cNvSpPr/>
          <p:nvPr/>
        </p:nvSpPr>
        <p:spPr>
          <a:xfrm>
            <a:off x="7201814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9" name="Text 256"/>
          <p:cNvSpPr/>
          <p:nvPr/>
        </p:nvSpPr>
        <p:spPr>
          <a:xfrm>
            <a:off x="7242962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60" name="Shape 257"/>
          <p:cNvSpPr/>
          <p:nvPr/>
        </p:nvSpPr>
        <p:spPr>
          <a:xfrm>
            <a:off x="8322869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1" name="Text 258"/>
          <p:cNvSpPr/>
          <p:nvPr/>
        </p:nvSpPr>
        <p:spPr>
          <a:xfrm>
            <a:off x="8364017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62" name="Shape 259"/>
          <p:cNvSpPr/>
          <p:nvPr/>
        </p:nvSpPr>
        <p:spPr>
          <a:xfrm>
            <a:off x="9443923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9485071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64" name="Shape 261"/>
          <p:cNvSpPr/>
          <p:nvPr/>
        </p:nvSpPr>
        <p:spPr>
          <a:xfrm>
            <a:off x="10564978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5" name="Text 262"/>
          <p:cNvSpPr/>
          <p:nvPr/>
        </p:nvSpPr>
        <p:spPr>
          <a:xfrm>
            <a:off x="10606126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(-98.7%).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(-98.7%).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 vs $0 (N/A).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$5,016 vs $197,999 (-97.5%).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vs 938 (-96.8%).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Newly Activated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076602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17750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77717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8865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78831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19979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79946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1094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81060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82174" y="1874520"/>
            <a:ext cx="1603858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23322" y="1892808"/>
            <a:ext cx="152156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383123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76602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17750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77717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18865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78831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19979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79946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1094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481060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22208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082174" y="2317090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23322" y="2335378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5488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6636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384454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76602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117750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677717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18865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278831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19979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$1,455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879946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21094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481060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22208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0082174" y="269839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123322" y="271668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6636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392636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076602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17750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677717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718865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278831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19979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$87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879946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21094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481060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22208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0082174" y="3079699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123322" y="3097987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75488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16636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347243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2076602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117750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677717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718865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278831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319979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$1,073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6879946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921094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481060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522208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10082174" y="346100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123322" y="347929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475488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6636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378947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2076602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117750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Arrita Studio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3677717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718865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5278831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319979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6879946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921094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8481060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522208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10082174" y="3842309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0123322" y="3860597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5488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16636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385020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2076602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117750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Casaemma wines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3677717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718865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5278831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319979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6879946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6921094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8481060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522208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10082174" y="422361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0123322" y="424190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475488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516636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377606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2076602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117750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Cosara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677717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718865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5278831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319979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6879946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6921094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8481060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8522208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10082174" y="4604918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10123322" y="4623206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475488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516636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385133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2076602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2117750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3677717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3718865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5278831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319979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6879946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6921094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8481060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8522208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10082174" y="4986223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10123322" y="5004511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475488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516636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376984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2076602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2117750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Eat and Play Card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3677717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3718865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5278831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5319979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879946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6921094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8481060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8522208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>
            <a:off x="10082174" y="5367528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0123322" y="5385816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6" name="Shape 143"/>
          <p:cNvSpPr/>
          <p:nvPr/>
        </p:nvSpPr>
        <p:spPr>
          <a:xfrm>
            <a:off x="475488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16636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356533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2076602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2117750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EviDenS de Beauté: Elevating Skincare with Japanese Luxury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3677717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3718865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5278831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5319979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6879946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6921094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8481060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8522208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10082174" y="5748833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10123322" y="5767121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digidip</dc:title>
  <dc:subject>Quarterly business review</dc:subject>
  <dc:creator>QBR PPTX Service</dc:creator>
  <cp:lastModifiedBy>QBR PPTX Service</cp:lastModifiedBy>
  <cp:revision>1</cp:revision>
  <dcterms:created xsi:type="dcterms:W3CDTF">2026-06-04T11:41:42Z</dcterms:created>
  <dcterms:modified xsi:type="dcterms:W3CDTF">2026-06-04T11:41:42Z</dcterms:modified>
</cp:coreProperties>
</file>